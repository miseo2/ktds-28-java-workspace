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1"/>
  </p:sldMasterIdLst>
  <p:notesMasterIdLst>
    <p:notesMasterId r:id="rId86"/>
  </p:notesMasterIdLst>
  <p:handoutMasterIdLst>
    <p:handoutMasterId r:id="rId87"/>
  </p:handoutMasterIdLst>
  <p:sldIdLst>
    <p:sldId id="256" r:id="rId2"/>
    <p:sldId id="493" r:id="rId3"/>
    <p:sldId id="494" r:id="rId4"/>
    <p:sldId id="495" r:id="rId5"/>
    <p:sldId id="496" r:id="rId6"/>
    <p:sldId id="342" r:id="rId7"/>
    <p:sldId id="498" r:id="rId8"/>
    <p:sldId id="499" r:id="rId9"/>
    <p:sldId id="500" r:id="rId10"/>
    <p:sldId id="501" r:id="rId11"/>
    <p:sldId id="502" r:id="rId12"/>
    <p:sldId id="503" r:id="rId13"/>
    <p:sldId id="497" r:id="rId14"/>
    <p:sldId id="506" r:id="rId15"/>
    <p:sldId id="504" r:id="rId16"/>
    <p:sldId id="505" r:id="rId17"/>
    <p:sldId id="343" r:id="rId18"/>
    <p:sldId id="344" r:id="rId19"/>
    <p:sldId id="507" r:id="rId20"/>
    <p:sldId id="508" r:id="rId21"/>
    <p:sldId id="509" r:id="rId22"/>
    <p:sldId id="346" r:id="rId23"/>
    <p:sldId id="510" r:id="rId24"/>
    <p:sldId id="348" r:id="rId25"/>
    <p:sldId id="350" r:id="rId26"/>
    <p:sldId id="511" r:id="rId27"/>
    <p:sldId id="512" r:id="rId28"/>
    <p:sldId id="513" r:id="rId29"/>
    <p:sldId id="514" r:id="rId30"/>
    <p:sldId id="515" r:id="rId31"/>
    <p:sldId id="516" r:id="rId32"/>
    <p:sldId id="517" r:id="rId33"/>
    <p:sldId id="518" r:id="rId34"/>
    <p:sldId id="519" r:id="rId35"/>
    <p:sldId id="491" r:id="rId36"/>
    <p:sldId id="351" r:id="rId37"/>
    <p:sldId id="492" r:id="rId38"/>
    <p:sldId id="352" r:id="rId39"/>
    <p:sldId id="353" r:id="rId40"/>
    <p:sldId id="354" r:id="rId41"/>
    <p:sldId id="356" r:id="rId42"/>
    <p:sldId id="484" r:id="rId43"/>
    <p:sldId id="357" r:id="rId44"/>
    <p:sldId id="359" r:id="rId45"/>
    <p:sldId id="360" r:id="rId46"/>
    <p:sldId id="485" r:id="rId47"/>
    <p:sldId id="361" r:id="rId48"/>
    <p:sldId id="362" r:id="rId49"/>
    <p:sldId id="363" r:id="rId50"/>
    <p:sldId id="364" r:id="rId51"/>
    <p:sldId id="489" r:id="rId52"/>
    <p:sldId id="486" r:id="rId53"/>
    <p:sldId id="366" r:id="rId54"/>
    <p:sldId id="487" r:id="rId55"/>
    <p:sldId id="490" r:id="rId56"/>
    <p:sldId id="369" r:id="rId57"/>
    <p:sldId id="368" r:id="rId58"/>
    <p:sldId id="488" r:id="rId59"/>
    <p:sldId id="370" r:id="rId60"/>
    <p:sldId id="371" r:id="rId61"/>
    <p:sldId id="372" r:id="rId62"/>
    <p:sldId id="373" r:id="rId63"/>
    <p:sldId id="374" r:id="rId64"/>
    <p:sldId id="482" r:id="rId65"/>
    <p:sldId id="331" r:id="rId66"/>
    <p:sldId id="480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483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449" r:id="rId85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5pPr>
    <a:lvl6pPr marL="2286000" algn="l" defTabSz="914400" rtl="0" eaLnBrk="1" latinLnBrk="1" hangingPunct="1"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6pPr>
    <a:lvl7pPr marL="2743200" algn="l" defTabSz="914400" rtl="0" eaLnBrk="1" latinLnBrk="1" hangingPunct="1"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7pPr>
    <a:lvl8pPr marL="3200400" algn="l" defTabSz="914400" rtl="0" eaLnBrk="1" latinLnBrk="1" hangingPunct="1"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8pPr>
    <a:lvl9pPr marL="3657600" algn="l" defTabSz="914400" rtl="0" eaLnBrk="1" latinLnBrk="1" hangingPunct="1">
      <a:defRPr sz="6000" b="1" kern="1200">
        <a:solidFill>
          <a:schemeClr val="tx1"/>
        </a:solidFill>
        <a:latin typeface="Lucida Console" pitchFamily="49" charset="0"/>
        <a:ea typeface="궁서체" pitchFamily="17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9933FF"/>
    <a:srgbClr val="669900"/>
    <a:srgbClr val="CC00FF"/>
    <a:srgbClr val="6600FF"/>
    <a:srgbClr val="808000"/>
    <a:srgbClr val="333300"/>
    <a:srgbClr val="66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6274" autoAdjust="0"/>
  </p:normalViewPr>
  <p:slideViewPr>
    <p:cSldViewPr>
      <p:cViewPr varScale="1">
        <p:scale>
          <a:sx n="127" d="100"/>
          <a:sy n="127" d="100"/>
        </p:scale>
        <p:origin x="1824" y="472"/>
      </p:cViewPr>
      <p:guideLst>
        <p:guide orient="horz" pos="43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50" d="100"/>
          <a:sy n="150" d="100"/>
        </p:scale>
        <p:origin x="2472" y="-182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6/11/relationships/changesInfo" Target="changesInfos/changesInfo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창 장" userId="5d9bafdb3db22792" providerId="LiveId" clId="{17DC7D50-165A-4FF4-9666-5329E0E28573}"/>
    <pc:docChg chg="undo custSel addSld delSld modSld sldOrd">
      <pc:chgData name="민창 장" userId="5d9bafdb3db22792" providerId="LiveId" clId="{17DC7D50-165A-4FF4-9666-5329E0E28573}" dt="2024-01-24T03:48:45.573" v="13124" actId="20577"/>
      <pc:docMkLst>
        <pc:docMk/>
      </pc:docMkLst>
      <pc:sldChg chg="del">
        <pc:chgData name="민창 장" userId="5d9bafdb3db22792" providerId="LiveId" clId="{17DC7D50-165A-4FF4-9666-5329E0E28573}" dt="2024-01-23T08:50:05.761" v="7505" actId="47"/>
        <pc:sldMkLst>
          <pc:docMk/>
          <pc:sldMk cId="2643492622" sldId="326"/>
        </pc:sldMkLst>
      </pc:sldChg>
      <pc:sldChg chg="del">
        <pc:chgData name="민창 장" userId="5d9bafdb3db22792" providerId="LiveId" clId="{17DC7D50-165A-4FF4-9666-5329E0E28573}" dt="2024-01-23T08:50:05.761" v="7505" actId="47"/>
        <pc:sldMkLst>
          <pc:docMk/>
          <pc:sldMk cId="3092071824" sldId="327"/>
        </pc:sldMkLst>
      </pc:sldChg>
      <pc:sldChg chg="delSp modSp add mod">
        <pc:chgData name="민창 장" userId="5d9bafdb3db22792" providerId="LiveId" clId="{17DC7D50-165A-4FF4-9666-5329E0E28573}" dt="2024-01-24T03:44:09.809" v="12038" actId="20577"/>
        <pc:sldMkLst>
          <pc:docMk/>
          <pc:sldMk cId="293641991" sldId="331"/>
        </pc:sldMkLst>
      </pc:sldChg>
      <pc:sldChg chg="del">
        <pc:chgData name="민창 장" userId="5d9bafdb3db22792" providerId="LiveId" clId="{17DC7D50-165A-4FF4-9666-5329E0E28573}" dt="2024-01-24T03:42:15.309" v="11583" actId="2696"/>
        <pc:sldMkLst>
          <pc:docMk/>
          <pc:sldMk cId="2112591425" sldId="331"/>
        </pc:sldMkLst>
      </pc:sldChg>
      <pc:sldChg chg="del">
        <pc:chgData name="민창 장" userId="5d9bafdb3db22792" providerId="LiveId" clId="{17DC7D50-165A-4FF4-9666-5329E0E28573}" dt="2024-01-23T08:48:27.560" v="7395" actId="47"/>
        <pc:sldMkLst>
          <pc:docMk/>
          <pc:sldMk cId="367020663" sldId="341"/>
        </pc:sldMkLst>
      </pc:sldChg>
      <pc:sldChg chg="addSp modSp mod">
        <pc:chgData name="민창 장" userId="5d9bafdb3db22792" providerId="LiveId" clId="{17DC7D50-165A-4FF4-9666-5329E0E28573}" dt="2024-01-17T07:55:15.203" v="72" actId="20577"/>
        <pc:sldMkLst>
          <pc:docMk/>
          <pc:sldMk cId="561233227" sldId="342"/>
        </pc:sldMkLst>
      </pc:sldChg>
      <pc:sldChg chg="addSp delSp modSp mod">
        <pc:chgData name="민창 장" userId="5d9bafdb3db22792" providerId="LiveId" clId="{17DC7D50-165A-4FF4-9666-5329E0E28573}" dt="2024-01-17T07:56:41.895" v="114" actId="5793"/>
        <pc:sldMkLst>
          <pc:docMk/>
          <pc:sldMk cId="3580844601" sldId="343"/>
        </pc:sldMkLst>
      </pc:sldChg>
      <pc:sldChg chg="addSp delSp modSp mod">
        <pc:chgData name="민창 장" userId="5d9bafdb3db22792" providerId="LiveId" clId="{17DC7D50-165A-4FF4-9666-5329E0E28573}" dt="2024-01-17T08:00:04.609" v="491" actId="478"/>
        <pc:sldMkLst>
          <pc:docMk/>
          <pc:sldMk cId="3338188408" sldId="344"/>
        </pc:sldMkLst>
      </pc:sldChg>
      <pc:sldChg chg="addSp modSp mod">
        <pc:chgData name="민창 장" userId="5d9bafdb3db22792" providerId="LiveId" clId="{17DC7D50-165A-4FF4-9666-5329E0E28573}" dt="2024-01-17T08:05:43.767" v="1308" actId="1582"/>
        <pc:sldMkLst>
          <pc:docMk/>
          <pc:sldMk cId="3558201271" sldId="345"/>
        </pc:sldMkLst>
      </pc:sldChg>
      <pc:sldChg chg="addSp modSp mod">
        <pc:chgData name="민창 장" userId="5d9bafdb3db22792" providerId="LiveId" clId="{17DC7D50-165A-4FF4-9666-5329E0E28573}" dt="2024-01-17T08:05:57.416" v="1310" actId="14100"/>
        <pc:sldMkLst>
          <pc:docMk/>
          <pc:sldMk cId="2540427169" sldId="346"/>
        </pc:sldMkLst>
      </pc:sldChg>
      <pc:sldChg chg="delSp del">
        <pc:chgData name="민창 장" userId="5d9bafdb3db22792" providerId="LiveId" clId="{17DC7D50-165A-4FF4-9666-5329E0E28573}" dt="2024-01-17T08:06:04.624" v="1311" actId="47"/>
        <pc:sldMkLst>
          <pc:docMk/>
          <pc:sldMk cId="838483172" sldId="347"/>
        </pc:sldMkLst>
      </pc:sldChg>
      <pc:sldChg chg="addSp modSp">
        <pc:chgData name="민창 장" userId="5d9bafdb3db22792" providerId="LiveId" clId="{17DC7D50-165A-4FF4-9666-5329E0E28573}" dt="2024-01-17T08:04:45.941" v="1293" actId="1076"/>
        <pc:sldMkLst>
          <pc:docMk/>
          <pc:sldMk cId="1310618155" sldId="348"/>
        </pc:sldMkLst>
      </pc:sldChg>
      <pc:sldChg chg="delSp del">
        <pc:chgData name="민창 장" userId="5d9bafdb3db22792" providerId="LiveId" clId="{17DC7D50-165A-4FF4-9666-5329E0E28573}" dt="2024-01-17T08:04:47.746" v="1294" actId="47"/>
        <pc:sldMkLst>
          <pc:docMk/>
          <pc:sldMk cId="3118342107" sldId="349"/>
        </pc:sldMkLst>
      </pc:sldChg>
      <pc:sldChg chg="modSp mod">
        <pc:chgData name="민창 장" userId="5d9bafdb3db22792" providerId="LiveId" clId="{17DC7D50-165A-4FF4-9666-5329E0E28573}" dt="2024-01-23T03:21:06.587" v="1832" actId="20577"/>
        <pc:sldMkLst>
          <pc:docMk/>
          <pc:sldMk cId="4201414843" sldId="350"/>
        </pc:sldMkLst>
      </pc:sldChg>
      <pc:sldChg chg="addSp modSp mod">
        <pc:chgData name="민창 장" userId="5d9bafdb3db22792" providerId="LiveId" clId="{17DC7D50-165A-4FF4-9666-5329E0E28573}" dt="2024-01-24T03:37:21.574" v="11582" actId="20577"/>
        <pc:sldMkLst>
          <pc:docMk/>
          <pc:sldMk cId="4155803555" sldId="351"/>
        </pc:sldMkLst>
      </pc:sldChg>
      <pc:sldChg chg="addSp modSp mod">
        <pc:chgData name="민창 장" userId="5d9bafdb3db22792" providerId="LiveId" clId="{17DC7D50-165A-4FF4-9666-5329E0E28573}" dt="2024-01-17T08:37:47.693" v="1480" actId="1076"/>
        <pc:sldMkLst>
          <pc:docMk/>
          <pc:sldMk cId="321349350" sldId="352"/>
        </pc:sldMkLst>
      </pc:sldChg>
      <pc:sldChg chg="addSp modSp mod">
        <pc:chgData name="민창 장" userId="5d9bafdb3db22792" providerId="LiveId" clId="{17DC7D50-165A-4FF4-9666-5329E0E28573}" dt="2024-01-17T08:43:10.774" v="1590" actId="1076"/>
        <pc:sldMkLst>
          <pc:docMk/>
          <pc:sldMk cId="418708412" sldId="353"/>
        </pc:sldMkLst>
      </pc:sldChg>
      <pc:sldChg chg="addSp delSp modSp mod">
        <pc:chgData name="민창 장" userId="5d9bafdb3db22792" providerId="LiveId" clId="{17DC7D50-165A-4FF4-9666-5329E0E28573}" dt="2024-01-17T08:41:02.790" v="1588"/>
        <pc:sldMkLst>
          <pc:docMk/>
          <pc:sldMk cId="1487201747" sldId="354"/>
        </pc:sldMkLst>
      </pc:sldChg>
      <pc:sldChg chg="del">
        <pc:chgData name="민창 장" userId="5d9bafdb3db22792" providerId="LiveId" clId="{17DC7D50-165A-4FF4-9666-5329E0E28573}" dt="2024-01-17T08:41:06.064" v="1589" actId="47"/>
        <pc:sldMkLst>
          <pc:docMk/>
          <pc:sldMk cId="2196520223" sldId="355"/>
        </pc:sldMkLst>
      </pc:sldChg>
      <pc:sldChg chg="modSp mod">
        <pc:chgData name="민창 장" userId="5d9bafdb3db22792" providerId="LiveId" clId="{17DC7D50-165A-4FF4-9666-5329E0E28573}" dt="2024-01-23T03:25:03.585" v="2272" actId="20577"/>
        <pc:sldMkLst>
          <pc:docMk/>
          <pc:sldMk cId="460108584" sldId="356"/>
        </pc:sldMkLst>
      </pc:sldChg>
      <pc:sldChg chg="modSp mod">
        <pc:chgData name="민창 장" userId="5d9bafdb3db22792" providerId="LiveId" clId="{17DC7D50-165A-4FF4-9666-5329E0E28573}" dt="2024-01-23T03:29:18.291" v="3071" actId="20577"/>
        <pc:sldMkLst>
          <pc:docMk/>
          <pc:sldMk cId="393402957" sldId="357"/>
        </pc:sldMkLst>
      </pc:sldChg>
      <pc:sldChg chg="del">
        <pc:chgData name="민창 장" userId="5d9bafdb3db22792" providerId="LiveId" clId="{17DC7D50-165A-4FF4-9666-5329E0E28573}" dt="2024-01-23T03:27:37.608" v="2510" actId="47"/>
        <pc:sldMkLst>
          <pc:docMk/>
          <pc:sldMk cId="1433101041" sldId="358"/>
        </pc:sldMkLst>
      </pc:sldChg>
      <pc:sldChg chg="modSp mod">
        <pc:chgData name="민창 장" userId="5d9bafdb3db22792" providerId="LiveId" clId="{17DC7D50-165A-4FF4-9666-5329E0E28573}" dt="2024-01-23T03:31:58.731" v="3734" actId="20577"/>
        <pc:sldMkLst>
          <pc:docMk/>
          <pc:sldMk cId="446426093" sldId="359"/>
        </pc:sldMkLst>
      </pc:sldChg>
      <pc:sldChg chg="addSp delSp modSp mod">
        <pc:chgData name="민창 장" userId="5d9bafdb3db22792" providerId="LiveId" clId="{17DC7D50-165A-4FF4-9666-5329E0E28573}" dt="2024-01-23T03:40:55.904" v="3932" actId="113"/>
        <pc:sldMkLst>
          <pc:docMk/>
          <pc:sldMk cId="2870087431" sldId="360"/>
        </pc:sldMkLst>
      </pc:sldChg>
      <pc:sldChg chg="addSp modSp mod">
        <pc:chgData name="민창 장" userId="5d9bafdb3db22792" providerId="LiveId" clId="{17DC7D50-165A-4FF4-9666-5329E0E28573}" dt="2024-01-23T03:43:15.002" v="4163" actId="20577"/>
        <pc:sldMkLst>
          <pc:docMk/>
          <pc:sldMk cId="3167783436" sldId="361"/>
        </pc:sldMkLst>
      </pc:sldChg>
      <pc:sldChg chg="modSp mod">
        <pc:chgData name="민창 장" userId="5d9bafdb3db22792" providerId="LiveId" clId="{17DC7D50-165A-4FF4-9666-5329E0E28573}" dt="2024-01-23T03:58:04.354" v="6236" actId="20577"/>
        <pc:sldMkLst>
          <pc:docMk/>
          <pc:sldMk cId="2492700615" sldId="362"/>
        </pc:sldMkLst>
      </pc:sldChg>
      <pc:sldChg chg="modSp mod">
        <pc:chgData name="민창 장" userId="5d9bafdb3db22792" providerId="LiveId" clId="{17DC7D50-165A-4FF4-9666-5329E0E28573}" dt="2024-01-23T03:48:52.113" v="5535" actId="113"/>
        <pc:sldMkLst>
          <pc:docMk/>
          <pc:sldMk cId="2473678069" sldId="363"/>
        </pc:sldMkLst>
      </pc:sldChg>
      <pc:sldChg chg="addSp modSp mod">
        <pc:chgData name="민창 장" userId="5d9bafdb3db22792" providerId="LiveId" clId="{17DC7D50-165A-4FF4-9666-5329E0E28573}" dt="2024-01-24T03:26:18.336" v="9093" actId="113"/>
        <pc:sldMkLst>
          <pc:docMk/>
          <pc:sldMk cId="1782248928" sldId="364"/>
        </pc:sldMkLst>
      </pc:sldChg>
      <pc:sldChg chg="del">
        <pc:chgData name="민창 장" userId="5d9bafdb3db22792" providerId="LiveId" clId="{17DC7D50-165A-4FF4-9666-5329E0E28573}" dt="2024-01-23T03:49:12.214" v="5538" actId="47"/>
        <pc:sldMkLst>
          <pc:docMk/>
          <pc:sldMk cId="811970326" sldId="365"/>
        </pc:sldMkLst>
      </pc:sldChg>
      <pc:sldChg chg="addSp delSp modSp mod">
        <pc:chgData name="민창 장" userId="5d9bafdb3db22792" providerId="LiveId" clId="{17DC7D50-165A-4FF4-9666-5329E0E28573}" dt="2024-01-23T08:22:01.649" v="7024" actId="22"/>
        <pc:sldMkLst>
          <pc:docMk/>
          <pc:sldMk cId="934018134" sldId="366"/>
        </pc:sldMkLst>
      </pc:sldChg>
      <pc:sldChg chg="del">
        <pc:chgData name="민창 장" userId="5d9bafdb3db22792" providerId="LiveId" clId="{17DC7D50-165A-4FF4-9666-5329E0E28573}" dt="2024-01-23T08:26:43.210" v="7241" actId="47"/>
        <pc:sldMkLst>
          <pc:docMk/>
          <pc:sldMk cId="3657472997" sldId="367"/>
        </pc:sldMkLst>
      </pc:sldChg>
      <pc:sldChg chg="addSp delSp modSp mod">
        <pc:chgData name="민창 장" userId="5d9bafdb3db22792" providerId="LiveId" clId="{17DC7D50-165A-4FF4-9666-5329E0E28573}" dt="2024-01-23T08:31:02.462" v="7303" actId="1076"/>
        <pc:sldMkLst>
          <pc:docMk/>
          <pc:sldMk cId="1634326344" sldId="368"/>
        </pc:sldMkLst>
      </pc:sldChg>
      <pc:sldChg chg="modSp mod ord">
        <pc:chgData name="민창 장" userId="5d9bafdb3db22792" providerId="LiveId" clId="{17DC7D50-165A-4FF4-9666-5329E0E28573}" dt="2024-01-23T08:49:21.889" v="7504" actId="20577"/>
        <pc:sldMkLst>
          <pc:docMk/>
          <pc:sldMk cId="584883236" sldId="369"/>
        </pc:sldMkLst>
      </pc:sldChg>
      <pc:sldChg chg="modSp mod">
        <pc:chgData name="민창 장" userId="5d9bafdb3db22792" providerId="LiveId" clId="{17DC7D50-165A-4FF4-9666-5329E0E28573}" dt="2024-01-23T08:35:47.565" v="7393" actId="2711"/>
        <pc:sldMkLst>
          <pc:docMk/>
          <pc:sldMk cId="2904091777" sldId="370"/>
        </pc:sldMkLst>
      </pc:sldChg>
      <pc:sldChg chg="modSp mod">
        <pc:chgData name="민창 장" userId="5d9bafdb3db22792" providerId="LiveId" clId="{17DC7D50-165A-4FF4-9666-5329E0E28573}" dt="2024-01-23T08:35:50.299" v="7394"/>
        <pc:sldMkLst>
          <pc:docMk/>
          <pc:sldMk cId="1364588073" sldId="371"/>
        </pc:sldMkLst>
      </pc:sldChg>
      <pc:sldChg chg="del">
        <pc:chgData name="민창 장" userId="5d9bafdb3db22792" providerId="LiveId" clId="{17DC7D50-165A-4FF4-9666-5329E0E28573}" dt="2024-01-23T08:50:05.761" v="7505" actId="47"/>
        <pc:sldMkLst>
          <pc:docMk/>
          <pc:sldMk cId="2175146869" sldId="481"/>
        </pc:sldMkLst>
      </pc:sldChg>
      <pc:sldChg chg="modSp del mod">
        <pc:chgData name="민창 장" userId="5d9bafdb3db22792" providerId="LiveId" clId="{17DC7D50-165A-4FF4-9666-5329E0E28573}" dt="2024-01-24T03:42:15.309" v="11583" actId="2696"/>
        <pc:sldMkLst>
          <pc:docMk/>
          <pc:sldMk cId="62717282" sldId="482"/>
        </pc:sldMkLst>
      </pc:sldChg>
      <pc:sldChg chg="add">
        <pc:chgData name="민창 장" userId="5d9bafdb3db22792" providerId="LiveId" clId="{17DC7D50-165A-4FF4-9666-5329E0E28573}" dt="2024-01-24T03:42:21.048" v="11584"/>
        <pc:sldMkLst>
          <pc:docMk/>
          <pc:sldMk cId="2686366281" sldId="482"/>
        </pc:sldMkLst>
      </pc:sldChg>
      <pc:sldChg chg="modSp add mod">
        <pc:chgData name="민창 장" userId="5d9bafdb3db22792" providerId="LiveId" clId="{17DC7D50-165A-4FF4-9666-5329E0E28573}" dt="2024-01-23T03:26:27.859" v="2333" actId="113"/>
        <pc:sldMkLst>
          <pc:docMk/>
          <pc:sldMk cId="3717481198" sldId="484"/>
        </pc:sldMkLst>
      </pc:sldChg>
      <pc:sldChg chg="addSp modSp add mod">
        <pc:chgData name="민창 장" userId="5d9bafdb3db22792" providerId="LiveId" clId="{17DC7D50-165A-4FF4-9666-5329E0E28573}" dt="2024-01-23T03:40:33.656" v="3930" actId="571"/>
        <pc:sldMkLst>
          <pc:docMk/>
          <pc:sldMk cId="1056907137" sldId="485"/>
        </pc:sldMkLst>
      </pc:sldChg>
      <pc:sldChg chg="addSp delSp modSp add mod">
        <pc:chgData name="민창 장" userId="5d9bafdb3db22792" providerId="LiveId" clId="{17DC7D50-165A-4FF4-9666-5329E0E28573}" dt="2024-01-23T08:28:23.237" v="7260" actId="14"/>
        <pc:sldMkLst>
          <pc:docMk/>
          <pc:sldMk cId="1536457474" sldId="486"/>
        </pc:sldMkLst>
      </pc:sldChg>
      <pc:sldChg chg="addSp modSp add mod">
        <pc:chgData name="민창 장" userId="5d9bafdb3db22792" providerId="LiveId" clId="{17DC7D50-165A-4FF4-9666-5329E0E28573}" dt="2024-01-23T08:23:06.320" v="7230" actId="20577"/>
        <pc:sldMkLst>
          <pc:docMk/>
          <pc:sldMk cId="4124195116" sldId="487"/>
        </pc:sldMkLst>
      </pc:sldChg>
      <pc:sldChg chg="addSp delSp modSp add del mod">
        <pc:chgData name="민창 장" userId="5d9bafdb3db22792" providerId="LiveId" clId="{17DC7D50-165A-4FF4-9666-5329E0E28573}" dt="2024-01-23T08:26:16.053" v="7236" actId="47"/>
        <pc:sldMkLst>
          <pc:docMk/>
          <pc:sldMk cId="256342280" sldId="488"/>
        </pc:sldMkLst>
      </pc:sldChg>
      <pc:sldChg chg="addSp delSp modSp add mod">
        <pc:chgData name="민창 장" userId="5d9bafdb3db22792" providerId="LiveId" clId="{17DC7D50-165A-4FF4-9666-5329E0E28573}" dt="2024-01-23T08:33:17.705" v="7324" actId="1076"/>
        <pc:sldMkLst>
          <pc:docMk/>
          <pc:sldMk cId="3840230976" sldId="488"/>
        </pc:sldMkLst>
      </pc:sldChg>
      <pc:sldChg chg="addSp delSp modSp add mod">
        <pc:chgData name="민창 장" userId="5d9bafdb3db22792" providerId="LiveId" clId="{17DC7D50-165A-4FF4-9666-5329E0E28573}" dt="2024-01-24T03:25:35.387" v="9092" actId="20577"/>
        <pc:sldMkLst>
          <pc:docMk/>
          <pc:sldMk cId="163841809" sldId="489"/>
        </pc:sldMkLst>
      </pc:sldChg>
      <pc:sldChg chg="delSp modSp add mod">
        <pc:chgData name="민창 장" userId="5d9bafdb3db22792" providerId="LiveId" clId="{17DC7D50-165A-4FF4-9666-5329E0E28573}" dt="2024-01-24T03:32:21.399" v="10473" actId="20577"/>
        <pc:sldMkLst>
          <pc:docMk/>
          <pc:sldMk cId="3608346351" sldId="490"/>
        </pc:sldMkLst>
      </pc:sldChg>
      <pc:sldChg chg="modSp add mod">
        <pc:chgData name="민창 장" userId="5d9bafdb3db22792" providerId="LiveId" clId="{17DC7D50-165A-4FF4-9666-5329E0E28573}" dt="2024-01-24T03:36:51.602" v="11541" actId="20577"/>
        <pc:sldMkLst>
          <pc:docMk/>
          <pc:sldMk cId="3585632024" sldId="491"/>
        </pc:sldMkLst>
      </pc:sldChg>
      <pc:sldChg chg="delSp modSp add mod">
        <pc:chgData name="민창 장" userId="5d9bafdb3db22792" providerId="LiveId" clId="{17DC7D50-165A-4FF4-9666-5329E0E28573}" dt="2024-01-24T03:48:45.573" v="13124" actId="20577"/>
        <pc:sldMkLst>
          <pc:docMk/>
          <pc:sldMk cId="3029753999" sldId="492"/>
        </pc:sldMkLst>
      </pc:sldChg>
    </pc:docChg>
  </pc:docChgLst>
  <pc:docChgLst>
    <pc:chgData name="민창 장" userId="5d9bafdb3db22792" providerId="LiveId" clId="{6CAD51B9-F0F3-A14E-A488-78DFB998EAA2}"/>
    <pc:docChg chg="modSld">
      <pc:chgData name="민창 장" userId="5d9bafdb3db22792" providerId="LiveId" clId="{6CAD51B9-F0F3-A14E-A488-78DFB998EAA2}" dt="2024-10-28T00:15:47.016" v="1"/>
      <pc:docMkLst>
        <pc:docMk/>
      </pc:docMkLst>
      <pc:sldChg chg="modSp mod">
        <pc:chgData name="민창 장" userId="5d9bafdb3db22792" providerId="LiveId" clId="{6CAD51B9-F0F3-A14E-A488-78DFB998EAA2}" dt="2024-10-28T00:15:43.253" v="0"/>
        <pc:sldMkLst>
          <pc:docMk/>
          <pc:sldMk cId="2728948858" sldId="256"/>
        </pc:sldMkLst>
      </pc:sldChg>
      <pc:sldChg chg="modSp mod">
        <pc:chgData name="민창 장" userId="5d9bafdb3db22792" providerId="LiveId" clId="{6CAD51B9-F0F3-A14E-A488-78DFB998EAA2}" dt="2024-10-28T00:15:47.016" v="1"/>
        <pc:sldMkLst>
          <pc:docMk/>
          <pc:sldMk cId="3389288296" sldId="449"/>
        </pc:sldMkLst>
      </pc:sldChg>
    </pc:docChg>
  </pc:docChgLst>
  <pc:docChgLst>
    <pc:chgData name="민창 장" userId="5d9bafdb3db22792" providerId="LiveId" clId="{A244825B-D9AA-494B-99B1-3C3EC9AD03C4}"/>
    <pc:docChg chg="undo custSel addSld delSld modSld">
      <pc:chgData name="민창 장" userId="5d9bafdb3db22792" providerId="LiveId" clId="{A244825B-D9AA-494B-99B1-3C3EC9AD03C4}" dt="2025-05-30T04:28:20.050" v="626" actId="2696"/>
      <pc:docMkLst>
        <pc:docMk/>
      </pc:docMkLst>
      <pc:sldChg chg="del">
        <pc:chgData name="민창 장" userId="5d9bafdb3db22792" providerId="LiveId" clId="{A244825B-D9AA-494B-99B1-3C3EC9AD03C4}" dt="2025-05-30T04:20:50.626" v="0" actId="2696"/>
        <pc:sldMkLst>
          <pc:docMk/>
          <pc:sldMk cId="3806824184" sldId="317"/>
        </pc:sldMkLst>
      </pc:sldChg>
      <pc:sldChg chg="del">
        <pc:chgData name="민창 장" userId="5d9bafdb3db22792" providerId="LiveId" clId="{A244825B-D9AA-494B-99B1-3C3EC9AD03C4}" dt="2025-05-30T04:20:50.633" v="4" actId="2696"/>
        <pc:sldMkLst>
          <pc:docMk/>
          <pc:sldMk cId="3806824184" sldId="318"/>
        </pc:sldMkLst>
      </pc:sldChg>
      <pc:sldChg chg="del">
        <pc:chgData name="민창 장" userId="5d9bafdb3db22792" providerId="LiveId" clId="{A244825B-D9AA-494B-99B1-3C3EC9AD03C4}" dt="2025-05-30T04:20:50.628" v="2" actId="2696"/>
        <pc:sldMkLst>
          <pc:docMk/>
          <pc:sldMk cId="2333048745" sldId="319"/>
        </pc:sldMkLst>
      </pc:sldChg>
      <pc:sldChg chg="del">
        <pc:chgData name="민창 장" userId="5d9bafdb3db22792" providerId="LiveId" clId="{A244825B-D9AA-494B-99B1-3C3EC9AD03C4}" dt="2025-05-30T04:20:50.627" v="1" actId="2696"/>
        <pc:sldMkLst>
          <pc:docMk/>
          <pc:sldMk cId="2333048745" sldId="320"/>
        </pc:sldMkLst>
      </pc:sldChg>
      <pc:sldChg chg="del">
        <pc:chgData name="민창 장" userId="5d9bafdb3db22792" providerId="LiveId" clId="{A244825B-D9AA-494B-99B1-3C3EC9AD03C4}" dt="2025-05-30T04:20:50.629" v="3" actId="2696"/>
        <pc:sldMkLst>
          <pc:docMk/>
          <pc:sldMk cId="2333048745" sldId="321"/>
        </pc:sldMkLst>
      </pc:sldChg>
      <pc:sldChg chg="del">
        <pc:chgData name="민창 장" userId="5d9bafdb3db22792" providerId="LiveId" clId="{A244825B-D9AA-494B-99B1-3C3EC9AD03C4}" dt="2025-05-30T04:20:50.638" v="5" actId="2696"/>
        <pc:sldMkLst>
          <pc:docMk/>
          <pc:sldMk cId="2333048745" sldId="322"/>
        </pc:sldMkLst>
      </pc:sldChg>
      <pc:sldChg chg="del">
        <pc:chgData name="민창 장" userId="5d9bafdb3db22792" providerId="LiveId" clId="{A244825B-D9AA-494B-99B1-3C3EC9AD03C4}" dt="2025-05-30T04:20:50.643" v="6" actId="2696"/>
        <pc:sldMkLst>
          <pc:docMk/>
          <pc:sldMk cId="2333048745" sldId="323"/>
        </pc:sldMkLst>
      </pc:sldChg>
      <pc:sldChg chg="del">
        <pc:chgData name="민창 장" userId="5d9bafdb3db22792" providerId="LiveId" clId="{A244825B-D9AA-494B-99B1-3C3EC9AD03C4}" dt="2025-05-30T04:20:50.646" v="7" actId="2696"/>
        <pc:sldMkLst>
          <pc:docMk/>
          <pc:sldMk cId="2333048745" sldId="324"/>
        </pc:sldMkLst>
      </pc:sldChg>
      <pc:sldChg chg="modSp mod">
        <pc:chgData name="민창 장" userId="5d9bafdb3db22792" providerId="LiveId" clId="{A244825B-D9AA-494B-99B1-3C3EC9AD03C4}" dt="2025-05-30T04:22:04.842" v="26" actId="20577"/>
        <pc:sldMkLst>
          <pc:docMk/>
          <pc:sldMk cId="293641991" sldId="331"/>
        </pc:sldMkLst>
      </pc:sldChg>
      <pc:sldChg chg="modSp add del mod">
        <pc:chgData name="민창 장" userId="5d9bafdb3db22792" providerId="LiveId" clId="{A244825B-D9AA-494B-99B1-3C3EC9AD03C4}" dt="2025-05-30T04:28:20.043" v="625" actId="2696"/>
        <pc:sldMkLst>
          <pc:docMk/>
          <pc:sldMk cId="159922011" sldId="493"/>
        </pc:sldMkLst>
      </pc:sldChg>
      <pc:sldChg chg="addSp modSp add del mod">
        <pc:chgData name="민창 장" userId="5d9bafdb3db22792" providerId="LiveId" clId="{A244825B-D9AA-494B-99B1-3C3EC9AD03C4}" dt="2025-05-30T04:28:20.050" v="626" actId="2696"/>
        <pc:sldMkLst>
          <pc:docMk/>
          <pc:sldMk cId="3811240099" sldId="494"/>
        </pc:sldMkLst>
      </pc:sldChg>
      <pc:sldChg chg="delSp modSp add del mod">
        <pc:chgData name="민창 장" userId="5d9bafdb3db22792" providerId="LiveId" clId="{A244825B-D9AA-494B-99B1-3C3EC9AD03C4}" dt="2025-05-30T04:28:08.878" v="624" actId="2696"/>
        <pc:sldMkLst>
          <pc:docMk/>
          <pc:sldMk cId="2484993844" sldId="495"/>
        </pc:sldMkLst>
      </pc:sldChg>
    </pc:docChg>
  </pc:docChgLst>
  <pc:docChgLst>
    <pc:chgData name="민창 장" userId="5d9bafdb3db22792" providerId="LiveId" clId="{2A3736B9-102E-E340-91A2-807B6C98EF51}"/>
    <pc:docChg chg="modSld">
      <pc:chgData name="민창 장" userId="5d9bafdb3db22792" providerId="LiveId" clId="{2A3736B9-102E-E340-91A2-807B6C98EF51}" dt="2025-08-20T01:02:29.901" v="1" actId="1076"/>
      <pc:docMkLst>
        <pc:docMk/>
      </pc:docMkLst>
      <pc:sldChg chg="modSp">
        <pc:chgData name="민창 장" userId="5d9bafdb3db22792" providerId="LiveId" clId="{2A3736B9-102E-E340-91A2-807B6C98EF51}" dt="2025-08-20T01:02:29.901" v="1" actId="1076"/>
        <pc:sldMkLst>
          <pc:docMk/>
          <pc:sldMk cId="460108584" sldId="356"/>
        </pc:sldMkLst>
        <pc:spChg chg="mod">
          <ac:chgData name="민창 장" userId="5d9bafdb3db22792" providerId="LiveId" clId="{2A3736B9-102E-E340-91A2-807B6C98EF51}" dt="2025-08-20T01:02:29.901" v="1" actId="1076"/>
          <ac:spMkLst>
            <pc:docMk/>
            <pc:sldMk cId="460108584" sldId="356"/>
            <ac:spMk id="1843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EEC10581-8799-4BCF-BA5C-32D535CA111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092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3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93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3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928F6D0-3BA7-45BF-8171-AB2DF1A0CAA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03884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9981-A944-30E8-9EBD-1328DF83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436E2AD6-D1C9-B3C2-ED94-B897F369E0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C8FA386-171D-4528-A583-1699D90C3C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DBA1632-087A-A126-0494-6532E6E54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47302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CA39-A541-1A58-7172-38BA35AF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CFB8C09F-22AE-133D-27F6-F9F883437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33F2FF1-B791-BF47-088D-9D9EE1994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7704E90-5809-0414-3665-B7065DCD8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829659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2844-2F6C-B8AD-07A9-A8EDDF22B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09ED67-DF38-DAB5-A3C0-0ACF683853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97E3B92-D1F0-2AD5-FE82-E787BAE9A4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6DBF4FA-8714-A067-A361-428836710B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57456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044C-66BB-C142-1D33-D740D0A1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5753FBD2-0C8C-A0CC-2F08-E294EA0649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11FFB36-392D-222C-F37C-91B0F39B1C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8B244E3-44F0-5B31-11BC-94230CF7F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33311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272710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119EA-1F63-BF6F-7141-15DA315AA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5A41DD5-E792-C811-1EEC-83872597FF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571C564-3740-6BD8-2D61-53E1140989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602E33C-C603-0F8D-251F-E54861925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355556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7886-70D5-5662-9FC5-39055FD5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7CA3AE9-2B7D-E86D-8D9D-7373571BB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817C97-EFE9-3AC3-2B28-CA98C6A23E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675304C-2F75-9FE9-0DCE-90D7EEE6B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18100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6164-E9E6-9440-6412-C24D16838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DE56349-4B77-874C-D540-C5EF031A57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58104D14-9CF3-275A-CF2A-DA47298F0F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C109A4E-DF89-1E75-39BC-2A482865A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3019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AE62A-77D6-3B92-C87D-166E8C5A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14E77ACB-1EC3-7891-CCE1-CD40B0FEE6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75FBDC3-3F66-3A27-13A8-A87192671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1120350-3981-8E94-4CED-7ED77F7E0C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226286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D358D-D814-147A-5B82-38BC821B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1BCCF07C-B1C8-B499-7E02-BBE42410E0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34DF3C6-25CD-0774-ED81-D4E78CA637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697CD68-1DA3-78BA-95C1-52ED0F088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25109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1B63B-56E0-DB0F-9A28-A6687C31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8524AF54-34DA-02B1-9340-EBC38CC8EF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A422835-C15F-31DB-296A-E0ED0825B7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E5D4973-65B3-7098-03C8-CE6371B92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87972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069F-7D68-226A-DCC2-E2106413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6CC870A-29B6-2269-423A-9647E673AA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1AF40EA-B4BC-E39D-4C45-02412B7E8A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33898A2-043A-D164-FDFC-F1B28E477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147584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B615-D704-8172-DB22-D09E58BB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6D25B7B9-7BD0-6FBE-96E3-2E7FF90A3B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BA22BDF-B542-E996-7CD5-7E25895F7E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6CFF5F9-13C9-7CCC-8FAB-B9DDF09F6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111413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B4B4-D234-BCDE-988F-0DA12059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8E3E311-6DE0-62E8-E8CC-ACFE9A9986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0C6C581-B003-37F7-F3DC-F6899EF2FD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7C2890F-3A69-AB62-0F2D-659BA8C24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131308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67794-7136-48B3-6421-445871C89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437591-4779-D3E2-2157-6DAB14E741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66D97E-A160-445C-8C3B-44AF21BFD3B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1A1FADD-56F0-90AD-35A2-A23C3B9B53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0818BCC-75EA-492E-6CB1-23CAF61AF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785274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DEAF27-254F-4354-AC3C-85A74927C43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33778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9CBE4E-AF75-4965-9A7D-EF22CA271D94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5305181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4516C-1683-9B08-BC6E-25218065E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1BE796F9-E07E-626C-2FD3-540778375A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9CBE4E-AF75-4965-9A7D-EF22CA271D94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716CF7DF-C965-300C-AB83-9E96431DDB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7E6B3DF-3AB0-9BF4-8411-BBC7771A8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71403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18DDD-0BB4-5A90-CE4F-F51A12F2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DD00DA49-A363-9621-E7D7-484ECFE4F9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9CBE4E-AF75-4965-9A7D-EF22CA271D94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C60D721-8280-54B5-D0BE-1337FD53E6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693269C-5BFA-DEBE-E98A-FBCA0C809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278674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B06A-E5B9-5112-45FC-D1CEF8EB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6B139759-A170-15CC-45B0-73102EF506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9CBE4E-AF75-4965-9A7D-EF22CA271D94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57AFFB0-FD9D-C49E-A999-5D1F0A75F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0B333B0-CB33-CC1F-A3AA-187E82C45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3095522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55D568-A3B8-4B54-88DF-40CDEFB827D8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9499274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122CC-101D-1955-15FB-22C78981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2F7B412-0703-9F27-DFF9-D5E045F17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55D568-A3B8-4B54-88DF-40CDEFB827D8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7B29196-CCDC-4466-84D8-7A787658BD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03034BB-160B-8C93-47F5-6C703F968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0816593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AFEEED-1FA7-479C-A775-86A6A263ED92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6396937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950061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FC84-A90D-388E-96C1-24280E36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8B506D1-A6F2-1BDF-FCA0-C635E3F5F5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20CAF983-E740-4B60-700E-A87FC5546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1D00D05-EAB4-6F50-3F57-63F27CAE7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418354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F156C-8DD7-DB50-AAB1-7097EB4B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2D72ED7F-F840-4112-0F9C-7CC94D17DF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4B4F5CF1-B86B-2DC2-C9E1-2B2D17A460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890365D-6B3F-4E9A-9684-65BCCE039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6140872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9C3A-C12D-0298-76CA-1DCA7E1B4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CE211402-C069-DF56-7DF3-CDDB2BFE6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077A1E5-7D60-C26E-D7C2-43E552A1DA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B5E1E07-F45B-5015-A878-A3C3E3E65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89843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B436-1DAA-0860-79F4-FDA80343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C277F65-E0E9-4558-A06A-8290186BB0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9FB55E50-B0C8-110D-38E4-D6B401BB59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41C7EB5-97F0-68DB-8C59-128825C15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49010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C5AE4-F60A-BE3C-9BBD-98F9852F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A26B4977-802A-1F3B-F3A4-292D363553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30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D6653CA-0E48-3FEE-78FA-B2CD4BB019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253BD5A-238B-82FC-626B-EC002F6C8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930255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7B786-7551-5615-B3BB-E625A42E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AA43485-C244-F882-66F7-F15B6947DB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BBD04AC-3D02-4BBC-1CF4-D2F9AB834C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4613229-75BE-AFF0-419B-B20A18590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6675052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4DEF0-E3B1-B37D-5F7E-80BB3A41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3E136F42-9B0D-5A0C-EC4E-1F56BBC3D6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43C3BE5-DACB-710B-B940-01DBFB56AC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8E92C67-195B-BF47-1862-10DA272C9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6655675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347F8-D67E-2508-7B0A-B486F895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B0D32D8-BA18-35BE-4765-45D3543C9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D173DED-518E-359B-560D-DDF90C424E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83CE1F2-A7E1-3023-648F-AEA8B7DB4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5177205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2922F-96B8-F81E-5B0B-734F5054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1050138E-84AF-0C13-F1B5-C49F0D0178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B4B94E8E-258D-B14F-5B67-9EC229F194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030A4166-D748-15F2-89CD-C15AA13FE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209717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E2A898-CE67-4043-B7B4-99B8CFA196B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6175351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83B2AB-0CBE-4C46-B45A-11EAD7E17DFA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058139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83B2AB-0CBE-4C46-B45A-11EAD7E17DFA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37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334518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5046F3-4E80-41DA-8A73-FFCA7FD1667F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38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255457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2F3CB2-E810-448E-9514-B659F51FA4B0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39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625808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E1ACB9-643A-4389-B190-080A10086398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40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309514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A86FC9-0066-48FF-8DA0-C36CFC839BFB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41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512236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A86FC9-0066-48FF-8DA0-C36CFC839BFB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42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009383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AB0509-CFE8-4622-82B6-EC3317804247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43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400737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82042D-D567-41F4-8726-7626F15A289C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44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1018823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2FEDF9-4835-415D-B6F1-199BB419B06C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45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546693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2FEDF9-4835-415D-B6F1-199BB419B06C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46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175671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0F3DB3F-ADE2-413D-AE2E-1FDD3D9F06A2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47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4376421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E4F02E-8420-4AF3-8814-6B1396375AA3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48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775553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AC8CC7-6B3B-497E-8314-4616C1EA423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49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638862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D25597-A065-4CC5-91C9-A0F059E85B4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50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9722858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D25597-A065-4CC5-91C9-A0F059E85B4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51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06982911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D25597-A065-4CC5-91C9-A0F059E85B49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52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576263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10F000-CA28-43C4-B801-8A314F17292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53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830365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10F000-CA28-43C4-B801-8A314F17292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54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82758795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10F000-CA28-43C4-B801-8A314F17292E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55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1898054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9A35A1F-A8CE-40B1-AF8B-FEF565BED58A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56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90891952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C8E6B7-077E-465A-B55B-6AF18CBD2E1B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57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172859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C8E6B7-077E-465A-B55B-6AF18CBD2E1B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58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591929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2C95E3-3897-40BA-BBC7-DDE5C3349951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59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5601537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E1426E-E207-4AD8-B7A3-DF8622E48024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60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2783461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BDB660-9171-4833-A3F8-B0F5FA56E871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61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0383294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383037-03B5-46F6-969E-77AE89ECDD00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62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21310080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70A84B-A67E-43F9-AC87-0833221F0B9A}" type="slidenum">
              <a:rPr lang="en-GB" altLang="ko-K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63</a:t>
            </a:fld>
            <a:endParaRPr lang="en-GB" altLang="ko-KR"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952810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79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28F6D0-3BA7-45BF-8171-AB2DF1A0CAA6}" type="slidenum">
              <a:rPr lang="ko-KR" altLang="en-US" smtClean="0"/>
              <a:pPr>
                <a:defRPr/>
              </a:pPr>
              <a:t>83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6865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79049" y="6485744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4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00" y="1249200"/>
            <a:ext cx="8593200" cy="54778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5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70426" y="6485744"/>
            <a:ext cx="2057400" cy="365125"/>
          </a:xfrm>
        </p:spPr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A06F3B3-F8E6-1FA4-465E-B152A3E3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200535"/>
            <a:ext cx="8833104" cy="604138"/>
          </a:xfrm>
        </p:spPr>
        <p:txBody>
          <a:bodyPr/>
          <a:lstStyle>
            <a:lvl1pPr>
              <a:defRPr sz="36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93F961-05B8-48DF-B628-A54B3B6FA5E0}"/>
              </a:ext>
            </a:extLst>
          </p:cNvPr>
          <p:cNvSpPr/>
          <p:nvPr userDrawn="1"/>
        </p:nvSpPr>
        <p:spPr>
          <a:xfrm>
            <a:off x="73891" y="986281"/>
            <a:ext cx="9023932" cy="626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14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82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54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40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20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86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33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3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00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823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텍스트 슬라이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09600"/>
            <a:ext cx="8851392" cy="404949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04800" y="76200"/>
            <a:ext cx="7162800" cy="74869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489562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4B97E7D-1882-4ACF-B7E5-A0FDB004281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229600" cy="51054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61831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이미지 슬라이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09600"/>
            <a:ext cx="8851392" cy="404949"/>
          </a:xfrm>
          <a:prstGeom prst="rect">
            <a:avLst/>
          </a:prstGeom>
        </p:spPr>
      </p:pic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304800" y="76200"/>
            <a:ext cx="7162800" cy="74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4B97E7D-1882-4ACF-B7E5-A0FDB00428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37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 userDrawn="1"/>
        </p:nvGrpSpPr>
        <p:grpSpPr>
          <a:xfrm>
            <a:off x="-9525" y="0"/>
            <a:ext cx="9089517" cy="6858000"/>
            <a:chOff x="-9525" y="0"/>
            <a:chExt cx="9089517" cy="6858000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609600"/>
              <a:ext cx="8851392" cy="404949"/>
            </a:xfrm>
            <a:prstGeom prst="rect">
              <a:avLst/>
            </a:prstGeom>
          </p:spPr>
        </p:pic>
        <p:sp>
          <p:nvSpPr>
            <p:cNvPr id="6" name="Rectangle 7" descr="Light horizontal"/>
            <p:cNvSpPr>
              <a:spLocks noChangeArrowheads="1"/>
            </p:cNvSpPr>
            <p:nvPr userDrawn="1"/>
          </p:nvSpPr>
          <p:spPr bwMode="gray">
            <a:xfrm>
              <a:off x="-9525" y="0"/>
              <a:ext cx="238125" cy="6858000"/>
            </a:xfrm>
            <a:prstGeom prst="rect">
              <a:avLst/>
            </a:prstGeom>
            <a:pattFill prst="ltHorz">
              <a:fgClr>
                <a:srgbClr val="C0C0C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latinLnBrk="1">
                <a:defRPr/>
              </a:pPr>
              <a:endParaRPr lang="ko-KR" altLang="en-US">
                <a:solidFill>
                  <a:srgbClr val="1D4940"/>
                </a:solidFill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9484" y="139337"/>
            <a:ext cx="8523515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304800" y="990600"/>
            <a:ext cx="844366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텍스트 개체 틀 6"/>
          <p:cNvSpPr txBox="1">
            <a:spLocks/>
          </p:cNvSpPr>
          <p:nvPr userDrawn="1"/>
        </p:nvSpPr>
        <p:spPr>
          <a:xfrm>
            <a:off x="8458200" y="6400800"/>
            <a:ext cx="685800" cy="381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fld id="{2C3EA781-EB16-4297-ACE2-F5D7FECAB377}" type="slidenum">
              <a:rPr lang="ko-KR" altLang="en-US" sz="1800" smtClean="0"/>
              <a:pPr fontAlgn="auto">
                <a:spcAft>
                  <a:spcPts val="0"/>
                </a:spcAft>
              </a:pPr>
              <a:t>‹#›</a:t>
            </a:fld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4093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48382"/>
            <a:ext cx="7886700" cy="5585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28312"/>
            <a:ext cx="8593200" cy="547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9047" y="6485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D7398-607C-407A-8D67-83D151584F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39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8" r:id="rId12"/>
    <p:sldLayoutId id="2147484019" r:id="rId13"/>
    <p:sldLayoutId id="2147484020" r:id="rId1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tmp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tmp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tmp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tmp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DBMS</a:t>
            </a:r>
            <a:endParaRPr lang="ko-KR" altLang="en-US" dirty="0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232881"/>
          </a:xfrm>
        </p:spPr>
        <p:txBody>
          <a:bodyPr>
            <a:normAutofit/>
          </a:bodyPr>
          <a:lstStyle/>
          <a:p>
            <a:r>
              <a:rPr lang="en-US" altLang="ko-KR" sz="3000" dirty="0" err="1">
                <a:latin typeface="+mj-ea"/>
                <a:ea typeface="+mj-ea"/>
              </a:rPr>
              <a:t>DataBase</a:t>
            </a:r>
            <a:r>
              <a:rPr lang="en-US" altLang="ko-KR" sz="3000" dirty="0">
                <a:latin typeface="+mj-ea"/>
                <a:ea typeface="+mj-ea"/>
              </a:rPr>
              <a:t> Management System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장민창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 err="1">
                <a:latin typeface="+mj-ea"/>
                <a:ea typeface="+mj-ea"/>
              </a:rPr>
              <a:t>codemakers.kr@gmail.com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D3F32A-7348-7DF9-202C-EB5A33E0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4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0A0D3-972B-FAE8-34C1-519CC290B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3C20B69D-701A-9EB0-3C37-F95A9575AD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</a:t>
            </a:r>
            <a:r>
              <a:rPr lang="en-US" altLang="ko-KR" dirty="0" err="1">
                <a:cs typeface="Arial" panose="020B0604020202020204" pitchFamily="34" charset="0"/>
              </a:rPr>
              <a:t>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Data?</a:t>
            </a:r>
          </a:p>
          <a:p>
            <a:pPr lvl="1" eaLnBrk="1" hangingPunct="1">
              <a:defRPr/>
            </a:pPr>
            <a:r>
              <a:rPr lang="en-US" altLang="ko-KR" dirty="0" err="1">
                <a:cs typeface="Arial" panose="020B0604020202020204" pitchFamily="34" charset="0"/>
              </a:rPr>
              <a:t>DataBase</a:t>
            </a:r>
            <a:r>
              <a:rPr lang="ko-KR" altLang="en-US" dirty="0" err="1">
                <a:cs typeface="Arial" panose="020B0604020202020204" pitchFamily="34" charset="0"/>
              </a:rPr>
              <a:t>에</a:t>
            </a:r>
            <a:r>
              <a:rPr lang="ko-KR" altLang="en-US" dirty="0">
                <a:cs typeface="Arial" panose="020B0604020202020204" pitchFamily="34" charset="0"/>
              </a:rPr>
              <a:t> 저장하는 단일 값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처리</a:t>
            </a:r>
            <a:r>
              <a:rPr lang="en-US" altLang="ko-KR" dirty="0">
                <a:cs typeface="Arial" panose="020B0604020202020204" pitchFamily="34" charset="0"/>
              </a:rPr>
              <a:t>(Process)</a:t>
            </a:r>
            <a:r>
              <a:rPr lang="ko-KR" altLang="en-US" dirty="0">
                <a:cs typeface="Arial" panose="020B0604020202020204" pitchFamily="34" charset="0"/>
              </a:rPr>
              <a:t>가 일어나기 전의 무의미한 값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26826CB9-48F7-7189-6FC4-DF6C45361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2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8AF7FC3D-36A1-8977-4AAF-2E22A8CFC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7DBD68-A5AD-10D2-1E1B-FFAD2127F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687" y="3810000"/>
            <a:ext cx="6384626" cy="989924"/>
          </a:xfrm>
          <a:prstGeom prst="rect">
            <a:avLst/>
          </a:prstGeom>
        </p:spPr>
      </p:pic>
      <p:sp>
        <p:nvSpPr>
          <p:cNvPr id="9" name="사각형 설명선[R] 8">
            <a:extLst>
              <a:ext uri="{FF2B5EF4-FFF2-40B4-BE49-F238E27FC236}">
                <a16:creationId xmlns:a16="http://schemas.microsoft.com/office/drawing/2014/main" id="{CD6B8D28-65E1-BD2D-774A-42519B7A5C21}"/>
              </a:ext>
            </a:extLst>
          </p:cNvPr>
          <p:cNvSpPr/>
          <p:nvPr/>
        </p:nvSpPr>
        <p:spPr>
          <a:xfrm>
            <a:off x="3429000" y="4799924"/>
            <a:ext cx="1524000" cy="686476"/>
          </a:xfrm>
          <a:prstGeom prst="wedgeRectCallout">
            <a:avLst>
              <a:gd name="adj1" fmla="val 21475"/>
              <a:gd name="adj2" fmla="val -82611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이 값은 어떤 의미인지 알 수 없다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10" name="사각형 설명선[R] 9">
            <a:extLst>
              <a:ext uri="{FF2B5EF4-FFF2-40B4-BE49-F238E27FC236}">
                <a16:creationId xmlns:a16="http://schemas.microsoft.com/office/drawing/2014/main" id="{A01B54A5-103A-18A2-747B-AF50D8B2D9AC}"/>
              </a:ext>
            </a:extLst>
          </p:cNvPr>
          <p:cNvSpPr/>
          <p:nvPr/>
        </p:nvSpPr>
        <p:spPr>
          <a:xfrm>
            <a:off x="5410200" y="2742524"/>
            <a:ext cx="1524000" cy="686476"/>
          </a:xfrm>
          <a:prstGeom prst="wedgeRectCallout">
            <a:avLst>
              <a:gd name="adj1" fmla="val 13013"/>
              <a:gd name="adj2" fmla="val 91576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이 값은 어떤 의미인지 알 수 없다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27151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68AE-7590-C7F6-8F15-8425C899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E7734D68-B8E4-656F-99AC-8F376D0E36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</a:t>
            </a:r>
            <a:r>
              <a:rPr lang="en-US" altLang="ko-KR" dirty="0" err="1">
                <a:cs typeface="Arial" panose="020B0604020202020204" pitchFamily="34" charset="0"/>
              </a:rPr>
              <a:t>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 + Data = Information</a:t>
            </a:r>
          </a:p>
          <a:p>
            <a:pPr lvl="1"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여러 데이터들을 묶어 </a:t>
            </a:r>
            <a:r>
              <a:rPr lang="ko-KR" altLang="en-US" b="1" u="sng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의미를 가지도록 처리</a:t>
            </a:r>
            <a:r>
              <a:rPr lang="ko-KR" altLang="en-US" dirty="0">
                <a:cs typeface="Arial" panose="020B0604020202020204" pitchFamily="34" charset="0"/>
              </a:rPr>
              <a:t>한 값들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C3C7D52A-63D3-2070-9D8D-F511C98A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3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A62ECC72-F074-3492-98C1-28CB8E8E1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2" name="사각형 설명선[R] 1">
            <a:extLst>
              <a:ext uri="{FF2B5EF4-FFF2-40B4-BE49-F238E27FC236}">
                <a16:creationId xmlns:a16="http://schemas.microsoft.com/office/drawing/2014/main" id="{62856A82-EC71-53AA-1D8F-66826740B334}"/>
              </a:ext>
            </a:extLst>
          </p:cNvPr>
          <p:cNvSpPr/>
          <p:nvPr/>
        </p:nvSpPr>
        <p:spPr>
          <a:xfrm>
            <a:off x="2574600" y="2514600"/>
            <a:ext cx="1997400" cy="686476"/>
          </a:xfrm>
          <a:prstGeom prst="wedgeRectCallout">
            <a:avLst>
              <a:gd name="adj1" fmla="val 21475"/>
              <a:gd name="adj2" fmla="val -82611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Device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의 화면의 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Form 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으로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표시하거나 보고서로 종이에 인쇄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8803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A4140-1D89-1F3D-D4CF-2707A2E8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4A42B4EE-29C2-ED57-34DF-6EE9B80454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</a:t>
            </a:r>
            <a:r>
              <a:rPr lang="en-US" altLang="ko-KR" dirty="0" err="1">
                <a:cs typeface="Arial" panose="020B0604020202020204" pitchFamily="34" charset="0"/>
              </a:rPr>
              <a:t>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 + Data = Information</a:t>
            </a:r>
          </a:p>
          <a:p>
            <a:pPr lvl="1"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여러 데이터들을 묶어 </a:t>
            </a:r>
            <a:r>
              <a:rPr lang="ko-KR" altLang="en-US" b="1" u="sng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의미를 가지도록 처리</a:t>
            </a:r>
            <a:r>
              <a:rPr lang="ko-KR" altLang="en-US" dirty="0">
                <a:cs typeface="Arial" panose="020B0604020202020204" pitchFamily="34" charset="0"/>
              </a:rPr>
              <a:t>한 값들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B12ADA1C-95EC-E8D7-BAF7-CBD6468A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4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5732094A-1852-DE28-B8B2-942CF369D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2" name="사각형 설명선[R] 1">
            <a:extLst>
              <a:ext uri="{FF2B5EF4-FFF2-40B4-BE49-F238E27FC236}">
                <a16:creationId xmlns:a16="http://schemas.microsoft.com/office/drawing/2014/main" id="{9FDCF969-B56E-9325-09AC-D03B023268BD}"/>
              </a:ext>
            </a:extLst>
          </p:cNvPr>
          <p:cNvSpPr/>
          <p:nvPr/>
        </p:nvSpPr>
        <p:spPr>
          <a:xfrm>
            <a:off x="2574600" y="2514600"/>
            <a:ext cx="1997400" cy="686476"/>
          </a:xfrm>
          <a:prstGeom prst="wedgeRectCallout">
            <a:avLst>
              <a:gd name="adj1" fmla="val 21475"/>
              <a:gd name="adj2" fmla="val -82611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Device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의 화면의 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Form 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으로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표시하거나 보고서로 종이에 인쇄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1C2480-66AD-91F8-3E9A-DC5CF53A4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7074"/>
            <a:ext cx="7239000" cy="4771571"/>
          </a:xfrm>
          <a:prstGeom prst="rect">
            <a:avLst/>
          </a:prstGeom>
        </p:spPr>
      </p:pic>
      <p:sp>
        <p:nvSpPr>
          <p:cNvPr id="4" name="사각형 설명선[R] 3">
            <a:extLst>
              <a:ext uri="{FF2B5EF4-FFF2-40B4-BE49-F238E27FC236}">
                <a16:creationId xmlns:a16="http://schemas.microsoft.com/office/drawing/2014/main" id="{AF1A1B16-598D-34D5-F256-64F3B77C48E7}"/>
              </a:ext>
            </a:extLst>
          </p:cNvPr>
          <p:cNvSpPr/>
          <p:nvPr/>
        </p:nvSpPr>
        <p:spPr>
          <a:xfrm>
            <a:off x="5486400" y="1189900"/>
            <a:ext cx="2378400" cy="686476"/>
          </a:xfrm>
          <a:prstGeom prst="wedgeRectCallout">
            <a:avLst>
              <a:gd name="adj1" fmla="val 6215"/>
              <a:gd name="adj2" fmla="val 94992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Data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에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의미를 부여함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George Edelman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은 환자의 이름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5" name="사각형 설명선[R] 4">
            <a:extLst>
              <a:ext uri="{FF2B5EF4-FFF2-40B4-BE49-F238E27FC236}">
                <a16:creationId xmlns:a16="http://schemas.microsoft.com/office/drawing/2014/main" id="{23424FFD-0D69-F01B-9B34-BFEAB2DEE319}"/>
              </a:ext>
            </a:extLst>
          </p:cNvPr>
          <p:cNvSpPr/>
          <p:nvPr/>
        </p:nvSpPr>
        <p:spPr>
          <a:xfrm>
            <a:off x="5486400" y="3301670"/>
            <a:ext cx="2378400" cy="686476"/>
          </a:xfrm>
          <a:prstGeom prst="wedgeRectCallout">
            <a:avLst>
              <a:gd name="adj1" fmla="val 7201"/>
              <a:gd name="adj2" fmla="val -91149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Data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에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의미를 부여함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05/16/96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은 환자가 방문한 날짜</a:t>
            </a:r>
          </a:p>
        </p:txBody>
      </p:sp>
      <p:sp>
        <p:nvSpPr>
          <p:cNvPr id="6" name="사각형 설명선[R] 5">
            <a:extLst>
              <a:ext uri="{FF2B5EF4-FFF2-40B4-BE49-F238E27FC236}">
                <a16:creationId xmlns:a16="http://schemas.microsoft.com/office/drawing/2014/main" id="{460EBC0C-C279-64C2-912F-714CCBA1CEF9}"/>
              </a:ext>
            </a:extLst>
          </p:cNvPr>
          <p:cNvSpPr/>
          <p:nvPr/>
        </p:nvSpPr>
        <p:spPr>
          <a:xfrm>
            <a:off x="1066800" y="4562314"/>
            <a:ext cx="2378400" cy="686476"/>
          </a:xfrm>
          <a:prstGeom prst="wedgeRectCallout">
            <a:avLst>
              <a:gd name="adj1" fmla="val 24452"/>
              <a:gd name="adj2" fmla="val -106519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Data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에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의미를 부여함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92883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은 의사의 진찰 코드</a:t>
            </a:r>
          </a:p>
        </p:txBody>
      </p:sp>
      <p:sp>
        <p:nvSpPr>
          <p:cNvPr id="7" name="사각형 설명선[R] 6">
            <a:extLst>
              <a:ext uri="{FF2B5EF4-FFF2-40B4-BE49-F238E27FC236}">
                <a16:creationId xmlns:a16="http://schemas.microsoft.com/office/drawing/2014/main" id="{8230F6AF-C9D4-0947-609D-C1ACBDE7FCE3}"/>
              </a:ext>
            </a:extLst>
          </p:cNvPr>
          <p:cNvSpPr/>
          <p:nvPr/>
        </p:nvSpPr>
        <p:spPr>
          <a:xfrm>
            <a:off x="2193600" y="3132126"/>
            <a:ext cx="2378400" cy="686476"/>
          </a:xfrm>
          <a:prstGeom prst="wedgeRectCallout">
            <a:avLst>
              <a:gd name="adj1" fmla="val 30366"/>
              <a:gd name="adj2" fmla="val 98407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Data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에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의미를 부여함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kumimoji="1" lang="en-US" altLang="ko-KR" sz="1200" b="0" dirty="0">
                <a:solidFill>
                  <a:schemeClr val="tx1"/>
                </a:solidFill>
              </a:rPr>
              <a:t>95.00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은 진찰 비용</a:t>
            </a:r>
          </a:p>
        </p:txBody>
      </p:sp>
    </p:spTree>
    <p:extLst>
      <p:ext uri="{BB962C8B-B14F-4D97-AF65-F5344CB8AC3E}">
        <p14:creationId xmlns:p14="http://schemas.microsoft.com/office/powerpoint/2010/main" val="38881370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CA033-2FBF-A79C-C53A-ED7A69BD9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F714A43D-D8AD-16D1-8025-488998727C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</a:t>
            </a:r>
            <a:r>
              <a:rPr lang="en-US" altLang="ko-KR" dirty="0" err="1">
                <a:cs typeface="Arial" panose="020B0604020202020204" pitchFamily="34" charset="0"/>
              </a:rPr>
              <a:t>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데이터와 정보의 차이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FFE60750-960A-FFB9-DD84-228526EC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5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7333B1AC-3C4C-F837-302F-4E1A06800A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E9C597-59D6-66A4-0F3B-AD54F5900BA8}"/>
              </a:ext>
            </a:extLst>
          </p:cNvPr>
          <p:cNvSpPr/>
          <p:nvPr/>
        </p:nvSpPr>
        <p:spPr>
          <a:xfrm>
            <a:off x="1447800" y="2709350"/>
            <a:ext cx="28956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</a:t>
            </a:r>
            <a:endParaRPr kumimoji="1" lang="en-US" altLang="ko-KR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ko-KR" altLang="en-US" sz="3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저장하는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6DFAD9-0230-D8FC-D72B-15A9ABD32AF5}"/>
              </a:ext>
            </a:extLst>
          </p:cNvPr>
          <p:cNvSpPr/>
          <p:nvPr/>
        </p:nvSpPr>
        <p:spPr>
          <a:xfrm>
            <a:off x="4800600" y="2709350"/>
            <a:ext cx="2895600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정보</a:t>
            </a:r>
            <a:endParaRPr kumimoji="1" lang="en-US" altLang="ko-KR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ko-KR" altLang="en-US" sz="30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추출하는 것</a:t>
            </a:r>
          </a:p>
        </p:txBody>
      </p:sp>
    </p:spTree>
    <p:extLst>
      <p:ext uri="{BB962C8B-B14F-4D97-AF65-F5344CB8AC3E}">
        <p14:creationId xmlns:p14="http://schemas.microsoft.com/office/powerpoint/2010/main" val="42934651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Database?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6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96E8B9-33A9-0BDA-E914-C9853679F0B4}"/>
              </a:ext>
            </a:extLst>
          </p:cNvPr>
          <p:cNvSpPr/>
          <p:nvPr/>
        </p:nvSpPr>
        <p:spPr>
          <a:xfrm>
            <a:off x="981502" y="2057400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어떤 종류의 조직 또는 조직의 프로세스를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b="0" dirty="0">
                <a:solidFill>
                  <a:schemeClr val="tx1"/>
                </a:solidFill>
              </a:rPr>
              <a:t>모델링하기 위한 목적으로 사용되는 조직적으로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3322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010B-9DCE-EE4C-E6B0-196CB4AC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FE2D1D82-6160-ACA2-66A7-EA60C1E019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Database?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01BDD5FF-85A4-736B-D00C-883BC545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7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BB9A7F61-9CED-0E31-CFA3-BA85ABB5E7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E8F59B-0544-DA0B-F317-3447F2840BD3}"/>
              </a:ext>
            </a:extLst>
          </p:cNvPr>
          <p:cNvSpPr/>
          <p:nvPr/>
        </p:nvSpPr>
        <p:spPr>
          <a:xfrm>
            <a:off x="981502" y="2057400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어떤 종류의 </a:t>
            </a:r>
            <a:r>
              <a:rPr kumimoji="1" lang="ko-KR" altLang="en-US" sz="1800" u="sng" dirty="0">
                <a:solidFill>
                  <a:schemeClr val="accent2">
                    <a:lumMod val="75000"/>
                  </a:schemeClr>
                </a:solidFill>
              </a:rPr>
              <a:t>조직</a:t>
            </a:r>
            <a:r>
              <a:rPr kumimoji="1" lang="ko-KR" altLang="en-US" sz="1800" b="0" dirty="0">
                <a:solidFill>
                  <a:schemeClr val="tx1"/>
                </a:solidFill>
              </a:rPr>
              <a:t> 또는 조직의 프로세스를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b="0" dirty="0">
                <a:solidFill>
                  <a:schemeClr val="tx1"/>
                </a:solidFill>
              </a:rPr>
              <a:t>모델링하기 위한 목적으로 사용되는 조직적으로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사각형 설명선[R] 1">
            <a:extLst>
              <a:ext uri="{FF2B5EF4-FFF2-40B4-BE49-F238E27FC236}">
                <a16:creationId xmlns:a16="http://schemas.microsoft.com/office/drawing/2014/main" id="{BFB045EA-9E55-6CAE-8708-526C546879DD}"/>
              </a:ext>
            </a:extLst>
          </p:cNvPr>
          <p:cNvSpPr/>
          <p:nvPr/>
        </p:nvSpPr>
        <p:spPr>
          <a:xfrm>
            <a:off x="3581400" y="1612873"/>
            <a:ext cx="1828800" cy="383665"/>
          </a:xfrm>
          <a:prstGeom prst="wedgeRectCallout">
            <a:avLst>
              <a:gd name="adj1" fmla="val -30503"/>
              <a:gd name="adj2" fmla="val 119230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쇼핑몰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,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블로그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,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회사 등</a:t>
            </a:r>
          </a:p>
        </p:txBody>
      </p:sp>
    </p:spTree>
    <p:extLst>
      <p:ext uri="{BB962C8B-B14F-4D97-AF65-F5344CB8AC3E}">
        <p14:creationId xmlns:p14="http://schemas.microsoft.com/office/powerpoint/2010/main" val="154087687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8EDF-BAF9-DFEC-8D20-0A59A924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D68BD04E-89C6-7B5A-FC6B-4EF1A68C0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Database?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3958C04A-A86F-D031-D097-CFC001E5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8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B74F53E3-0FD2-8603-10FC-A582E1F31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5F99DF-0889-F790-A258-5EEE1C546D7D}"/>
              </a:ext>
            </a:extLst>
          </p:cNvPr>
          <p:cNvSpPr/>
          <p:nvPr/>
        </p:nvSpPr>
        <p:spPr>
          <a:xfrm>
            <a:off x="981502" y="2057400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어떤 종류의 조직 또는 조직의 </a:t>
            </a:r>
            <a:r>
              <a:rPr kumimoji="1" lang="ko-KR" altLang="en-US" sz="1800" u="sng" dirty="0">
                <a:solidFill>
                  <a:schemeClr val="accent2">
                    <a:lumMod val="75000"/>
                  </a:schemeClr>
                </a:solidFill>
              </a:rPr>
              <a:t>프로세스</a:t>
            </a:r>
            <a:r>
              <a:rPr kumimoji="1" lang="ko-KR" altLang="en-US" sz="1800" b="0" dirty="0">
                <a:solidFill>
                  <a:schemeClr val="tx1"/>
                </a:solidFill>
              </a:rPr>
              <a:t>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b="0" dirty="0">
                <a:solidFill>
                  <a:schemeClr val="tx1"/>
                </a:solidFill>
              </a:rPr>
              <a:t>모델링하기 위한 목적으로 사용되는 조직적으로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사각형 설명선[R] 1">
            <a:extLst>
              <a:ext uri="{FF2B5EF4-FFF2-40B4-BE49-F238E27FC236}">
                <a16:creationId xmlns:a16="http://schemas.microsoft.com/office/drawing/2014/main" id="{9A9F6118-9E50-A7E7-4C72-910F8FCB2544}"/>
              </a:ext>
            </a:extLst>
          </p:cNvPr>
          <p:cNvSpPr/>
          <p:nvPr/>
        </p:nvSpPr>
        <p:spPr>
          <a:xfrm>
            <a:off x="5562600" y="1125424"/>
            <a:ext cx="2536526" cy="814062"/>
          </a:xfrm>
          <a:prstGeom prst="wedgeRectCallout">
            <a:avLst>
              <a:gd name="adj1" fmla="val -32305"/>
              <a:gd name="adj2" fmla="val 86413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상품 판매 절차</a:t>
            </a:r>
            <a:endParaRPr kumimoji="1" lang="en-US" altLang="ko-KR" sz="1200" b="0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블로그 포스팅 절차</a:t>
            </a:r>
            <a:endParaRPr kumimoji="1" lang="en-US" altLang="ko-KR" sz="1200" b="0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사내 신규사원 입사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/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퇴사 절차 등</a:t>
            </a:r>
          </a:p>
        </p:txBody>
      </p:sp>
    </p:spTree>
    <p:extLst>
      <p:ext uri="{BB962C8B-B14F-4D97-AF65-F5344CB8AC3E}">
        <p14:creationId xmlns:p14="http://schemas.microsoft.com/office/powerpoint/2010/main" val="23174669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6ECD1-E463-9891-8FB9-F5718A35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AC905546-3401-D557-D49E-649DF4C5A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Database?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9FCDA13D-E668-3E3D-DFB3-BCC00070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9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769A9676-49E6-9B65-8B11-40F332CE0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D0CE31-9CF0-EA3C-EEA6-961144A0CDE8}"/>
              </a:ext>
            </a:extLst>
          </p:cNvPr>
          <p:cNvSpPr/>
          <p:nvPr/>
        </p:nvSpPr>
        <p:spPr>
          <a:xfrm>
            <a:off x="981502" y="2057400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어떤 종류의 조직 또는 조직의 프로세스를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u="sng" dirty="0">
                <a:solidFill>
                  <a:schemeClr val="accent2">
                    <a:lumMod val="75000"/>
                  </a:schemeClr>
                </a:solidFill>
              </a:rPr>
              <a:t>모델링</a:t>
            </a:r>
            <a:r>
              <a:rPr kumimoji="1" lang="ko-KR" altLang="en-US" sz="1800" b="0" dirty="0">
                <a:solidFill>
                  <a:schemeClr val="tx1"/>
                </a:solidFill>
              </a:rPr>
              <a:t>하기 위한 목적으로 사용되는 조직적으로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사각형 설명선[R] 1">
            <a:extLst>
              <a:ext uri="{FF2B5EF4-FFF2-40B4-BE49-F238E27FC236}">
                <a16:creationId xmlns:a16="http://schemas.microsoft.com/office/drawing/2014/main" id="{4D5BD215-9355-D26C-A4BE-957BBAC1120E}"/>
              </a:ext>
            </a:extLst>
          </p:cNvPr>
          <p:cNvSpPr/>
          <p:nvPr/>
        </p:nvSpPr>
        <p:spPr>
          <a:xfrm>
            <a:off x="838200" y="3164982"/>
            <a:ext cx="2218898" cy="990599"/>
          </a:xfrm>
          <a:prstGeom prst="wedgeRectCallout">
            <a:avLst>
              <a:gd name="adj1" fmla="val -11465"/>
              <a:gd name="adj2" fmla="val -83849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프로세스마다 발생하거나 수정되는 데이터의 구조</a:t>
            </a:r>
            <a:endParaRPr kumimoji="1" lang="en-US" altLang="ko-KR" sz="1200" b="0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050" b="0" dirty="0">
                <a:solidFill>
                  <a:schemeClr val="tx1"/>
                </a:solidFill>
              </a:rPr>
              <a:t>상품의 구조</a:t>
            </a:r>
            <a:endParaRPr kumimoji="1" lang="en-US" altLang="ko-KR" sz="1050" b="0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050" b="0" dirty="0">
                <a:solidFill>
                  <a:schemeClr val="tx1"/>
                </a:solidFill>
              </a:rPr>
              <a:t>블로그 포스팅의 구조</a:t>
            </a:r>
            <a:endParaRPr kumimoji="1" lang="en-US" altLang="ko-KR" sz="1050" b="0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050" b="0" dirty="0">
                <a:solidFill>
                  <a:schemeClr val="tx1"/>
                </a:solidFill>
              </a:rPr>
              <a:t>사원의 구조 등</a:t>
            </a:r>
            <a:r>
              <a:rPr kumimoji="1" lang="en-US" altLang="ko-KR" sz="1050" b="0" dirty="0">
                <a:solidFill>
                  <a:schemeClr val="tx1"/>
                </a:solidFill>
              </a:rPr>
              <a:t>.</a:t>
            </a:r>
            <a:endParaRPr kumimoji="1" lang="ko-KR" altLang="en-US" sz="11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92477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2CD1-B7E5-2A87-7DCC-A7F2B1C6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222A64B6-C569-AC96-880D-672762EB1B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Database?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EA8B97DE-59E6-4E35-CF77-DFA8BAA9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10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3AFD377F-CD1D-5537-41E8-80A46A333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159282-ACA9-728A-9D1D-E203EC63AAF3}"/>
              </a:ext>
            </a:extLst>
          </p:cNvPr>
          <p:cNvSpPr/>
          <p:nvPr/>
        </p:nvSpPr>
        <p:spPr>
          <a:xfrm>
            <a:off x="981502" y="2057400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어떤 종류의 조직 또는 조직의 프로세스를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b="0" dirty="0">
                <a:solidFill>
                  <a:schemeClr val="tx1"/>
                </a:solidFill>
              </a:rPr>
              <a:t>모델링하기 위한 목적으로 사용되는 </a:t>
            </a:r>
            <a:r>
              <a:rPr kumimoji="1" lang="ko-KR" altLang="en-US" sz="1800" u="sng" dirty="0">
                <a:solidFill>
                  <a:schemeClr val="accent2">
                    <a:lumMod val="75000"/>
                  </a:schemeClr>
                </a:solidFill>
              </a:rPr>
              <a:t>조직적으로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사각형 설명선[R] 1">
            <a:extLst>
              <a:ext uri="{FF2B5EF4-FFF2-40B4-BE49-F238E27FC236}">
                <a16:creationId xmlns:a16="http://schemas.microsoft.com/office/drawing/2014/main" id="{8E678CD8-1715-F212-DFE9-3355AA73E1A4}"/>
              </a:ext>
            </a:extLst>
          </p:cNvPr>
          <p:cNvSpPr/>
          <p:nvPr/>
        </p:nvSpPr>
        <p:spPr>
          <a:xfrm>
            <a:off x="4540314" y="3202663"/>
            <a:ext cx="2218898" cy="990599"/>
          </a:xfrm>
          <a:prstGeom prst="wedgeRectCallout">
            <a:avLst>
              <a:gd name="adj1" fmla="val -11465"/>
              <a:gd name="adj2" fmla="val -83849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조직에서 사용되는 정보들</a:t>
            </a:r>
            <a:endParaRPr kumimoji="1" lang="en-US" altLang="ko-KR" sz="1200" b="0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상품의 정보</a:t>
            </a:r>
            <a:endParaRPr kumimoji="1" lang="en-US" altLang="ko-KR" sz="1200" b="0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블로그 포스트의 정보</a:t>
            </a:r>
            <a:endParaRPr kumimoji="1" lang="en-US" altLang="ko-KR" sz="1200" b="0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사원의 정보</a:t>
            </a:r>
            <a:endParaRPr kumimoji="1" lang="en-US" altLang="ko-KR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41739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04D11-FA20-BCF9-6415-B6E6F60D5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76B57914-7BA4-274A-9E75-605D1301FC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Database?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C0C1F78C-3AB2-0F3B-FC8D-B17F0C4A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11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94AC05E-C4B5-9E2F-A1CE-86A4E2F05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8D7835-D094-3FB4-AD35-4B1A99E67072}"/>
              </a:ext>
            </a:extLst>
          </p:cNvPr>
          <p:cNvSpPr/>
          <p:nvPr/>
        </p:nvSpPr>
        <p:spPr>
          <a:xfrm>
            <a:off x="981502" y="2057400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어떤 종류의 조직 또는 조직의 프로세스를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b="0" dirty="0">
                <a:solidFill>
                  <a:schemeClr val="tx1"/>
                </a:solidFill>
              </a:rPr>
              <a:t>모델링하기 위한 목적으로 사용되는 조직적으로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81007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C2266-736C-4101-2759-A61E67DC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4989B721-0C72-27DC-B80C-617D8AB2D5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Database?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6FD91F28-06EB-DE42-F28A-2FECD22C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12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240A75BC-C328-8D7F-9B8E-EFC9FC858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F528F-4867-FE5E-F674-86204A4F7799}"/>
              </a:ext>
            </a:extLst>
          </p:cNvPr>
          <p:cNvSpPr/>
          <p:nvPr/>
        </p:nvSpPr>
        <p:spPr>
          <a:xfrm>
            <a:off x="981502" y="2057400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쇼핑몰의 상품 판매 절차를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b="0" dirty="0">
                <a:solidFill>
                  <a:schemeClr val="tx1"/>
                </a:solidFill>
              </a:rPr>
              <a:t>구조화하기 위한 목적으로 사용되는 상품 및 판매자의 정보를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93D72E-2503-6C12-62DE-CFF93CE5167D}"/>
              </a:ext>
            </a:extLst>
          </p:cNvPr>
          <p:cNvSpPr/>
          <p:nvPr/>
        </p:nvSpPr>
        <p:spPr>
          <a:xfrm>
            <a:off x="981502" y="3314701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블로그의 포스트 등록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/</a:t>
            </a:r>
            <a:r>
              <a:rPr kumimoji="1" lang="ko-KR" altLang="en-US" sz="1800" b="0" dirty="0">
                <a:solidFill>
                  <a:schemeClr val="tx1"/>
                </a:solidFill>
              </a:rPr>
              <a:t>수정 절차를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b="0" dirty="0">
                <a:solidFill>
                  <a:schemeClr val="tx1"/>
                </a:solidFill>
              </a:rPr>
              <a:t>구조화하기 위한 목적으로 사용되는 포스트 및 등록자의 정보를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1CD9B5-C2A5-7877-0FDD-B7A73450C691}"/>
              </a:ext>
            </a:extLst>
          </p:cNvPr>
          <p:cNvSpPr/>
          <p:nvPr/>
        </p:nvSpPr>
        <p:spPr>
          <a:xfrm>
            <a:off x="981502" y="4572002"/>
            <a:ext cx="7117624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800" b="0" dirty="0">
                <a:solidFill>
                  <a:schemeClr val="tx1"/>
                </a:solidFill>
              </a:rPr>
              <a:t>회사 사원의 입사 및 퇴사 절차를</a:t>
            </a:r>
            <a:endParaRPr kumimoji="1" lang="en-US" altLang="ko-KR" sz="1800" b="0" dirty="0">
              <a:solidFill>
                <a:schemeClr val="tx1"/>
              </a:solidFill>
            </a:endParaRPr>
          </a:p>
          <a:p>
            <a:r>
              <a:rPr kumimoji="1" lang="ko-KR" altLang="en-US" sz="1800" b="0" dirty="0">
                <a:solidFill>
                  <a:schemeClr val="tx1"/>
                </a:solidFill>
              </a:rPr>
              <a:t>구조화하기 위한 목적으로 사용되는 사원의 정보를 모아놓은 데이터</a:t>
            </a:r>
            <a:r>
              <a:rPr kumimoji="1" lang="en-US" altLang="ko-KR" sz="1800" b="0" dirty="0">
                <a:solidFill>
                  <a:schemeClr val="tx1"/>
                </a:solidFill>
              </a:rPr>
              <a:t>.</a:t>
            </a:r>
            <a:endParaRPr kumimoji="1" lang="ko-KR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45890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5BC1-E91F-D4CE-3D7A-E4FA3F4A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A073B951-C4D8-C5FE-A301-001C742BB4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다수의 데이터베이스로 구성됨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다수의 데이터가 서로 관계를 맺고 있어 </a:t>
            </a:r>
            <a:r>
              <a:rPr lang="ko-KR" altLang="en-US" dirty="0">
                <a:solidFill>
                  <a:srgbClr val="FF0000"/>
                </a:solidFill>
                <a:cs typeface="Arial" panose="020B0604020202020204" pitchFamily="34" charset="0"/>
              </a:rPr>
              <a:t>관계형 데이터베이스</a:t>
            </a:r>
            <a:r>
              <a:rPr lang="ko-KR" altLang="en-US" dirty="0">
                <a:cs typeface="Arial" panose="020B0604020202020204" pitchFamily="34" charset="0"/>
              </a:rPr>
              <a:t>라고도 부름</a:t>
            </a: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Relationship Database Management System : RDBMS</a:t>
            </a: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D6494EE0-E03C-B2AE-9FFD-B6B9C2BF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13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7894C0CF-4632-3308-8736-CB78B2B92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84C95D-281A-1857-162B-6B90FB533726}"/>
              </a:ext>
            </a:extLst>
          </p:cNvPr>
          <p:cNvSpPr/>
          <p:nvPr/>
        </p:nvSpPr>
        <p:spPr>
          <a:xfrm>
            <a:off x="990600" y="3388552"/>
            <a:ext cx="7665600" cy="259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C7ED3-3AA5-8EC6-C390-66DAC683737E}"/>
              </a:ext>
            </a:extLst>
          </p:cNvPr>
          <p:cNvSpPr txBox="1"/>
          <p:nvPr/>
        </p:nvSpPr>
        <p:spPr>
          <a:xfrm>
            <a:off x="990600" y="2834554"/>
            <a:ext cx="13051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+mj-ea"/>
                <a:ea typeface="+mj-ea"/>
              </a:rPr>
              <a:t>DBMS</a:t>
            </a:r>
            <a:endParaRPr lang="ko-KR" altLang="en-US" sz="3000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2CFC24-AF05-39CE-E74F-5BB924B1AE13}"/>
              </a:ext>
            </a:extLst>
          </p:cNvPr>
          <p:cNvSpPr/>
          <p:nvPr/>
        </p:nvSpPr>
        <p:spPr>
          <a:xfrm>
            <a:off x="1295400" y="3654519"/>
            <a:ext cx="1524000" cy="2096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0E37B7-DCB3-A0FF-707A-CE5C58AEA9D8}"/>
              </a:ext>
            </a:extLst>
          </p:cNvPr>
          <p:cNvSpPr/>
          <p:nvPr/>
        </p:nvSpPr>
        <p:spPr>
          <a:xfrm>
            <a:off x="3124200" y="3654519"/>
            <a:ext cx="1524000" cy="2096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392AAB-8B88-DDEF-A854-EA0BF09E6251}"/>
              </a:ext>
            </a:extLst>
          </p:cNvPr>
          <p:cNvSpPr/>
          <p:nvPr/>
        </p:nvSpPr>
        <p:spPr>
          <a:xfrm>
            <a:off x="4953000" y="3654519"/>
            <a:ext cx="1524000" cy="2096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EB27DC-5D66-21ED-01F6-57A3971311B7}"/>
              </a:ext>
            </a:extLst>
          </p:cNvPr>
          <p:cNvSpPr/>
          <p:nvPr/>
        </p:nvSpPr>
        <p:spPr>
          <a:xfrm>
            <a:off x="6788400" y="3654519"/>
            <a:ext cx="1524000" cy="2096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74802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0CF6-9591-87EF-0CAA-DB5F92DD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2C26354B-35C0-B8B2-38F4-C058AC9DF8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 dirty="0" err="1">
                <a:cs typeface="Arial" panose="020B0604020202020204" pitchFamily="34" charset="0"/>
              </a:rPr>
              <a:t>DataBase</a:t>
            </a:r>
            <a:r>
              <a:rPr lang="en-US" altLang="ko-KR" dirty="0">
                <a:cs typeface="Arial" panose="020B0604020202020204" pitchFamily="34" charset="0"/>
              </a:rPr>
              <a:t> Management System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관계형 데이터베이스의 구조</a:t>
            </a: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4BD5D6A2-3E60-8D47-39A9-E63FDD19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14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D5FCD986-1BF3-0C7C-2E52-A8550FB0A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195A7C-172B-9EBE-DE56-E9FFCFBE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0" y="2286000"/>
            <a:ext cx="7772400" cy="36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3659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6AED1-31E1-B295-62D2-24A4CD4F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457FC903-1CA8-A035-3A7C-BDCF252408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cs typeface="Arial" panose="020B0604020202020204" pitchFamily="34" charset="0"/>
              </a:rPr>
              <a:t>참고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데이터베이스의 종류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계층형 데이터베이스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동시에 여러 데이터들을 추출할 수 없다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3">
              <a:defRPr/>
            </a:pPr>
            <a:r>
              <a:rPr lang="en-US" altLang="ko-KR" dirty="0">
                <a:cs typeface="Arial" panose="020B0604020202020204" pitchFamily="34" charset="0"/>
              </a:rPr>
              <a:t>Agents</a:t>
            </a:r>
            <a:r>
              <a:rPr lang="ko-KR" altLang="en-US" dirty="0">
                <a:cs typeface="Arial" panose="020B0604020202020204" pitchFamily="34" charset="0"/>
              </a:rPr>
              <a:t>와 </a:t>
            </a:r>
            <a:r>
              <a:rPr lang="en-US" altLang="ko-KR" dirty="0">
                <a:cs typeface="Arial" panose="020B0604020202020204" pitchFamily="34" charset="0"/>
              </a:rPr>
              <a:t>Entertainers</a:t>
            </a:r>
            <a:r>
              <a:rPr lang="ko-KR" altLang="en-US" dirty="0">
                <a:cs typeface="Arial" panose="020B0604020202020204" pitchFamily="34" charset="0"/>
              </a:rPr>
              <a:t>의 정보를 한번에 추출할 수 없다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3">
              <a:defRPr/>
            </a:pPr>
            <a:r>
              <a:rPr lang="en-US" altLang="ko-KR" dirty="0">
                <a:cs typeface="Arial" panose="020B0604020202020204" pitchFamily="34" charset="0"/>
              </a:rPr>
              <a:t>Ex&gt; File Database</a:t>
            </a: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436D4DC8-4E56-1B2F-2988-EA70468E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15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C19741C5-3D64-A163-9E60-2F8F471A9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1EE21C-6412-A10F-FC44-35D33814F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62200"/>
            <a:ext cx="4603247" cy="253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0822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854F-AE85-1E76-B45A-494DE51A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51DB2BB7-FC2C-45AD-D0CF-6564DA5EF3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cs typeface="Arial" panose="020B0604020202020204" pitchFamily="34" charset="0"/>
              </a:rPr>
              <a:t>참고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데이터베이스의 종류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망형 데이터베이스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계층형 데이터베이스의 문제를 해결하기 위해 개발된 데이터베이스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3">
              <a:defRPr/>
            </a:pPr>
            <a:r>
              <a:rPr lang="ko-KR" altLang="en-US" dirty="0">
                <a:cs typeface="Arial" panose="020B0604020202020204" pitchFamily="34" charset="0"/>
              </a:rPr>
              <a:t>노드와 집합구조로 데이터를 </a:t>
            </a:r>
            <a:r>
              <a:rPr lang="ko-KR" altLang="en-US" dirty="0" err="1">
                <a:cs typeface="Arial" panose="020B0604020202020204" pitchFamily="34" charset="0"/>
              </a:rPr>
              <a:t>구조화함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6148" name="슬라이드 번호 개체 틀 1">
            <a:extLst>
              <a:ext uri="{FF2B5EF4-FFF2-40B4-BE49-F238E27FC236}">
                <a16:creationId xmlns:a16="http://schemas.microsoft.com/office/drawing/2014/main" id="{DF270067-BD53-3146-97F4-7AD8BFB1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9C088C3-DF19-4F85-9310-F24C9238E6D3}" type="slidenum">
              <a:rPr lang="en-GB" altLang="ko-KR">
                <a:solidFill>
                  <a:srgbClr val="898989"/>
                </a:solidFill>
              </a:rPr>
              <a:pPr/>
              <a:t>16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1A4EF3F3-1495-5CCE-C077-9BAE76993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DBMS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6CEE3FE-A39D-117C-BA64-547BCDECE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362200"/>
            <a:ext cx="4949654" cy="26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6988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대량의 데이터를 처리하기 위한 공간</a:t>
            </a: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하나의 </a:t>
            </a:r>
            <a:r>
              <a:rPr lang="en-US" altLang="ko-KR" dirty="0">
                <a:cs typeface="Arial" panose="020B0604020202020204" pitchFamily="34" charset="0"/>
              </a:rPr>
              <a:t>Database </a:t>
            </a:r>
            <a:r>
              <a:rPr lang="ko-KR" altLang="en-US" dirty="0">
                <a:cs typeface="Arial" panose="020B0604020202020204" pitchFamily="34" charset="0"/>
              </a:rPr>
              <a:t>는 다수의 </a:t>
            </a:r>
            <a:r>
              <a:rPr lang="en-US" altLang="ko-KR" dirty="0">
                <a:cs typeface="Arial" panose="020B0604020202020204" pitchFamily="34" charset="0"/>
              </a:rPr>
              <a:t>Table</a:t>
            </a:r>
            <a:r>
              <a:rPr lang="ko-KR" altLang="en-US" dirty="0">
                <a:cs typeface="Arial" panose="020B0604020202020204" pitchFamily="34" charset="0"/>
              </a:rPr>
              <a:t>로 구성되어 있음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819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95797CE-72F8-455B-A4FE-3490AA62E911}" type="slidenum">
              <a:rPr lang="en-GB" altLang="ko-KR">
                <a:solidFill>
                  <a:srgbClr val="898989"/>
                </a:solidFill>
              </a:rPr>
              <a:pPr/>
              <a:t>17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cs typeface="Arial" charset="0"/>
              </a:rPr>
              <a:t>Database</a:t>
            </a:r>
            <a:endParaRPr lang="en-US" altLang="ko-KR" dirty="0">
              <a:cs typeface="Arial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F76955-E817-2B3F-0069-55C5572DEC4B}"/>
              </a:ext>
            </a:extLst>
          </p:cNvPr>
          <p:cNvSpPr/>
          <p:nvPr/>
        </p:nvSpPr>
        <p:spPr>
          <a:xfrm>
            <a:off x="609600" y="2962925"/>
            <a:ext cx="7924800" cy="2667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09D88-BD60-3D8D-1DA3-8AA201F7ABF5}"/>
              </a:ext>
            </a:extLst>
          </p:cNvPr>
          <p:cNvSpPr txBox="1"/>
          <p:nvPr/>
        </p:nvSpPr>
        <p:spPr>
          <a:xfrm>
            <a:off x="609600" y="2408927"/>
            <a:ext cx="18697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000" dirty="0">
                <a:latin typeface="+mj-ea"/>
                <a:ea typeface="+mj-ea"/>
              </a:rPr>
              <a:t>Database</a:t>
            </a:r>
            <a:endParaRPr lang="ko-KR" altLang="en-US" sz="3000" dirty="0"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3A659E-F8A9-B618-11B1-828B2A29A0C1}"/>
              </a:ext>
            </a:extLst>
          </p:cNvPr>
          <p:cNvSpPr/>
          <p:nvPr/>
        </p:nvSpPr>
        <p:spPr>
          <a:xfrm>
            <a:off x="908568" y="3215059"/>
            <a:ext cx="1600200" cy="2097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3C77A0-C41C-7C05-4CDC-66DFE9F29E02}"/>
              </a:ext>
            </a:extLst>
          </p:cNvPr>
          <p:cNvSpPr/>
          <p:nvPr/>
        </p:nvSpPr>
        <p:spPr>
          <a:xfrm>
            <a:off x="2807736" y="3215059"/>
            <a:ext cx="1600200" cy="2097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255B76-44BE-8245-9F2A-D83C63805587}"/>
              </a:ext>
            </a:extLst>
          </p:cNvPr>
          <p:cNvSpPr/>
          <p:nvPr/>
        </p:nvSpPr>
        <p:spPr>
          <a:xfrm>
            <a:off x="4706904" y="3215059"/>
            <a:ext cx="1600200" cy="2097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824015-527A-85E1-218F-330DFF74CE82}"/>
              </a:ext>
            </a:extLst>
          </p:cNvPr>
          <p:cNvSpPr/>
          <p:nvPr/>
        </p:nvSpPr>
        <p:spPr>
          <a:xfrm>
            <a:off x="6606072" y="3215059"/>
            <a:ext cx="1600200" cy="2097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84460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실제 데이터가 보관되는 정형화된 구조의 저장소</a:t>
            </a: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여러 데이터들이 </a:t>
            </a:r>
            <a:r>
              <a:rPr lang="en-US" altLang="ko-KR" dirty="0">
                <a:cs typeface="Arial" panose="020B0604020202020204" pitchFamily="34" charset="0"/>
              </a:rPr>
              <a:t>“</a:t>
            </a:r>
            <a:r>
              <a:rPr lang="ko-KR" altLang="en-US" dirty="0">
                <a:cs typeface="Arial" panose="020B0604020202020204" pitchFamily="34" charset="0"/>
              </a:rPr>
              <a:t>정형화</a:t>
            </a:r>
            <a:r>
              <a:rPr lang="en-US" altLang="ko-KR" dirty="0">
                <a:cs typeface="Arial" panose="020B0604020202020204" pitchFamily="34" charset="0"/>
              </a:rPr>
              <a:t>”</a:t>
            </a:r>
            <a:r>
              <a:rPr lang="ko-KR" altLang="en-US" dirty="0">
                <a:cs typeface="Arial" panose="020B0604020202020204" pitchFamily="34" charset="0"/>
              </a:rPr>
              <a:t>된 구조로 저장됨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컬럼과 데이터 </a:t>
            </a:r>
            <a:r>
              <a:rPr lang="ko-KR" altLang="en-US" dirty="0" err="1">
                <a:cs typeface="Arial" panose="020B0604020202020204" pitchFamily="34" charset="0"/>
              </a:rPr>
              <a:t>타입등으로</a:t>
            </a:r>
            <a:r>
              <a:rPr lang="ko-KR" altLang="en-US" dirty="0">
                <a:cs typeface="Arial" panose="020B0604020202020204" pitchFamily="34" charset="0"/>
              </a:rPr>
              <a:t> 정형화 되어있음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여러 테이블은 관련된 정보들로 </a:t>
            </a:r>
            <a:r>
              <a:rPr lang="ko-KR" altLang="en-US" dirty="0" err="1">
                <a:cs typeface="Arial" panose="020B0604020202020204" pitchFamily="34" charset="0"/>
              </a:rPr>
              <a:t>채워짐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상품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회원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장바구니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구매목록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게시글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댓글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회원 등</a:t>
            </a: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하나의 테이블은 특성을 표기할 수 있는 이름이 주어짐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1024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FED6B87-E68B-4F5D-80EF-4B4EFEE40CC1}" type="slidenum">
              <a:rPr lang="en-GB" altLang="ko-KR">
                <a:solidFill>
                  <a:srgbClr val="898989"/>
                </a:solidFill>
              </a:rPr>
              <a:pPr/>
              <a:t>18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Table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4DAD4B-5CA4-A1AD-92D4-5FDF9E4BFD48}"/>
              </a:ext>
            </a:extLst>
          </p:cNvPr>
          <p:cNvSpPr/>
          <p:nvPr/>
        </p:nvSpPr>
        <p:spPr>
          <a:xfrm>
            <a:off x="739200" y="4083263"/>
            <a:ext cx="7665600" cy="259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E7DF4-62BE-76D9-D67D-CE84DB3238C9}"/>
              </a:ext>
            </a:extLst>
          </p:cNvPr>
          <p:cNvSpPr txBox="1"/>
          <p:nvPr/>
        </p:nvSpPr>
        <p:spPr>
          <a:xfrm>
            <a:off x="739200" y="3529265"/>
            <a:ext cx="11390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000" dirty="0">
                <a:latin typeface="+mj-ea"/>
                <a:ea typeface="+mj-ea"/>
              </a:rPr>
              <a:t>Table</a:t>
            </a:r>
            <a:endParaRPr lang="ko-KR" altLang="en-US" sz="3000" dirty="0"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3529A2-A0DA-9C8D-B5A6-049D3E0398EE}"/>
              </a:ext>
            </a:extLst>
          </p:cNvPr>
          <p:cNvSpPr/>
          <p:nvPr/>
        </p:nvSpPr>
        <p:spPr>
          <a:xfrm>
            <a:off x="1044000" y="4349230"/>
            <a:ext cx="1524000" cy="2096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Column1</a:t>
            </a:r>
          </a:p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Column1 Type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943835-ECFF-ABBB-78EA-3DF5D168B82F}"/>
              </a:ext>
            </a:extLst>
          </p:cNvPr>
          <p:cNvSpPr/>
          <p:nvPr/>
        </p:nvSpPr>
        <p:spPr>
          <a:xfrm>
            <a:off x="2872800" y="4349230"/>
            <a:ext cx="1524000" cy="2096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Column2</a:t>
            </a:r>
          </a:p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Column2 Type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8EFC03-CDD4-74C3-9156-71F9AD8E64D9}"/>
              </a:ext>
            </a:extLst>
          </p:cNvPr>
          <p:cNvSpPr/>
          <p:nvPr/>
        </p:nvSpPr>
        <p:spPr>
          <a:xfrm>
            <a:off x="4701600" y="4349230"/>
            <a:ext cx="1524000" cy="2096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Column3</a:t>
            </a:r>
          </a:p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Column3 Type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44888D-9EA1-5B60-3B94-60FC9A3D0B8A}"/>
              </a:ext>
            </a:extLst>
          </p:cNvPr>
          <p:cNvSpPr/>
          <p:nvPr/>
        </p:nvSpPr>
        <p:spPr>
          <a:xfrm>
            <a:off x="6537000" y="4349230"/>
            <a:ext cx="1524000" cy="2096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18840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39E4-6701-CE36-2ABB-D03A0DA5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0DE8E337-42B1-D158-1742-353E945A64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데이터베이스에서 관리되는 모든 데이터들은 </a:t>
            </a:r>
            <a:r>
              <a:rPr lang="en-US" altLang="ko-KR" dirty="0">
                <a:cs typeface="Arial" panose="020B0604020202020204" pitchFamily="34" charset="0"/>
              </a:rPr>
              <a:t>Table(Relation / Entity)</a:t>
            </a:r>
            <a:r>
              <a:rPr lang="ko-KR" altLang="en-US" dirty="0" err="1">
                <a:cs typeface="Arial" panose="020B0604020202020204" pitchFamily="34" charset="0"/>
              </a:rPr>
              <a:t>에</a:t>
            </a:r>
            <a:r>
              <a:rPr lang="ko-KR" altLang="en-US" dirty="0">
                <a:cs typeface="Arial" panose="020B0604020202020204" pitchFamily="34" charset="0"/>
              </a:rPr>
              <a:t> 저장된다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각 </a:t>
            </a:r>
            <a:r>
              <a:rPr lang="en-US" altLang="ko-KR" b="1" dirty="0">
                <a:cs typeface="Arial" panose="020B0604020202020204" pitchFamily="34" charset="0"/>
              </a:rPr>
              <a:t>Table</a:t>
            </a:r>
            <a:r>
              <a:rPr lang="en-US" altLang="ko-KR" dirty="0">
                <a:cs typeface="Arial" panose="020B0604020202020204" pitchFamily="34" charset="0"/>
              </a:rPr>
              <a:t>(Relation / Entity)</a:t>
            </a:r>
            <a:r>
              <a:rPr lang="ko-KR" altLang="en-US" dirty="0">
                <a:cs typeface="Arial" panose="020B0604020202020204" pitchFamily="34" charset="0"/>
              </a:rPr>
              <a:t>은 </a:t>
            </a:r>
            <a:r>
              <a:rPr lang="en-US" altLang="ko-KR" b="1" dirty="0">
                <a:cs typeface="Arial" panose="020B0604020202020204" pitchFamily="34" charset="0"/>
              </a:rPr>
              <a:t>Row</a:t>
            </a:r>
            <a:r>
              <a:rPr lang="en-US" altLang="ko-KR" dirty="0">
                <a:cs typeface="Arial" panose="020B0604020202020204" pitchFamily="34" charset="0"/>
              </a:rPr>
              <a:t>(Tuple/Record)</a:t>
            </a:r>
            <a:r>
              <a:rPr lang="ko-KR" altLang="en-US" dirty="0">
                <a:cs typeface="Arial" panose="020B0604020202020204" pitchFamily="34" charset="0"/>
              </a:rPr>
              <a:t>와 </a:t>
            </a:r>
            <a:r>
              <a:rPr lang="en-US" altLang="ko-KR" b="1" dirty="0">
                <a:cs typeface="Arial" panose="020B0604020202020204" pitchFamily="34" charset="0"/>
              </a:rPr>
              <a:t>Column</a:t>
            </a:r>
            <a:r>
              <a:rPr lang="en-US" altLang="ko-KR" dirty="0">
                <a:cs typeface="Arial" panose="020B0604020202020204" pitchFamily="34" charset="0"/>
              </a:rPr>
              <a:t>(Field/Attribute)</a:t>
            </a:r>
            <a:r>
              <a:rPr lang="ko-KR" altLang="en-US" dirty="0">
                <a:cs typeface="Arial" panose="020B0604020202020204" pitchFamily="34" charset="0"/>
              </a:rPr>
              <a:t>로 구분됨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10244" name="슬라이드 번호 개체 틀 1">
            <a:extLst>
              <a:ext uri="{FF2B5EF4-FFF2-40B4-BE49-F238E27FC236}">
                <a16:creationId xmlns:a16="http://schemas.microsoft.com/office/drawing/2014/main" id="{01496A0D-EBE4-9D41-1083-C0A0E049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FED6B87-E68B-4F5D-80EF-4B4EFEE40CC1}" type="slidenum">
              <a:rPr lang="en-GB" altLang="ko-KR">
                <a:solidFill>
                  <a:srgbClr val="898989"/>
                </a:solidFill>
              </a:rPr>
              <a:pPr/>
              <a:t>19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24C9D589-911D-1E57-EE48-D6DD1E145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Table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1BE405B-7E13-D65D-0553-B13F96E4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99296"/>
            <a:ext cx="7772400" cy="374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4593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36338-7123-C487-0016-C89078D3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67612E3D-994A-5090-0142-6FA31DCFE1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데이터베이스의 주된 구조로써</a:t>
            </a:r>
            <a:r>
              <a:rPr lang="en-US" altLang="ko-KR" dirty="0">
                <a:cs typeface="Arial" panose="020B0604020202020204" pitchFamily="34" charset="0"/>
              </a:rPr>
              <a:t>,</a:t>
            </a:r>
            <a:r>
              <a:rPr lang="ko-KR" altLang="en-US" dirty="0">
                <a:cs typeface="Arial" panose="020B0604020202020204" pitchFamily="34" charset="0"/>
              </a:rPr>
              <a:t> 각 테이블은 항상 하나의 구체적인 주제를 나타냄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테이블 내의 </a:t>
            </a:r>
            <a:r>
              <a:rPr lang="en-US" altLang="ko-KR" dirty="0">
                <a:cs typeface="Arial" panose="020B0604020202020204" pitchFamily="34" charset="0"/>
              </a:rPr>
              <a:t>Row</a:t>
            </a:r>
            <a:r>
              <a:rPr lang="ko-KR" altLang="en-US" dirty="0">
                <a:cs typeface="Arial" panose="020B0604020202020204" pitchFamily="34" charset="0"/>
              </a:rPr>
              <a:t>와 </a:t>
            </a:r>
            <a:r>
              <a:rPr lang="en-US" altLang="ko-KR" dirty="0">
                <a:cs typeface="Arial" panose="020B0604020202020204" pitchFamily="34" charset="0"/>
              </a:rPr>
              <a:t>Column</a:t>
            </a:r>
            <a:r>
              <a:rPr lang="ko-KR" altLang="en-US" dirty="0">
                <a:cs typeface="Arial" panose="020B0604020202020204" pitchFamily="34" charset="0"/>
              </a:rPr>
              <a:t>들의 논리적 순서는 중요하지 않음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오직</a:t>
            </a:r>
            <a:r>
              <a:rPr lang="en-US" altLang="ko-KR" dirty="0">
                <a:cs typeface="Arial" panose="020B0604020202020204" pitchFamily="34" charset="0"/>
              </a:rPr>
              <a:t>,</a:t>
            </a:r>
            <a:r>
              <a:rPr lang="ko-KR" altLang="en-US" dirty="0">
                <a:cs typeface="Arial" panose="020B0604020202020204" pitchFamily="34" charset="0"/>
              </a:rPr>
              <a:t> 존재로써 데이터를 관리한다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>
              <a:defRPr/>
            </a:pPr>
            <a:r>
              <a:rPr lang="ko-KR" altLang="en-US" dirty="0">
                <a:cs typeface="Arial" panose="020B0604020202020204" pitchFamily="34" charset="0"/>
              </a:rPr>
              <a:t>각</a:t>
            </a:r>
            <a:r>
              <a:rPr lang="en-US" altLang="ko-KR" dirty="0">
                <a:cs typeface="Arial" panose="020B0604020202020204" pitchFamily="34" charset="0"/>
              </a:rPr>
              <a:t> Row</a:t>
            </a:r>
            <a:r>
              <a:rPr lang="ko-KR" altLang="en-US" dirty="0" err="1">
                <a:cs typeface="Arial" panose="020B0604020202020204" pitchFamily="34" charset="0"/>
              </a:rPr>
              <a:t>를</a:t>
            </a:r>
            <a:r>
              <a:rPr lang="ko-KR" altLang="en-US" dirty="0">
                <a:cs typeface="Arial" panose="020B0604020202020204" pitchFamily="34" charset="0"/>
              </a:rPr>
              <a:t> 유일하게 식별할 수 있는 하나 이상의 주 키</a:t>
            </a:r>
            <a:r>
              <a:rPr lang="en-US" altLang="ko-KR" dirty="0">
                <a:cs typeface="Arial" panose="020B0604020202020204" pitchFamily="34" charset="0"/>
              </a:rPr>
              <a:t>(Primary Key)</a:t>
            </a:r>
            <a:r>
              <a:rPr lang="ko-KR" altLang="en-US" dirty="0" err="1">
                <a:cs typeface="Arial" panose="020B0604020202020204" pitchFamily="34" charset="0"/>
              </a:rPr>
              <a:t>를</a:t>
            </a:r>
            <a:r>
              <a:rPr lang="ko-KR" altLang="en-US" dirty="0">
                <a:cs typeface="Arial" panose="020B0604020202020204" pitchFamily="34" charset="0"/>
              </a:rPr>
              <a:t> 반드시 필요로 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10244" name="슬라이드 번호 개체 틀 1">
            <a:extLst>
              <a:ext uri="{FF2B5EF4-FFF2-40B4-BE49-F238E27FC236}">
                <a16:creationId xmlns:a16="http://schemas.microsoft.com/office/drawing/2014/main" id="{58832AC2-74B4-4757-3BA8-D4F0506E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FED6B87-E68B-4F5D-80EF-4B4EFEE40CC1}" type="slidenum">
              <a:rPr lang="en-GB" altLang="ko-KR">
                <a:solidFill>
                  <a:srgbClr val="898989"/>
                </a:solidFill>
              </a:rPr>
              <a:pPr/>
              <a:t>20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9176327B-710A-0CF6-C743-90B669AA5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13027213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E88C-949B-E17F-05CD-E0BBD209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F0160EC2-323B-55FE-8986-EE55BF15BC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Table</a:t>
            </a:r>
            <a:r>
              <a:rPr lang="ko-KR" altLang="en-US" dirty="0">
                <a:cs typeface="Arial" panose="020B0604020202020204" pitchFamily="34" charset="0"/>
              </a:rPr>
              <a:t>이 관리하는 데이터에 따라 </a:t>
            </a:r>
            <a:r>
              <a:rPr lang="en-US" altLang="ko-KR" dirty="0">
                <a:cs typeface="Arial" panose="020B0604020202020204" pitchFamily="34" charset="0"/>
              </a:rPr>
              <a:t>“</a:t>
            </a:r>
            <a:r>
              <a:rPr lang="ko-KR" altLang="en-US" dirty="0">
                <a:cs typeface="Arial" panose="020B0604020202020204" pitchFamily="34" charset="0"/>
              </a:rPr>
              <a:t>개체</a:t>
            </a:r>
            <a:r>
              <a:rPr lang="en-US" altLang="ko-KR" dirty="0">
                <a:cs typeface="Arial" panose="020B0604020202020204" pitchFamily="34" charset="0"/>
              </a:rPr>
              <a:t>(Object)”,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“</a:t>
            </a:r>
            <a:r>
              <a:rPr lang="ko-KR" altLang="en-US" dirty="0">
                <a:cs typeface="Arial" panose="020B0604020202020204" pitchFamily="34" charset="0"/>
              </a:rPr>
              <a:t>사건</a:t>
            </a:r>
            <a:r>
              <a:rPr lang="en-US" altLang="ko-KR" dirty="0">
                <a:cs typeface="Arial" panose="020B0604020202020204" pitchFamily="34" charset="0"/>
              </a:rPr>
              <a:t>(Event)”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Table</a:t>
            </a:r>
            <a:r>
              <a:rPr lang="ko-KR" altLang="en-US" dirty="0">
                <a:cs typeface="Arial" panose="020B0604020202020204" pitchFamily="34" charset="0"/>
              </a:rPr>
              <a:t>로 구분된다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개체 </a:t>
            </a:r>
            <a:r>
              <a:rPr lang="en-US" altLang="ko-KR" dirty="0">
                <a:cs typeface="Arial" panose="020B0604020202020204" pitchFamily="34" charset="0"/>
              </a:rPr>
              <a:t>Table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명사로 명명된 테이블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명사를 표현할 수 있는 구체적인 정보들로 구성된 테이블</a:t>
            </a: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사건 </a:t>
            </a:r>
            <a:r>
              <a:rPr lang="en-US" altLang="ko-KR" dirty="0">
                <a:cs typeface="Arial" panose="020B0604020202020204" pitchFamily="34" charset="0"/>
              </a:rPr>
              <a:t>Table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동사로 명명된 테이블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주문</a:t>
            </a:r>
            <a:r>
              <a:rPr lang="en-US" altLang="ko-KR" dirty="0">
                <a:cs typeface="Arial" panose="020B0604020202020204" pitchFamily="34" charset="0"/>
              </a:rPr>
              <a:t>,</a:t>
            </a:r>
            <a:r>
              <a:rPr lang="ko-KR" altLang="en-US" dirty="0">
                <a:cs typeface="Arial" panose="020B0604020202020204" pitchFamily="34" charset="0"/>
              </a:rPr>
              <a:t> 결제</a:t>
            </a:r>
            <a:r>
              <a:rPr lang="en-US" altLang="ko-KR" dirty="0">
                <a:cs typeface="Arial" panose="020B0604020202020204" pitchFamily="34" charset="0"/>
              </a:rPr>
              <a:t>,</a:t>
            </a:r>
            <a:r>
              <a:rPr lang="ko-KR" altLang="en-US" dirty="0">
                <a:cs typeface="Arial" panose="020B0604020202020204" pitchFamily="34" charset="0"/>
              </a:rPr>
              <a:t> 변경 등 특정 사건에 대한 구체적인 정보들로 구성된 테이블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10244" name="슬라이드 번호 개체 틀 1">
            <a:extLst>
              <a:ext uri="{FF2B5EF4-FFF2-40B4-BE49-F238E27FC236}">
                <a16:creationId xmlns:a16="http://schemas.microsoft.com/office/drawing/2014/main" id="{99F6E6C8-4D92-8526-D137-9A80FB51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FED6B87-E68B-4F5D-80EF-4B4EFEE40CC1}" type="slidenum">
              <a:rPr lang="en-GB" altLang="ko-KR">
                <a:solidFill>
                  <a:srgbClr val="898989"/>
                </a:solidFill>
              </a:rPr>
              <a:pPr/>
              <a:t>21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6E311215-D4BD-0890-C193-6DFD77C666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55352559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데이터베이스 시스템에서 가장 작은 단위의 구조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실제로 데이터를 저장하는 구조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SQL</a:t>
            </a:r>
            <a:r>
              <a:rPr lang="ko-KR" altLang="en-US" dirty="0" err="1">
                <a:cs typeface="Arial" panose="020B0604020202020204" pitchFamily="34" charset="0"/>
              </a:rPr>
              <a:t>에</a:t>
            </a:r>
            <a:r>
              <a:rPr lang="ko-KR" altLang="en-US" dirty="0">
                <a:cs typeface="Arial" panose="020B0604020202020204" pitchFamily="34" charset="0"/>
              </a:rPr>
              <a:t> 의해 데이터가 추출되며 하나의 정보로 구성되는 구조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Column(Field, Attribute)</a:t>
            </a:r>
            <a:r>
              <a:rPr lang="ko-KR" altLang="en-US" dirty="0">
                <a:cs typeface="Arial" panose="020B0604020202020204" pitchFamily="34" charset="0"/>
              </a:rPr>
              <a:t>은 하나의 값만 표현해야 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상품 테이블의 </a:t>
            </a:r>
            <a:r>
              <a:rPr lang="en-US" altLang="ko-KR" dirty="0">
                <a:cs typeface="Arial" panose="020B0604020202020204" pitchFamily="34" charset="0"/>
              </a:rPr>
              <a:t>Field</a:t>
            </a:r>
            <a:r>
              <a:rPr lang="ko-KR" altLang="en-US" dirty="0">
                <a:cs typeface="Arial" panose="020B0604020202020204" pitchFamily="34" charset="0"/>
              </a:rPr>
              <a:t> 예시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상품 아이디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상품을 식별하기 위한 유일한 값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상품명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상품 가격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상품 사진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상품 설명 등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14340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EA7C5011-2547-4D70-9D61-6D8EF098D182}" type="slidenum">
              <a:rPr lang="en-GB" altLang="ko-KR">
                <a:solidFill>
                  <a:srgbClr val="898989"/>
                </a:solidFill>
              </a:rPr>
              <a:pPr/>
              <a:t>22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Column</a:t>
            </a:r>
          </a:p>
        </p:txBody>
      </p:sp>
    </p:spTree>
    <p:extLst>
      <p:ext uri="{BB962C8B-B14F-4D97-AF65-F5344CB8AC3E}">
        <p14:creationId xmlns:p14="http://schemas.microsoft.com/office/powerpoint/2010/main" val="254042716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D325-6C3E-DC02-CC24-87678FF2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F4718146-A363-6583-5160-6409928721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잘못된 </a:t>
            </a:r>
            <a:r>
              <a:rPr lang="en-US" altLang="ko-KR" dirty="0">
                <a:cs typeface="Arial" panose="020B0604020202020204" pitchFamily="34" charset="0"/>
              </a:rPr>
              <a:t>Column </a:t>
            </a:r>
            <a:r>
              <a:rPr lang="ko-KR" altLang="en-US" dirty="0">
                <a:cs typeface="Arial" panose="020B0604020202020204" pitchFamily="34" charset="0"/>
              </a:rPr>
              <a:t>구조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en-US" altLang="ko-KR" dirty="0">
                <a:cs typeface="Arial" panose="020B0604020202020204" pitchFamily="34" charset="0"/>
              </a:rPr>
              <a:t>1.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Multi-part Column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서로 다른 의미의 데이터가 한 </a:t>
            </a:r>
            <a:r>
              <a:rPr lang="en-US" altLang="ko-KR" dirty="0">
                <a:cs typeface="Arial" panose="020B0604020202020204" pitchFamily="34" charset="0"/>
              </a:rPr>
              <a:t>Column</a:t>
            </a:r>
            <a:r>
              <a:rPr lang="ko-KR" altLang="en-US" dirty="0" err="1">
                <a:cs typeface="Arial" panose="020B0604020202020204" pitchFamily="34" charset="0"/>
              </a:rPr>
              <a:t>에</a:t>
            </a:r>
            <a:r>
              <a:rPr lang="ko-KR" altLang="en-US" dirty="0">
                <a:cs typeface="Arial" panose="020B0604020202020204" pitchFamily="34" charset="0"/>
              </a:rPr>
              <a:t> 정의됨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en-US" altLang="ko-KR" dirty="0">
                <a:cs typeface="Arial" panose="020B0604020202020204" pitchFamily="34" charset="0"/>
              </a:rPr>
              <a:t>2. Multi-value Column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같은 의미의 데이터가 한 </a:t>
            </a:r>
            <a:r>
              <a:rPr lang="en-US" altLang="ko-KR" dirty="0" err="1">
                <a:cs typeface="Arial" panose="020B0604020202020204" pitchFamily="34" charset="0"/>
              </a:rPr>
              <a:t>Coulmn</a:t>
            </a:r>
            <a:r>
              <a:rPr lang="ko-KR" altLang="en-US" dirty="0" err="1">
                <a:cs typeface="Arial" panose="020B0604020202020204" pitchFamily="34" charset="0"/>
              </a:rPr>
              <a:t>에</a:t>
            </a:r>
            <a:r>
              <a:rPr lang="ko-KR" altLang="en-US" dirty="0">
                <a:cs typeface="Arial" panose="020B0604020202020204" pitchFamily="34" charset="0"/>
              </a:rPr>
              <a:t> 정의됨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en-US" altLang="ko-KR" dirty="0">
                <a:cs typeface="Arial" panose="020B0604020202020204" pitchFamily="34" charset="0"/>
              </a:rPr>
              <a:t>3. Calculated Column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계산된 결과를 </a:t>
            </a:r>
            <a:r>
              <a:rPr lang="en-US" altLang="ko-KR" dirty="0">
                <a:cs typeface="Arial" panose="020B0604020202020204" pitchFamily="34" charset="0"/>
              </a:rPr>
              <a:t>Column</a:t>
            </a:r>
            <a:r>
              <a:rPr lang="ko-KR" altLang="en-US" dirty="0" err="1">
                <a:cs typeface="Arial" panose="020B0604020202020204" pitchFamily="34" charset="0"/>
              </a:rPr>
              <a:t>에</a:t>
            </a:r>
            <a:r>
              <a:rPr lang="ko-KR" altLang="en-US" dirty="0">
                <a:cs typeface="Arial" panose="020B0604020202020204" pitchFamily="34" charset="0"/>
              </a:rPr>
              <a:t> 정의함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14340" name="슬라이드 번호 개체 틀 1">
            <a:extLst>
              <a:ext uri="{FF2B5EF4-FFF2-40B4-BE49-F238E27FC236}">
                <a16:creationId xmlns:a16="http://schemas.microsoft.com/office/drawing/2014/main" id="{3270B0FF-4511-D930-8472-B6579107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EA7C5011-2547-4D70-9D61-6D8EF098D182}" type="slidenum">
              <a:rPr lang="en-GB" altLang="ko-KR">
                <a:solidFill>
                  <a:srgbClr val="898989"/>
                </a:solidFill>
              </a:rPr>
              <a:pPr/>
              <a:t>23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923B5583-4F9A-1579-870A-6ADF22D6E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Column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43B35F6-53AB-FACE-DA3F-BFD9AA5F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0" y="3756644"/>
            <a:ext cx="7772400" cy="3094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9BC630-D190-DA12-2241-477218148507}"/>
              </a:ext>
            </a:extLst>
          </p:cNvPr>
          <p:cNvSpPr txBox="1"/>
          <p:nvPr/>
        </p:nvSpPr>
        <p:spPr>
          <a:xfrm>
            <a:off x="3263348" y="3489880"/>
            <a:ext cx="1723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0" dirty="0">
                <a:latin typeface="+mj-ea"/>
                <a:ea typeface="+mj-ea"/>
              </a:rPr>
              <a:t>Calculated Column</a:t>
            </a:r>
            <a:endParaRPr kumimoji="1" lang="ko-KR" altLang="en-US" sz="1400" b="0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AC9EC-413E-9FBD-10DF-B2AB3CC81018}"/>
              </a:ext>
            </a:extLst>
          </p:cNvPr>
          <p:cNvSpPr txBox="1"/>
          <p:nvPr/>
        </p:nvSpPr>
        <p:spPr>
          <a:xfrm>
            <a:off x="5310172" y="3472066"/>
            <a:ext cx="1705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0" dirty="0">
                <a:latin typeface="+mj-ea"/>
                <a:ea typeface="+mj-ea"/>
              </a:rPr>
              <a:t>Multi-part Column</a:t>
            </a:r>
            <a:endParaRPr kumimoji="1" lang="ko-KR" altLang="en-US" sz="1400" b="0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B6A10-8C57-4333-2F71-DB7BE449F598}"/>
              </a:ext>
            </a:extLst>
          </p:cNvPr>
          <p:cNvSpPr txBox="1"/>
          <p:nvPr/>
        </p:nvSpPr>
        <p:spPr>
          <a:xfrm>
            <a:off x="7027264" y="3492989"/>
            <a:ext cx="1813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0" dirty="0">
                <a:latin typeface="+mj-ea"/>
                <a:ea typeface="+mj-ea"/>
              </a:rPr>
              <a:t>Multi-Value Column</a:t>
            </a:r>
            <a:endParaRPr kumimoji="1" lang="ko-KR" altLang="en-US" sz="14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681989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Row(Record/Tuple)</a:t>
            </a:r>
            <a:r>
              <a:rPr lang="ko-KR" altLang="en-US" dirty="0">
                <a:cs typeface="Arial" panose="020B0604020202020204" pitchFamily="34" charset="0"/>
              </a:rPr>
              <a:t>는 테이블 주제의 고유한 인스턴스</a:t>
            </a:r>
            <a:r>
              <a:rPr lang="en-US" altLang="ko-KR" dirty="0">
                <a:cs typeface="Arial" panose="020B0604020202020204" pitchFamily="34" charset="0"/>
              </a:rPr>
              <a:t>(Field</a:t>
            </a:r>
            <a:r>
              <a:rPr lang="ko-KR" altLang="en-US" dirty="0">
                <a:cs typeface="Arial" panose="020B0604020202020204" pitchFamily="34" charset="0"/>
              </a:rPr>
              <a:t>의 집합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  <a:r>
              <a:rPr lang="ko-KR" altLang="en-US" dirty="0">
                <a:cs typeface="Arial" panose="020B0604020202020204" pitchFamily="34" charset="0"/>
              </a:rPr>
              <a:t>을 나타냄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각 인스턴스</a:t>
            </a:r>
            <a:r>
              <a:rPr lang="en-US" altLang="ko-KR" dirty="0">
                <a:cs typeface="Arial" panose="020B0604020202020204" pitchFamily="34" charset="0"/>
              </a:rPr>
              <a:t>(Field</a:t>
            </a:r>
            <a:r>
              <a:rPr lang="ko-KR" altLang="en-US" dirty="0">
                <a:cs typeface="Arial" panose="020B0604020202020204" pitchFamily="34" charset="0"/>
              </a:rPr>
              <a:t>의 집합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  <a:r>
              <a:rPr lang="ko-KR" altLang="en-US" dirty="0">
                <a:cs typeface="Arial" panose="020B0604020202020204" pitchFamily="34" charset="0"/>
              </a:rPr>
              <a:t>는 주 키</a:t>
            </a:r>
            <a:r>
              <a:rPr lang="en-US" altLang="ko-KR" dirty="0">
                <a:cs typeface="Arial" panose="020B0604020202020204" pitchFamily="34" charset="0"/>
              </a:rPr>
              <a:t>(Primary Key)</a:t>
            </a:r>
            <a:r>
              <a:rPr lang="ko-KR" altLang="en-US" dirty="0">
                <a:cs typeface="Arial" panose="020B0604020202020204" pitchFamily="34" charset="0"/>
              </a:rPr>
              <a:t>필드에 의해 유일한 인스턴스로 구분된다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18436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AABD41D-1649-4C61-905B-F7305100D334}" type="slidenum">
              <a:rPr lang="en-GB" altLang="ko-KR">
                <a:solidFill>
                  <a:srgbClr val="898989"/>
                </a:solidFill>
              </a:rPr>
              <a:pPr/>
              <a:t>24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Rows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BED2869-EFC5-86CB-BFDA-7B16924C1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908" y="2895600"/>
            <a:ext cx="6322184" cy="2854063"/>
          </a:xfrm>
          <a:prstGeom prst="rect">
            <a:avLst/>
          </a:prstGeom>
        </p:spPr>
      </p:pic>
      <p:sp>
        <p:nvSpPr>
          <p:cNvPr id="3" name="왼쪽 중괄호[L] 2">
            <a:extLst>
              <a:ext uri="{FF2B5EF4-FFF2-40B4-BE49-F238E27FC236}">
                <a16:creationId xmlns:a16="http://schemas.microsoft.com/office/drawing/2014/main" id="{24B3748E-3D2E-5C4B-0DD2-B44E91AFC060}"/>
              </a:ext>
            </a:extLst>
          </p:cNvPr>
          <p:cNvSpPr/>
          <p:nvPr/>
        </p:nvSpPr>
        <p:spPr>
          <a:xfrm>
            <a:off x="1295400" y="3733800"/>
            <a:ext cx="228600" cy="18288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05B371-F66B-01C4-FD0E-DB3ECEC2CEDC}"/>
              </a:ext>
            </a:extLst>
          </p:cNvPr>
          <p:cNvSpPr txBox="1"/>
          <p:nvPr/>
        </p:nvSpPr>
        <p:spPr>
          <a:xfrm>
            <a:off x="465447" y="4386590"/>
            <a:ext cx="854722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0" dirty="0">
                <a:latin typeface="+mj-ea"/>
                <a:ea typeface="+mj-ea"/>
              </a:rPr>
              <a:t>Row</a:t>
            </a:r>
          </a:p>
          <a:p>
            <a:r>
              <a:rPr kumimoji="1" lang="en-US" altLang="ko-KR" sz="1400" b="0" dirty="0">
                <a:latin typeface="+mj-ea"/>
                <a:ea typeface="+mj-ea"/>
              </a:rPr>
              <a:t>(Record)</a:t>
            </a:r>
          </a:p>
        </p:txBody>
      </p:sp>
      <p:sp>
        <p:nvSpPr>
          <p:cNvPr id="5" name="사각형 설명선[R] 4">
            <a:extLst>
              <a:ext uri="{FF2B5EF4-FFF2-40B4-BE49-F238E27FC236}">
                <a16:creationId xmlns:a16="http://schemas.microsoft.com/office/drawing/2014/main" id="{2368F31A-23CA-5AD7-2BC1-5B2D76FBFBA5}"/>
              </a:ext>
            </a:extLst>
          </p:cNvPr>
          <p:cNvSpPr/>
          <p:nvPr/>
        </p:nvSpPr>
        <p:spPr>
          <a:xfrm>
            <a:off x="1421423" y="5970005"/>
            <a:ext cx="2536526" cy="349681"/>
          </a:xfrm>
          <a:prstGeom prst="wedgeRectCallout">
            <a:avLst>
              <a:gd name="adj1" fmla="val -28740"/>
              <a:gd name="adj2" fmla="val -122518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각 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Row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를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식별할 주 키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(Primary Key)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7DD52C-F2E2-E734-8251-A4BDB69C529D}"/>
              </a:ext>
            </a:extLst>
          </p:cNvPr>
          <p:cNvSpPr/>
          <p:nvPr/>
        </p:nvSpPr>
        <p:spPr>
          <a:xfrm>
            <a:off x="1600200" y="4040228"/>
            <a:ext cx="6019800" cy="334485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8BA7B9-C0ED-501A-C73F-DE137D3D0BFC}"/>
              </a:ext>
            </a:extLst>
          </p:cNvPr>
          <p:cNvSpPr/>
          <p:nvPr/>
        </p:nvSpPr>
        <p:spPr>
          <a:xfrm>
            <a:off x="1600200" y="4999515"/>
            <a:ext cx="6019800" cy="334485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061815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Primary Key (PK)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테이블 내의 </a:t>
            </a:r>
            <a:r>
              <a:rPr lang="en-US" altLang="ko-KR" dirty="0">
                <a:cs typeface="Arial" panose="020B0604020202020204" pitchFamily="34" charset="0"/>
              </a:rPr>
              <a:t>Row</a:t>
            </a:r>
            <a:r>
              <a:rPr lang="ko-KR" altLang="en-US" dirty="0">
                <a:cs typeface="Arial" panose="020B0604020202020204" pitchFamily="34" charset="0"/>
              </a:rPr>
              <a:t>들을 유일하게 식별할 수 있는 하나의 필드 또는 필드 그룹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만약 주 키가 두 개 이상이라면 </a:t>
            </a:r>
            <a:r>
              <a:rPr lang="en-US" altLang="ko-KR" dirty="0">
                <a:cs typeface="Arial" panose="020B0604020202020204" pitchFamily="34" charset="0"/>
              </a:rPr>
              <a:t>“</a:t>
            </a:r>
            <a:r>
              <a:rPr lang="ko-KR" altLang="en-US" dirty="0">
                <a:cs typeface="Arial" panose="020B0604020202020204" pitchFamily="34" charset="0"/>
              </a:rPr>
              <a:t>복합 주 키</a:t>
            </a:r>
            <a:r>
              <a:rPr lang="en-US" altLang="ko-KR" dirty="0">
                <a:cs typeface="Arial" panose="020B0604020202020204" pitchFamily="34" charset="0"/>
              </a:rPr>
              <a:t>”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ko-KR" altLang="en-US" dirty="0" err="1">
                <a:cs typeface="Arial" panose="020B0604020202020204" pitchFamily="34" charset="0"/>
              </a:rPr>
              <a:t>라고</a:t>
            </a:r>
            <a:r>
              <a:rPr lang="ko-KR" altLang="en-US" dirty="0">
                <a:cs typeface="Arial" panose="020B0604020202020204" pitchFamily="34" charset="0"/>
              </a:rPr>
              <a:t> 부른다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테이블 구조에서 가장 중요한 필드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주 키 값은 테이블 내에서 특정 레코드를 식별한다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주 키 필드는 테이블 수준의 무결성을 강화한다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주 키 필드는 다른 테이블과의 관계 설정에 도움을 준다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Foreign Key (FK)</a:t>
            </a:r>
          </a:p>
          <a:p>
            <a:pPr lvl="1">
              <a:defRPr/>
            </a:pPr>
            <a:r>
              <a:rPr lang="ko-KR" altLang="en-US" dirty="0"/>
              <a:t>두 테이블이 서로 관계를 </a:t>
            </a:r>
            <a:r>
              <a:rPr lang="ko-KR" altLang="en-US" dirty="0" err="1"/>
              <a:t>가진다라고</a:t>
            </a:r>
            <a:r>
              <a:rPr lang="ko-KR" altLang="en-US" dirty="0"/>
              <a:t> 할 때</a:t>
            </a:r>
            <a:r>
              <a:rPr lang="en-US" altLang="ko-KR" dirty="0"/>
              <a:t>,</a:t>
            </a:r>
            <a:r>
              <a:rPr lang="ko-KR" altLang="en-US" dirty="0"/>
              <a:t> 첫 번째 테이블의 주 키의 복사본을 취해</a:t>
            </a:r>
            <a:br>
              <a:rPr lang="en-US" altLang="ko-KR" dirty="0"/>
            </a:br>
            <a:r>
              <a:rPr lang="ko-KR" altLang="en-US" dirty="0"/>
              <a:t>두 번째 테이블 구조에 포함시키는 방법으로 표현된다</a:t>
            </a:r>
            <a:r>
              <a:rPr lang="en-US" altLang="ko-KR" dirty="0"/>
              <a:t>.</a:t>
            </a:r>
          </a:p>
          <a:p>
            <a:pPr lvl="1">
              <a:defRPr/>
            </a:pPr>
            <a:r>
              <a:rPr lang="ko-KR" altLang="en-US" dirty="0"/>
              <a:t>주 키의 복사본을 외래 키</a:t>
            </a:r>
            <a:r>
              <a:rPr lang="en-US" altLang="ko-KR" dirty="0"/>
              <a:t>(Foreign Key)</a:t>
            </a:r>
            <a:r>
              <a:rPr lang="ko-KR" altLang="en-US" dirty="0" err="1"/>
              <a:t>라고</a:t>
            </a:r>
            <a:r>
              <a:rPr lang="ko-KR" altLang="en-US" dirty="0"/>
              <a:t> 부른다</a:t>
            </a:r>
            <a:r>
              <a:rPr lang="en-US" altLang="ko-KR" dirty="0"/>
              <a:t>.</a:t>
            </a:r>
          </a:p>
          <a:p>
            <a:pPr lvl="1">
              <a:defRPr/>
            </a:pPr>
            <a:r>
              <a:rPr lang="ko-KR" altLang="en-US" dirty="0"/>
              <a:t>관계 수준의 무결성을 강화하고 </a:t>
            </a:r>
            <a:r>
              <a:rPr lang="ko-KR" altLang="en-US" dirty="0" err="1"/>
              <a:t>보장시킨다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외래 키는 주 </a:t>
            </a:r>
            <a:r>
              <a:rPr lang="ko-KR" altLang="en-US" dirty="0" err="1"/>
              <a:t>키값에</a:t>
            </a:r>
            <a:r>
              <a:rPr lang="ko-KR" altLang="en-US" dirty="0"/>
              <a:t> 의존적이다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주 키 필드에 있는 값만 외래 키로 사용할 수 있다</a:t>
            </a:r>
            <a:r>
              <a:rPr lang="en-US" altLang="ko-KR" dirty="0"/>
              <a:t>.</a:t>
            </a:r>
          </a:p>
        </p:txBody>
      </p:sp>
      <p:sp>
        <p:nvSpPr>
          <p:cNvPr id="22532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25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Keys</a:t>
            </a:r>
          </a:p>
        </p:txBody>
      </p:sp>
    </p:spTree>
    <p:extLst>
      <p:ext uri="{BB962C8B-B14F-4D97-AF65-F5344CB8AC3E}">
        <p14:creationId xmlns:p14="http://schemas.microsoft.com/office/powerpoint/2010/main" val="420141484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367E8-E15F-1AB9-D76E-4B7B6BFA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E74BD3CB-573D-B09A-1639-ABF58287D1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Foreign Key (FK)</a:t>
            </a:r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E372F9CB-66EC-8E23-6805-B44BFFA0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26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9A16A158-D374-AAD5-D41B-61F859A3E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Keys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5F7C21-1351-24B8-522B-183ACF502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21760"/>
            <a:ext cx="7772400" cy="3691425"/>
          </a:xfrm>
          <a:prstGeom prst="rect">
            <a:avLst/>
          </a:prstGeom>
        </p:spPr>
      </p:pic>
      <p:sp>
        <p:nvSpPr>
          <p:cNvPr id="3" name="사각형 설명선[R] 2">
            <a:extLst>
              <a:ext uri="{FF2B5EF4-FFF2-40B4-BE49-F238E27FC236}">
                <a16:creationId xmlns:a16="http://schemas.microsoft.com/office/drawing/2014/main" id="{1AFF9324-A2B9-F8A4-5A70-5D152B67F080}"/>
              </a:ext>
            </a:extLst>
          </p:cNvPr>
          <p:cNvSpPr/>
          <p:nvPr/>
        </p:nvSpPr>
        <p:spPr>
          <a:xfrm>
            <a:off x="1143000" y="2819400"/>
            <a:ext cx="2536526" cy="349681"/>
          </a:xfrm>
          <a:prstGeom prst="wedgeRectCallout">
            <a:avLst>
              <a:gd name="adj1" fmla="val -35871"/>
              <a:gd name="adj2" fmla="val 113115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각 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Row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를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식별할 주 키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(Primary Key)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4" name="사각형 설명선[R] 3">
            <a:extLst>
              <a:ext uri="{FF2B5EF4-FFF2-40B4-BE49-F238E27FC236}">
                <a16:creationId xmlns:a16="http://schemas.microsoft.com/office/drawing/2014/main" id="{16E65865-E5E7-31A0-B478-08805183FD7C}"/>
              </a:ext>
            </a:extLst>
          </p:cNvPr>
          <p:cNvSpPr/>
          <p:nvPr/>
        </p:nvSpPr>
        <p:spPr>
          <a:xfrm>
            <a:off x="4191000" y="4953000"/>
            <a:ext cx="2536526" cy="349681"/>
          </a:xfrm>
          <a:prstGeom prst="wedgeRectCallout">
            <a:avLst>
              <a:gd name="adj1" fmla="val -37059"/>
              <a:gd name="adj2" fmla="val -90909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각 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Row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를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식별할 주 키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(Primary Key)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5" name="사각형 설명선[R] 4">
            <a:extLst>
              <a:ext uri="{FF2B5EF4-FFF2-40B4-BE49-F238E27FC236}">
                <a16:creationId xmlns:a16="http://schemas.microsoft.com/office/drawing/2014/main" id="{346D1810-610A-5CEC-A96B-673289D65F4E}"/>
              </a:ext>
            </a:extLst>
          </p:cNvPr>
          <p:cNvSpPr/>
          <p:nvPr/>
        </p:nvSpPr>
        <p:spPr>
          <a:xfrm>
            <a:off x="1371600" y="5866531"/>
            <a:ext cx="2536526" cy="454143"/>
          </a:xfrm>
          <a:prstGeom prst="wedgeRectCallout">
            <a:avLst>
              <a:gd name="adj1" fmla="val -39436"/>
              <a:gd name="adj2" fmla="val -151686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주 키의 복제본으로 참조한 </a:t>
            </a:r>
            <a:r>
              <a:rPr kumimoji="1" lang="ko-KR" altLang="en-US" sz="1200" b="0" dirty="0" err="1">
                <a:solidFill>
                  <a:schemeClr val="tx1"/>
                </a:solidFill>
              </a:rPr>
              <a:t>외래키</a:t>
            </a:r>
            <a:r>
              <a:rPr kumimoji="1" lang="ko-KR" altLang="en-US" sz="1200" b="0" dirty="0">
                <a:solidFill>
                  <a:schemeClr val="tx1"/>
                </a:solidFill>
              </a:rPr>
              <a:t> 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(Foreign Key)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80143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8362-C231-6762-838D-D2858231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A8FDAADE-33CF-94A8-8EF1-7DC1BBCB51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 err="1"/>
              <a:t>관계란</a:t>
            </a:r>
            <a:r>
              <a:rPr lang="en-US" altLang="ko-KR" dirty="0"/>
              <a:t>?</a:t>
            </a:r>
          </a:p>
          <a:p>
            <a:pPr lvl="1">
              <a:defRPr/>
            </a:pPr>
            <a:r>
              <a:rPr lang="ko-KR" altLang="en-US" dirty="0"/>
              <a:t>두 테이블의 </a:t>
            </a:r>
            <a:r>
              <a:rPr lang="en-US" altLang="ko-KR" dirty="0"/>
              <a:t>Row(Record)</a:t>
            </a:r>
            <a:r>
              <a:rPr lang="ko-KR" altLang="en-US" dirty="0"/>
              <a:t>들과의 연관을 맺게 하는 방법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주 키</a:t>
            </a:r>
            <a:r>
              <a:rPr lang="en-US" altLang="ko-KR" dirty="0"/>
              <a:t>(Primary Key)</a:t>
            </a:r>
            <a:r>
              <a:rPr lang="ko-KR" altLang="en-US" dirty="0"/>
              <a:t>와 외래 키</a:t>
            </a:r>
            <a:r>
              <a:rPr lang="en-US" altLang="ko-KR" dirty="0"/>
              <a:t>(Foreign Key)</a:t>
            </a:r>
            <a:r>
              <a:rPr lang="ko-KR" altLang="en-US" dirty="0"/>
              <a:t>의 집합으로 관계를 형성하는 것</a:t>
            </a:r>
            <a:r>
              <a:rPr lang="en-US" altLang="ko-KR" dirty="0"/>
              <a:t>.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관계의 목적</a:t>
            </a:r>
            <a:r>
              <a:rPr lang="en-US" altLang="ko-KR" dirty="0"/>
              <a:t>?</a:t>
            </a:r>
          </a:p>
          <a:p>
            <a:pPr lvl="1">
              <a:defRPr/>
            </a:pPr>
            <a:r>
              <a:rPr lang="ko-KR" altLang="en-US" dirty="0"/>
              <a:t>다중 테이블 뷰</a:t>
            </a:r>
            <a:r>
              <a:rPr lang="en-US" altLang="ko-KR" dirty="0"/>
              <a:t>(View)</a:t>
            </a:r>
            <a:r>
              <a:rPr lang="ko-KR" altLang="en-US" dirty="0" err="1"/>
              <a:t>를</a:t>
            </a:r>
            <a:r>
              <a:rPr lang="ko-KR" altLang="en-US" dirty="0"/>
              <a:t> 만들 수 있게 해준다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다중 테이블 뷰</a:t>
            </a:r>
            <a:r>
              <a:rPr lang="en-US" altLang="ko-KR" dirty="0"/>
              <a:t>?</a:t>
            </a:r>
          </a:p>
          <a:p>
            <a:pPr lvl="3">
              <a:defRPr/>
            </a:pPr>
            <a:r>
              <a:rPr lang="ko-KR" altLang="en-US" dirty="0"/>
              <a:t>여러 테이블을 하나로 묶어둔 임시 테이블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하나의 테이블을 집합이라 했을 때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합집합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 교집합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b="1" dirty="0" err="1">
                <a:solidFill>
                  <a:schemeClr val="accent2">
                    <a:lumMod val="75000"/>
                  </a:schemeClr>
                </a:solidFill>
              </a:rPr>
              <a:t>차집합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 여집합 등을 구성</a:t>
            </a:r>
            <a:r>
              <a:rPr lang="ko-KR" altLang="en-US" dirty="0"/>
              <a:t>하는 방법</a:t>
            </a:r>
            <a:r>
              <a:rPr lang="en-US" altLang="ko-KR" dirty="0"/>
              <a:t>.</a:t>
            </a:r>
          </a:p>
          <a:p>
            <a:pPr lvl="1">
              <a:defRPr/>
            </a:pPr>
            <a:r>
              <a:rPr lang="ko-KR" altLang="en-US" dirty="0"/>
              <a:t>중복 데이터를 줄이고 이중 데이터를 배제하는데 도움이 되어 데이터 무결성에 </a:t>
            </a:r>
            <a:br>
              <a:rPr lang="en-US" altLang="ko-KR" dirty="0"/>
            </a:br>
            <a:r>
              <a:rPr lang="ko-KR" altLang="en-US" dirty="0"/>
              <a:t>결정적으로 중요</a:t>
            </a:r>
            <a:r>
              <a:rPr lang="en-US" altLang="ko-KR" dirty="0"/>
              <a:t>.</a:t>
            </a:r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29111741-2050-1416-BA51-43C7ADCDF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27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039D445D-017D-1CB4-A17B-A9E3DFB40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관계의 종류</a:t>
            </a:r>
            <a:endParaRPr lang="en-US" altLang="ko-KR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26474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36B9-D955-DB4C-0F72-7B3E347A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86D7BFFF-BA5C-1526-2ECB-B066913C32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관계의 종류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1 : 1 (</a:t>
            </a:r>
            <a:r>
              <a:rPr lang="ko-KR" altLang="en-US" dirty="0"/>
              <a:t>일 대 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일반적이지 않은 특별한 관계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첫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두 번째 테이블에 오직 한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첫 번째 테이블에 오직 한</a:t>
            </a:r>
            <a:r>
              <a:rPr lang="en-US" altLang="ko-KR" dirty="0"/>
              <a:t> 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관계를 만족한 구조를 </a:t>
            </a:r>
            <a:r>
              <a:rPr lang="en-US" altLang="ko-KR" dirty="0"/>
              <a:t>＂</a:t>
            </a:r>
            <a:r>
              <a:rPr lang="ko-KR" altLang="en-US" dirty="0"/>
              <a:t>일 대 일 </a:t>
            </a:r>
            <a:r>
              <a:rPr lang="en-US" altLang="ko-KR" dirty="0"/>
              <a:t>“</a:t>
            </a:r>
            <a:r>
              <a:rPr lang="ko-KR" altLang="en-US" dirty="0"/>
              <a:t> 관계라고 칭한다</a:t>
            </a:r>
            <a:r>
              <a:rPr lang="en-US" altLang="ko-KR" dirty="0"/>
              <a:t>.</a:t>
            </a:r>
          </a:p>
          <a:p>
            <a:pPr marL="4572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8773382C-FC9A-1D2B-D4DF-1F1AA32D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28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143772D9-ABFC-3CE6-E881-01BF9C312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관계의 종류</a:t>
            </a:r>
            <a:endParaRPr lang="en-US" altLang="ko-KR" dirty="0">
              <a:cs typeface="Arial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CAC2200-8D7B-A554-DB6E-DE5299644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35" y="2895600"/>
            <a:ext cx="5562600" cy="369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4456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4C2A-5CAF-B2D2-8DE2-45A4EEE48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DD4B0F57-CDFD-6E03-DDA3-22DF11AA6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관계의 종류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N (</a:t>
            </a:r>
            <a:r>
              <a:rPr lang="ko-KR" altLang="en-US" dirty="0"/>
              <a:t>일 대 다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관계형 데이터베이스에서 가장 흔한 관계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첫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두 번째 테이블의 여러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첫 번째 테이블의 오직 한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관계를 만족한 구조를 </a:t>
            </a:r>
            <a:r>
              <a:rPr lang="en-US" altLang="ko-KR" dirty="0"/>
              <a:t>“</a:t>
            </a:r>
            <a:r>
              <a:rPr lang="ko-KR" altLang="en-US" dirty="0"/>
              <a:t>일 대 다</a:t>
            </a:r>
            <a:r>
              <a:rPr lang="en-US" altLang="ko-KR" dirty="0"/>
              <a:t>”</a:t>
            </a:r>
            <a:r>
              <a:rPr lang="ko-KR" altLang="en-US" dirty="0"/>
              <a:t> 관계라고 칭한다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중복 데이터를 최소화하는데 도움을 주어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데이터 무결성</a:t>
            </a:r>
            <a:r>
              <a:rPr lang="ko-KR" altLang="en-US" dirty="0"/>
              <a:t> 관점에서 매우 중요한 관계</a:t>
            </a:r>
            <a:r>
              <a:rPr lang="en-US" altLang="ko-KR" dirty="0"/>
              <a:t>.</a:t>
            </a:r>
          </a:p>
          <a:p>
            <a:pPr marL="457200" lvl="1" indent="0">
              <a:buNone/>
              <a:defRPr/>
            </a:pPr>
            <a:endParaRPr lang="en-US" altLang="ko-KR" dirty="0"/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7111D367-69CA-F1C0-685C-E34F524F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29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82B7687C-21E5-E80F-33CF-F93AD5EDC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관계의 종류</a:t>
            </a:r>
            <a:endParaRPr lang="en-US" altLang="ko-KR" dirty="0">
              <a:cs typeface="Arial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7F047A7-4A0B-940C-BA13-7CB2D0D8A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058" y="3128200"/>
            <a:ext cx="6074341" cy="363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8985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8471B-8D3D-CD06-781B-13FAF952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34A883EC-6DDF-D6D5-B0C7-369BB46928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관계의 종류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N : M (</a:t>
            </a:r>
            <a:r>
              <a:rPr lang="ko-KR" altLang="en-US" dirty="0"/>
              <a:t>다 대 다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가장 흔한 관계이지만</a:t>
            </a:r>
            <a:r>
              <a:rPr lang="en-US" altLang="ko-KR" dirty="0"/>
              <a:t>,</a:t>
            </a:r>
            <a:r>
              <a:rPr lang="ko-KR" altLang="en-US" dirty="0"/>
              <a:t> 논리적</a:t>
            </a:r>
            <a:r>
              <a:rPr lang="en-US" altLang="ko-KR" dirty="0"/>
              <a:t>/</a:t>
            </a:r>
            <a:r>
              <a:rPr lang="ko-KR" altLang="en-US" dirty="0"/>
              <a:t>물리적 구조로 표현할 수 없는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첫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두 번째 테이블의 여러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첫 번째 테이블의 여러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관계를 만족한 관계를  </a:t>
            </a:r>
            <a:r>
              <a:rPr lang="en-US" altLang="ko-KR" dirty="0"/>
              <a:t>“</a:t>
            </a:r>
            <a:r>
              <a:rPr lang="ko-KR" altLang="en-US" dirty="0"/>
              <a:t>다 대 다</a:t>
            </a:r>
            <a:r>
              <a:rPr lang="en-US" altLang="ko-KR" dirty="0"/>
              <a:t>”</a:t>
            </a:r>
            <a:r>
              <a:rPr lang="ko-KR" altLang="en-US" dirty="0"/>
              <a:t> 관계라고 칭한다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중복 데이터를 반드시 발생을 시킨다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 데이터 무결성 관점에서 만들지 말아야 할 관계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AB070A84-C837-A2E8-179F-689A2471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30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085C4628-DE04-1FB7-1AFD-C97E8735E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관계의 종류</a:t>
            </a:r>
            <a:endParaRPr lang="en-US" altLang="ko-KR" dirty="0">
              <a:cs typeface="Arial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E97F0E-31A7-FA22-FD0E-EF23EB094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71874"/>
            <a:ext cx="4953000" cy="3646338"/>
          </a:xfrm>
          <a:prstGeom prst="rect">
            <a:avLst/>
          </a:prstGeom>
        </p:spPr>
      </p:pic>
      <p:sp>
        <p:nvSpPr>
          <p:cNvPr id="4" name="사각형 설명선[R] 3">
            <a:extLst>
              <a:ext uri="{FF2B5EF4-FFF2-40B4-BE49-F238E27FC236}">
                <a16:creationId xmlns:a16="http://schemas.microsoft.com/office/drawing/2014/main" id="{CF4BF183-E3E6-B92C-D538-1419AF5388A6}"/>
              </a:ext>
            </a:extLst>
          </p:cNvPr>
          <p:cNvSpPr/>
          <p:nvPr/>
        </p:nvSpPr>
        <p:spPr>
          <a:xfrm>
            <a:off x="6453587" y="4767971"/>
            <a:ext cx="2536526" cy="454143"/>
          </a:xfrm>
          <a:prstGeom prst="wedgeRectCallout">
            <a:avLst>
              <a:gd name="adj1" fmla="val -59244"/>
              <a:gd name="adj2" fmla="val -7868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해결되지 않는 이유는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?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96795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A4B6C-CA9C-81FB-4FAB-6A2E8401F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BF94A5CF-9136-7342-3600-40837AC0F8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관계의 종류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N : M (</a:t>
            </a:r>
            <a:r>
              <a:rPr lang="ko-KR" altLang="en-US" dirty="0"/>
              <a:t>다 대 다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가장 흔한 관계이지만</a:t>
            </a:r>
            <a:r>
              <a:rPr lang="en-US" altLang="ko-KR" dirty="0"/>
              <a:t>,</a:t>
            </a:r>
            <a:r>
              <a:rPr lang="ko-KR" altLang="en-US" dirty="0"/>
              <a:t> 논리적</a:t>
            </a:r>
            <a:r>
              <a:rPr lang="en-US" altLang="ko-KR" dirty="0"/>
              <a:t>/</a:t>
            </a:r>
            <a:r>
              <a:rPr lang="ko-KR" altLang="en-US" dirty="0"/>
              <a:t>물리적 구조로 표현할 수 없는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첫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두 번째 테이블의 여러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첫 번째 테이블의 여러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관계를 만족한 관계를  </a:t>
            </a:r>
            <a:r>
              <a:rPr lang="en-US" altLang="ko-KR" dirty="0"/>
              <a:t>“</a:t>
            </a:r>
            <a:r>
              <a:rPr lang="ko-KR" altLang="en-US" dirty="0"/>
              <a:t>다 대 다</a:t>
            </a:r>
            <a:r>
              <a:rPr lang="en-US" altLang="ko-KR" dirty="0"/>
              <a:t>”</a:t>
            </a:r>
            <a:r>
              <a:rPr lang="ko-KR" altLang="en-US" dirty="0"/>
              <a:t> 관계라고 칭한다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중복 데이터를 반드시 발생을 시킨다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 데이터 무결성 관점에서 만들지 말아야 할 관계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7A4461C9-2E7A-8B03-BF97-11FD0D72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31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8C747688-9DEA-5ADF-0330-5163613BA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관계의 종류</a:t>
            </a:r>
            <a:endParaRPr lang="en-US" altLang="ko-KR" dirty="0">
              <a:cs typeface="Arial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56F588-31E1-BC55-65E5-821F0C089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71874"/>
            <a:ext cx="4953000" cy="3646338"/>
          </a:xfrm>
          <a:prstGeom prst="rect">
            <a:avLst/>
          </a:prstGeom>
        </p:spPr>
      </p:pic>
      <p:sp>
        <p:nvSpPr>
          <p:cNvPr id="4" name="사각형 설명선[R] 3">
            <a:extLst>
              <a:ext uri="{FF2B5EF4-FFF2-40B4-BE49-F238E27FC236}">
                <a16:creationId xmlns:a16="http://schemas.microsoft.com/office/drawing/2014/main" id="{A215E3D7-67B0-163E-8E94-ABD4A862D4DB}"/>
              </a:ext>
            </a:extLst>
          </p:cNvPr>
          <p:cNvSpPr/>
          <p:nvPr/>
        </p:nvSpPr>
        <p:spPr>
          <a:xfrm>
            <a:off x="6453587" y="4767971"/>
            <a:ext cx="2536526" cy="454143"/>
          </a:xfrm>
          <a:prstGeom prst="wedgeRectCallout">
            <a:avLst>
              <a:gd name="adj1" fmla="val -59244"/>
              <a:gd name="adj2" fmla="val -7868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해결되지 않는 이유는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주 키의 중복이 발생하기 때문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  <a:endParaRPr kumimoji="1" lang="ko-KR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33072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3F67-7B35-5CD9-7BB5-7DBBEDF8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2C046BCF-0FDF-9F3E-CCF6-F78CDE4DE2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관계의 종류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N : M (</a:t>
            </a:r>
            <a:r>
              <a:rPr lang="ko-KR" altLang="en-US" dirty="0"/>
              <a:t>다 대 다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가장 흔한 관계이지만</a:t>
            </a:r>
            <a:r>
              <a:rPr lang="en-US" altLang="ko-KR" dirty="0"/>
              <a:t>,</a:t>
            </a:r>
            <a:r>
              <a:rPr lang="ko-KR" altLang="en-US" dirty="0"/>
              <a:t> 논리적</a:t>
            </a:r>
            <a:r>
              <a:rPr lang="en-US" altLang="ko-KR" dirty="0"/>
              <a:t>/</a:t>
            </a:r>
            <a:r>
              <a:rPr lang="ko-KR" altLang="en-US" dirty="0"/>
              <a:t>물리적 구조로 표현할 수 없는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첫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두 번째 테이블의 여러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번째 테이블의 한 </a:t>
            </a:r>
            <a:r>
              <a:rPr lang="en-US" altLang="ko-KR" dirty="0"/>
              <a:t>Row</a:t>
            </a:r>
            <a:r>
              <a:rPr lang="ko-KR" altLang="en-US" dirty="0"/>
              <a:t>가 첫 번째 테이블의 여러 </a:t>
            </a:r>
            <a:r>
              <a:rPr lang="en-US" altLang="ko-KR" dirty="0"/>
              <a:t>Row</a:t>
            </a:r>
            <a:r>
              <a:rPr lang="ko-KR" altLang="en-US" dirty="0"/>
              <a:t>와 연관된 관계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두 관계를 만족한 관계를  </a:t>
            </a:r>
            <a:r>
              <a:rPr lang="en-US" altLang="ko-KR" dirty="0"/>
              <a:t>“</a:t>
            </a:r>
            <a:r>
              <a:rPr lang="ko-KR" altLang="en-US" dirty="0"/>
              <a:t>다 대 다</a:t>
            </a:r>
            <a:r>
              <a:rPr lang="en-US" altLang="ko-KR" dirty="0"/>
              <a:t>”</a:t>
            </a:r>
            <a:r>
              <a:rPr lang="ko-KR" altLang="en-US" dirty="0"/>
              <a:t> 관계라고 칭한다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중복 데이터를 반드시 발생을 시킨다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 데이터 무결성 관점에서 만들지 말아야 할 관계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88B6A2D2-CA24-5CB3-DCBB-58724AD2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32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60DB7A0-6A6D-E276-4CC4-287CA3F2E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관계의 종류</a:t>
            </a:r>
            <a:endParaRPr lang="en-US" altLang="ko-KR" dirty="0">
              <a:cs typeface="Arial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4AD522-9CAF-AAA3-9593-FC18F2677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71874"/>
            <a:ext cx="4953000" cy="3646338"/>
          </a:xfrm>
          <a:prstGeom prst="rect">
            <a:avLst/>
          </a:prstGeom>
        </p:spPr>
      </p:pic>
      <p:sp>
        <p:nvSpPr>
          <p:cNvPr id="4" name="사각형 설명선[R] 3">
            <a:extLst>
              <a:ext uri="{FF2B5EF4-FFF2-40B4-BE49-F238E27FC236}">
                <a16:creationId xmlns:a16="http://schemas.microsoft.com/office/drawing/2014/main" id="{F8255F13-9595-00F2-EA9A-C79CC95949E0}"/>
              </a:ext>
            </a:extLst>
          </p:cNvPr>
          <p:cNvSpPr/>
          <p:nvPr/>
        </p:nvSpPr>
        <p:spPr>
          <a:xfrm>
            <a:off x="6453587" y="4767971"/>
            <a:ext cx="2536526" cy="718429"/>
          </a:xfrm>
          <a:prstGeom prst="wedgeRectCallout">
            <a:avLst>
              <a:gd name="adj1" fmla="val -59244"/>
              <a:gd name="adj2" fmla="val -7868"/>
            </a:avLst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해결되지 않는 이유는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주 키의 중복이 발생하기 때문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kumimoji="1" lang="ko-KR" altLang="en-US" sz="1200" b="0" dirty="0">
                <a:solidFill>
                  <a:schemeClr val="tx1"/>
                </a:solidFill>
              </a:rPr>
              <a:t>데이터의 무결성이 깨진다</a:t>
            </a:r>
            <a:r>
              <a:rPr kumimoji="1" lang="en-US" altLang="ko-KR" sz="1200" b="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305127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49FE-1FCB-1AB1-7A8C-8C6E2D99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B1DAE6D2-089C-045E-6147-A7087A5C7A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/>
              <a:t>데이터 무결성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데이터베이스 내의 데이터의 유효성</a:t>
            </a:r>
            <a:r>
              <a:rPr lang="en-US" altLang="ko-KR" dirty="0"/>
              <a:t>,</a:t>
            </a:r>
            <a:r>
              <a:rPr lang="ko-KR" altLang="en-US" dirty="0"/>
              <a:t> 일관성</a:t>
            </a:r>
            <a:r>
              <a:rPr lang="en-US" altLang="ko-KR" dirty="0"/>
              <a:t>,</a:t>
            </a:r>
            <a:r>
              <a:rPr lang="ko-KR" altLang="en-US" dirty="0"/>
              <a:t> 정확성을 가리키는 용어</a:t>
            </a:r>
            <a:r>
              <a:rPr lang="en-US" altLang="ko-KR" dirty="0"/>
              <a:t>.</a:t>
            </a:r>
          </a:p>
          <a:p>
            <a:pPr lvl="1">
              <a:defRPr/>
            </a:pPr>
            <a:r>
              <a:rPr lang="ko-KR" altLang="en-US" dirty="0"/>
              <a:t>데이터베이스에서 가장 중요한 용어</a:t>
            </a:r>
            <a:r>
              <a:rPr lang="en-US" altLang="ko-KR" dirty="0"/>
              <a:t>.</a:t>
            </a:r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무결성의 종류</a:t>
            </a:r>
            <a:endParaRPr lang="en-US" altLang="ko-KR" dirty="0"/>
          </a:p>
          <a:p>
            <a:pPr lvl="1">
              <a:defRPr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테이블 수준의 무결성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실체 무결성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lvl="2">
              <a:defRPr/>
            </a:pPr>
            <a:r>
              <a:rPr lang="ko-KR" altLang="en-US" dirty="0"/>
              <a:t>테이블 내에 중복된 </a:t>
            </a:r>
            <a:r>
              <a:rPr lang="en-US" altLang="ko-KR" dirty="0"/>
              <a:t>Row</a:t>
            </a:r>
            <a:r>
              <a:rPr lang="ko-KR" altLang="en-US" dirty="0"/>
              <a:t>가 없어야 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테이블 내에서 각 </a:t>
            </a:r>
            <a:r>
              <a:rPr lang="en-US" altLang="ko-KR" dirty="0"/>
              <a:t>Row</a:t>
            </a:r>
            <a:r>
              <a:rPr lang="ko-KR" altLang="en-US" dirty="0" err="1"/>
              <a:t>를</a:t>
            </a:r>
            <a:r>
              <a:rPr lang="ko-KR" altLang="en-US" dirty="0"/>
              <a:t> 식별할 컬럼이 반드시 존재해야 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테이블 내에서 각 </a:t>
            </a:r>
            <a:r>
              <a:rPr lang="en-US" altLang="ko-KR" dirty="0"/>
              <a:t>Row</a:t>
            </a:r>
            <a:r>
              <a:rPr lang="ko-KR" altLang="en-US" dirty="0" err="1"/>
              <a:t>를</a:t>
            </a:r>
            <a:r>
              <a:rPr lang="ko-KR" altLang="en-US" dirty="0"/>
              <a:t> 식별할 컬럼의 값이 </a:t>
            </a:r>
            <a:r>
              <a:rPr lang="ko-KR" altLang="en-US" dirty="0" err="1"/>
              <a:t>유일해야하며</a:t>
            </a:r>
            <a:r>
              <a:rPr lang="en-US" altLang="ko-KR" dirty="0"/>
              <a:t>, NULL</a:t>
            </a:r>
            <a:r>
              <a:rPr lang="ko-KR" altLang="en-US" dirty="0" err="1"/>
              <a:t>이여서는</a:t>
            </a:r>
            <a:r>
              <a:rPr lang="ko-KR" altLang="en-US" dirty="0"/>
              <a:t> 안된다</a:t>
            </a:r>
            <a:r>
              <a:rPr lang="en-US" altLang="ko-KR" dirty="0"/>
              <a:t>.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필드 수준의 무결성 </a:t>
            </a:r>
            <a:r>
              <a:rPr lang="en-US" altLang="ko-KR" dirty="0"/>
              <a:t>(</a:t>
            </a:r>
            <a:r>
              <a:rPr lang="ko-KR" altLang="en-US" dirty="0"/>
              <a:t>도메인 무결성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각 컬럼의 구조가 정확해야 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각 컬럼의 값이 유효하고 </a:t>
            </a:r>
            <a:r>
              <a:rPr lang="ko-KR" altLang="en-US" dirty="0" err="1"/>
              <a:t>일관성있고</a:t>
            </a:r>
            <a:r>
              <a:rPr lang="ko-KR" altLang="en-US" dirty="0"/>
              <a:t> 정확해야 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같은 종류의 컬럼들은 데이터베이스 전체에 걸쳐 </a:t>
            </a:r>
            <a:r>
              <a:rPr lang="ko-KR" altLang="en-US" dirty="0" err="1"/>
              <a:t>일관되어있음을</a:t>
            </a:r>
            <a:r>
              <a:rPr lang="ko-KR" altLang="en-US" dirty="0"/>
              <a:t> 보장해야 한다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ko-KR" altLang="en-US" dirty="0"/>
              <a:t>예</a:t>
            </a:r>
            <a:r>
              <a:rPr lang="en-US" altLang="ko-KR" dirty="0"/>
              <a:t>&gt;</a:t>
            </a:r>
            <a:r>
              <a:rPr lang="ko-KR" altLang="en-US" dirty="0"/>
              <a:t> 도시 정보를 가리키는 컬럼의 명은 모든 테이블에서 </a:t>
            </a:r>
            <a:r>
              <a:rPr lang="en-US" altLang="ko-KR" dirty="0"/>
              <a:t>“CITY”</a:t>
            </a:r>
            <a:r>
              <a:rPr lang="ko-KR" altLang="en-US" dirty="0"/>
              <a:t>로 일관되어야 한다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ko-KR" altLang="en-US" dirty="0"/>
              <a:t>어떤 테이블에서는 </a:t>
            </a:r>
            <a:r>
              <a:rPr lang="en-US" altLang="ko-KR" dirty="0"/>
              <a:t>CITY, </a:t>
            </a:r>
            <a:r>
              <a:rPr lang="ko-KR" altLang="en-US" dirty="0"/>
              <a:t>다른 테이블에서는 </a:t>
            </a:r>
            <a:r>
              <a:rPr lang="en-US" altLang="ko-KR" dirty="0"/>
              <a:t>STATE</a:t>
            </a:r>
            <a:r>
              <a:rPr lang="ko-KR" altLang="en-US" dirty="0"/>
              <a:t>로 정의되지 않아야 한다</a:t>
            </a:r>
            <a:r>
              <a:rPr lang="en-US" altLang="ko-KR" dirty="0"/>
              <a:t>.</a:t>
            </a:r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67FA9DBE-922A-BC9E-9115-FE9A8754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33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87763CC1-4F0F-6D51-3EE8-1135153A5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무결성</a:t>
            </a:r>
            <a:endParaRPr lang="en-US" altLang="ko-KR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053533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3287-DF2E-7057-648B-38606EA6E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30384F8D-57D9-BBEC-4314-1A1789DE73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무결성의 종류</a:t>
            </a:r>
            <a:endParaRPr lang="en-US" altLang="ko-KR" dirty="0"/>
          </a:p>
          <a:p>
            <a:pPr lvl="1">
              <a:defRPr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관계 수준의 무결성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참조 무결성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lvl="2">
              <a:defRPr/>
            </a:pPr>
            <a:r>
              <a:rPr lang="ko-KR" altLang="en-US" dirty="0"/>
              <a:t>테이블 쌍 사이에서 관계가 정확해야 한다</a:t>
            </a:r>
            <a:r>
              <a:rPr lang="en-US" altLang="ko-KR" dirty="0"/>
              <a:t>.</a:t>
            </a:r>
          </a:p>
          <a:p>
            <a:pPr lvl="2">
              <a:defRPr/>
            </a:pPr>
            <a:r>
              <a:rPr lang="ko-KR" altLang="en-US" dirty="0"/>
              <a:t>테이블들의</a:t>
            </a:r>
            <a:r>
              <a:rPr lang="en-US" altLang="ko-KR" dirty="0"/>
              <a:t> Row</a:t>
            </a:r>
            <a:r>
              <a:rPr lang="ko-KR" altLang="en-US" dirty="0"/>
              <a:t>들이 임의의 테이블에서 삽입</a:t>
            </a:r>
            <a:r>
              <a:rPr lang="en-US" altLang="ko-KR" dirty="0"/>
              <a:t>/</a:t>
            </a:r>
            <a:r>
              <a:rPr lang="ko-KR" altLang="en-US" dirty="0"/>
              <a:t>갱신</a:t>
            </a:r>
            <a:r>
              <a:rPr lang="en-US" altLang="ko-KR" dirty="0"/>
              <a:t>/</a:t>
            </a:r>
            <a:r>
              <a:rPr lang="ko-KR" altLang="en-US" dirty="0"/>
              <a:t>삭제될 때 마다 동기화되어야 한다</a:t>
            </a:r>
            <a:r>
              <a:rPr lang="en-US" altLang="ko-KR" dirty="0"/>
              <a:t>.</a:t>
            </a:r>
          </a:p>
          <a:p>
            <a:pPr lvl="3">
              <a:defRPr/>
            </a:pPr>
            <a:r>
              <a:rPr lang="ko-KR" altLang="en-US" dirty="0"/>
              <a:t>예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FK</a:t>
            </a:r>
            <a:r>
              <a:rPr lang="ko-KR" altLang="en-US" dirty="0"/>
              <a:t>는 </a:t>
            </a:r>
            <a:r>
              <a:rPr lang="en-US" altLang="ko-KR" dirty="0"/>
              <a:t>PK</a:t>
            </a:r>
            <a:r>
              <a:rPr lang="ko-KR" altLang="en-US" dirty="0" err="1"/>
              <a:t>에</a:t>
            </a:r>
            <a:r>
              <a:rPr lang="ko-KR" altLang="en-US" dirty="0"/>
              <a:t> 의존적이다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>
              <a:sym typeface="Wingdings" pitchFamily="2" charset="2"/>
            </a:endParaRPr>
          </a:p>
          <a:p>
            <a:pPr lvl="4">
              <a:defRPr/>
            </a:pPr>
            <a:r>
              <a:rPr lang="en-US" altLang="ko-KR" dirty="0">
                <a:sym typeface="Wingdings" pitchFamily="2" charset="2"/>
              </a:rPr>
              <a:t>FK</a:t>
            </a:r>
            <a:r>
              <a:rPr lang="ko-KR" altLang="en-US" dirty="0">
                <a:sym typeface="Wingdings" pitchFamily="2" charset="2"/>
              </a:rPr>
              <a:t>의 값은 </a:t>
            </a:r>
            <a:r>
              <a:rPr lang="en-US" altLang="ko-KR" dirty="0">
                <a:sym typeface="Wingdings" pitchFamily="2" charset="2"/>
              </a:rPr>
              <a:t>PK</a:t>
            </a:r>
            <a:r>
              <a:rPr lang="ko-KR" altLang="en-US" dirty="0" err="1">
                <a:sym typeface="Wingdings" pitchFamily="2" charset="2"/>
              </a:rPr>
              <a:t>에</a:t>
            </a:r>
            <a:r>
              <a:rPr lang="ko-KR" altLang="en-US" dirty="0">
                <a:sym typeface="Wingdings" pitchFamily="2" charset="2"/>
              </a:rPr>
              <a:t> 반드시 존재해야 한다</a:t>
            </a:r>
            <a:r>
              <a:rPr lang="en-US" altLang="ko-KR" dirty="0">
                <a:sym typeface="Wingdings" pitchFamily="2" charset="2"/>
              </a:rPr>
              <a:t>.</a:t>
            </a:r>
          </a:p>
          <a:p>
            <a:pPr lvl="4">
              <a:defRPr/>
            </a:pPr>
            <a:r>
              <a:rPr lang="en-US" altLang="ko-KR" dirty="0">
                <a:sym typeface="Wingdings" pitchFamily="2" charset="2"/>
              </a:rPr>
              <a:t>FK</a:t>
            </a:r>
            <a:r>
              <a:rPr lang="ko-KR" altLang="en-US" dirty="0">
                <a:sym typeface="Wingdings" pitchFamily="2" charset="2"/>
              </a:rPr>
              <a:t>로 존재하는 </a:t>
            </a:r>
            <a:r>
              <a:rPr lang="en-US" altLang="ko-KR" dirty="0">
                <a:sym typeface="Wingdings" pitchFamily="2" charset="2"/>
              </a:rPr>
              <a:t>PK</a:t>
            </a:r>
            <a:r>
              <a:rPr lang="ko-KR" altLang="en-US" dirty="0">
                <a:sym typeface="Wingdings" pitchFamily="2" charset="2"/>
              </a:rPr>
              <a:t>는 반드시 삭제할 수 없어야 한다</a:t>
            </a:r>
            <a:r>
              <a:rPr lang="en-US" altLang="ko-KR" dirty="0">
                <a:sym typeface="Wingdings" pitchFamily="2" charset="2"/>
              </a:rPr>
              <a:t>.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2532" name="슬라이드 번호 개체 틀 1">
            <a:extLst>
              <a:ext uri="{FF2B5EF4-FFF2-40B4-BE49-F238E27FC236}">
                <a16:creationId xmlns:a16="http://schemas.microsoft.com/office/drawing/2014/main" id="{705EB3F8-ACBB-11CE-C60D-7900792A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34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F8067415-3C17-93C8-99BB-EB4E0A79F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무결성</a:t>
            </a:r>
            <a:endParaRPr lang="en-US" altLang="ko-KR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00741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데이터베이스가 관리하는 데이터를 조작하는 언어</a:t>
            </a: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데이터베이스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테이블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컬럼 등을 생성</a:t>
            </a:r>
            <a:r>
              <a:rPr lang="en-US" altLang="ko-KR" dirty="0">
                <a:cs typeface="Arial" panose="020B0604020202020204" pitchFamily="34" charset="0"/>
              </a:rPr>
              <a:t>(Create), </a:t>
            </a:r>
            <a:r>
              <a:rPr lang="ko-KR" altLang="en-US" dirty="0">
                <a:cs typeface="Arial" panose="020B0604020202020204" pitchFamily="34" charset="0"/>
              </a:rPr>
              <a:t>수정</a:t>
            </a:r>
            <a:r>
              <a:rPr lang="en-US" altLang="ko-KR" dirty="0">
                <a:cs typeface="Arial" panose="020B0604020202020204" pitchFamily="34" charset="0"/>
              </a:rPr>
              <a:t>(Alter), </a:t>
            </a:r>
            <a:r>
              <a:rPr lang="ko-KR" altLang="en-US" dirty="0">
                <a:cs typeface="Arial" panose="020B0604020202020204" pitchFamily="34" charset="0"/>
              </a:rPr>
              <a:t>삭제</a:t>
            </a:r>
            <a:r>
              <a:rPr lang="en-US" altLang="ko-KR" dirty="0">
                <a:cs typeface="Arial" panose="020B0604020202020204" pitchFamily="34" charset="0"/>
              </a:rPr>
              <a:t>(Drop)</a:t>
            </a:r>
            <a:r>
              <a:rPr lang="ko-KR" altLang="en-US" dirty="0">
                <a:cs typeface="Arial" panose="020B0604020202020204" pitchFamily="34" charset="0"/>
              </a:rPr>
              <a:t>할 수 있음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테이블 내의</a:t>
            </a:r>
            <a:r>
              <a:rPr lang="en-US" altLang="ko-KR" dirty="0">
                <a:cs typeface="Arial" panose="020B0604020202020204" pitchFamily="34" charset="0"/>
              </a:rPr>
              <a:t> ROW</a:t>
            </a:r>
            <a:r>
              <a:rPr lang="ko-KR" altLang="en-US" dirty="0">
                <a:cs typeface="Arial" panose="020B0604020202020204" pitchFamily="34" charset="0"/>
              </a:rPr>
              <a:t>를 추가</a:t>
            </a:r>
            <a:r>
              <a:rPr lang="en-US" altLang="ko-KR" dirty="0">
                <a:cs typeface="Arial" panose="020B0604020202020204" pitchFamily="34" charset="0"/>
              </a:rPr>
              <a:t>(C), </a:t>
            </a:r>
            <a:r>
              <a:rPr lang="ko-KR" altLang="en-US" dirty="0">
                <a:cs typeface="Arial" panose="020B0604020202020204" pitchFamily="34" charset="0"/>
              </a:rPr>
              <a:t>조회</a:t>
            </a:r>
            <a:r>
              <a:rPr lang="en-US" altLang="ko-KR" dirty="0">
                <a:cs typeface="Arial" panose="020B0604020202020204" pitchFamily="34" charset="0"/>
              </a:rPr>
              <a:t>(R), </a:t>
            </a:r>
            <a:r>
              <a:rPr lang="ko-KR" altLang="en-US" dirty="0">
                <a:cs typeface="Arial" panose="020B0604020202020204" pitchFamily="34" charset="0"/>
              </a:rPr>
              <a:t>수정</a:t>
            </a:r>
            <a:r>
              <a:rPr lang="en-US" altLang="ko-KR" dirty="0">
                <a:cs typeface="Arial" panose="020B0604020202020204" pitchFamily="34" charset="0"/>
              </a:rPr>
              <a:t>(U), </a:t>
            </a:r>
            <a:r>
              <a:rPr lang="ko-KR" altLang="en-US" dirty="0">
                <a:cs typeface="Arial" panose="020B0604020202020204" pitchFamily="34" charset="0"/>
              </a:rPr>
              <a:t>삭제</a:t>
            </a:r>
            <a:r>
              <a:rPr lang="en-US" altLang="ko-KR" dirty="0">
                <a:cs typeface="Arial" panose="020B0604020202020204" pitchFamily="34" charset="0"/>
              </a:rPr>
              <a:t>(D)</a:t>
            </a:r>
            <a:r>
              <a:rPr lang="ko-KR" altLang="en-US" dirty="0">
                <a:cs typeface="Arial" panose="020B0604020202020204" pitchFamily="34" charset="0"/>
              </a:rPr>
              <a:t> 할 수 있다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위 나열한 항목들을 관리할 수 있도록 구조화된 언어체계를 가지고 있음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22532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0855D86-BE08-4FE4-92C7-39A007B5AB60}" type="slidenum">
              <a:rPr lang="en-GB" altLang="ko-KR">
                <a:solidFill>
                  <a:srgbClr val="898989"/>
                </a:solidFill>
              </a:rPr>
              <a:pPr/>
              <a:t>35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charset="0"/>
              </a:rPr>
              <a:t>SQL (Structured Query Language)</a:t>
            </a:r>
          </a:p>
        </p:txBody>
      </p:sp>
    </p:spTree>
    <p:extLst>
      <p:ext uri="{BB962C8B-B14F-4D97-AF65-F5344CB8AC3E}">
        <p14:creationId xmlns:p14="http://schemas.microsoft.com/office/powerpoint/2010/main" val="358563202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하나 이상의 테이블에서 하나 이상의 </a:t>
            </a:r>
            <a:r>
              <a:rPr lang="en-US" altLang="ko-KR" dirty="0">
                <a:cs typeface="Arial" panose="020B0604020202020204" pitchFamily="34" charset="0"/>
              </a:rPr>
              <a:t>Row(</a:t>
            </a:r>
            <a:r>
              <a:rPr lang="ko-KR" altLang="en-US" dirty="0">
                <a:cs typeface="Arial" panose="020B0604020202020204" pitchFamily="34" charset="0"/>
              </a:rPr>
              <a:t>데이터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  <a:r>
              <a:rPr lang="ko-KR" altLang="en-US" dirty="0" err="1">
                <a:cs typeface="Arial" panose="020B0604020202020204" pitchFamily="34" charset="0"/>
              </a:rPr>
              <a:t>를</a:t>
            </a:r>
            <a:r>
              <a:rPr lang="ko-KR" altLang="en-US" dirty="0">
                <a:cs typeface="Arial" panose="020B0604020202020204" pitchFamily="34" charset="0"/>
              </a:rPr>
              <a:t> 추출한다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이 때</a:t>
            </a:r>
            <a:r>
              <a:rPr lang="en-US" altLang="ko-KR" dirty="0">
                <a:cs typeface="Arial" panose="020B0604020202020204" pitchFamily="34" charset="0"/>
              </a:rPr>
              <a:t>,</a:t>
            </a:r>
            <a:r>
              <a:rPr lang="ko-KR" altLang="en-US" dirty="0">
                <a:cs typeface="Arial" panose="020B0604020202020204" pitchFamily="34" charset="0"/>
              </a:rPr>
              <a:t> 원하는 </a:t>
            </a:r>
            <a:r>
              <a:rPr lang="en-US" altLang="ko-KR" dirty="0">
                <a:cs typeface="Arial" panose="020B0604020202020204" pitchFamily="34" charset="0"/>
              </a:rPr>
              <a:t>Column </a:t>
            </a:r>
            <a:r>
              <a:rPr lang="ko-KR" altLang="en-US" dirty="0">
                <a:cs typeface="Arial" panose="020B0604020202020204" pitchFamily="34" charset="0"/>
              </a:rPr>
              <a:t>만을 추출할 수 있다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[COLUMN], […]</a:t>
            </a:r>
            <a:br>
              <a:rPr lang="en-US" altLang="ko-KR" dirty="0"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[TABLE]</a:t>
            </a: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SELECT NAME, AGE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FROM STUDENT</a:t>
            </a:r>
          </a:p>
        </p:txBody>
      </p:sp>
      <p:sp>
        <p:nvSpPr>
          <p:cNvPr id="2560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1737F2C-6662-461F-8D2F-D5548FD3E2C8}" type="slidenum">
              <a:rPr lang="en-GB" altLang="ko-KR">
                <a:solidFill>
                  <a:srgbClr val="898989"/>
                </a:solidFill>
              </a:rPr>
              <a:pPr/>
              <a:t>36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>
                <a:cs typeface="Arial" charset="0"/>
              </a:rPr>
              <a:t>데이터</a:t>
            </a:r>
            <a:r>
              <a:rPr lang="en-US" altLang="ko-KR" dirty="0">
                <a:cs typeface="Arial" charset="0"/>
              </a:rPr>
              <a:t> </a:t>
            </a:r>
            <a:r>
              <a:rPr lang="ko-KR" altLang="en-US" dirty="0">
                <a:cs typeface="Arial" charset="0"/>
              </a:rPr>
              <a:t>조회</a:t>
            </a:r>
            <a:endParaRPr lang="en-US" altLang="ko-KR" dirty="0">
              <a:cs typeface="Arial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499101-5444-7178-DBEF-0338FEF39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00400"/>
            <a:ext cx="2867425" cy="18766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1EE2855-2EC2-C2D7-3819-6421C9597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454" y="3200400"/>
            <a:ext cx="1933845" cy="1848108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BEF87C4-7281-566D-BFF9-659456793F13}"/>
              </a:ext>
            </a:extLst>
          </p:cNvPr>
          <p:cNvCxnSpPr/>
          <p:nvPr/>
        </p:nvCxnSpPr>
        <p:spPr>
          <a:xfrm>
            <a:off x="3598825" y="4191000"/>
            <a:ext cx="11512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80355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TO_CHAR(DATE </a:t>
            </a:r>
            <a:r>
              <a:rPr lang="ko-KR" altLang="en-US" dirty="0">
                <a:cs typeface="Arial" panose="020B0604020202020204" pitchFamily="34" charset="0"/>
              </a:rPr>
              <a:t>타입의 날짜 값 혹은 컬럼</a:t>
            </a:r>
            <a:r>
              <a:rPr lang="en-US" altLang="ko-KR" dirty="0">
                <a:cs typeface="Arial" panose="020B0604020202020204" pitchFamily="34" charset="0"/>
              </a:rPr>
              <a:t>, ‘</a:t>
            </a:r>
            <a:r>
              <a:rPr lang="ko-KR" altLang="en-US" dirty="0">
                <a:cs typeface="Arial" panose="020B0604020202020204" pitchFamily="34" charset="0"/>
              </a:rPr>
              <a:t>날짜 </a:t>
            </a:r>
            <a:r>
              <a:rPr lang="ko-KR" altLang="en-US" dirty="0" err="1">
                <a:cs typeface="Arial" panose="020B0604020202020204" pitchFamily="34" charset="0"/>
              </a:rPr>
              <a:t>포멧</a:t>
            </a:r>
            <a:r>
              <a:rPr lang="en-US" altLang="ko-KR" dirty="0">
                <a:cs typeface="Arial" panose="020B0604020202020204" pitchFamily="34" charset="0"/>
              </a:rPr>
              <a:t>‘)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날짜타입의 데이터를 문자로 변경한다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TO_DATE(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문자열타입의 날짜 값 혹은 컬럼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, ‘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날짜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포멧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‘)</a:t>
            </a:r>
          </a:p>
          <a:p>
            <a:pPr lvl="1">
              <a:defRPr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문자 타입의 날짜 데이터를 날짜 타입으로 변경한다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LPAD(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숫자 타입의 값 또는 컬럼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채울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자리수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빈 공간에 채울 문자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)</a:t>
            </a:r>
          </a:p>
          <a:p>
            <a:pPr lvl="1">
              <a:defRPr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숫자 왼쪽 공간에 문자를 채운다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LPAD(1, 6, ‘0’)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 000001</a:t>
            </a:r>
          </a:p>
          <a:p>
            <a:pPr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NVL(NULL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일 가능성이 있는 컬럼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기본값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)</a:t>
            </a:r>
          </a:p>
          <a:p>
            <a:pPr lvl="1">
              <a:defRPr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값 또는 컬럼이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NULL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이라면 기본값으로 표현한다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CASE WHEN ELSE END</a:t>
            </a:r>
          </a:p>
          <a:p>
            <a:pPr lvl="1"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Java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의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if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와 유사함</a:t>
            </a: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.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560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1737F2C-6662-461F-8D2F-D5548FD3E2C8}" type="slidenum">
              <a:rPr lang="en-GB" altLang="ko-KR">
                <a:solidFill>
                  <a:srgbClr val="898989"/>
                </a:solidFill>
              </a:rPr>
              <a:pPr/>
              <a:t>37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주요 함수 또는 유용한 문법</a:t>
            </a:r>
            <a:endParaRPr lang="en-US" altLang="ko-KR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75399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추출한 데이터를 정렬함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–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ORDER BY</a:t>
            </a:r>
            <a:r>
              <a:rPr lang="ko-KR" altLang="en-US" dirty="0">
                <a:cs typeface="Arial" panose="020B0604020202020204" pitchFamily="34" charset="0"/>
              </a:rPr>
              <a:t> 문장은 가장 마지막에 실행된다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[COLUMN], […] 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[TABLE]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ORDER BY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 [ORDER TYPE]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정렬 방식에는 </a:t>
            </a:r>
            <a:r>
              <a:rPr lang="en-US" altLang="ko-KR" dirty="0">
                <a:cs typeface="Arial" panose="020B0604020202020204" pitchFamily="34" charset="0"/>
              </a:rPr>
              <a:t>ASC, DESC </a:t>
            </a:r>
            <a:r>
              <a:rPr lang="ko-KR" altLang="en-US" dirty="0">
                <a:cs typeface="Arial" panose="020B0604020202020204" pitchFamily="34" charset="0"/>
              </a:rPr>
              <a:t>가 존재함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ASC : </a:t>
            </a:r>
            <a:r>
              <a:rPr lang="ko-KR" altLang="en-US" dirty="0">
                <a:cs typeface="Arial" panose="020B0604020202020204" pitchFamily="34" charset="0"/>
              </a:rPr>
              <a:t>오름차순</a:t>
            </a: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DESC : </a:t>
            </a:r>
            <a:r>
              <a:rPr lang="ko-KR" altLang="en-US" dirty="0">
                <a:cs typeface="Arial" panose="020B0604020202020204" pitchFamily="34" charset="0"/>
              </a:rPr>
              <a:t>내림차순</a:t>
            </a: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457200" lvl="1" indent="0" eaLnBrk="1" hangingPunct="1"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SELECT NAME, AGE, CLASS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FROM STUDENT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ORDER BY AGE DESC</a:t>
            </a:r>
          </a:p>
        </p:txBody>
      </p:sp>
      <p:sp>
        <p:nvSpPr>
          <p:cNvPr id="27652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5AC42D1-3BAC-487F-9F31-255FCEBEB50C}" type="slidenum">
              <a:rPr lang="en-GB" altLang="ko-KR">
                <a:solidFill>
                  <a:srgbClr val="898989"/>
                </a:solidFill>
              </a:rPr>
              <a:pPr/>
              <a:t>38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데이터 정렬</a:t>
            </a:r>
            <a:endParaRPr lang="en-US" altLang="ko-KR" dirty="0">
              <a:cs typeface="Arial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50CF9E-8D58-CBA3-E490-85B9D7B6B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81400"/>
            <a:ext cx="2867425" cy="187668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FEB36F4-D4F5-B322-3555-0A8784CF1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591872"/>
            <a:ext cx="2829320" cy="1819529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279440F-E198-A321-1E06-40C5F2978326}"/>
              </a:ext>
            </a:extLst>
          </p:cNvPr>
          <p:cNvCxnSpPr/>
          <p:nvPr/>
        </p:nvCxnSpPr>
        <p:spPr>
          <a:xfrm>
            <a:off x="3522625" y="4519743"/>
            <a:ext cx="11512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4935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하나 이상의 테이블에서 여러 데이터를 가져옴</a:t>
            </a:r>
            <a:r>
              <a:rPr lang="en-US" altLang="ko-KR" dirty="0">
                <a:cs typeface="Arial" panose="020B0604020202020204" pitchFamily="34" charset="0"/>
              </a:rPr>
              <a:t>. </a:t>
            </a:r>
            <a:r>
              <a:rPr lang="ko-KR" altLang="en-US" dirty="0">
                <a:cs typeface="Arial" panose="020B0604020202020204" pitchFamily="34" charset="0"/>
              </a:rPr>
              <a:t>단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조건에 맞는 데이터만 가져옴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[COLUMN], […] 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[TABLE]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WHERE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[CONDITIONS]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컬럼 값과 </a:t>
            </a:r>
            <a:r>
              <a:rPr lang="en-US" altLang="ko-KR" dirty="0">
                <a:cs typeface="Arial" panose="020B0604020202020204" pitchFamily="34" charset="0"/>
              </a:rPr>
              <a:t>VALUE </a:t>
            </a:r>
            <a:r>
              <a:rPr lang="ko-KR" altLang="en-US" dirty="0">
                <a:cs typeface="Arial" panose="020B0604020202020204" pitchFamily="34" charset="0"/>
              </a:rPr>
              <a:t>를 비교함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자바의 비교연산과 동일한 방법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SELECT NAME, AGE, CLASS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FROM STUDENT</a:t>
            </a:r>
            <a:b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WHERE AGE = 12</a:t>
            </a:r>
          </a:p>
        </p:txBody>
      </p:sp>
      <p:sp>
        <p:nvSpPr>
          <p:cNvPr id="29700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F0C9D19-B99C-4E0C-A85E-70D7C4D97621}" type="slidenum">
              <a:rPr lang="en-GB" altLang="ko-KR">
                <a:solidFill>
                  <a:srgbClr val="898989"/>
                </a:solidFill>
              </a:rPr>
              <a:pPr/>
              <a:t>39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데이터 </a:t>
            </a:r>
            <a:r>
              <a:rPr lang="ko-KR" altLang="en-US" dirty="0" err="1"/>
              <a:t>필터링</a:t>
            </a:r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6F94FCF-9800-AB21-C697-CE6BD23E1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81400"/>
            <a:ext cx="2867425" cy="1876687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A039E99-415E-069A-AB95-7D62F5393890}"/>
              </a:ext>
            </a:extLst>
          </p:cNvPr>
          <p:cNvCxnSpPr/>
          <p:nvPr/>
        </p:nvCxnSpPr>
        <p:spPr>
          <a:xfrm>
            <a:off x="3522625" y="4519743"/>
            <a:ext cx="11512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E454818-A10F-283A-9910-6A3056359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52" y="3810000"/>
            <a:ext cx="2867425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0841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58D58-728E-9AD8-0121-A5709132D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SQL </a:t>
            </a:r>
            <a:r>
              <a:rPr lang="ko-KR" altLang="en-US" dirty="0"/>
              <a:t>연산자의 종류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그 외의 연산자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IN, LIKE, NOT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IN : </a:t>
            </a:r>
            <a:r>
              <a:rPr lang="ko-KR" altLang="en-US" dirty="0">
                <a:cs typeface="Arial" panose="020B0604020202020204" pitchFamily="34" charset="0"/>
              </a:rPr>
              <a:t>하나의 컬럼에 여러 개의 값을 검색함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LIKE : </a:t>
            </a:r>
            <a:r>
              <a:rPr lang="ko-KR" altLang="en-US" dirty="0">
                <a:cs typeface="Arial" panose="020B0604020202020204" pitchFamily="34" charset="0"/>
              </a:rPr>
              <a:t>하나의 컬럼에 </a:t>
            </a:r>
            <a:r>
              <a:rPr lang="en-US" altLang="ko-KR" dirty="0">
                <a:cs typeface="Arial" panose="020B0604020202020204" pitchFamily="34" charset="0"/>
              </a:rPr>
              <a:t>“</a:t>
            </a:r>
            <a:r>
              <a:rPr lang="ko-KR" altLang="en-US" dirty="0">
                <a:cs typeface="Arial" panose="020B0604020202020204" pitchFamily="34" charset="0"/>
              </a:rPr>
              <a:t>포함된</a:t>
            </a:r>
            <a:r>
              <a:rPr lang="en-US" altLang="ko-KR" dirty="0">
                <a:cs typeface="Arial" panose="020B0604020202020204" pitchFamily="34" charset="0"/>
              </a:rPr>
              <a:t>” </a:t>
            </a:r>
            <a:r>
              <a:rPr lang="ko-KR" altLang="en-US" dirty="0">
                <a:cs typeface="Arial" panose="020B0604020202020204" pitchFamily="34" charset="0"/>
              </a:rPr>
              <a:t>값을 검색함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WILD CARD </a:t>
            </a:r>
            <a:r>
              <a:rPr lang="ko-KR" altLang="en-US" dirty="0">
                <a:cs typeface="Arial" panose="020B0604020202020204" pitchFamily="34" charset="0"/>
              </a:rPr>
              <a:t>가 사용됨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%, _</a:t>
            </a:r>
          </a:p>
          <a:p>
            <a:endParaRPr lang="ko-KR" altLang="en-US" dirty="0"/>
          </a:p>
        </p:txBody>
      </p:sp>
      <p:sp>
        <p:nvSpPr>
          <p:cNvPr id="3174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006AF48-7A42-4FC3-9E9C-C5F093D69886}" type="slidenum">
              <a:rPr lang="en-GB" altLang="ko-KR">
                <a:solidFill>
                  <a:srgbClr val="898989"/>
                </a:solidFill>
              </a:rPr>
              <a:pPr/>
              <a:t>40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데이터 </a:t>
            </a:r>
            <a:r>
              <a:rPr lang="ko-KR" altLang="en-US" dirty="0" err="1"/>
              <a:t>필터링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65C3B-6C54-2D83-3975-D78E1BEC2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4029637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01747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75400" y="1190414"/>
            <a:ext cx="8593200" cy="547789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WHERE</a:t>
            </a:r>
            <a:r>
              <a:rPr lang="ko-KR" altLang="en-US" dirty="0">
                <a:cs typeface="Arial" panose="020B0604020202020204" pitchFamily="34" charset="0"/>
              </a:rPr>
              <a:t>절은 여러 개의 조건을 지원한다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en-US" altLang="ko-KR" dirty="0">
                <a:cs typeface="Arial" panose="020B0604020202020204" pitchFamily="34" charset="0"/>
              </a:rPr>
              <a:t>AND, OR </a:t>
            </a:r>
            <a:r>
              <a:rPr lang="ko-KR" altLang="en-US" dirty="0">
                <a:cs typeface="Arial" panose="020B0604020202020204" pitchFamily="34" charset="0"/>
              </a:rPr>
              <a:t>를 사용해 여러 개의 조건을 사용할 수 있다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WHERE [CONDITION1]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AND [CONDITION2]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AND [CONDITION3]</a:t>
            </a: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AND</a:t>
            </a:r>
            <a:r>
              <a:rPr lang="ko-KR" altLang="en-US" dirty="0">
                <a:cs typeface="Arial" panose="020B0604020202020204" pitchFamily="34" charset="0"/>
              </a:rPr>
              <a:t>와 </a:t>
            </a:r>
            <a:r>
              <a:rPr lang="en-US" altLang="ko-KR" dirty="0">
                <a:cs typeface="Arial" panose="020B0604020202020204" pitchFamily="34" charset="0"/>
              </a:rPr>
              <a:t>OR </a:t>
            </a:r>
            <a:r>
              <a:rPr lang="ko-KR" altLang="en-US" dirty="0">
                <a:cs typeface="Arial" panose="020B0604020202020204" pitchFamily="34" charset="0"/>
              </a:rPr>
              <a:t>가 동시에 사용될 때 </a:t>
            </a:r>
            <a:r>
              <a:rPr lang="en-US" altLang="ko-KR" dirty="0">
                <a:cs typeface="Arial" panose="020B0604020202020204" pitchFamily="34" charset="0"/>
              </a:rPr>
              <a:t>AND </a:t>
            </a:r>
            <a:r>
              <a:rPr lang="ko-KR" altLang="en-US" dirty="0">
                <a:cs typeface="Arial" panose="020B0604020202020204" pitchFamily="34" charset="0"/>
              </a:rPr>
              <a:t>가 우선순위를 가진다</a:t>
            </a:r>
            <a:r>
              <a:rPr lang="en-US" altLang="ko-KR" dirty="0">
                <a:cs typeface="Arial" panose="020B0604020202020204" pitchFamily="34" charset="0"/>
              </a:rPr>
              <a:t>. 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WHERE [CONDITION1]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AND [CONDITION2]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AND [CONDITION3]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   OR [CONDITION4]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AND [CONDITION5]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CONDITION1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AND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 CONDITION2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CONDITION2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AND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 CONDIDTION3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CONDITION3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OR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 (CONDITION4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AND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 CONDITION5) </a:t>
            </a:r>
          </a:p>
          <a:p>
            <a:pPr lvl="3">
              <a:defRPr/>
            </a:pP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CONDITION4 AND CONDITION5 </a:t>
            </a: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가 우선처리됨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3584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EAA87DB-EC6D-431A-BC6C-08FEA7578DDF}" type="slidenum">
              <a:rPr lang="en-GB" altLang="ko-KR">
                <a:solidFill>
                  <a:srgbClr val="898989"/>
                </a:solidFill>
              </a:rPr>
              <a:pPr/>
              <a:t>41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데이터 </a:t>
            </a:r>
            <a:r>
              <a:rPr lang="ko-KR" altLang="en-US" dirty="0" err="1"/>
              <a:t>필터링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010858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우선순위를 높여주기 위해서 괄호를 사용한다</a:t>
            </a:r>
            <a:r>
              <a:rPr lang="en-US" altLang="ko-KR" dirty="0">
                <a:cs typeface="Arial" panose="020B0604020202020204" pitchFamily="34" charset="0"/>
              </a:rPr>
              <a:t>. 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WHERE [CONDITION1]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AND [CONDITION2]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</a:t>
            </a:r>
            <a:r>
              <a:rPr lang="en-US" altLang="ko-KR" b="1" dirty="0">
                <a:cs typeface="Arial" panose="020B0604020202020204" pitchFamily="34" charset="0"/>
              </a:rPr>
              <a:t>AND ([CONDITION3]</a:t>
            </a:r>
          </a:p>
          <a:p>
            <a:pPr lvl="2">
              <a:defRPr/>
            </a:pPr>
            <a:r>
              <a:rPr lang="en-US" altLang="ko-KR" b="1" dirty="0">
                <a:cs typeface="Arial" panose="020B0604020202020204" pitchFamily="34" charset="0"/>
              </a:rPr>
              <a:t>         OR [CONDITION4])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      AND [CONDITION5]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CONDITION1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AND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 CONDITION2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CONDITION2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AND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CONDIDTION3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OR</a:t>
            </a: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CONDITION4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b="1" dirty="0">
                <a:cs typeface="Arial" panose="020B0604020202020204" pitchFamily="34" charset="0"/>
                <a:sym typeface="Wingdings" panose="05000000000000000000" pitchFamily="2" charset="2"/>
              </a:rPr>
              <a:t>AND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 CONDITION5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우선순위를 높여주기 위해서 괄호를 사용한다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3584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EAA87DB-EC6D-431A-BC6C-08FEA7578DDF}" type="slidenum">
              <a:rPr lang="en-GB" altLang="ko-KR">
                <a:solidFill>
                  <a:srgbClr val="898989"/>
                </a:solidFill>
              </a:rPr>
              <a:pPr/>
              <a:t>42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데이터 </a:t>
            </a:r>
            <a:r>
              <a:rPr lang="ko-KR" altLang="en-US" dirty="0" err="1"/>
              <a:t>필터링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17481198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데이터의 요약이 필요할 때 사용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Row </a:t>
            </a:r>
            <a:r>
              <a:rPr lang="ko-KR" altLang="en-US" dirty="0">
                <a:cs typeface="Arial" panose="020B0604020202020204" pitchFamily="34" charset="0"/>
              </a:rPr>
              <a:t>의 수 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altLang="ko-KR" dirty="0">
                <a:cs typeface="Arial" panose="020B0604020202020204" pitchFamily="34" charset="0"/>
              </a:rPr>
              <a:t>COUNT(COLUMN)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전체 사원의 수 등등</a:t>
            </a: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특정 컬럼 값 중 가장 큰 수 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MAX(COLUMN)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전체 사원 중 가장 많은 연봉</a:t>
            </a:r>
            <a:endParaRPr lang="en-US" altLang="ko-KR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전체 사원 중 가장 최신에 입사한 날짜 등등</a:t>
            </a: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특정 컬럼 값 중 가장 작은 수 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MIN(COLUMN)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전체 사원 중 가장 적은 연봉</a:t>
            </a:r>
            <a:endParaRPr lang="en-US" altLang="ko-KR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전체 사원 중 가장 일찍 입사한 날짜 등등</a:t>
            </a: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특정 컬럼 값 중 평균 값 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AVG(COLUMN)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전체 사원의 평균 연봉 등등</a:t>
            </a:r>
            <a:endParaRPr lang="en-US" altLang="ko-KR" dirty="0">
              <a:cs typeface="Arial" panose="020B0604020202020204" pitchFamily="34" charset="0"/>
            </a:endParaRPr>
          </a:p>
          <a:p>
            <a:pPr lvl="1"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특정 컬럼의 총 합계 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 SUM(COLUMN)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전체 사원의 연봉 총 합 등등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37892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02C1593-60E1-4DBE-8DE9-B1B794FD9A26}" type="slidenum">
              <a:rPr lang="en-GB" altLang="ko-KR">
                <a:solidFill>
                  <a:srgbClr val="898989"/>
                </a:solidFill>
              </a:rPr>
              <a:pPr/>
              <a:t>43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charset="0"/>
              </a:rPr>
              <a:t>그룹함수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340295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Row</a:t>
            </a:r>
            <a:r>
              <a:rPr lang="ko-KR" altLang="en-US" dirty="0">
                <a:cs typeface="Arial" panose="020B0604020202020204" pitchFamily="34" charset="0"/>
              </a:rPr>
              <a:t>를 특정 기준으로 분류해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 err="1">
                <a:cs typeface="Arial" panose="020B0604020202020204" pitchFamily="34" charset="0"/>
              </a:rPr>
              <a:t>분류별</a:t>
            </a:r>
            <a:r>
              <a:rPr lang="ko-KR" altLang="en-US" dirty="0">
                <a:cs typeface="Arial" panose="020B0604020202020204" pitchFamily="34" charset="0"/>
              </a:rPr>
              <a:t> 그룹함수를 사용할 수 있다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부서별 사원의 수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부서별 사원의 연봉 합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부서별 최고 연봉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부서별 최저 연봉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부서별 연봉 총 합 등등</a:t>
            </a:r>
            <a:endParaRPr lang="en-US" altLang="ko-KR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GROUP BY [</a:t>
            </a:r>
            <a:r>
              <a:rPr lang="ko-KR" altLang="en-US" dirty="0">
                <a:cs typeface="Arial" panose="020B0604020202020204" pitchFamily="34" charset="0"/>
              </a:rPr>
              <a:t>분류 기준 </a:t>
            </a:r>
            <a:r>
              <a:rPr lang="en-US" altLang="ko-KR" dirty="0">
                <a:cs typeface="Arial" panose="020B0604020202020204" pitchFamily="34" charset="0"/>
              </a:rPr>
              <a:t>COLUMN]</a:t>
            </a:r>
          </a:p>
          <a:p>
            <a:pPr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ko-KR" altLang="en-US" dirty="0">
                <a:cs typeface="Arial" panose="020B0604020202020204" pitchFamily="34" charset="0"/>
              </a:rPr>
              <a:t>여러 개의 기준으로 분류하려면 분류 기준</a:t>
            </a:r>
            <a:r>
              <a:rPr lang="en-US" altLang="ko-KR" dirty="0">
                <a:cs typeface="Arial" panose="020B0604020202020204" pitchFamily="34" charset="0"/>
              </a:rPr>
              <a:t> COLUMN</a:t>
            </a:r>
            <a:r>
              <a:rPr lang="ko-KR" altLang="en-US" dirty="0">
                <a:cs typeface="Arial" panose="020B0604020202020204" pitchFamily="34" charset="0"/>
              </a:rPr>
              <a:t>을 콤마</a:t>
            </a:r>
            <a:r>
              <a:rPr lang="en-US" altLang="ko-KR" dirty="0">
                <a:cs typeface="Arial" panose="020B0604020202020204" pitchFamily="34" charset="0"/>
              </a:rPr>
              <a:t>(,)</a:t>
            </a:r>
            <a:r>
              <a:rPr lang="ko-KR" altLang="en-US" dirty="0">
                <a:cs typeface="Arial" panose="020B0604020202020204" pitchFamily="34" charset="0"/>
              </a:rPr>
              <a:t>로 나열</a:t>
            </a:r>
            <a:endParaRPr lang="en-US" altLang="ko-KR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GROUP BY [</a:t>
            </a:r>
            <a:r>
              <a:rPr lang="ko-KR" altLang="en-US" dirty="0">
                <a:cs typeface="Arial" panose="020B0604020202020204" pitchFamily="34" charset="0"/>
              </a:rPr>
              <a:t>분류 기준 </a:t>
            </a:r>
            <a:r>
              <a:rPr lang="en-US" altLang="ko-KR" dirty="0">
                <a:cs typeface="Arial" panose="020B0604020202020204" pitchFamily="34" charset="0"/>
              </a:rPr>
              <a:t>COLUMN1], [</a:t>
            </a:r>
            <a:r>
              <a:rPr lang="ko-KR" altLang="en-US" dirty="0">
                <a:cs typeface="Arial" panose="020B0604020202020204" pitchFamily="34" charset="0"/>
              </a:rPr>
              <a:t>분류 기준 </a:t>
            </a:r>
            <a:r>
              <a:rPr lang="en-US" altLang="ko-KR" dirty="0">
                <a:cs typeface="Arial" panose="020B0604020202020204" pitchFamily="34" charset="0"/>
              </a:rPr>
              <a:t>COLUMN2], …</a:t>
            </a:r>
          </a:p>
        </p:txBody>
      </p:sp>
      <p:sp>
        <p:nvSpPr>
          <p:cNvPr id="4198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E4B6A71-ED59-48BC-AA6D-DA319D5BDD2F}" type="slidenum">
              <a:rPr lang="en-GB" altLang="ko-KR">
                <a:solidFill>
                  <a:srgbClr val="898989"/>
                </a:solidFill>
              </a:rPr>
              <a:pPr/>
              <a:t>44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</a:t>
            </a:r>
            <a:r>
              <a:rPr lang="ko-KR" altLang="en-US" dirty="0" err="1"/>
              <a:t>그룹핑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6426093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[COLUMN], […] 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[TABLE]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WHERE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[CONDITIONS]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cs typeface="Arial" panose="020B0604020202020204" pitchFamily="34" charset="0"/>
              </a:rPr>
              <a:t>GROUP BY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[COLUMN], [COLUMN], […] </a:t>
            </a: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*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STUDENT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cs typeface="Arial" panose="020B0604020202020204" pitchFamily="34" charset="0"/>
              </a:rPr>
              <a:t>GROUP BY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CLASS</a:t>
            </a: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4036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F7D4B190-D926-4C03-9048-64E52F7FDD93}" type="slidenum">
              <a:rPr lang="en-GB" altLang="ko-KR">
                <a:solidFill>
                  <a:srgbClr val="898989"/>
                </a:solidFill>
              </a:rPr>
              <a:pPr/>
              <a:t>45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</a:t>
            </a:r>
            <a:r>
              <a:rPr lang="ko-KR" altLang="en-US" dirty="0" err="1"/>
              <a:t>그룹핑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5158B1-8E53-B6AE-10C6-F5D4688BF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63" y="3923293"/>
            <a:ext cx="2791215" cy="17337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72AF51-F0FF-AE56-C736-F26A897F5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058619"/>
            <a:ext cx="2857899" cy="345805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17A0A68-8C6D-BCC2-FC48-A41760B730AF}"/>
              </a:ext>
            </a:extLst>
          </p:cNvPr>
          <p:cNvCxnSpPr>
            <a:cxnSpLocks/>
          </p:cNvCxnSpPr>
          <p:nvPr/>
        </p:nvCxnSpPr>
        <p:spPr>
          <a:xfrm flipV="1">
            <a:off x="3887178" y="3536133"/>
            <a:ext cx="1094985" cy="106680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1A72864-F8BC-AD0D-B862-6FD54F091BEE}"/>
              </a:ext>
            </a:extLst>
          </p:cNvPr>
          <p:cNvCxnSpPr>
            <a:cxnSpLocks/>
          </p:cNvCxnSpPr>
          <p:nvPr/>
        </p:nvCxnSpPr>
        <p:spPr>
          <a:xfrm flipV="1">
            <a:off x="3887178" y="4602933"/>
            <a:ext cx="1094985" cy="30480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B5458B3-696A-B818-6586-D2DABB82042E}"/>
              </a:ext>
            </a:extLst>
          </p:cNvPr>
          <p:cNvCxnSpPr>
            <a:cxnSpLocks/>
          </p:cNvCxnSpPr>
          <p:nvPr/>
        </p:nvCxnSpPr>
        <p:spPr>
          <a:xfrm>
            <a:off x="3887178" y="5346114"/>
            <a:ext cx="1094985" cy="36069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08743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COUNT(NAME)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         , MAX(AGE)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         , MIN(AGE)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         , SUM(AGE)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         , AVG(AGE)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STUDENT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GROUP BY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CLASS</a:t>
            </a: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4036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F7D4B190-D926-4C03-9048-64E52F7FDD93}" type="slidenum">
              <a:rPr lang="en-GB" altLang="ko-KR">
                <a:solidFill>
                  <a:srgbClr val="898989"/>
                </a:solidFill>
              </a:rPr>
              <a:pPr/>
              <a:t>46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</a:t>
            </a:r>
            <a:r>
              <a:rPr lang="ko-KR" altLang="en-US" dirty="0" err="1"/>
              <a:t>그룹핑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5158B1-8E53-B6AE-10C6-F5D4688BF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91" y="4042202"/>
            <a:ext cx="1928330" cy="11978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72AF51-F0FF-AE56-C736-F26A897F5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153" y="3599767"/>
            <a:ext cx="1974399" cy="2389023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17A0A68-8C6D-BCC2-FC48-A41760B730AF}"/>
              </a:ext>
            </a:extLst>
          </p:cNvPr>
          <p:cNvCxnSpPr>
            <a:cxnSpLocks/>
          </p:cNvCxnSpPr>
          <p:nvPr/>
        </p:nvCxnSpPr>
        <p:spPr>
          <a:xfrm flipV="1">
            <a:off x="2309251" y="3988146"/>
            <a:ext cx="211902" cy="593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1A72864-F8BC-AD0D-B862-6FD54F091BEE}"/>
              </a:ext>
            </a:extLst>
          </p:cNvPr>
          <p:cNvCxnSpPr>
            <a:cxnSpLocks/>
          </p:cNvCxnSpPr>
          <p:nvPr/>
        </p:nvCxnSpPr>
        <p:spPr>
          <a:xfrm flipV="1">
            <a:off x="2297394" y="4687932"/>
            <a:ext cx="198329" cy="6462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B5458B3-696A-B818-6586-D2DABB82042E}"/>
              </a:ext>
            </a:extLst>
          </p:cNvPr>
          <p:cNvCxnSpPr>
            <a:cxnSpLocks/>
          </p:cNvCxnSpPr>
          <p:nvPr/>
        </p:nvCxnSpPr>
        <p:spPr>
          <a:xfrm>
            <a:off x="2303783" y="5023970"/>
            <a:ext cx="191940" cy="31003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CAB77D10-77BF-52E6-F78D-333F8FB12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450" y="3569106"/>
            <a:ext cx="3968542" cy="2237652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81C84CB-2D80-7A50-ECCE-B9DCD5D5B6CC}"/>
              </a:ext>
            </a:extLst>
          </p:cNvPr>
          <p:cNvCxnSpPr>
            <a:cxnSpLocks/>
          </p:cNvCxnSpPr>
          <p:nvPr/>
        </p:nvCxnSpPr>
        <p:spPr>
          <a:xfrm>
            <a:off x="4495551" y="3949630"/>
            <a:ext cx="211903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5DDA675-6A76-3FDC-8693-EB07D19CC857}"/>
              </a:ext>
            </a:extLst>
          </p:cNvPr>
          <p:cNvCxnSpPr>
            <a:cxnSpLocks/>
          </p:cNvCxnSpPr>
          <p:nvPr/>
        </p:nvCxnSpPr>
        <p:spPr>
          <a:xfrm>
            <a:off x="4495551" y="4679924"/>
            <a:ext cx="211903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DC1B82D-0565-9CEC-D94B-83224D486063}"/>
              </a:ext>
            </a:extLst>
          </p:cNvPr>
          <p:cNvCxnSpPr>
            <a:cxnSpLocks/>
          </p:cNvCxnSpPr>
          <p:nvPr/>
        </p:nvCxnSpPr>
        <p:spPr>
          <a:xfrm>
            <a:off x="4495551" y="5486400"/>
            <a:ext cx="211903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90713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GROUP BY</a:t>
            </a:r>
            <a:r>
              <a:rPr lang="ko-KR" altLang="en-US" dirty="0">
                <a:cs typeface="Arial" panose="020B0604020202020204" pitchFamily="34" charset="0"/>
              </a:rPr>
              <a:t>된 결과에서 집계함수로 필터링 할 수 있다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[COLUMN], […] 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[TABLE]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WHERE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[CONDITIONS]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GROUP BY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[COLUMN], […]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cs typeface="Arial" panose="020B0604020202020204" pitchFamily="34" charset="0"/>
              </a:rPr>
              <a:t>HAVING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[CONDITION] </a:t>
            </a:r>
          </a:p>
          <a:p>
            <a:pPr eaLnBrk="1" hangingPunct="1">
              <a:defRPr/>
            </a:pPr>
            <a:endParaRPr lang="en-US" altLang="ko-KR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COUNT(NAME)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         , MAX(AGE)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         , MIN(AGE)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         , SUM(AGE)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         , AVG(AGE)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STUDENT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GROUP BY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CLASS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cs typeface="Arial" panose="020B0604020202020204" pitchFamily="34" charset="0"/>
              </a:rPr>
              <a:t>HAVING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COUNT(NAME) &gt; 1</a:t>
            </a: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608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63D49BB-145C-473C-8D89-5638DE816DD5}" type="slidenum">
              <a:rPr lang="en-GB" altLang="ko-KR">
                <a:solidFill>
                  <a:srgbClr val="898989"/>
                </a:solidFill>
              </a:rPr>
              <a:pPr/>
              <a:t>47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그룹</a:t>
            </a:r>
            <a:r>
              <a:rPr lang="en-US" altLang="ko-KR" dirty="0"/>
              <a:t> </a:t>
            </a:r>
            <a:r>
              <a:rPr lang="ko-KR" altLang="en-US" dirty="0" err="1"/>
              <a:t>필터링</a:t>
            </a:r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9F92E23-EEA1-DEB3-14D5-00DC88948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599" y="3432503"/>
            <a:ext cx="4626631" cy="260871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22DAA5A-4172-145A-BD09-13C959A5F0B6}"/>
              </a:ext>
            </a:extLst>
          </p:cNvPr>
          <p:cNvSpPr/>
          <p:nvPr/>
        </p:nvSpPr>
        <p:spPr>
          <a:xfrm>
            <a:off x="4038599" y="3429000"/>
            <a:ext cx="4648201" cy="1752600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COUNT(NAME) </a:t>
            </a:r>
            <a:r>
              <a:rPr lang="en-US" altLang="ko-KR" sz="3600" dirty="0">
                <a:sym typeface="Wingdings" panose="05000000000000000000" pitchFamily="2" charset="2"/>
              </a:rPr>
              <a:t></a:t>
            </a:r>
            <a:r>
              <a:rPr lang="en-US" altLang="ko-KR" sz="3600" dirty="0"/>
              <a:t> 1</a:t>
            </a:r>
          </a:p>
          <a:p>
            <a:pPr algn="ctr"/>
            <a:r>
              <a:rPr lang="ko-KR" altLang="en-US" sz="3600" dirty="0"/>
              <a:t>결과에서 제외</a:t>
            </a:r>
          </a:p>
        </p:txBody>
      </p:sp>
    </p:spTree>
    <p:extLst>
      <p:ext uri="{BB962C8B-B14F-4D97-AF65-F5344CB8AC3E}">
        <p14:creationId xmlns:p14="http://schemas.microsoft.com/office/powerpoint/2010/main" val="3167783436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ko-KR" altLang="en-US" dirty="0">
                <a:cs typeface="Arial" panose="020B0604020202020204" pitchFamily="34" charset="0"/>
              </a:rPr>
              <a:t>쿼리 안의 </a:t>
            </a: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ko-KR" altLang="en-US" dirty="0">
                <a:cs typeface="Arial" panose="020B0604020202020204" pitchFamily="34" charset="0"/>
              </a:rPr>
              <a:t>쿼리 </a:t>
            </a:r>
            <a:r>
              <a:rPr lang="en-US" altLang="ko-KR" dirty="0">
                <a:cs typeface="Arial" panose="020B0604020202020204" pitchFamily="34" charset="0"/>
              </a:rPr>
              <a:t>(WHERE </a:t>
            </a:r>
            <a:r>
              <a:rPr lang="ko-KR" altLang="en-US" dirty="0">
                <a:cs typeface="Arial" panose="020B0604020202020204" pitchFamily="34" charset="0"/>
              </a:rPr>
              <a:t>에서 사용할 때</a:t>
            </a:r>
            <a:r>
              <a:rPr lang="en-US" altLang="ko-KR" dirty="0">
                <a:cs typeface="Arial" panose="020B0604020202020204" pitchFamily="34" charset="0"/>
              </a:rPr>
              <a:t>).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조회하려는 대상을 정확히 알지 못할 때</a:t>
            </a:r>
            <a:r>
              <a:rPr lang="en-US" altLang="ko-KR" dirty="0">
                <a:cs typeface="Arial" panose="020B0604020202020204" pitchFamily="34" charset="0"/>
              </a:rPr>
              <a:t>,</a:t>
            </a:r>
            <a:br>
              <a:rPr lang="en-US" altLang="ko-KR" dirty="0">
                <a:cs typeface="Arial" panose="020B0604020202020204" pitchFamily="34" charset="0"/>
              </a:rPr>
            </a:br>
            <a:r>
              <a:rPr lang="ko-KR" altLang="en-US" dirty="0">
                <a:cs typeface="Arial" panose="020B0604020202020204" pitchFamily="34" charset="0"/>
              </a:rPr>
              <a:t>조회하려는 대상이 하나 이상일 때 사용함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예</a:t>
            </a:r>
            <a:r>
              <a:rPr lang="en-US" altLang="ko-KR" dirty="0">
                <a:cs typeface="Arial" panose="020B0604020202020204" pitchFamily="34" charset="0"/>
              </a:rPr>
              <a:t>&gt; “IT”</a:t>
            </a:r>
            <a:r>
              <a:rPr lang="ko-KR" altLang="en-US" dirty="0">
                <a:cs typeface="Arial" panose="020B0604020202020204" pitchFamily="34" charset="0"/>
              </a:rPr>
              <a:t> 부서에서 근무중인 사원들의 정보를 조회</a:t>
            </a:r>
            <a:r>
              <a:rPr lang="en-US" altLang="ko-KR" dirty="0">
                <a:cs typeface="Arial" panose="020B0604020202020204" pitchFamily="34" charset="0"/>
              </a:rPr>
              <a:t> (</a:t>
            </a:r>
            <a:r>
              <a:rPr lang="ko-KR" altLang="en-US" dirty="0">
                <a:cs typeface="Arial" panose="020B0604020202020204" pitchFamily="34" charset="0"/>
              </a:rPr>
              <a:t>조회대상</a:t>
            </a:r>
            <a:r>
              <a:rPr lang="en-US" altLang="ko-KR" dirty="0">
                <a:cs typeface="Arial" panose="020B0604020202020204" pitchFamily="34" charset="0"/>
              </a:rPr>
              <a:t>(PK)</a:t>
            </a:r>
            <a:r>
              <a:rPr lang="ko-KR" altLang="en-US" dirty="0">
                <a:cs typeface="Arial" panose="020B0604020202020204" pitchFamily="34" charset="0"/>
              </a:rPr>
              <a:t>을 모름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</a:p>
          <a:p>
            <a:pPr lvl="2">
              <a:defRPr/>
            </a:pPr>
            <a:r>
              <a:rPr lang="ko-KR" altLang="en-US" dirty="0" err="1">
                <a:cs typeface="Arial" panose="020B0604020202020204" pitchFamily="34" charset="0"/>
              </a:rPr>
              <a:t>서브쿼리</a:t>
            </a:r>
            <a:r>
              <a:rPr lang="ko-KR" altLang="en-US" dirty="0">
                <a:cs typeface="Arial" panose="020B0604020202020204" pitchFamily="34" charset="0"/>
              </a:rPr>
              <a:t> 대상</a:t>
            </a:r>
            <a:br>
              <a:rPr lang="en-US" altLang="ko-KR" dirty="0"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IT</a:t>
            </a:r>
            <a:r>
              <a:rPr lang="ko-KR" altLang="en-US" dirty="0">
                <a:cs typeface="Arial" panose="020B0604020202020204" pitchFamily="34" charset="0"/>
              </a:rPr>
              <a:t>에 부서에서 근무하려는 사원을 찾기 위해</a:t>
            </a:r>
            <a:br>
              <a:rPr lang="en-US" altLang="ko-KR" dirty="0"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IT </a:t>
            </a:r>
            <a:r>
              <a:rPr lang="ko-KR" altLang="en-US" dirty="0">
                <a:cs typeface="Arial" panose="020B0604020202020204" pitchFamily="34" charset="0"/>
              </a:rPr>
              <a:t>부서의 부서 번호를 알아야 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IT</a:t>
            </a:r>
            <a:r>
              <a:rPr lang="ko-KR" altLang="en-US" dirty="0">
                <a:cs typeface="Arial" panose="020B0604020202020204" pitchFamily="34" charset="0"/>
              </a:rPr>
              <a:t> 부서의 부서 번호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 err="1">
                <a:cs typeface="Arial" panose="020B0604020202020204" pitchFamily="34" charset="0"/>
              </a:rPr>
              <a:t>서브쿼리의</a:t>
            </a:r>
            <a:r>
              <a:rPr lang="ko-KR" altLang="en-US" dirty="0">
                <a:cs typeface="Arial" panose="020B0604020202020204" pitchFamily="34" charset="0"/>
              </a:rPr>
              <a:t> 결과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  <a:r>
              <a:rPr lang="ko-KR" altLang="en-US" dirty="0">
                <a:cs typeface="Arial" panose="020B0604020202020204" pitchFamily="34" charset="0"/>
              </a:rPr>
              <a:t>를 찾아 사원의 부서 번호와 조회한다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예</a:t>
            </a:r>
            <a:r>
              <a:rPr lang="en-US" altLang="ko-KR" dirty="0">
                <a:cs typeface="Arial" panose="020B0604020202020204" pitchFamily="34" charset="0"/>
              </a:rPr>
              <a:t>&gt; </a:t>
            </a:r>
            <a:r>
              <a:rPr lang="ko-KR" altLang="en-US" dirty="0">
                <a:cs typeface="Arial" panose="020B0604020202020204" pitchFamily="34" charset="0"/>
              </a:rPr>
              <a:t>지역번호가 </a:t>
            </a:r>
            <a:r>
              <a:rPr lang="en-US" altLang="ko-KR" dirty="0">
                <a:cs typeface="Arial" panose="020B0604020202020204" pitchFamily="34" charset="0"/>
              </a:rPr>
              <a:t>1700</a:t>
            </a:r>
            <a:r>
              <a:rPr lang="ko-KR" altLang="en-US" dirty="0">
                <a:cs typeface="Arial" panose="020B0604020202020204" pitchFamily="34" charset="0"/>
              </a:rPr>
              <a:t>인 부서에서 근무중인 사원들의 정보를 조회  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>
                <a:cs typeface="Arial" panose="020B0604020202020204" pitchFamily="34" charset="0"/>
              </a:rPr>
              <a:t>대상이 하나 이상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</a:p>
          <a:p>
            <a:pPr lvl="2">
              <a:defRPr/>
            </a:pPr>
            <a:r>
              <a:rPr lang="ko-KR" altLang="en-US" dirty="0" err="1">
                <a:cs typeface="Arial" panose="020B0604020202020204" pitchFamily="34" charset="0"/>
              </a:rPr>
              <a:t>서브쿼리</a:t>
            </a:r>
            <a:r>
              <a:rPr lang="ko-KR" altLang="en-US" dirty="0">
                <a:cs typeface="Arial" panose="020B0604020202020204" pitchFamily="34" charset="0"/>
              </a:rPr>
              <a:t> 대상</a:t>
            </a:r>
            <a:br>
              <a:rPr lang="en-US" altLang="ko-KR" dirty="0">
                <a:cs typeface="Arial" panose="020B0604020202020204" pitchFamily="34" charset="0"/>
              </a:rPr>
            </a:br>
            <a:r>
              <a:rPr lang="ko-KR" altLang="en-US" dirty="0">
                <a:cs typeface="Arial" panose="020B0604020202020204" pitchFamily="34" charset="0"/>
              </a:rPr>
              <a:t>지역번호가 </a:t>
            </a:r>
            <a:r>
              <a:rPr lang="en-US" altLang="ko-KR" dirty="0">
                <a:cs typeface="Arial" panose="020B0604020202020204" pitchFamily="34" charset="0"/>
              </a:rPr>
              <a:t>1700</a:t>
            </a:r>
            <a:r>
              <a:rPr lang="ko-KR" altLang="en-US" dirty="0">
                <a:cs typeface="Arial" panose="020B0604020202020204" pitchFamily="34" charset="0"/>
              </a:rPr>
              <a:t>인 부서에서 근무중인 사원을 찾기 위해</a:t>
            </a:r>
            <a:br>
              <a:rPr lang="en-US" altLang="ko-KR" dirty="0">
                <a:cs typeface="Arial" panose="020B0604020202020204" pitchFamily="34" charset="0"/>
              </a:rPr>
            </a:br>
            <a:r>
              <a:rPr lang="ko-KR" altLang="en-US" dirty="0">
                <a:cs typeface="Arial" panose="020B0604020202020204" pitchFamily="34" charset="0"/>
              </a:rPr>
              <a:t>지역번호가 </a:t>
            </a:r>
            <a:r>
              <a:rPr lang="en-US" altLang="ko-KR" dirty="0">
                <a:cs typeface="Arial" panose="020B0604020202020204" pitchFamily="34" charset="0"/>
              </a:rPr>
              <a:t>1700</a:t>
            </a:r>
            <a:r>
              <a:rPr lang="ko-KR" altLang="en-US" dirty="0">
                <a:cs typeface="Arial" panose="020B0604020202020204" pitchFamily="34" charset="0"/>
              </a:rPr>
              <a:t>인 부서의 부서번호를 알아야 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지역번호가 </a:t>
            </a:r>
            <a:r>
              <a:rPr lang="en-US" altLang="ko-KR" dirty="0">
                <a:cs typeface="Arial" panose="020B0604020202020204" pitchFamily="34" charset="0"/>
              </a:rPr>
              <a:t>1700</a:t>
            </a:r>
            <a:r>
              <a:rPr lang="ko-KR" altLang="en-US" dirty="0">
                <a:cs typeface="Arial" panose="020B0604020202020204" pitchFamily="34" charset="0"/>
              </a:rPr>
              <a:t>인 부서번호</a:t>
            </a:r>
            <a:r>
              <a:rPr lang="en-US" altLang="ko-KR" dirty="0">
                <a:cs typeface="Arial" panose="020B0604020202020204" pitchFamily="34" charset="0"/>
              </a:rPr>
              <a:t>(</a:t>
            </a:r>
            <a:r>
              <a:rPr lang="ko-KR" altLang="en-US" dirty="0" err="1">
                <a:cs typeface="Arial" panose="020B0604020202020204" pitchFamily="34" charset="0"/>
              </a:rPr>
              <a:t>서브쿼리의</a:t>
            </a:r>
            <a:r>
              <a:rPr lang="ko-KR" altLang="en-US" dirty="0">
                <a:cs typeface="Arial" panose="020B0604020202020204" pitchFamily="34" charset="0"/>
              </a:rPr>
              <a:t> 결과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  <a:r>
              <a:rPr lang="ko-KR" altLang="en-US" dirty="0">
                <a:cs typeface="Arial" panose="020B0604020202020204" pitchFamily="34" charset="0"/>
              </a:rPr>
              <a:t>를 찾아 사원의 부서 번호와 조회한다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48132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A013FEDB-A29C-43EC-AE13-DB31CBA456B4}" type="slidenum">
              <a:rPr lang="en-GB" altLang="ko-KR">
                <a:solidFill>
                  <a:srgbClr val="898989"/>
                </a:solidFill>
              </a:rPr>
              <a:pPr/>
              <a:t>48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서브 쿼리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270061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[SUB QUERY], […]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[TABLE]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WHERE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[COLUMN </a:t>
            </a:r>
            <a:r>
              <a:rPr lang="ko-KR" altLang="en-US" dirty="0">
                <a:solidFill>
                  <a:srgbClr val="FF0000"/>
                </a:solidFill>
                <a:cs typeface="Arial" panose="020B0604020202020204" pitchFamily="34" charset="0"/>
              </a:rPr>
              <a:t>연산자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SUBQUERY]</a:t>
            </a: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SUBQUERY </a:t>
            </a:r>
            <a:r>
              <a:rPr lang="ko-KR" altLang="en-US" dirty="0">
                <a:cs typeface="Arial" panose="020B0604020202020204" pitchFamily="34" charset="0"/>
              </a:rPr>
              <a:t>는 </a:t>
            </a:r>
            <a:r>
              <a:rPr lang="en-US" altLang="ko-KR" dirty="0">
                <a:cs typeface="Arial" panose="020B0604020202020204" pitchFamily="34" charset="0"/>
              </a:rPr>
              <a:t>SELECT ~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FROM</a:t>
            </a:r>
            <a:r>
              <a:rPr lang="ko-KR" altLang="en-US" dirty="0">
                <a:cs typeface="Arial" panose="020B0604020202020204" pitchFamily="34" charset="0"/>
              </a:rPr>
              <a:t> 형태로 작성해야 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SELECT *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  FROM TABLE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WHERE COLUMN =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(SELECT COLUMN</a:t>
            </a:r>
            <a:b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                                     FROM TABLE</a:t>
            </a:r>
            <a:b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                                   WHERE </a:t>
            </a:r>
            <a:r>
              <a:rPr lang="ko-KR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조건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)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50180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43715F6-A405-49C9-8954-EE74BD561FE2}" type="slidenum">
              <a:rPr lang="en-GB" altLang="ko-KR">
                <a:solidFill>
                  <a:srgbClr val="898989"/>
                </a:solidFill>
              </a:rPr>
              <a:pPr/>
              <a:t>49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서브 쿼리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73678069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테이블간 </a:t>
            </a:r>
            <a:r>
              <a:rPr lang="en-US" altLang="ko-KR" dirty="0">
                <a:cs typeface="Arial" panose="020B0604020202020204" pitchFamily="34" charset="0"/>
              </a:rPr>
              <a:t>Primary key – Foreign Key </a:t>
            </a:r>
            <a:r>
              <a:rPr lang="ko-KR" altLang="en-US" dirty="0">
                <a:cs typeface="Arial" panose="020B0604020202020204" pitchFamily="34" charset="0"/>
              </a:rPr>
              <a:t>로 연결해 관련정보들을 가져옴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DEPARTMENTS </a:t>
            </a:r>
            <a:r>
              <a:rPr lang="ko-KR" altLang="en-US" dirty="0">
                <a:cs typeface="Arial" panose="020B0604020202020204" pitchFamily="34" charset="0"/>
              </a:rPr>
              <a:t>와 </a:t>
            </a:r>
            <a:r>
              <a:rPr lang="en-US" altLang="ko-KR" dirty="0">
                <a:cs typeface="Arial" panose="020B0604020202020204" pitchFamily="34" charset="0"/>
              </a:rPr>
              <a:t>EMPLOYEES </a:t>
            </a:r>
            <a:r>
              <a:rPr lang="ko-KR" altLang="en-US" dirty="0">
                <a:cs typeface="Arial" panose="020B0604020202020204" pitchFamily="34" charset="0"/>
              </a:rPr>
              <a:t>테이블은 </a:t>
            </a:r>
            <a:r>
              <a:rPr lang="en-US" altLang="ko-KR" dirty="0">
                <a:cs typeface="Arial" panose="020B0604020202020204" pitchFamily="34" charset="0"/>
              </a:rPr>
              <a:t>DEPARTMENT_ID</a:t>
            </a:r>
            <a:r>
              <a:rPr lang="ko-KR" altLang="en-US" dirty="0">
                <a:cs typeface="Arial" panose="020B0604020202020204" pitchFamily="34" charset="0"/>
              </a:rPr>
              <a:t>로 관계가 형성되어 있음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en-US" altLang="ko-KR" b="1" dirty="0">
                <a:cs typeface="Arial" panose="020B0604020202020204" pitchFamily="34" charset="0"/>
              </a:rPr>
              <a:t>DEPARTMENTS </a:t>
            </a:r>
            <a:r>
              <a:rPr lang="ko-KR" altLang="en-US" b="1" dirty="0">
                <a:cs typeface="Arial" panose="020B0604020202020204" pitchFamily="34" charset="0"/>
              </a:rPr>
              <a:t>테이블의 </a:t>
            </a:r>
            <a:r>
              <a:rPr lang="en-US" altLang="ko-KR" b="1" dirty="0">
                <a:cs typeface="Arial" panose="020B0604020202020204" pitchFamily="34" charset="0"/>
              </a:rPr>
              <a:t>PK</a:t>
            </a:r>
            <a:r>
              <a:rPr lang="ko-KR" altLang="en-US" b="1" dirty="0">
                <a:cs typeface="Arial" panose="020B0604020202020204" pitchFamily="34" charset="0"/>
              </a:rPr>
              <a:t>인</a:t>
            </a:r>
            <a:r>
              <a:rPr lang="en-US" altLang="ko-KR" b="1" dirty="0">
                <a:cs typeface="Arial" panose="020B0604020202020204" pitchFamily="34" charset="0"/>
              </a:rPr>
              <a:t> DEPARTMENT_ID</a:t>
            </a:r>
            <a:r>
              <a:rPr lang="ko-KR" altLang="en-US" b="1" dirty="0">
                <a:cs typeface="Arial" panose="020B0604020202020204" pitchFamily="34" charset="0"/>
              </a:rPr>
              <a:t>의 값은</a:t>
            </a:r>
            <a:br>
              <a:rPr lang="en-US" altLang="ko-KR" b="1" dirty="0">
                <a:cs typeface="Arial" panose="020B0604020202020204" pitchFamily="34" charset="0"/>
              </a:rPr>
            </a:br>
            <a:r>
              <a:rPr lang="en-US" altLang="ko-KR" b="1" dirty="0">
                <a:cs typeface="Arial" panose="020B0604020202020204" pitchFamily="34" charset="0"/>
              </a:rPr>
              <a:t>EMPLOYEES </a:t>
            </a:r>
            <a:r>
              <a:rPr lang="ko-KR" altLang="en-US" b="1" dirty="0">
                <a:cs typeface="Arial" panose="020B0604020202020204" pitchFamily="34" charset="0"/>
              </a:rPr>
              <a:t>테이블의 </a:t>
            </a:r>
            <a:r>
              <a:rPr lang="en-US" altLang="ko-KR" b="1" dirty="0">
                <a:cs typeface="Arial" panose="020B0604020202020204" pitchFamily="34" charset="0"/>
              </a:rPr>
              <a:t>FK</a:t>
            </a:r>
            <a:r>
              <a:rPr lang="ko-KR" altLang="en-US" b="1" dirty="0">
                <a:cs typeface="Arial" panose="020B0604020202020204" pitchFamily="34" charset="0"/>
              </a:rPr>
              <a:t>인 </a:t>
            </a:r>
            <a:r>
              <a:rPr lang="en-US" altLang="ko-KR" b="1" dirty="0">
                <a:cs typeface="Arial" panose="020B0604020202020204" pitchFamily="34" charset="0"/>
              </a:rPr>
              <a:t>DEPARTMENT_ID</a:t>
            </a:r>
            <a:r>
              <a:rPr lang="ko-KR" altLang="en-US" b="1" dirty="0">
                <a:cs typeface="Arial" panose="020B0604020202020204" pitchFamily="34" charset="0"/>
              </a:rPr>
              <a:t>와 같다</a:t>
            </a:r>
            <a:r>
              <a:rPr lang="en-US" altLang="ko-KR" b="1" dirty="0">
                <a:cs typeface="Arial" panose="020B0604020202020204" pitchFamily="34" charset="0"/>
              </a:rPr>
              <a:t>.</a:t>
            </a:r>
          </a:p>
          <a:p>
            <a:pPr>
              <a:defRPr/>
            </a:pPr>
            <a:r>
              <a:rPr lang="ko-KR" altLang="en-US" dirty="0">
                <a:cs typeface="Arial" panose="020B0604020202020204" pitchFamily="34" charset="0"/>
              </a:rPr>
              <a:t>이런 연결 상태를 </a:t>
            </a:r>
            <a:r>
              <a:rPr lang="en-US" altLang="ko-KR" b="1" dirty="0">
                <a:cs typeface="Arial" panose="020B0604020202020204" pitchFamily="34" charset="0"/>
              </a:rPr>
              <a:t>JOIN</a:t>
            </a:r>
            <a:r>
              <a:rPr lang="ko-KR" altLang="en-US" dirty="0">
                <a:cs typeface="Arial" panose="020B0604020202020204" pitchFamily="34" charset="0"/>
              </a:rPr>
              <a:t>이라 하며 연결 관계를 지칭할 수 있다</a:t>
            </a:r>
            <a:r>
              <a:rPr lang="en-US" altLang="ko-KR" dirty="0">
                <a:cs typeface="Arial" panose="020B0604020202020204" pitchFamily="34" charset="0"/>
              </a:rPr>
              <a:t>. (Java</a:t>
            </a:r>
            <a:r>
              <a:rPr lang="ko-KR" altLang="en-US" dirty="0">
                <a:cs typeface="Arial" panose="020B0604020202020204" pitchFamily="34" charset="0"/>
              </a:rPr>
              <a:t>의 </a:t>
            </a:r>
            <a:r>
              <a:rPr lang="en-US" altLang="ko-KR" dirty="0">
                <a:cs typeface="Arial" panose="020B0604020202020204" pitchFamily="34" charset="0"/>
              </a:rPr>
              <a:t>Has A </a:t>
            </a:r>
            <a:r>
              <a:rPr lang="ko-KR" altLang="en-US" dirty="0">
                <a:cs typeface="Arial" panose="020B0604020202020204" pitchFamily="34" charset="0"/>
              </a:rPr>
              <a:t>관계</a:t>
            </a:r>
            <a:r>
              <a:rPr lang="en-US" altLang="ko-KR" dirty="0">
                <a:cs typeface="Arial" panose="020B0604020202020204" pitchFamily="34" charset="0"/>
              </a:rPr>
              <a:t>)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하나의 부서</a:t>
            </a:r>
            <a:r>
              <a:rPr lang="en-US" altLang="ko-KR" dirty="0">
                <a:cs typeface="Arial" panose="020B0604020202020204" pitchFamily="34" charset="0"/>
              </a:rPr>
              <a:t>(PK)</a:t>
            </a:r>
            <a:r>
              <a:rPr lang="ko-KR" altLang="en-US" dirty="0">
                <a:cs typeface="Arial" panose="020B0604020202020204" pitchFamily="34" charset="0"/>
              </a:rPr>
              <a:t>에 여러 명의 사원</a:t>
            </a:r>
            <a:r>
              <a:rPr lang="en-US" altLang="ko-KR" dirty="0">
                <a:cs typeface="Arial" panose="020B0604020202020204" pitchFamily="34" charset="0"/>
              </a:rPr>
              <a:t>(FK)</a:t>
            </a:r>
            <a:r>
              <a:rPr lang="ko-KR" altLang="en-US" dirty="0">
                <a:cs typeface="Arial" panose="020B0604020202020204" pitchFamily="34" charset="0"/>
              </a:rPr>
              <a:t>이 근무중이다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5222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B64FA64-3A0F-4E42-A912-BD7279314ECD}" type="slidenum">
              <a:rPr lang="en-GB" altLang="ko-KR">
                <a:solidFill>
                  <a:srgbClr val="898989"/>
                </a:solidFill>
              </a:rPr>
              <a:pPr/>
              <a:t>50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</a:t>
            </a:r>
            <a:endParaRPr lang="en-US" altLang="ko-KR" dirty="0"/>
          </a:p>
        </p:txBody>
      </p:sp>
      <p:pic>
        <p:nvPicPr>
          <p:cNvPr id="2" name="그림 5" descr="화면 캡처">
            <a:extLst>
              <a:ext uri="{FF2B5EF4-FFF2-40B4-BE49-F238E27FC236}">
                <a16:creationId xmlns:a16="http://schemas.microsoft.com/office/drawing/2014/main" id="{4D775BCE-469C-E4FA-B585-93889A3F2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3305175"/>
            <a:ext cx="8334375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2248928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JOIN </a:t>
            </a:r>
            <a:r>
              <a:rPr lang="ko-KR" altLang="en-US" dirty="0">
                <a:cs typeface="Arial" panose="020B0604020202020204" pitchFamily="34" charset="0"/>
              </a:rPr>
              <a:t>관계에 있는 데이터에 따라 여러가지 형태의 관계가 형성된다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1 : 1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한 테이블의 </a:t>
            </a:r>
            <a:r>
              <a:rPr lang="en-US" altLang="ko-KR" dirty="0">
                <a:cs typeface="Arial" panose="020B0604020202020204" pitchFamily="34" charset="0"/>
              </a:rPr>
              <a:t>PK</a:t>
            </a:r>
            <a:r>
              <a:rPr lang="ko-KR" altLang="en-US" dirty="0">
                <a:cs typeface="Arial" panose="020B0604020202020204" pitchFamily="34" charset="0"/>
              </a:rPr>
              <a:t>가 다른 테이블의 </a:t>
            </a:r>
            <a:r>
              <a:rPr lang="en-US" altLang="ko-KR" dirty="0">
                <a:cs typeface="Arial" panose="020B0604020202020204" pitchFamily="34" charset="0"/>
              </a:rPr>
              <a:t>FK</a:t>
            </a:r>
            <a:r>
              <a:rPr lang="ko-KR" altLang="en-US" dirty="0">
                <a:cs typeface="Arial" panose="020B0604020202020204" pitchFamily="34" charset="0"/>
              </a:rPr>
              <a:t>에 하나만 존재하는 관계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만들어서는 안되는 관계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단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컬럼의 수가 </a:t>
            </a:r>
            <a:r>
              <a:rPr lang="en-US" altLang="ko-KR" dirty="0">
                <a:cs typeface="Arial" panose="020B0604020202020204" pitchFamily="34" charset="0"/>
              </a:rPr>
              <a:t>40</a:t>
            </a:r>
            <a:r>
              <a:rPr lang="ko-KR" altLang="en-US" dirty="0">
                <a:cs typeface="Arial" panose="020B0604020202020204" pitchFamily="34" charset="0"/>
              </a:rPr>
              <a:t>개 이상 넘어갈 경우엔 테이블을 분리하여 </a:t>
            </a:r>
            <a:r>
              <a:rPr lang="en-US" altLang="ko-KR" dirty="0">
                <a:cs typeface="Arial" panose="020B0604020202020204" pitchFamily="34" charset="0"/>
              </a:rPr>
              <a:t>1 : 1 </a:t>
            </a:r>
            <a:r>
              <a:rPr lang="ko-KR" altLang="en-US" dirty="0">
                <a:cs typeface="Arial" panose="020B0604020202020204" pitchFamily="34" charset="0"/>
              </a:rPr>
              <a:t>관계를 맺어야 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1 : N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한 테이블의 </a:t>
            </a:r>
            <a:r>
              <a:rPr lang="en-US" altLang="ko-KR" dirty="0">
                <a:cs typeface="Arial" panose="020B0604020202020204" pitchFamily="34" charset="0"/>
              </a:rPr>
              <a:t>PK</a:t>
            </a:r>
            <a:r>
              <a:rPr lang="ko-KR" altLang="en-US" dirty="0">
                <a:cs typeface="Arial" panose="020B0604020202020204" pitchFamily="34" charset="0"/>
              </a:rPr>
              <a:t>가 다른 테이블의 </a:t>
            </a:r>
            <a:r>
              <a:rPr lang="en-US" altLang="ko-KR" dirty="0">
                <a:cs typeface="Arial" panose="020B0604020202020204" pitchFamily="34" charset="0"/>
              </a:rPr>
              <a:t>FK</a:t>
            </a:r>
            <a:r>
              <a:rPr lang="ko-KR" altLang="en-US" dirty="0">
                <a:cs typeface="Arial" panose="020B0604020202020204" pitchFamily="34" charset="0"/>
              </a:rPr>
              <a:t>에 여러 개가 존재하는 관계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가장 흔하게 만들게 되는 관계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한 명의 회원</a:t>
            </a:r>
            <a:r>
              <a:rPr lang="en-US" altLang="ko-KR" dirty="0">
                <a:cs typeface="Arial" panose="020B0604020202020204" pitchFamily="34" charset="0"/>
              </a:rPr>
              <a:t>(PK)</a:t>
            </a:r>
            <a:r>
              <a:rPr lang="ko-KR" altLang="en-US" dirty="0">
                <a:cs typeface="Arial" panose="020B0604020202020204" pitchFamily="34" charset="0"/>
              </a:rPr>
              <a:t>이 여러 개의 상품을 주문</a:t>
            </a:r>
            <a:r>
              <a:rPr lang="en-US" altLang="ko-KR" dirty="0">
                <a:cs typeface="Arial" panose="020B0604020202020204" pitchFamily="34" charset="0"/>
              </a:rPr>
              <a:t>(FK)</a:t>
            </a:r>
            <a:r>
              <a:rPr lang="ko-KR" altLang="en-US" dirty="0">
                <a:cs typeface="Arial" panose="020B0604020202020204" pitchFamily="34" charset="0"/>
              </a:rPr>
              <a:t>한다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한 명의 회원</a:t>
            </a:r>
            <a:r>
              <a:rPr lang="en-US" altLang="ko-KR" dirty="0">
                <a:cs typeface="Arial" panose="020B0604020202020204" pitchFamily="34" charset="0"/>
              </a:rPr>
              <a:t>(PK)</a:t>
            </a:r>
            <a:r>
              <a:rPr lang="ko-KR" altLang="en-US" dirty="0">
                <a:cs typeface="Arial" panose="020B0604020202020204" pitchFamily="34" charset="0"/>
              </a:rPr>
              <a:t>이 여러 개의 게시글을 작성</a:t>
            </a:r>
            <a:r>
              <a:rPr lang="en-US" altLang="ko-KR" dirty="0">
                <a:cs typeface="Arial" panose="020B0604020202020204" pitchFamily="34" charset="0"/>
              </a:rPr>
              <a:t> (FK) </a:t>
            </a:r>
            <a:r>
              <a:rPr lang="ko-KR" altLang="en-US" dirty="0">
                <a:cs typeface="Arial" panose="020B0604020202020204" pitchFamily="34" charset="0"/>
              </a:rPr>
              <a:t>한다</a:t>
            </a:r>
            <a:r>
              <a:rPr lang="en-US" altLang="ko-KR" dirty="0">
                <a:cs typeface="Arial" panose="020B0604020202020204" pitchFamily="34" charset="0"/>
              </a:rPr>
              <a:t>. </a:t>
            </a:r>
            <a:r>
              <a:rPr lang="ko-KR" altLang="en-US" dirty="0">
                <a:cs typeface="Arial" panose="020B0604020202020204" pitchFamily="34" charset="0"/>
              </a:rPr>
              <a:t>등</a:t>
            </a: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N : N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물리적으로 존재할 수 없는 관계</a:t>
            </a:r>
            <a:endParaRPr lang="en-US" altLang="ko-KR" dirty="0"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한 명의 강사가 여러 명의 수강생에게 강의한다</a:t>
            </a:r>
            <a:r>
              <a:rPr lang="en-US" altLang="ko-KR" dirty="0">
                <a:cs typeface="Arial" panose="020B0604020202020204" pitchFamily="34" charset="0"/>
              </a:rPr>
              <a:t>. ( 1 : N )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한 명의 수강생은 여러 명의 강사에게 강의를 받는다</a:t>
            </a:r>
            <a:r>
              <a:rPr lang="en-US" altLang="ko-KR" dirty="0">
                <a:cs typeface="Arial" panose="020B0604020202020204" pitchFamily="34" charset="0"/>
              </a:rPr>
              <a:t>. ( 1 : N )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결국</a:t>
            </a:r>
            <a:r>
              <a:rPr lang="en-US" altLang="ko-KR" dirty="0">
                <a:cs typeface="Arial" panose="020B0604020202020204" pitchFamily="34" charset="0"/>
              </a:rPr>
              <a:t>, N : N</a:t>
            </a:r>
            <a:r>
              <a:rPr lang="ko-KR" altLang="en-US" dirty="0">
                <a:cs typeface="Arial" panose="020B0604020202020204" pitchFamily="34" charset="0"/>
              </a:rPr>
              <a:t>의 관계가 만들어진다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>
              <a:defRPr/>
            </a:pPr>
            <a:r>
              <a:rPr lang="en-US" altLang="ko-KR" dirty="0">
                <a:cs typeface="Arial" panose="020B0604020202020204" pitchFamily="34" charset="0"/>
              </a:rPr>
              <a:t>N : N</a:t>
            </a:r>
            <a:r>
              <a:rPr lang="ko-KR" altLang="en-US" dirty="0">
                <a:cs typeface="Arial" panose="020B0604020202020204" pitchFamily="34" charset="0"/>
              </a:rPr>
              <a:t> 관계는 별도의 테이블을 만들어 </a:t>
            </a:r>
            <a:r>
              <a:rPr lang="en-US" altLang="ko-KR" dirty="0">
                <a:cs typeface="Arial" panose="020B0604020202020204" pitchFamily="34" charset="0"/>
              </a:rPr>
              <a:t>1 : N </a:t>
            </a:r>
            <a:r>
              <a:rPr lang="ko-KR" altLang="en-US" dirty="0">
                <a:cs typeface="Arial" panose="020B0604020202020204" pitchFamily="34" charset="0"/>
              </a:rPr>
              <a:t>으로 해소하여야 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5222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B64FA64-3A0F-4E42-A912-BD7279314ECD}" type="slidenum">
              <a:rPr lang="en-GB" altLang="ko-KR">
                <a:solidFill>
                  <a:srgbClr val="898989"/>
                </a:solidFill>
              </a:rPr>
              <a:pPr/>
              <a:t>51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841809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A TABLE</a:t>
            </a:r>
            <a:r>
              <a:rPr lang="ko-KR" altLang="en-US" dirty="0">
                <a:cs typeface="Arial" panose="020B0604020202020204" pitchFamily="34" charset="0"/>
              </a:rPr>
              <a:t>의  </a:t>
            </a:r>
            <a:r>
              <a:rPr lang="en-US" altLang="ko-KR" dirty="0">
                <a:cs typeface="Arial" panose="020B0604020202020204" pitchFamily="34" charset="0"/>
              </a:rPr>
              <a:t>PK</a:t>
            </a:r>
            <a:r>
              <a:rPr lang="ko-KR" altLang="en-US" dirty="0">
                <a:cs typeface="Arial" panose="020B0604020202020204" pitchFamily="34" charset="0"/>
              </a:rPr>
              <a:t>값과 </a:t>
            </a:r>
            <a:r>
              <a:rPr lang="en-US" altLang="ko-KR" dirty="0">
                <a:cs typeface="Arial" panose="020B0604020202020204" pitchFamily="34" charset="0"/>
              </a:rPr>
              <a:t>B TABLE</a:t>
            </a:r>
            <a:r>
              <a:rPr lang="ko-KR" altLang="en-US" dirty="0">
                <a:cs typeface="Arial" panose="020B0604020202020204" pitchFamily="34" charset="0"/>
              </a:rPr>
              <a:t>의 </a:t>
            </a:r>
            <a:r>
              <a:rPr lang="en-US" altLang="ko-KR" dirty="0">
                <a:cs typeface="Arial" panose="020B0604020202020204" pitchFamily="34" charset="0"/>
              </a:rPr>
              <a:t>FK </a:t>
            </a:r>
            <a:r>
              <a:rPr lang="ko-KR" altLang="en-US" dirty="0">
                <a:cs typeface="Arial" panose="020B0604020202020204" pitchFamily="34" charset="0"/>
              </a:rPr>
              <a:t>값이 같은 </a:t>
            </a:r>
            <a:r>
              <a:rPr lang="en-US" altLang="ko-KR" dirty="0">
                <a:cs typeface="Arial" panose="020B0604020202020204" pitchFamily="34" charset="0"/>
              </a:rPr>
              <a:t>ROW</a:t>
            </a:r>
            <a:r>
              <a:rPr lang="ko-KR" altLang="en-US" dirty="0">
                <a:cs typeface="Arial" panose="020B0604020202020204" pitchFamily="34" charset="0"/>
              </a:rPr>
              <a:t>만 조회된다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5222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B64FA64-3A0F-4E42-A912-BD7279314ECD}" type="slidenum">
              <a:rPr lang="en-GB" altLang="ko-KR">
                <a:solidFill>
                  <a:srgbClr val="898989"/>
                </a:solidFill>
              </a:rPr>
              <a:pPr/>
              <a:t>52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4B7214-784F-85B9-7347-44FE1AB5D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527667"/>
            <a:ext cx="3512674" cy="101367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A088A0-B66B-6D37-D4FA-D6254B473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2514600"/>
            <a:ext cx="2217420" cy="10207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65DC71-0F80-4F51-8A9A-61322B35B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4550006"/>
            <a:ext cx="6781800" cy="10407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AF8F72-A012-6217-34AC-6CDC4F1E9894}"/>
              </a:ext>
            </a:extLst>
          </p:cNvPr>
          <p:cNvSpPr txBox="1"/>
          <p:nvPr/>
        </p:nvSpPr>
        <p:spPr>
          <a:xfrm>
            <a:off x="4606807" y="2816183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JOIN</a:t>
            </a:r>
            <a:endParaRPr lang="ko-KR" altLang="en-US" sz="2400" dirty="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6AC5D10C-6CD9-2FCB-A36F-F880D109BC13}"/>
              </a:ext>
            </a:extLst>
          </p:cNvPr>
          <p:cNvSpPr/>
          <p:nvPr/>
        </p:nvSpPr>
        <p:spPr>
          <a:xfrm>
            <a:off x="3567341" y="3785193"/>
            <a:ext cx="2133600" cy="65493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E91D7B-B5D6-6861-0E96-118E6E88265D}"/>
              </a:ext>
            </a:extLst>
          </p:cNvPr>
          <p:cNvSpPr txBox="1"/>
          <p:nvPr/>
        </p:nvSpPr>
        <p:spPr>
          <a:xfrm>
            <a:off x="2868272" y="3901148"/>
            <a:ext cx="3810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TEACHER.TEACHER_ID = STUDENT.TEACHER_ID</a:t>
            </a:r>
            <a:endParaRPr lang="ko-KR" altLang="en-US" sz="12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DC774F0-7F9A-211F-1AAF-79A91BBFF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2126" y="1193026"/>
            <a:ext cx="1736426" cy="111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57474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각 테이블은 관련 정보만 담아 둠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테이블 끼리 관계형성</a:t>
            </a:r>
            <a:r>
              <a:rPr lang="en-US" altLang="ko-KR" dirty="0">
                <a:cs typeface="Arial" panose="020B0604020202020204" pitchFamily="34" charset="0"/>
              </a:rPr>
              <a:t>(Constraint) </a:t>
            </a:r>
            <a:r>
              <a:rPr lang="ko-KR" altLang="en-US" dirty="0" err="1">
                <a:cs typeface="Arial" panose="020B0604020202020204" pitchFamily="34" charset="0"/>
              </a:rPr>
              <a:t>해두어</a:t>
            </a:r>
            <a:r>
              <a:rPr lang="ko-KR" altLang="en-US" dirty="0">
                <a:cs typeface="Arial" panose="020B0604020202020204" pitchFamily="34" charset="0"/>
              </a:rPr>
              <a:t> 관련된 여러 정보를 한번에 가져온다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</a:rPr>
              <a:t>예</a:t>
            </a:r>
            <a:r>
              <a:rPr lang="en-US" altLang="ko-KR" dirty="0">
                <a:cs typeface="Arial" panose="020B0604020202020204" pitchFamily="34" charset="0"/>
              </a:rPr>
              <a:t>&gt; </a:t>
            </a:r>
            <a:r>
              <a:rPr lang="ko-KR" altLang="en-US" dirty="0">
                <a:cs typeface="Arial" panose="020B0604020202020204" pitchFamily="34" charset="0"/>
              </a:rPr>
              <a:t>모든 부서의 부서이름과 사원의 이름을 조회한다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JOIN </a:t>
            </a:r>
            <a:r>
              <a:rPr lang="ko-KR" altLang="en-US" dirty="0">
                <a:cs typeface="Arial" panose="020B0604020202020204" pitchFamily="34" charset="0"/>
              </a:rPr>
              <a:t>문법</a:t>
            </a: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[COLUMN], […]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[TABLE A] A</a:t>
            </a:r>
            <a:b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INNER JOIN [TABLE B] B</a:t>
            </a:r>
            <a:b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ON A.PK = B.FK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WHERE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 [CONDITIONS]</a:t>
            </a:r>
          </a:p>
        </p:txBody>
      </p:sp>
      <p:sp>
        <p:nvSpPr>
          <p:cNvPr id="5632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30D9526-FB3E-4959-8429-35B700A4F802}" type="slidenum">
              <a:rPr lang="en-GB" altLang="ko-KR">
                <a:solidFill>
                  <a:srgbClr val="898989"/>
                </a:solidFill>
              </a:rPr>
              <a:pPr/>
              <a:t>53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34018134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선생님에게 배우고 있는 모든 학생을 조회</a:t>
            </a:r>
            <a:endParaRPr lang="en-US" altLang="ko-KR" dirty="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ko-KR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SELECT A.*, B.*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FROM STUDENT A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INNER JOIN TEACHER B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ON B.TEACHER_ID = A.TEACHER_ID</a:t>
            </a:r>
          </a:p>
        </p:txBody>
      </p:sp>
      <p:sp>
        <p:nvSpPr>
          <p:cNvPr id="5632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30D9526-FB3E-4959-8429-35B700A4F802}" type="slidenum">
              <a:rPr lang="en-GB" altLang="ko-KR">
                <a:solidFill>
                  <a:srgbClr val="898989"/>
                </a:solidFill>
              </a:rPr>
              <a:pPr/>
              <a:t>54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</a:t>
            </a:r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BD1E24D-B3F8-493C-008D-B4A95154C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85142"/>
            <a:ext cx="3512674" cy="101367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31AD06A-3043-9214-A978-A32001716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1672075"/>
            <a:ext cx="2217420" cy="1020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C8B50EE-DA8E-6234-737E-55D1D62A4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518257"/>
            <a:ext cx="6781800" cy="1040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9912A9-E21E-26A0-EAF6-74D3113E7E5C}"/>
              </a:ext>
            </a:extLst>
          </p:cNvPr>
          <p:cNvSpPr txBox="1"/>
          <p:nvPr/>
        </p:nvSpPr>
        <p:spPr>
          <a:xfrm>
            <a:off x="4149607" y="1973658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JOIN</a:t>
            </a:r>
            <a:endParaRPr lang="ko-KR" altLang="en-US" sz="2400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778E4AB0-705D-5848-2DC5-68DDCCD01667}"/>
              </a:ext>
            </a:extLst>
          </p:cNvPr>
          <p:cNvSpPr/>
          <p:nvPr/>
        </p:nvSpPr>
        <p:spPr>
          <a:xfrm>
            <a:off x="3102521" y="2792041"/>
            <a:ext cx="2133600" cy="65493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77425-AB3C-881B-E1F6-11C5A09387C7}"/>
              </a:ext>
            </a:extLst>
          </p:cNvPr>
          <p:cNvSpPr txBox="1"/>
          <p:nvPr/>
        </p:nvSpPr>
        <p:spPr>
          <a:xfrm>
            <a:off x="2403452" y="2907996"/>
            <a:ext cx="3810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TEACHER.TEACHER_ID = STUDENT.TEACHER_ID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24195116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재귀 조인 </a:t>
            </a:r>
            <a:r>
              <a:rPr lang="en-US" altLang="ko-KR" dirty="0">
                <a:cs typeface="Arial" panose="020B0604020202020204" pitchFamily="34" charset="0"/>
              </a:rPr>
              <a:t>(Recursive Join)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한 테이블에 </a:t>
            </a:r>
            <a:r>
              <a:rPr lang="en-US" altLang="ko-KR" dirty="0">
                <a:cs typeface="Arial" panose="020B0604020202020204" pitchFamily="34" charset="0"/>
              </a:rPr>
              <a:t>PK</a:t>
            </a:r>
            <a:r>
              <a:rPr lang="ko-KR" altLang="en-US" dirty="0">
                <a:cs typeface="Arial" panose="020B0604020202020204" pitchFamily="34" charset="0"/>
              </a:rPr>
              <a:t>가 존재하고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해당 </a:t>
            </a:r>
            <a:r>
              <a:rPr lang="en-US" altLang="ko-KR" dirty="0">
                <a:cs typeface="Arial" panose="020B0604020202020204" pitchFamily="34" charset="0"/>
              </a:rPr>
              <a:t>PK</a:t>
            </a:r>
            <a:r>
              <a:rPr lang="ko-KR" altLang="en-US" dirty="0">
                <a:cs typeface="Arial" panose="020B0604020202020204" pitchFamily="34" charset="0"/>
              </a:rPr>
              <a:t>를 참조하는 </a:t>
            </a:r>
            <a:r>
              <a:rPr lang="en-US" altLang="ko-KR" dirty="0">
                <a:cs typeface="Arial" panose="020B0604020202020204" pitchFamily="34" charset="0"/>
              </a:rPr>
              <a:t>FK</a:t>
            </a:r>
            <a:r>
              <a:rPr lang="ko-KR" altLang="en-US" dirty="0">
                <a:cs typeface="Arial" panose="020B0604020202020204" pitchFamily="34" charset="0"/>
              </a:rPr>
              <a:t>가 동시에 있는 경우의 조인</a:t>
            </a:r>
            <a:endParaRPr lang="en-US" altLang="ko-KR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ko-KR" altLang="en-US" dirty="0">
                <a:cs typeface="Arial" panose="020B0604020202020204" pitchFamily="34" charset="0"/>
              </a:rPr>
              <a:t>주로 계층형</a:t>
            </a: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관계에 이용한다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en-US" altLang="ko-KR" dirty="0">
                <a:cs typeface="Arial" panose="020B0604020202020204" pitchFamily="34" charset="0"/>
              </a:rPr>
              <a:t>EMPLOYEES </a:t>
            </a:r>
            <a:r>
              <a:rPr lang="ko-KR" altLang="en-US" dirty="0">
                <a:cs typeface="Arial" panose="020B0604020202020204" pitchFamily="34" charset="0"/>
              </a:rPr>
              <a:t>테이블</a:t>
            </a:r>
            <a:endParaRPr lang="en-US" altLang="ko-KR" dirty="0"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여러 명의 사원</a:t>
            </a:r>
            <a:r>
              <a:rPr lang="en-US" altLang="ko-KR" dirty="0">
                <a:cs typeface="Arial" panose="020B0604020202020204" pitchFamily="34" charset="0"/>
              </a:rPr>
              <a:t>(EMPLOYEE_ID: PK)</a:t>
            </a:r>
            <a:r>
              <a:rPr lang="ko-KR" altLang="en-US" dirty="0">
                <a:cs typeface="Arial" panose="020B0604020202020204" pitchFamily="34" charset="0"/>
              </a:rPr>
              <a:t>은 한 명의 상사</a:t>
            </a:r>
            <a:r>
              <a:rPr lang="en-US" altLang="ko-KR" dirty="0">
                <a:cs typeface="Arial" panose="020B0604020202020204" pitchFamily="34" charset="0"/>
              </a:rPr>
              <a:t>(MANAGER_ID: FK)</a:t>
            </a:r>
            <a:r>
              <a:rPr lang="ko-KR" altLang="en-US" dirty="0">
                <a:cs typeface="Arial" panose="020B0604020202020204" pitchFamily="34" charset="0"/>
              </a:rPr>
              <a:t>가 있다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lvl="2">
              <a:defRPr/>
            </a:pPr>
            <a:r>
              <a:rPr lang="ko-KR" altLang="en-US" dirty="0">
                <a:cs typeface="Arial" panose="020B0604020202020204" pitchFamily="34" charset="0"/>
              </a:rPr>
              <a:t>동일 테이블에서 참조가 이루어지고 있음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START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WITH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[CONDITION] CONNECT BY PRIOR [</a:t>
            </a:r>
            <a:r>
              <a:rPr lang="ko-KR" altLang="en-US" dirty="0">
                <a:cs typeface="Arial" panose="020B0604020202020204" pitchFamily="34" charset="0"/>
              </a:rPr>
              <a:t>관계 조건</a:t>
            </a:r>
            <a:r>
              <a:rPr lang="en-US" altLang="ko-KR" dirty="0">
                <a:cs typeface="Arial" panose="020B0604020202020204" pitchFamily="34" charset="0"/>
              </a:rPr>
              <a:t>]</a:t>
            </a:r>
          </a:p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100</a:t>
            </a:r>
            <a:r>
              <a:rPr lang="ko-KR" altLang="en-US" dirty="0">
                <a:cs typeface="Arial" panose="020B0604020202020204" pitchFamily="34" charset="0"/>
              </a:rPr>
              <a:t>번 사원의 부하직원들을 모두 조회하는 쿼리</a:t>
            </a:r>
            <a:endParaRPr lang="en-US" altLang="ko-KR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ko-KR" dirty="0">
                <a:cs typeface="Arial" panose="020B0604020202020204" pitchFamily="34" charset="0"/>
              </a:rPr>
              <a:t>SELECT *</a:t>
            </a:r>
            <a:br>
              <a:rPr lang="en-US" altLang="ko-KR" dirty="0"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EMPLOYEES</a:t>
            </a:r>
            <a:br>
              <a:rPr lang="en-US" altLang="ko-KR" dirty="0"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START WITH EMPLOYEE_ID = 100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-- </a:t>
            </a:r>
            <a:r>
              <a:rPr lang="ko-KR" altLang="en-US" b="1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최상위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ROW</a:t>
            </a:r>
            <a:r>
              <a:rPr lang="ko-KR" altLang="en-US" b="1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가 될 기준</a:t>
            </a:r>
            <a:b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CONNECT BY PRIOR EMPLOYEE_ID = MANAGER_ID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-- </a:t>
            </a:r>
            <a:r>
              <a:rPr lang="ko-KR" altLang="en-US" b="1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데이터를 연결할 기준</a:t>
            </a:r>
            <a:r>
              <a:rPr lang="en-US" altLang="ko-KR" dirty="0">
                <a:cs typeface="Arial" panose="020B0604020202020204" pitchFamily="34" charset="0"/>
              </a:rPr>
              <a:t>; </a:t>
            </a:r>
          </a:p>
          <a:p>
            <a:pPr>
              <a:defRPr/>
            </a:pP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EMPLOYEE_ID(100)</a:t>
            </a: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가 누군가의 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MANAGER_ID(100)</a:t>
            </a: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가 되어야 한다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lvl="1">
              <a:defRPr/>
            </a:pPr>
            <a:r>
              <a:rPr lang="ko-KR" altLang="en-US" dirty="0">
                <a:cs typeface="Arial" panose="020B0604020202020204" pitchFamily="34" charset="0"/>
                <a:sym typeface="Wingdings" panose="05000000000000000000" pitchFamily="2" charset="2"/>
              </a:rPr>
              <a:t>연결된 모든 부하직원들을 조회한다</a:t>
            </a:r>
            <a:r>
              <a:rPr lang="en-US" altLang="ko-KR" dirty="0"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en-US" altLang="ko-KR" dirty="0">
              <a:cs typeface="Arial" panose="020B0604020202020204" pitchFamily="34" charset="0"/>
            </a:endParaRPr>
          </a:p>
        </p:txBody>
      </p:sp>
      <p:sp>
        <p:nvSpPr>
          <p:cNvPr id="56324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30D9526-FB3E-4959-8429-35B700A4F802}" type="slidenum">
              <a:rPr lang="en-GB" altLang="ko-KR">
                <a:solidFill>
                  <a:srgbClr val="898989"/>
                </a:solidFill>
              </a:rPr>
              <a:pPr/>
              <a:t>55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08346351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cs typeface="Arial" panose="020B0604020202020204" pitchFamily="34" charset="0"/>
              </a:rPr>
              <a:t>SELECT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[COLUMN], [SCALA QUERY], […]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FROM 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[TABLE A]</a:t>
            </a:r>
            <a:b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INNER JOIN ( </a:t>
            </a:r>
            <a:b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             SELECT .. FROM .. WHERE … </a:t>
            </a:r>
            <a:b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              ) B</a:t>
            </a:r>
            <a:b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ON A.PK = B.FK</a:t>
            </a:r>
            <a:br>
              <a:rPr lang="en-US" altLang="ko-KR" b="1" dirty="0">
                <a:cs typeface="Arial" panose="020B0604020202020204" pitchFamily="34" charset="0"/>
              </a:rPr>
            </a:br>
            <a:r>
              <a:rPr lang="en-US" altLang="ko-KR" dirty="0">
                <a:cs typeface="Arial" panose="020B0604020202020204" pitchFamily="34" charset="0"/>
              </a:rPr>
              <a:t>WHERE </a:t>
            </a:r>
            <a:r>
              <a:rPr lang="en-US" altLang="ko-KR" dirty="0">
                <a:solidFill>
                  <a:srgbClr val="FF0000"/>
                </a:solidFill>
                <a:cs typeface="Arial" panose="020B0604020202020204" pitchFamily="34" charset="0"/>
              </a:rPr>
              <a:t>[CONDITIONS]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조인만으로 풀리지 않는 문제를 </a:t>
            </a:r>
            <a:r>
              <a:rPr lang="en-US" altLang="ko-KR" dirty="0">
                <a:cs typeface="Arial" panose="020B0604020202020204" pitchFamily="34" charset="0"/>
              </a:rPr>
              <a:t>INLINE VIEW </a:t>
            </a:r>
            <a:r>
              <a:rPr lang="ko-KR" altLang="en-US" dirty="0">
                <a:cs typeface="Arial" panose="020B0604020202020204" pitchFamily="34" charset="0"/>
              </a:rPr>
              <a:t>를 통해서 처리함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cs typeface="Arial" panose="020B0604020202020204" pitchFamily="34" charset="0"/>
              </a:rPr>
              <a:t>보통 </a:t>
            </a:r>
            <a:r>
              <a:rPr lang="en-US" altLang="ko-KR" dirty="0">
                <a:cs typeface="Arial" panose="020B0604020202020204" pitchFamily="34" charset="0"/>
              </a:rPr>
              <a:t>INLINE VIEW</a:t>
            </a:r>
            <a:r>
              <a:rPr lang="ko-KR" altLang="en-US" dirty="0">
                <a:cs typeface="Arial" panose="020B0604020202020204" pitchFamily="34" charset="0"/>
              </a:rPr>
              <a:t>내부에는 복잡한 </a:t>
            </a:r>
            <a:r>
              <a:rPr lang="en-US" altLang="ko-KR" dirty="0">
                <a:cs typeface="Arial" panose="020B0604020202020204" pitchFamily="34" charset="0"/>
              </a:rPr>
              <a:t>JOIN </a:t>
            </a:r>
            <a:r>
              <a:rPr lang="ko-KR" altLang="en-US" dirty="0">
                <a:cs typeface="Arial" panose="020B0604020202020204" pitchFamily="34" charset="0"/>
              </a:rPr>
              <a:t>쿼리가 작성된다</a:t>
            </a:r>
            <a:r>
              <a:rPr lang="en-US" altLang="ko-K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6246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A04B983A-1161-4137-BF83-E5110798F86B}" type="slidenum">
              <a:rPr lang="en-GB" altLang="ko-KR">
                <a:solidFill>
                  <a:srgbClr val="898989"/>
                </a:solidFill>
              </a:rPr>
              <a:pPr/>
              <a:t>56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 </a:t>
            </a:r>
            <a:r>
              <a:rPr lang="en-US" altLang="ko-KR" dirty="0"/>
              <a:t>(INLINE VIEW)</a:t>
            </a:r>
          </a:p>
        </p:txBody>
      </p:sp>
    </p:spTree>
    <p:extLst>
      <p:ext uri="{BB962C8B-B14F-4D97-AF65-F5344CB8AC3E}">
        <p14:creationId xmlns:p14="http://schemas.microsoft.com/office/powerpoint/2010/main" val="584883236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altLang="ko-KR" dirty="0">
                <a:cs typeface="Arial" charset="0"/>
              </a:rPr>
              <a:t>LEFT OUTER JOIN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ko-KR" dirty="0">
                <a:cs typeface="Arial" charset="0"/>
              </a:rPr>
              <a:t>TABLE A </a:t>
            </a:r>
            <a:r>
              <a:rPr lang="ko-KR" altLang="en-US" dirty="0">
                <a:cs typeface="Arial" charset="0"/>
              </a:rPr>
              <a:t>에 </a:t>
            </a:r>
            <a:r>
              <a:rPr lang="en-US" altLang="ko-KR" dirty="0">
                <a:cs typeface="Arial" charset="0"/>
              </a:rPr>
              <a:t>TABLE B </a:t>
            </a:r>
            <a:r>
              <a:rPr lang="ko-KR" altLang="en-US" dirty="0">
                <a:cs typeface="Arial" charset="0"/>
              </a:rPr>
              <a:t>를 조인하여 데이터를 가져온다</a:t>
            </a:r>
            <a:r>
              <a:rPr lang="en-US" altLang="ko-KR" dirty="0">
                <a:cs typeface="Arial" charset="0"/>
              </a:rPr>
              <a:t>.</a:t>
            </a:r>
          </a:p>
          <a:p>
            <a:pPr lvl="1" eaLnBrk="1" hangingPunct="1">
              <a:buFont typeface="Arial" charset="0"/>
              <a:buChar char="–"/>
              <a:defRPr/>
            </a:pPr>
            <a:endParaRPr lang="en-US" altLang="ko-KR" dirty="0">
              <a:cs typeface="Arial" charset="0"/>
            </a:endParaRPr>
          </a:p>
          <a:p>
            <a:pPr lvl="1" eaLnBrk="1" hangingPunct="1">
              <a:buFont typeface="Arial" charset="0"/>
              <a:buChar char="–"/>
              <a:defRPr/>
            </a:pPr>
            <a:endParaRPr lang="en-US" altLang="ko-KR" dirty="0">
              <a:cs typeface="Arial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altLang="ko-KR" dirty="0">
              <a:cs typeface="Arial" charset="0"/>
            </a:endParaRPr>
          </a:p>
          <a:p>
            <a:pPr marL="0" indent="0" eaLnBrk="1" hangingPunct="1">
              <a:buFont typeface="Arial" charset="0"/>
              <a:buNone/>
              <a:defRPr/>
            </a:pPr>
            <a:endParaRPr lang="en-US" altLang="ko-KR" dirty="0">
              <a:cs typeface="Arial" charset="0"/>
            </a:endParaRPr>
          </a:p>
        </p:txBody>
      </p:sp>
      <p:sp>
        <p:nvSpPr>
          <p:cNvPr id="60422" name="슬라이드 번호 개체 틀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3ED2B30-4D24-46FF-8692-64F5586BDCC0}" type="slidenum">
              <a:rPr lang="en-GB" altLang="ko-KR">
                <a:solidFill>
                  <a:srgbClr val="898989"/>
                </a:solidFill>
              </a:rPr>
              <a:pPr/>
              <a:t>57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 </a:t>
            </a:r>
            <a:r>
              <a:rPr lang="en-US" altLang="ko-KR" dirty="0"/>
              <a:t>(</a:t>
            </a:r>
            <a:r>
              <a:rPr lang="ko-KR" altLang="en-US" dirty="0"/>
              <a:t>외부조인</a:t>
            </a:r>
            <a:r>
              <a:rPr lang="en-US" altLang="ko-KR" dirty="0"/>
              <a:t>)</a:t>
            </a:r>
          </a:p>
        </p:txBody>
      </p:sp>
      <p:grpSp>
        <p:nvGrpSpPr>
          <p:cNvPr id="60420" name="그룹 10"/>
          <p:cNvGrpSpPr>
            <a:grpSpLocks/>
          </p:cNvGrpSpPr>
          <p:nvPr/>
        </p:nvGrpSpPr>
        <p:grpSpPr bwMode="auto">
          <a:xfrm>
            <a:off x="939281" y="2018414"/>
            <a:ext cx="5232919" cy="727818"/>
            <a:chOff x="1187624" y="2492896"/>
            <a:chExt cx="4506816" cy="1080120"/>
          </a:xfrm>
        </p:grpSpPr>
        <p:sp>
          <p:nvSpPr>
            <p:cNvPr id="2" name="직사각형 1"/>
            <p:cNvSpPr/>
            <p:nvPr/>
          </p:nvSpPr>
          <p:spPr>
            <a:xfrm>
              <a:off x="1187624" y="2492896"/>
              <a:ext cx="1512855" cy="10801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ko-KR" sz="3200" dirty="0">
                  <a:solidFill>
                    <a:schemeClr val="tx1"/>
                  </a:solidFill>
                </a:rPr>
                <a:t>TABLE A</a:t>
              </a:r>
              <a:endParaRPr lang="ko-KR" altLang="en-US" sz="32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직선 화살표 연결선 6"/>
            <p:cNvCxnSpPr>
              <a:stCxn id="9" idx="1"/>
            </p:cNvCxnSpPr>
            <p:nvPr/>
          </p:nvCxnSpPr>
          <p:spPr>
            <a:xfrm flipH="1">
              <a:off x="2700479" y="3032956"/>
              <a:ext cx="14811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/>
            <p:cNvSpPr/>
            <p:nvPr/>
          </p:nvSpPr>
          <p:spPr>
            <a:xfrm>
              <a:off x="4181585" y="2492896"/>
              <a:ext cx="1512855" cy="10801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ko-KR" sz="3200" dirty="0">
                  <a:solidFill>
                    <a:schemeClr val="tx1"/>
                  </a:solidFill>
                </a:rPr>
                <a:t>TABLE B</a:t>
              </a:r>
              <a:endParaRPr lang="ko-KR" altLang="en-US" sz="3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4A6EC550-7E1D-6014-3DBF-7C3DA2536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607" y="1959482"/>
            <a:ext cx="1293793" cy="8705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AA40DDF-A26F-339C-811A-5629510B0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130" y="4828738"/>
            <a:ext cx="6382316" cy="11475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664FDBB-F5A2-E70D-C93C-DF2A45310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281" y="3043017"/>
            <a:ext cx="3512674" cy="10136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6A3E9E6-6E98-3F2B-CA35-F4A4EDB01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5081" y="3029950"/>
            <a:ext cx="2217420" cy="10207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60359E2-DA8B-E8B9-A68C-F5D77A87B498}"/>
              </a:ext>
            </a:extLst>
          </p:cNvPr>
          <p:cNvSpPr txBox="1"/>
          <p:nvPr/>
        </p:nvSpPr>
        <p:spPr>
          <a:xfrm>
            <a:off x="4557405" y="3172894"/>
            <a:ext cx="8018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LEFT</a:t>
            </a:r>
          </a:p>
          <a:p>
            <a:r>
              <a:rPr lang="en-US" altLang="ko-KR" sz="1600" dirty="0"/>
              <a:t>OUTER</a:t>
            </a:r>
          </a:p>
          <a:p>
            <a:r>
              <a:rPr lang="en-US" altLang="ko-KR" sz="1600" dirty="0"/>
              <a:t>JOIN</a:t>
            </a:r>
            <a:endParaRPr lang="ko-KR" altLang="en-US" sz="1600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774E261A-4A51-0421-B3A6-95E67661AB93}"/>
              </a:ext>
            </a:extLst>
          </p:cNvPr>
          <p:cNvSpPr/>
          <p:nvPr/>
        </p:nvSpPr>
        <p:spPr>
          <a:xfrm>
            <a:off x="3432202" y="4149916"/>
            <a:ext cx="2133600" cy="65493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6433A4-77C4-4C72-46DE-210951B535AC}"/>
              </a:ext>
            </a:extLst>
          </p:cNvPr>
          <p:cNvSpPr txBox="1"/>
          <p:nvPr/>
        </p:nvSpPr>
        <p:spPr>
          <a:xfrm>
            <a:off x="2733133" y="4265871"/>
            <a:ext cx="3810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TEACHER.TEACHER_ID = STUDENT.TEACHER_ID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34326344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altLang="ko-KR" dirty="0">
                <a:cs typeface="Arial" charset="0"/>
              </a:rPr>
              <a:t>RIGHT OUTER JOIN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ko-KR" dirty="0">
                <a:cs typeface="Arial" charset="0"/>
              </a:rPr>
              <a:t>TABLE B </a:t>
            </a:r>
            <a:r>
              <a:rPr lang="ko-KR" altLang="en-US" dirty="0">
                <a:cs typeface="Arial" charset="0"/>
              </a:rPr>
              <a:t>에 </a:t>
            </a:r>
            <a:r>
              <a:rPr lang="en-US" altLang="ko-KR" dirty="0">
                <a:cs typeface="Arial" charset="0"/>
              </a:rPr>
              <a:t>TABLE A </a:t>
            </a:r>
            <a:r>
              <a:rPr lang="ko-KR" altLang="en-US" dirty="0">
                <a:cs typeface="Arial" charset="0"/>
              </a:rPr>
              <a:t>를 조인하여 데이터를 가져온다</a:t>
            </a:r>
            <a:r>
              <a:rPr lang="en-US" altLang="ko-KR" dirty="0">
                <a:cs typeface="Arial" charset="0"/>
              </a:rPr>
              <a:t>.</a:t>
            </a:r>
          </a:p>
        </p:txBody>
      </p:sp>
      <p:sp>
        <p:nvSpPr>
          <p:cNvPr id="60422" name="슬라이드 번호 개체 틀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3ED2B30-4D24-46FF-8692-64F5586BDCC0}" type="slidenum">
              <a:rPr lang="en-GB" altLang="ko-KR">
                <a:solidFill>
                  <a:srgbClr val="898989"/>
                </a:solidFill>
              </a:rPr>
              <a:pPr/>
              <a:t>58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테이블 조인 </a:t>
            </a:r>
            <a:r>
              <a:rPr lang="en-US" altLang="ko-KR" dirty="0"/>
              <a:t>(</a:t>
            </a:r>
            <a:r>
              <a:rPr lang="ko-KR" altLang="en-US" dirty="0"/>
              <a:t>외부조인</a:t>
            </a:r>
            <a:r>
              <a:rPr lang="en-US" altLang="ko-KR" dirty="0"/>
              <a:t>)</a:t>
            </a:r>
          </a:p>
        </p:txBody>
      </p:sp>
      <p:grpSp>
        <p:nvGrpSpPr>
          <p:cNvPr id="60421" name="그룹 12"/>
          <p:cNvGrpSpPr>
            <a:grpSpLocks/>
          </p:cNvGrpSpPr>
          <p:nvPr/>
        </p:nvGrpSpPr>
        <p:grpSpPr bwMode="auto">
          <a:xfrm>
            <a:off x="939280" y="2057400"/>
            <a:ext cx="5232920" cy="707256"/>
            <a:chOff x="1187624" y="2492896"/>
            <a:chExt cx="4506816" cy="1080120"/>
          </a:xfrm>
        </p:grpSpPr>
        <p:sp>
          <p:nvSpPr>
            <p:cNvPr id="14" name="직사각형 13"/>
            <p:cNvSpPr/>
            <p:nvPr/>
          </p:nvSpPr>
          <p:spPr>
            <a:xfrm>
              <a:off x="1187624" y="2492896"/>
              <a:ext cx="1512855" cy="10801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ko-KR" sz="3200" dirty="0">
                  <a:solidFill>
                    <a:schemeClr val="tx1"/>
                  </a:solidFill>
                </a:rPr>
                <a:t>TABLE A</a:t>
              </a:r>
              <a:endParaRPr lang="ko-KR" altLang="en-US" sz="32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14"/>
            <p:cNvCxnSpPr>
              <a:stCxn id="14" idx="3"/>
              <a:endCxn id="16" idx="1"/>
            </p:cNvCxnSpPr>
            <p:nvPr/>
          </p:nvCxnSpPr>
          <p:spPr>
            <a:xfrm>
              <a:off x="2700479" y="3032956"/>
              <a:ext cx="14811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/>
            <p:cNvSpPr/>
            <p:nvPr/>
          </p:nvSpPr>
          <p:spPr>
            <a:xfrm>
              <a:off x="4181585" y="2492896"/>
              <a:ext cx="1512855" cy="10801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ko-KR" sz="3200" dirty="0">
                  <a:solidFill>
                    <a:schemeClr val="tx1"/>
                  </a:solidFill>
                </a:rPr>
                <a:t>TABLE B</a:t>
              </a:r>
              <a:endParaRPr lang="ko-KR" altLang="en-US" sz="3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57D2485-89BF-667A-F4CF-C1D18EEDC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132" y="1983977"/>
            <a:ext cx="1307994" cy="85410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5536705-1745-4343-FEFD-640626E2E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81" y="3043017"/>
            <a:ext cx="3512674" cy="10136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276C9E3-9493-F9C3-EE8F-A83C1354D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081" y="3029950"/>
            <a:ext cx="2217420" cy="1020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2A02D4-F918-AD29-0A7A-CD0F089C75A1}"/>
              </a:ext>
            </a:extLst>
          </p:cNvPr>
          <p:cNvSpPr txBox="1"/>
          <p:nvPr/>
        </p:nvSpPr>
        <p:spPr>
          <a:xfrm>
            <a:off x="4557405" y="3172894"/>
            <a:ext cx="8018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RIGHT</a:t>
            </a:r>
          </a:p>
          <a:p>
            <a:r>
              <a:rPr lang="en-US" altLang="ko-KR" sz="1600" dirty="0"/>
              <a:t>OUTER</a:t>
            </a:r>
          </a:p>
          <a:p>
            <a:r>
              <a:rPr lang="en-US" altLang="ko-KR" sz="1600" dirty="0"/>
              <a:t>JOIN</a:t>
            </a:r>
            <a:endParaRPr lang="ko-KR" altLang="en-US" sz="1600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A9ECB6DF-2456-9A7A-FE7D-EB10DEA0AAD1}"/>
              </a:ext>
            </a:extLst>
          </p:cNvPr>
          <p:cNvSpPr/>
          <p:nvPr/>
        </p:nvSpPr>
        <p:spPr>
          <a:xfrm>
            <a:off x="3432202" y="4149916"/>
            <a:ext cx="2133600" cy="65493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66F93-2902-F920-E30F-15608E7B5AE4}"/>
              </a:ext>
            </a:extLst>
          </p:cNvPr>
          <p:cNvSpPr txBox="1"/>
          <p:nvPr/>
        </p:nvSpPr>
        <p:spPr>
          <a:xfrm>
            <a:off x="2733133" y="4265871"/>
            <a:ext cx="3810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TEACHER.TEACHER_ID = STUDENT.TEACHER_ID</a:t>
            </a:r>
            <a:endParaRPr lang="ko-KR" altLang="en-US" sz="12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61400B8-55EB-B7C6-FF9A-1B8640145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4884643"/>
            <a:ext cx="5918720" cy="122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3097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INSERT INTO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[TABLE NAME]</a:t>
            </a:r>
            <a:r>
              <a:rPr lang="en-US" altLang="ko-KR">
                <a:cs typeface="Arial" panose="020B0604020202020204" pitchFamily="34" charset="0"/>
              </a:rPr>
              <a:t> (</a:t>
            </a:r>
            <a:br>
              <a:rPr lang="en-US" altLang="ko-KR"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		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[COLUMN NAME],  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[COLUMN NAME],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[…]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) VALUES (</a:t>
            </a:r>
            <a:br>
              <a:rPr lang="en-US" altLang="ko-KR"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		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[DATA],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[DATA],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[…]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)</a:t>
            </a:r>
          </a:p>
        </p:txBody>
      </p:sp>
      <p:sp>
        <p:nvSpPr>
          <p:cNvPr id="6554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412505A-2A62-4B7D-9A6C-94BF21A9CA3E}" type="slidenum">
              <a:rPr lang="en-GB" altLang="ko-KR">
                <a:solidFill>
                  <a:srgbClr val="898989"/>
                </a:solidFill>
              </a:rPr>
              <a:pPr/>
              <a:t>59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삽입</a:t>
            </a:r>
            <a:endParaRPr lang="en-US" altLang="ko-KR" dirty="0"/>
          </a:p>
        </p:txBody>
      </p:sp>
      <p:sp>
        <p:nvSpPr>
          <p:cNvPr id="65540" name="TextBox 1"/>
          <p:cNvSpPr txBox="1">
            <a:spLocks noChangeArrowheads="1"/>
          </p:cNvSpPr>
          <p:nvPr/>
        </p:nvSpPr>
        <p:spPr bwMode="auto">
          <a:xfrm>
            <a:off x="3085929" y="3222625"/>
            <a:ext cx="47628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400" dirty="0">
                <a:latin typeface="+mj-ea"/>
                <a:ea typeface="+mj-ea"/>
              </a:rPr>
              <a:t>각 컬럼 생략가능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단</a:t>
            </a:r>
            <a:r>
              <a:rPr lang="en-US" altLang="ko-KR" sz="1400" dirty="0">
                <a:latin typeface="+mj-ea"/>
                <a:ea typeface="+mj-ea"/>
              </a:rPr>
              <a:t>, NULL</a:t>
            </a:r>
            <a:r>
              <a:rPr lang="ko-KR" altLang="en-US" sz="1400" dirty="0">
                <a:latin typeface="+mj-ea"/>
                <a:ea typeface="+mj-ea"/>
              </a:rPr>
              <a:t>을 지원하는 컬럼만 생략가능</a:t>
            </a:r>
          </a:p>
        </p:txBody>
      </p:sp>
    </p:spTree>
    <p:extLst>
      <p:ext uri="{BB962C8B-B14F-4D97-AF65-F5344CB8AC3E}">
        <p14:creationId xmlns:p14="http://schemas.microsoft.com/office/powerpoint/2010/main" val="2904091777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INSERT INTO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[TABLE NAME]</a:t>
            </a:r>
            <a:r>
              <a:rPr lang="en-US" altLang="ko-KR">
                <a:cs typeface="Arial" panose="020B0604020202020204" pitchFamily="34" charset="0"/>
              </a:rPr>
              <a:t> (</a:t>
            </a:r>
            <a:br>
              <a:rPr lang="en-US" altLang="ko-KR"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		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[COLUMN NAME],  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[COLUMN NAME],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[…]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)</a:t>
            </a:r>
            <a:br>
              <a:rPr lang="en-US" altLang="ko-KR"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SELECT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[COLUMN NAME],  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[COLUMN NAME],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[…]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FROM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 [TABLE NAME]</a:t>
            </a:r>
            <a:endParaRPr lang="en-US" altLang="ko-KR">
              <a:cs typeface="Arial" panose="020B0604020202020204" pitchFamily="34" charset="0"/>
            </a:endParaRPr>
          </a:p>
        </p:txBody>
      </p:sp>
      <p:sp>
        <p:nvSpPr>
          <p:cNvPr id="6758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17A9F22-1C88-44CA-9C30-7AE0348EC745}" type="slidenum">
              <a:rPr lang="en-GB" altLang="ko-KR">
                <a:solidFill>
                  <a:srgbClr val="898989"/>
                </a:solidFill>
              </a:rPr>
              <a:pPr/>
              <a:t>60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삽입 </a:t>
            </a:r>
            <a:r>
              <a:rPr lang="en-US" altLang="ko-KR" dirty="0"/>
              <a:t>(</a:t>
            </a:r>
            <a:r>
              <a:rPr lang="ko-KR" altLang="en-US" dirty="0"/>
              <a:t>쿼리결과 삽입</a:t>
            </a:r>
            <a:r>
              <a:rPr lang="en-US" altLang="ko-KR" dirty="0"/>
              <a:t>)</a:t>
            </a:r>
          </a:p>
        </p:txBody>
      </p:sp>
      <p:sp>
        <p:nvSpPr>
          <p:cNvPr id="67588" name="TextBox 1"/>
          <p:cNvSpPr txBox="1">
            <a:spLocks noChangeArrowheads="1"/>
          </p:cNvSpPr>
          <p:nvPr/>
        </p:nvSpPr>
        <p:spPr bwMode="auto">
          <a:xfrm>
            <a:off x="3085929" y="3222625"/>
            <a:ext cx="47628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400" dirty="0">
                <a:latin typeface="+mj-ea"/>
                <a:ea typeface="+mj-ea"/>
              </a:rPr>
              <a:t>각 컬럼 생략가능</a:t>
            </a:r>
            <a:r>
              <a:rPr lang="en-US" altLang="ko-KR" sz="1400" dirty="0">
                <a:latin typeface="+mj-ea"/>
                <a:ea typeface="+mj-ea"/>
              </a:rPr>
              <a:t>. </a:t>
            </a:r>
            <a:r>
              <a:rPr lang="ko-KR" altLang="en-US" sz="1400" dirty="0">
                <a:latin typeface="+mj-ea"/>
                <a:ea typeface="+mj-ea"/>
              </a:rPr>
              <a:t>단</a:t>
            </a:r>
            <a:r>
              <a:rPr lang="en-US" altLang="ko-KR" sz="1400" dirty="0">
                <a:latin typeface="+mj-ea"/>
                <a:ea typeface="+mj-ea"/>
              </a:rPr>
              <a:t>, NULL</a:t>
            </a:r>
            <a:r>
              <a:rPr lang="ko-KR" altLang="en-US" sz="1400" dirty="0">
                <a:latin typeface="+mj-ea"/>
                <a:ea typeface="+mj-ea"/>
              </a:rPr>
              <a:t>을 지원하는 컬럼만 생략가능</a:t>
            </a:r>
          </a:p>
        </p:txBody>
      </p:sp>
    </p:spTree>
    <p:extLst>
      <p:ext uri="{BB962C8B-B14F-4D97-AF65-F5344CB8AC3E}">
        <p14:creationId xmlns:p14="http://schemas.microsoft.com/office/powerpoint/2010/main" val="1364588073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SELECT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[COLUMN NAME],  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[COLUMN NAME],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		[…]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INTO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 [NEW TABLE NAME]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FROM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 [ORIGINAL TABLE NAME]</a:t>
            </a:r>
          </a:p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ORIGINAL TABLE NAME </a:t>
            </a:r>
            <a:r>
              <a:rPr lang="ko-KR" altLang="en-US">
                <a:cs typeface="Arial" panose="020B0604020202020204" pitchFamily="34" charset="0"/>
              </a:rPr>
              <a:t>에서 </a:t>
            </a:r>
            <a:r>
              <a:rPr lang="en-US" altLang="ko-KR">
                <a:cs typeface="Arial" panose="020B0604020202020204" pitchFamily="34" charset="0"/>
              </a:rPr>
              <a:t>NEW TABLE NAME </a:t>
            </a:r>
            <a:r>
              <a:rPr lang="ko-KR" altLang="en-US">
                <a:cs typeface="Arial" panose="020B0604020202020204" pitchFamily="34" charset="0"/>
              </a:rPr>
              <a:t>으로 데이터를 전부 복사함</a:t>
            </a:r>
            <a:r>
              <a:rPr lang="en-US" altLang="ko-KR">
                <a:cs typeface="Arial" panose="020B0604020202020204" pitchFamily="34" charset="0"/>
              </a:rPr>
              <a:t>.</a:t>
            </a:r>
          </a:p>
        </p:txBody>
      </p:sp>
      <p:sp>
        <p:nvSpPr>
          <p:cNvPr id="69636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5C83300-C9C6-43BE-9AAD-8F299C3AF07D}" type="slidenum">
              <a:rPr lang="en-GB" altLang="ko-KR">
                <a:solidFill>
                  <a:srgbClr val="898989"/>
                </a:solidFill>
              </a:rPr>
              <a:pPr/>
              <a:t>61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삽입 </a:t>
            </a:r>
            <a:r>
              <a:rPr lang="en-US" altLang="ko-KR" dirty="0"/>
              <a:t>(</a:t>
            </a:r>
            <a:r>
              <a:rPr lang="ko-KR" altLang="en-US" dirty="0"/>
              <a:t>테이블 복사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4940328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UPDATE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[TABLE NAME]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SET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[CULUMN NAME]</a:t>
            </a:r>
            <a:r>
              <a:rPr lang="en-US" altLang="ko-KR">
                <a:cs typeface="Arial" panose="020B0604020202020204" pitchFamily="34" charset="0"/>
              </a:rPr>
              <a:t> =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[VALUE]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WHERE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[CONDITIONS]</a:t>
            </a:r>
            <a:endParaRPr lang="en-US" altLang="ko-KR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WHERE</a:t>
            </a:r>
            <a:r>
              <a:rPr lang="ko-KR" altLang="en-US">
                <a:cs typeface="Arial" panose="020B0604020202020204" pitchFamily="34" charset="0"/>
              </a:rPr>
              <a:t>절을 입력하지 않으면 모든 데이터가 수정될 수 있다</a:t>
            </a:r>
            <a:r>
              <a:rPr lang="en-US" altLang="ko-KR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Constraint(</a:t>
            </a:r>
            <a:r>
              <a:rPr lang="ko-KR" altLang="en-US">
                <a:cs typeface="Arial" panose="020B0604020202020204" pitchFamily="34" charset="0"/>
              </a:rPr>
              <a:t>관계형성</a:t>
            </a:r>
            <a:r>
              <a:rPr lang="en-US" altLang="ko-KR">
                <a:cs typeface="Arial" panose="020B0604020202020204" pitchFamily="34" charset="0"/>
              </a:rPr>
              <a:t>)</a:t>
            </a:r>
            <a:r>
              <a:rPr lang="ko-KR" altLang="en-US">
                <a:cs typeface="Arial" panose="020B0604020202020204" pitchFamily="34" charset="0"/>
              </a:rPr>
              <a:t>가 있는 컬럼을 수정할 때는 때에 따라 변경이 되지 않을 수 있다</a:t>
            </a:r>
            <a:r>
              <a:rPr lang="en-US" altLang="ko-KR">
                <a:cs typeface="Arial" panose="020B0604020202020204" pitchFamily="34" charset="0"/>
              </a:rPr>
              <a:t>.</a:t>
            </a:r>
          </a:p>
        </p:txBody>
      </p:sp>
      <p:sp>
        <p:nvSpPr>
          <p:cNvPr id="72708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CD4E7F2-516C-4D93-8C79-532313AFB6DD}" type="slidenum">
              <a:rPr lang="en-GB" altLang="ko-KR">
                <a:solidFill>
                  <a:srgbClr val="898989"/>
                </a:solidFill>
              </a:rPr>
              <a:pPr/>
              <a:t>62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수정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3915341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DELETE </a:t>
            </a:r>
            <a:br>
              <a:rPr lang="en-US" altLang="ko-KR"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FROM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[TABLE NAME]</a:t>
            </a:r>
            <a:b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ko-KR">
                <a:cs typeface="Arial" panose="020B0604020202020204" pitchFamily="34" charset="0"/>
              </a:rPr>
              <a:t>WHERE </a:t>
            </a:r>
            <a:r>
              <a:rPr lang="en-US" altLang="ko-KR">
                <a:solidFill>
                  <a:srgbClr val="FF0000"/>
                </a:solidFill>
                <a:cs typeface="Arial" panose="020B0604020202020204" pitchFamily="34" charset="0"/>
              </a:rPr>
              <a:t>[CONDITIONS]</a:t>
            </a:r>
            <a:endParaRPr lang="en-US" altLang="ko-KR"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WHERE</a:t>
            </a:r>
            <a:r>
              <a:rPr lang="ko-KR" altLang="en-US">
                <a:cs typeface="Arial" panose="020B0604020202020204" pitchFamily="34" charset="0"/>
              </a:rPr>
              <a:t>절을 입력하지 않으면 모든 데이터가 삭제될 수 있다</a:t>
            </a:r>
            <a:r>
              <a:rPr lang="en-US" altLang="ko-KR">
                <a:cs typeface="Arial" panose="020B0604020202020204" pitchFamily="34" charset="0"/>
              </a:rPr>
              <a:t>.</a:t>
            </a:r>
          </a:p>
          <a:p>
            <a:pPr eaLnBrk="1" hangingPunct="1">
              <a:defRPr/>
            </a:pPr>
            <a:r>
              <a:rPr lang="en-US" altLang="ko-KR">
                <a:cs typeface="Arial" panose="020B0604020202020204" pitchFamily="34" charset="0"/>
              </a:rPr>
              <a:t>Constraint(</a:t>
            </a:r>
            <a:r>
              <a:rPr lang="ko-KR" altLang="en-US">
                <a:cs typeface="Arial" panose="020B0604020202020204" pitchFamily="34" charset="0"/>
              </a:rPr>
              <a:t>관계형성</a:t>
            </a:r>
            <a:r>
              <a:rPr lang="en-US" altLang="ko-KR">
                <a:cs typeface="Arial" panose="020B0604020202020204" pitchFamily="34" charset="0"/>
              </a:rPr>
              <a:t>)</a:t>
            </a:r>
            <a:r>
              <a:rPr lang="ko-KR" altLang="en-US">
                <a:cs typeface="Arial" panose="020B0604020202020204" pitchFamily="34" charset="0"/>
              </a:rPr>
              <a:t>가 있는 컬럼을 삭제할 때는 때에 따라 삭제가 되지 않을 수 있다</a:t>
            </a:r>
            <a:r>
              <a:rPr lang="en-US" altLang="ko-KR">
                <a:cs typeface="Arial" panose="020B0604020202020204" pitchFamily="34" charset="0"/>
              </a:rPr>
              <a:t>.</a:t>
            </a:r>
          </a:p>
        </p:txBody>
      </p:sp>
      <p:sp>
        <p:nvSpPr>
          <p:cNvPr id="75780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8C2BF9D-88D6-4193-8087-9809E425EAEE}" type="slidenum">
              <a:rPr lang="en-GB" altLang="ko-KR">
                <a:solidFill>
                  <a:srgbClr val="898989"/>
                </a:solidFill>
              </a:rPr>
              <a:pPr/>
              <a:t>63</a:t>
            </a:fld>
            <a:endParaRPr lang="en-GB" altLang="ko-KR">
              <a:solidFill>
                <a:srgbClr val="898989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데이터 삭제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474781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dirty="0">
                <a:latin typeface="+mj-ea"/>
              </a:rPr>
              <a:t>Sequence</a:t>
            </a:r>
            <a:endParaRPr lang="ko-KR" altLang="en-US" sz="4000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3B0D9F-0B5E-7AFF-535F-8B82491F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3662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427D15E-54A0-B5C4-FBA9-49A8D738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일련번호를 만들어주는 기능을 수행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주로 </a:t>
            </a:r>
            <a:r>
              <a:rPr lang="en-US" altLang="ko-KR" dirty="0"/>
              <a:t>PK</a:t>
            </a:r>
            <a:r>
              <a:rPr lang="ko-KR" altLang="en-US" dirty="0"/>
              <a:t>를 생성할 때</a:t>
            </a:r>
            <a:r>
              <a:rPr lang="en-US" altLang="ko-KR" dirty="0"/>
              <a:t> </a:t>
            </a:r>
            <a:r>
              <a:rPr lang="ko-KR" altLang="en-US" dirty="0"/>
              <a:t>사용함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시퀀스명</a:t>
            </a:r>
            <a:r>
              <a:rPr lang="en-US" altLang="ko-KR" dirty="0"/>
              <a:t>.NEXTVAL</a:t>
            </a:r>
            <a:r>
              <a:rPr lang="ko-KR" altLang="en-US" dirty="0"/>
              <a:t>을 통해 다음 일련번호 값을 조회할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시퀀스명</a:t>
            </a:r>
            <a:r>
              <a:rPr lang="en-US" altLang="ko-KR" dirty="0"/>
              <a:t>.CURRVAL</a:t>
            </a:r>
            <a:r>
              <a:rPr lang="ko-KR" altLang="en-US" dirty="0"/>
              <a:t>을 통해 현재 일련번호 값을 조회할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SELECT SEQUENCE_NAME.NEXTVAL FROM DUAL;</a:t>
            </a:r>
          </a:p>
          <a:p>
            <a:r>
              <a:rPr lang="en-US" altLang="ko-KR" dirty="0"/>
              <a:t>SELECT SEQUENCE_NAME.CURRVAL FROM DUAL;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65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6419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b="1" dirty="0">
                <a:latin typeface="+mj-ea"/>
              </a:rPr>
              <a:t>ER-Diagram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3B0D9F-0B5E-7AFF-535F-8B82491F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213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Database</a:t>
            </a:r>
            <a:r>
              <a:rPr lang="ko-KR" altLang="en-US" dirty="0"/>
              <a:t>의 구조를 도식화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 데이터베이스의 테이블을 </a:t>
            </a:r>
            <a:r>
              <a:rPr lang="ko-KR" altLang="en-US" dirty="0" err="1"/>
              <a:t>컬럼으로</a:t>
            </a:r>
            <a:r>
              <a:rPr lang="ko-KR" altLang="en-US" dirty="0"/>
              <a:t> 도식화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테이블 </a:t>
            </a:r>
            <a:r>
              <a:rPr lang="ko-KR" altLang="en-US" dirty="0" err="1"/>
              <a:t>끼리의</a:t>
            </a:r>
            <a:r>
              <a:rPr lang="ko-KR" altLang="en-US" dirty="0"/>
              <a:t> 관계를 연결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대표적인 프로그램 </a:t>
            </a:r>
            <a:r>
              <a:rPr lang="en-US" altLang="ko-KR" dirty="0"/>
              <a:t>: CA</a:t>
            </a:r>
            <a:r>
              <a:rPr lang="ko-KR" altLang="en-US" dirty="0"/>
              <a:t>사의 </a:t>
            </a:r>
            <a:r>
              <a:rPr lang="en-US" altLang="ko-KR" dirty="0"/>
              <a:t>ER-Win, Tomato System</a:t>
            </a:r>
            <a:r>
              <a:rPr lang="ko-KR" altLang="en-US" dirty="0"/>
              <a:t>사의 </a:t>
            </a:r>
            <a:r>
              <a:rPr lang="en-US" altLang="ko-KR" dirty="0" err="1"/>
              <a:t>eXERD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하나의 테이블을 도식화 함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컬럼들을</a:t>
            </a:r>
            <a:r>
              <a:rPr lang="ko-KR" altLang="en-US" dirty="0"/>
              <a:t> 나열하고 속성을 정의함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PK : Primary Key ( </a:t>
            </a:r>
            <a:r>
              <a:rPr lang="ko-KR" altLang="en-US" dirty="0"/>
              <a:t>한 테이블에서 중복되지 않는 유일한 값</a:t>
            </a:r>
            <a:r>
              <a:rPr lang="en-US" altLang="ko-KR" dirty="0"/>
              <a:t>. </a:t>
            </a:r>
            <a:r>
              <a:rPr lang="ko-KR" altLang="en-US" dirty="0"/>
              <a:t>예</a:t>
            </a:r>
            <a:r>
              <a:rPr lang="en-US" altLang="ko-KR" dirty="0"/>
              <a:t>&gt; </a:t>
            </a:r>
            <a:r>
              <a:rPr lang="ko-KR" altLang="en-US" dirty="0"/>
              <a:t>아이디</a:t>
            </a:r>
            <a:r>
              <a:rPr lang="en-US" altLang="ko-KR" dirty="0"/>
              <a:t> )</a:t>
            </a:r>
          </a:p>
          <a:p>
            <a:r>
              <a:rPr lang="en-US" altLang="ko-KR" dirty="0"/>
              <a:t>FK : Foreign Key ( PK</a:t>
            </a:r>
            <a:r>
              <a:rPr lang="ko-KR" altLang="en-US" dirty="0"/>
              <a:t>를 참조하는 중복가능 한 값</a:t>
            </a:r>
            <a:r>
              <a:rPr lang="en-US" altLang="ko-KR" dirty="0"/>
              <a:t>. </a:t>
            </a:r>
            <a:r>
              <a:rPr lang="ko-KR" altLang="en-US" dirty="0"/>
              <a:t>예 </a:t>
            </a:r>
            <a:r>
              <a:rPr lang="en-US" altLang="ko-KR" dirty="0"/>
              <a:t>&gt; </a:t>
            </a:r>
            <a:r>
              <a:rPr lang="ko-KR" altLang="en-US" dirty="0"/>
              <a:t>장바구니의 상품들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67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ER-Diagram</a:t>
            </a:r>
            <a:endParaRPr lang="ko-KR" altLang="en-US" dirty="0"/>
          </a:p>
        </p:txBody>
      </p:sp>
      <p:pic>
        <p:nvPicPr>
          <p:cNvPr id="5" name="그림 4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63" y="2819400"/>
            <a:ext cx="7554571" cy="14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574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524F7C2-98E0-F301-731F-D1EB64D13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테이블 간의 관계를 정의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관계의 종류</a:t>
            </a:r>
            <a:endParaRPr lang="en-US" altLang="ko-KR" dirty="0"/>
          </a:p>
          <a:p>
            <a:pPr lvl="1"/>
            <a:r>
              <a:rPr lang="en-US" altLang="ko-KR" dirty="0"/>
              <a:t>( 1 or 0 ) vs N : </a:t>
            </a:r>
            <a:r>
              <a:rPr lang="ko-KR" altLang="en-US" dirty="0"/>
              <a:t>일 대 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N vs N : </a:t>
            </a:r>
            <a:r>
              <a:rPr lang="ko-KR" altLang="en-US" dirty="0"/>
              <a:t>다 대 다</a:t>
            </a:r>
            <a:endParaRPr lang="en-US" altLang="ko-KR" dirty="0"/>
          </a:p>
          <a:p>
            <a:pPr lvl="1"/>
            <a:r>
              <a:rPr lang="ko-KR" altLang="en-US" dirty="0"/>
              <a:t>다 대 다 관계는 관계를 해소하기 위한 테이블이 존재해야 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68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Table Constraints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914400" y="2437366"/>
            <a:ext cx="6629401" cy="1161557"/>
            <a:chOff x="609600" y="2697777"/>
            <a:chExt cx="6629401" cy="1161557"/>
          </a:xfrm>
        </p:grpSpPr>
        <p:pic>
          <p:nvPicPr>
            <p:cNvPr id="5" name="그림 4" descr="화면 캡처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2836278"/>
              <a:ext cx="6629401" cy="102305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42950" y="2697777"/>
              <a:ext cx="1117614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+mn-ea"/>
                  <a:ea typeface="+mn-ea"/>
                </a:rPr>
                <a:t>일 대 다 관계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1010451" y="4323613"/>
            <a:ext cx="7067550" cy="2399130"/>
            <a:chOff x="742950" y="3739794"/>
            <a:chExt cx="8362950" cy="2838863"/>
          </a:xfrm>
        </p:grpSpPr>
        <p:grpSp>
          <p:nvGrpSpPr>
            <p:cNvPr id="11" name="그룹 10"/>
            <p:cNvGrpSpPr/>
            <p:nvPr/>
          </p:nvGrpSpPr>
          <p:grpSpPr>
            <a:xfrm>
              <a:off x="742950" y="3952080"/>
              <a:ext cx="6554115" cy="2626577"/>
              <a:chOff x="609600" y="3831689"/>
              <a:chExt cx="6554115" cy="2626577"/>
            </a:xfrm>
          </p:grpSpPr>
          <p:pic>
            <p:nvPicPr>
              <p:cNvPr id="9" name="그림 8" descr="화면 캡처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" y="4190999"/>
                <a:ext cx="6554115" cy="2267267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628649" y="3831689"/>
                <a:ext cx="1309961" cy="327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latin typeface="+mn-ea"/>
                    <a:ea typeface="+mn-ea"/>
                  </a:rPr>
                  <a:t>다 대 다 관계</a:t>
                </a:r>
              </a:p>
            </p:txBody>
          </p:sp>
        </p:grpSp>
        <p:sp>
          <p:nvSpPr>
            <p:cNvPr id="12" name="설명선 2(테두리 없음) 11"/>
            <p:cNvSpPr/>
            <p:nvPr/>
          </p:nvSpPr>
          <p:spPr>
            <a:xfrm>
              <a:off x="7486650" y="3739794"/>
              <a:ext cx="1619250" cy="612648"/>
            </a:xfrm>
            <a:prstGeom prst="callout2">
              <a:avLst>
                <a:gd name="adj1" fmla="val 48290"/>
                <a:gd name="adj2" fmla="val 3431"/>
                <a:gd name="adj3" fmla="val 48290"/>
                <a:gd name="adj4" fmla="val -16079"/>
                <a:gd name="adj5" fmla="val 112500"/>
                <a:gd name="adj6" fmla="val -46667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400" dirty="0">
                  <a:solidFill>
                    <a:schemeClr val="tx1"/>
                  </a:solidFill>
                </a:rPr>
                <a:t>다 대 다 관계 해소 테이블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047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E26DC73-5FC7-A973-4FF7-3A3C80DD4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만들지 말아야 할 관계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하나의 테이블에 컬럼이 </a:t>
            </a:r>
            <a:r>
              <a:rPr lang="en-US" altLang="ko-KR" dirty="0"/>
              <a:t>20</a:t>
            </a:r>
            <a:r>
              <a:rPr lang="ko-KR" altLang="en-US" dirty="0"/>
              <a:t>개 이상이 넘어 갈 경우 부득이하게 사용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</a:t>
            </a:r>
            <a:r>
              <a:rPr lang="en-US" altLang="ko-KR" dirty="0"/>
              <a:t>, Row</a:t>
            </a:r>
            <a:r>
              <a:rPr lang="ko-KR" altLang="en-US" dirty="0"/>
              <a:t>의 수가 천 만개가 넘어 갈 경우는 성능을 위해 컬럼을 나누지 않는다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69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3. 1 </a:t>
            </a:r>
            <a:r>
              <a:rPr lang="en-US" altLang="ko-KR" dirty="0" err="1"/>
              <a:t>vs</a:t>
            </a:r>
            <a:r>
              <a:rPr lang="en-US" altLang="ko-KR" dirty="0"/>
              <a:t> 1 Constraints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1062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BE7B548-F05E-D883-97EF-D4BE97ABC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컬럼 하나가 다른 테이블의 컬럼 여러 개를 참조 할 경우</a:t>
            </a:r>
            <a:endParaRPr lang="en-US" altLang="ko-KR" dirty="0"/>
          </a:p>
          <a:p>
            <a:r>
              <a:rPr lang="ko-KR" altLang="en-US" dirty="0"/>
              <a:t>예 </a:t>
            </a:r>
            <a:r>
              <a:rPr lang="en-US" altLang="ko-KR" dirty="0"/>
              <a:t>&gt; </a:t>
            </a:r>
            <a:r>
              <a:rPr lang="ko-KR" altLang="en-US" dirty="0"/>
              <a:t>책 카테고리의 상품들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     1</a:t>
            </a:r>
            <a:r>
              <a:rPr lang="ko-KR" altLang="en-US" dirty="0"/>
              <a:t>개의 값에 여러 값들이 연결 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70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4. 1 </a:t>
            </a:r>
            <a:r>
              <a:rPr lang="en-US" altLang="ko-KR" dirty="0" err="1"/>
              <a:t>vs</a:t>
            </a:r>
            <a:r>
              <a:rPr lang="en-US" altLang="ko-KR" dirty="0"/>
              <a:t> N Constraints</a:t>
            </a:r>
            <a:endParaRPr lang="ko-KR" altLang="en-US" dirty="0"/>
          </a:p>
        </p:txBody>
      </p:sp>
      <p:pic>
        <p:nvPicPr>
          <p:cNvPr id="5" name="그림 4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38400"/>
            <a:ext cx="3077005" cy="1724266"/>
          </a:xfrm>
          <a:prstGeom prst="rect">
            <a:avLst/>
          </a:prstGeom>
        </p:spPr>
      </p:pic>
      <p:pic>
        <p:nvPicPr>
          <p:cNvPr id="6" name="그림 5" descr="화면 캡처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438400"/>
            <a:ext cx="3124636" cy="2248214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 flipV="1">
            <a:off x="3781422" y="3124201"/>
            <a:ext cx="1143000" cy="3048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3781422" y="3429000"/>
            <a:ext cx="1143000" cy="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3781422" y="3429001"/>
            <a:ext cx="1143000" cy="22859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3781422" y="3695700"/>
            <a:ext cx="1143000" cy="8001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781422" y="3962400"/>
            <a:ext cx="1143000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781422" y="3962400"/>
            <a:ext cx="1143000" cy="22860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748717" y="5269927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altLang="ko-KR" sz="1200" dirty="0">
                <a:latin typeface="+mn-ea"/>
                <a:ea typeface="+mn-ea"/>
              </a:rPr>
              <a:t>SELECT   </a:t>
            </a:r>
            <a:r>
              <a:rPr lang="ko-KR" altLang="en-US" sz="1200" dirty="0">
                <a:latin typeface="+mn-ea"/>
                <a:ea typeface="+mn-ea"/>
              </a:rPr>
              <a:t>카테고리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r>
              <a:rPr lang="ko-KR" altLang="en-US" sz="1200" dirty="0" err="1">
                <a:latin typeface="+mn-ea"/>
                <a:ea typeface="+mn-ea"/>
              </a:rPr>
              <a:t>카테고리명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도서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r>
              <a:rPr lang="ko-KR" altLang="en-US" sz="1200" dirty="0">
                <a:latin typeface="+mn-ea"/>
                <a:ea typeface="+mn-ea"/>
              </a:rPr>
              <a:t>도서명</a:t>
            </a:r>
          </a:p>
          <a:p>
            <a:pPr algn="l"/>
            <a:r>
              <a:rPr lang="en-US" altLang="ko-KR" sz="1200" dirty="0">
                <a:latin typeface="+mn-ea"/>
                <a:ea typeface="+mn-ea"/>
              </a:rPr>
              <a:t>FROM     </a:t>
            </a:r>
            <a:r>
              <a:rPr lang="ko-KR" altLang="en-US" sz="1200" dirty="0">
                <a:latin typeface="+mn-ea"/>
                <a:ea typeface="+mn-ea"/>
              </a:rPr>
              <a:t>카테고리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도서</a:t>
            </a:r>
          </a:p>
          <a:p>
            <a:pPr algn="l"/>
            <a:r>
              <a:rPr lang="en-US" altLang="ko-KR" sz="1200" dirty="0">
                <a:latin typeface="+mn-ea"/>
                <a:ea typeface="+mn-ea"/>
              </a:rPr>
              <a:t>WHERE   </a:t>
            </a:r>
            <a:r>
              <a:rPr lang="ko-KR" altLang="en-US" sz="1200" dirty="0">
                <a:latin typeface="+mn-ea"/>
                <a:ea typeface="+mn-ea"/>
              </a:rPr>
              <a:t>카테고리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r>
              <a:rPr lang="ko-KR" altLang="en-US" sz="1200" dirty="0">
                <a:latin typeface="+mn-ea"/>
                <a:ea typeface="+mn-ea"/>
              </a:rPr>
              <a:t>카테고리번호 </a:t>
            </a:r>
            <a:r>
              <a:rPr lang="en-US" altLang="ko-KR" sz="1200" dirty="0">
                <a:latin typeface="+mn-ea"/>
                <a:ea typeface="+mn-ea"/>
              </a:rPr>
              <a:t>= </a:t>
            </a:r>
            <a:r>
              <a:rPr lang="ko-KR" altLang="en-US" sz="1200" dirty="0">
                <a:latin typeface="+mn-ea"/>
                <a:ea typeface="+mn-ea"/>
              </a:rPr>
              <a:t>도서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r>
              <a:rPr lang="ko-KR" altLang="en-US" sz="1200" dirty="0">
                <a:latin typeface="+mn-ea"/>
                <a:ea typeface="+mn-ea"/>
              </a:rPr>
              <a:t>카테고리번호</a:t>
            </a:r>
          </a:p>
          <a:p>
            <a:pPr algn="l"/>
            <a:r>
              <a:rPr lang="en-US" altLang="ko-KR" sz="1200" dirty="0">
                <a:latin typeface="+mn-ea"/>
                <a:ea typeface="+mn-ea"/>
              </a:rPr>
              <a:t>AND       </a:t>
            </a:r>
            <a:r>
              <a:rPr lang="ko-KR" altLang="en-US" sz="1200" dirty="0">
                <a:latin typeface="+mn-ea"/>
                <a:ea typeface="+mn-ea"/>
              </a:rPr>
              <a:t>카테고리</a:t>
            </a:r>
            <a:r>
              <a:rPr lang="en-US" altLang="ko-KR" sz="1200" dirty="0">
                <a:latin typeface="+mn-ea"/>
                <a:ea typeface="+mn-ea"/>
              </a:rPr>
              <a:t>.</a:t>
            </a:r>
            <a:r>
              <a:rPr lang="ko-KR" altLang="en-US" sz="1200" dirty="0">
                <a:latin typeface="+mn-ea"/>
                <a:ea typeface="+mn-ea"/>
              </a:rPr>
              <a:t>카테고리번호 </a:t>
            </a:r>
            <a:r>
              <a:rPr lang="en-US" altLang="ko-KR" sz="1200" dirty="0">
                <a:latin typeface="+mn-ea"/>
                <a:ea typeface="+mn-ea"/>
              </a:rPr>
              <a:t>='002';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30" name="그림 29" descr="화면 캡처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5269927"/>
            <a:ext cx="1971950" cy="885949"/>
          </a:xfrm>
          <a:prstGeom prst="rect">
            <a:avLst/>
          </a:prstGeom>
        </p:spPr>
      </p:pic>
      <p:sp>
        <p:nvSpPr>
          <p:cNvPr id="31" name="톱니 모양의 오른쪽 화살표 30"/>
          <p:cNvSpPr/>
          <p:nvPr/>
        </p:nvSpPr>
        <p:spPr>
          <a:xfrm>
            <a:off x="4685950" y="5446201"/>
            <a:ext cx="914400" cy="533400"/>
          </a:xfrm>
          <a:prstGeom prst="notched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8241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D4DD7ED-995D-91AE-2606-13CD2F85E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</a:t>
            </a:r>
            <a:r>
              <a:rPr lang="ko-KR" altLang="en-US" dirty="0"/>
              <a:t>테이블의 한 컬럼이 </a:t>
            </a:r>
            <a:r>
              <a:rPr lang="en-US" altLang="ko-KR" dirty="0"/>
              <a:t>B </a:t>
            </a:r>
            <a:r>
              <a:rPr lang="ko-KR" altLang="en-US" dirty="0"/>
              <a:t>테이블의 여러 컬럼과 연결</a:t>
            </a:r>
            <a:endParaRPr lang="en-US" altLang="ko-KR" dirty="0"/>
          </a:p>
          <a:p>
            <a:r>
              <a:rPr lang="en-US" altLang="ko-KR" dirty="0"/>
              <a:t>B </a:t>
            </a:r>
            <a:r>
              <a:rPr lang="ko-KR" altLang="en-US" dirty="0"/>
              <a:t>테이블의 한 컬럼이 </a:t>
            </a:r>
            <a:r>
              <a:rPr lang="en-US" altLang="ko-KR" dirty="0"/>
              <a:t>A </a:t>
            </a:r>
            <a:r>
              <a:rPr lang="ko-KR" altLang="en-US" dirty="0"/>
              <a:t>테이블의 여러 컬럼과 연결</a:t>
            </a:r>
            <a:endParaRPr lang="en-US" altLang="ko-KR" dirty="0"/>
          </a:p>
          <a:p>
            <a:r>
              <a:rPr lang="ko-KR" altLang="en-US" dirty="0"/>
              <a:t>위 두 연결을 만족하는 경우</a:t>
            </a:r>
            <a:endParaRPr lang="en-US" altLang="ko-KR" dirty="0"/>
          </a:p>
          <a:p>
            <a:r>
              <a:rPr lang="ko-KR" altLang="en-US" dirty="0"/>
              <a:t>다 대 다 관계는 관계를 해소하기 위한 테이블이 꼭 있어야 함</a:t>
            </a:r>
            <a:r>
              <a:rPr lang="en-US" altLang="ko-KR" dirty="0"/>
              <a:t>. (</a:t>
            </a:r>
            <a:r>
              <a:rPr lang="ko-KR" altLang="en-US" dirty="0"/>
              <a:t>표현 불가능의 이유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예 </a:t>
            </a:r>
            <a:r>
              <a:rPr lang="en-US" altLang="ko-KR" dirty="0"/>
              <a:t>&gt; </a:t>
            </a:r>
            <a:r>
              <a:rPr lang="ko-KR" altLang="en-US" dirty="0"/>
              <a:t>하나의 상품은 여러 사용자가 주문할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     </a:t>
            </a:r>
            <a:r>
              <a:rPr lang="ko-KR" altLang="en-US" dirty="0"/>
              <a:t>한 명의 사용자는 여러 상품을 주문할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해소 하기 위한 방법 </a:t>
            </a:r>
            <a:r>
              <a:rPr lang="en-US" altLang="ko-KR" dirty="0"/>
              <a:t>: </a:t>
            </a:r>
            <a:r>
              <a:rPr lang="ko-KR" altLang="en-US" dirty="0"/>
              <a:t>장바구니</a:t>
            </a:r>
            <a:r>
              <a:rPr lang="en-US" altLang="ko-KR" dirty="0"/>
              <a:t>(</a:t>
            </a:r>
            <a:r>
              <a:rPr lang="ko-KR" altLang="en-US" dirty="0"/>
              <a:t>주문</a:t>
            </a:r>
            <a:r>
              <a:rPr lang="en-US" altLang="ko-KR" dirty="0"/>
              <a:t>)</a:t>
            </a:r>
            <a:r>
              <a:rPr lang="ko-KR" altLang="en-US" dirty="0"/>
              <a:t> 테이블을 생성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71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N vs M Constraints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653290" y="3818602"/>
            <a:ext cx="8362950" cy="2838863"/>
            <a:chOff x="742950" y="3739794"/>
            <a:chExt cx="8362950" cy="2838863"/>
          </a:xfrm>
        </p:grpSpPr>
        <p:grpSp>
          <p:nvGrpSpPr>
            <p:cNvPr id="6" name="그룹 5"/>
            <p:cNvGrpSpPr/>
            <p:nvPr/>
          </p:nvGrpSpPr>
          <p:grpSpPr>
            <a:xfrm>
              <a:off x="742950" y="4027068"/>
              <a:ext cx="6554115" cy="2551589"/>
              <a:chOff x="609600" y="3906677"/>
              <a:chExt cx="6554115" cy="2551589"/>
            </a:xfrm>
          </p:grpSpPr>
          <p:pic>
            <p:nvPicPr>
              <p:cNvPr id="8" name="그림 7" descr="화면 캡처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" y="4190999"/>
                <a:ext cx="6554115" cy="2267267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628649" y="3906677"/>
                <a:ext cx="1117615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dirty="0">
                    <a:latin typeface="+mn-ea"/>
                    <a:ea typeface="+mn-ea"/>
                  </a:rPr>
                  <a:t>다 대 다 관계</a:t>
                </a:r>
              </a:p>
            </p:txBody>
          </p:sp>
        </p:grpSp>
        <p:sp>
          <p:nvSpPr>
            <p:cNvPr id="7" name="설명선 2(테두리 없음) 6"/>
            <p:cNvSpPr/>
            <p:nvPr/>
          </p:nvSpPr>
          <p:spPr>
            <a:xfrm>
              <a:off x="7486650" y="3739794"/>
              <a:ext cx="1619250" cy="612648"/>
            </a:xfrm>
            <a:prstGeom prst="callout2">
              <a:avLst>
                <a:gd name="adj1" fmla="val 48290"/>
                <a:gd name="adj2" fmla="val 3431"/>
                <a:gd name="adj3" fmla="val 48290"/>
                <a:gd name="adj4" fmla="val -16079"/>
                <a:gd name="adj5" fmla="val 112500"/>
                <a:gd name="adj6" fmla="val -46667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400" dirty="0">
                  <a:solidFill>
                    <a:schemeClr val="tx1"/>
                  </a:solidFill>
                </a:rPr>
                <a:t>다 대 다 관계 해소 테이블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68241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E867F01-78F4-8AAB-0C7F-3053CDA6E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아래의 경우 상품과 사용자를 직접 연결할 수 있는 방법이 없음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 대 다 관계 표현의 직접적인 연결은 불가능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때문에 해소를 위한 테이블이 필요함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72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N vs M Constraints</a:t>
            </a:r>
            <a:endParaRPr lang="ko-KR" altLang="en-US" dirty="0"/>
          </a:p>
        </p:txBody>
      </p:sp>
      <p:pic>
        <p:nvPicPr>
          <p:cNvPr id="5" name="그림 4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18" y="2639649"/>
            <a:ext cx="2143424" cy="1400371"/>
          </a:xfrm>
          <a:prstGeom prst="rect">
            <a:avLst/>
          </a:prstGeom>
        </p:spPr>
      </p:pic>
      <p:pic>
        <p:nvPicPr>
          <p:cNvPr id="6" name="그림 5" descr="화면 캡처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639649"/>
            <a:ext cx="1895740" cy="1686160"/>
          </a:xfrm>
          <a:prstGeom prst="rect">
            <a:avLst/>
          </a:prstGeom>
        </p:spPr>
      </p:pic>
      <p:pic>
        <p:nvPicPr>
          <p:cNvPr id="7" name="그림 6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18" y="4992520"/>
            <a:ext cx="2143424" cy="1400371"/>
          </a:xfrm>
          <a:prstGeom prst="rect">
            <a:avLst/>
          </a:prstGeom>
        </p:spPr>
      </p:pic>
      <p:pic>
        <p:nvPicPr>
          <p:cNvPr id="8" name="그림 7" descr="화면 캡처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000" y="4984131"/>
            <a:ext cx="1895740" cy="1686160"/>
          </a:xfrm>
          <a:prstGeom prst="rect">
            <a:avLst/>
          </a:prstGeom>
        </p:spPr>
      </p:pic>
      <p:pic>
        <p:nvPicPr>
          <p:cNvPr id="9" name="그림 8" descr="화면 캡처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590" y="4976879"/>
            <a:ext cx="2238688" cy="1667108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>
            <a:off x="3216602" y="3339834"/>
            <a:ext cx="11024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41012" y="3201334"/>
            <a:ext cx="253596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?</a:t>
            </a:r>
            <a:endParaRPr lang="ko-KR" altLang="en-US" sz="1200" dirty="0">
              <a:latin typeface="+mn-ea"/>
              <a:ea typeface="+mn-ea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3216602" y="5691020"/>
            <a:ext cx="4166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3226327" y="5692706"/>
            <a:ext cx="406891" cy="51901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216602" y="5691020"/>
            <a:ext cx="416616" cy="8255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5755848" y="5692706"/>
            <a:ext cx="4166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5761333" y="5691020"/>
            <a:ext cx="405646" cy="2921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8241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7EB836C-6055-E169-38DE-617696C83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 대 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 대 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동그라미 표현은 관계에서 </a:t>
            </a:r>
            <a:r>
              <a:rPr lang="en-US" altLang="ko-KR" dirty="0"/>
              <a:t>“</a:t>
            </a:r>
            <a:r>
              <a:rPr lang="ko-KR" altLang="en-US" dirty="0"/>
              <a:t>존재하지 않을 수도 있음</a:t>
            </a:r>
            <a:r>
              <a:rPr lang="en-US" altLang="ko-KR" dirty="0"/>
              <a:t>”</a:t>
            </a:r>
            <a:r>
              <a:rPr lang="ko-KR" altLang="en-US" dirty="0"/>
              <a:t>을 의미함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일 대 일 관계는 일 대 </a:t>
            </a:r>
            <a:r>
              <a:rPr lang="en-US" altLang="ko-KR" dirty="0"/>
              <a:t>(</a:t>
            </a:r>
            <a:r>
              <a:rPr lang="ko-KR" altLang="en-US" dirty="0"/>
              <a:t>일 또는 영</a:t>
            </a:r>
            <a:r>
              <a:rPr lang="en-US" altLang="ko-KR" dirty="0"/>
              <a:t>) </a:t>
            </a:r>
            <a:r>
              <a:rPr lang="ko-KR" altLang="en-US" dirty="0"/>
              <a:t>관계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일 대 다 관계는 일 대 </a:t>
            </a:r>
            <a:r>
              <a:rPr lang="en-US" altLang="ko-KR" dirty="0"/>
              <a:t>(</a:t>
            </a:r>
            <a:r>
              <a:rPr lang="ko-KR" altLang="en-US" dirty="0"/>
              <a:t>다 또는 영</a:t>
            </a:r>
            <a:r>
              <a:rPr lang="en-US" altLang="ko-KR" dirty="0"/>
              <a:t>) </a:t>
            </a:r>
            <a:r>
              <a:rPr lang="ko-KR" altLang="en-US" dirty="0"/>
              <a:t>관계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73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Presentation Constraints</a:t>
            </a:r>
            <a:endParaRPr lang="ko-KR" altLang="en-US" dirty="0"/>
          </a:p>
        </p:txBody>
      </p:sp>
      <p:grpSp>
        <p:nvGrpSpPr>
          <p:cNvPr id="14" name="그룹 13"/>
          <p:cNvGrpSpPr/>
          <p:nvPr/>
        </p:nvGrpSpPr>
        <p:grpSpPr>
          <a:xfrm>
            <a:off x="914400" y="1676400"/>
            <a:ext cx="2667000" cy="228600"/>
            <a:chOff x="914400" y="1685925"/>
            <a:chExt cx="2667000" cy="228600"/>
          </a:xfrm>
        </p:grpSpPr>
        <p:grpSp>
          <p:nvGrpSpPr>
            <p:cNvPr id="12" name="그룹 11"/>
            <p:cNvGrpSpPr/>
            <p:nvPr/>
          </p:nvGrpSpPr>
          <p:grpSpPr>
            <a:xfrm>
              <a:off x="914400" y="1685925"/>
              <a:ext cx="2667000" cy="228600"/>
              <a:chOff x="1143000" y="1562100"/>
              <a:chExt cx="2667000" cy="228600"/>
            </a:xfrm>
          </p:grpSpPr>
          <p:cxnSp>
            <p:nvCxnSpPr>
              <p:cNvPr id="6" name="직선 연결선 5"/>
              <p:cNvCxnSpPr/>
              <p:nvPr/>
            </p:nvCxnSpPr>
            <p:spPr>
              <a:xfrm>
                <a:off x="1143000" y="1676400"/>
                <a:ext cx="2667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1279525" y="1562100"/>
                <a:ext cx="0" cy="228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/>
              <p:cNvCxnSpPr/>
              <p:nvPr/>
            </p:nvCxnSpPr>
            <p:spPr>
              <a:xfrm>
                <a:off x="3657600" y="1562100"/>
                <a:ext cx="0" cy="228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타원 12"/>
            <p:cNvSpPr/>
            <p:nvPr/>
          </p:nvSpPr>
          <p:spPr>
            <a:xfrm>
              <a:off x="3263900" y="1724025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914400" y="2895600"/>
            <a:ext cx="2667000" cy="228600"/>
            <a:chOff x="914400" y="2743200"/>
            <a:chExt cx="2667000" cy="228600"/>
          </a:xfrm>
        </p:grpSpPr>
        <p:grpSp>
          <p:nvGrpSpPr>
            <p:cNvPr id="15" name="그룹 14"/>
            <p:cNvGrpSpPr/>
            <p:nvPr/>
          </p:nvGrpSpPr>
          <p:grpSpPr>
            <a:xfrm>
              <a:off x="914400" y="2743200"/>
              <a:ext cx="2667000" cy="228600"/>
              <a:chOff x="914400" y="1685925"/>
              <a:chExt cx="2667000" cy="228600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914400" y="1685925"/>
                <a:ext cx="2667000" cy="228600"/>
                <a:chOff x="1143000" y="1562100"/>
                <a:chExt cx="2667000" cy="228600"/>
              </a:xfrm>
            </p:grpSpPr>
            <p:cxnSp>
              <p:nvCxnSpPr>
                <p:cNvPr id="18" name="직선 연결선 17"/>
                <p:cNvCxnSpPr/>
                <p:nvPr/>
              </p:nvCxnSpPr>
              <p:spPr>
                <a:xfrm>
                  <a:off x="1143000" y="1676400"/>
                  <a:ext cx="2667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연결선 18"/>
                <p:cNvCxnSpPr/>
                <p:nvPr/>
              </p:nvCxnSpPr>
              <p:spPr>
                <a:xfrm>
                  <a:off x="1279525" y="1562100"/>
                  <a:ext cx="0" cy="2286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연결선 19"/>
                <p:cNvCxnSpPr/>
                <p:nvPr/>
              </p:nvCxnSpPr>
              <p:spPr>
                <a:xfrm>
                  <a:off x="3657600" y="1562100"/>
                  <a:ext cx="0" cy="2286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타원 16"/>
              <p:cNvSpPr/>
              <p:nvPr/>
            </p:nvSpPr>
            <p:spPr>
              <a:xfrm>
                <a:off x="3263900" y="1724025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1" name="직선 연결선 20"/>
            <p:cNvCxnSpPr>
              <a:endCxn id="17" idx="6"/>
            </p:cNvCxnSpPr>
            <p:nvPr/>
          </p:nvCxnSpPr>
          <p:spPr>
            <a:xfrm flipH="1">
              <a:off x="3416300" y="2743200"/>
              <a:ext cx="165100" cy="1143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>
              <a:endCxn id="17" idx="6"/>
            </p:cNvCxnSpPr>
            <p:nvPr/>
          </p:nvCxnSpPr>
          <p:spPr>
            <a:xfrm flipH="1" flipV="1">
              <a:off x="3416300" y="2857500"/>
              <a:ext cx="158750" cy="1143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68241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0B1D43-62FE-83F8-B405-C7C0A50C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Logical Diagram</a:t>
            </a:r>
          </a:p>
          <a:p>
            <a:pPr lvl="1"/>
            <a:r>
              <a:rPr lang="en-US" altLang="ko-KR" dirty="0"/>
              <a:t>ERD</a:t>
            </a:r>
            <a:r>
              <a:rPr lang="ko-KR" altLang="en-US" dirty="0"/>
              <a:t>를 보았을 때 의미를 즉시 알 수 있도록 만들어 놓은 논리 구조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Physical Diagram</a:t>
            </a:r>
          </a:p>
          <a:p>
            <a:pPr lvl="1"/>
            <a:r>
              <a:rPr lang="en-US" altLang="ko-KR" dirty="0"/>
              <a:t>ERD</a:t>
            </a:r>
            <a:r>
              <a:rPr lang="ko-KR" altLang="en-US" dirty="0"/>
              <a:t>를 보았을 때 데이터베이스의 테이블 및 컬럼명을 </a:t>
            </a:r>
            <a:br>
              <a:rPr lang="en-US" altLang="ko-KR" dirty="0"/>
            </a:br>
            <a:r>
              <a:rPr lang="ko-KR" altLang="en-US" dirty="0"/>
              <a:t>즉시 알 수 있도록 </a:t>
            </a:r>
            <a:r>
              <a:rPr lang="ko-KR" altLang="en-US" dirty="0" err="1"/>
              <a:t>만들어놓은</a:t>
            </a:r>
            <a:r>
              <a:rPr lang="ko-KR" altLang="en-US" dirty="0"/>
              <a:t> 물리 구조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97E7D-1882-4ACF-B7E5-A0FDB0042815}" type="slidenum">
              <a:rPr lang="ko-KR" altLang="en-US" smtClean="0"/>
              <a:pPr/>
              <a:t>74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Logical, Physical 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68241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051263"/>
            <a:ext cx="8737600" cy="676636"/>
          </a:xfrm>
        </p:spPr>
        <p:txBody>
          <a:bodyPr/>
          <a:lstStyle/>
          <a:p>
            <a:pPr algn="l"/>
            <a:r>
              <a:rPr lang="en-US" altLang="ko-KR" sz="4000" dirty="0">
                <a:latin typeface="+mj-ea"/>
              </a:rPr>
              <a:t>JDBC </a:t>
            </a:r>
            <a:r>
              <a:rPr lang="ko-KR" altLang="en-US" sz="4000" dirty="0">
                <a:latin typeface="+mj-ea"/>
              </a:rPr>
              <a:t>연동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3B0D9F-0B5E-7AFF-535F-8B82491F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0898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JSP – DBMS </a:t>
            </a:r>
            <a:r>
              <a:rPr lang="ko-KR" altLang="en-US" dirty="0"/>
              <a:t>연동</a:t>
            </a:r>
            <a:endParaRPr lang="en-US" altLang="ko-KR" dirty="0"/>
          </a:p>
          <a:p>
            <a:pPr lvl="1"/>
            <a:r>
              <a:rPr lang="en-US" altLang="ko-KR" dirty="0"/>
              <a:t>JDBC(Java </a:t>
            </a:r>
            <a:r>
              <a:rPr lang="en-US" altLang="ko-KR" dirty="0" err="1"/>
              <a:t>DataBase</a:t>
            </a:r>
            <a:r>
              <a:rPr lang="en-US" altLang="ko-KR" dirty="0"/>
              <a:t> Connectivity) Programming</a:t>
            </a:r>
          </a:p>
          <a:p>
            <a:pPr lvl="1"/>
            <a:r>
              <a:rPr lang="en-US" altLang="ko-KR" dirty="0"/>
              <a:t>JDBC Driver Download</a:t>
            </a:r>
          </a:p>
          <a:p>
            <a:pPr lvl="1"/>
            <a:r>
              <a:rPr lang="en-US" altLang="ko-KR" dirty="0">
                <a:hlinkClick r:id="rId3"/>
              </a:rPr>
              <a:t>http://www.oracle.com</a:t>
            </a:r>
            <a:r>
              <a:rPr lang="en-US" altLang="ko-KR" dirty="0"/>
              <a:t> </a:t>
            </a:r>
            <a:r>
              <a:rPr lang="ko-KR" altLang="en-US" dirty="0"/>
              <a:t>접속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연동</a:t>
            </a:r>
          </a:p>
        </p:txBody>
      </p:sp>
      <p:pic>
        <p:nvPicPr>
          <p:cNvPr id="14" name="그림 13" descr="화면 캡처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743200"/>
            <a:ext cx="8217694" cy="320040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2019300" y="3723789"/>
            <a:ext cx="571500" cy="190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0F32DD-434A-E2CF-0EB3-9A281E59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3938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화면 캡처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24145"/>
            <a:ext cx="5410956" cy="1476581"/>
          </a:xfrm>
          <a:prstGeom prst="rect">
            <a:avLst/>
          </a:prstGeom>
        </p:spPr>
      </p:pic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JDBC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연동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238250" y="2457822"/>
            <a:ext cx="762000" cy="190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화면 캡처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476515"/>
            <a:ext cx="4963218" cy="79068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209674" y="3824394"/>
            <a:ext cx="4505325" cy="190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3A50D1C-701C-7DB4-3D88-34E54680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9151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JDBC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연동</a:t>
            </a:r>
          </a:p>
        </p:txBody>
      </p:sp>
      <p:pic>
        <p:nvPicPr>
          <p:cNvPr id="7" name="그림 6" descr="화면 캡처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14005"/>
            <a:ext cx="5668166" cy="354379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914400" y="2519132"/>
            <a:ext cx="1752600" cy="190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085850" y="4323855"/>
            <a:ext cx="533400" cy="190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47093D-8DE2-4B1C-C6E0-B4EDEC8A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909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연동</a:t>
            </a:r>
          </a:p>
        </p:txBody>
      </p:sp>
      <p:pic>
        <p:nvPicPr>
          <p:cNvPr id="3" name="그림 2" descr="화면 캡처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33239"/>
            <a:ext cx="2181530" cy="222916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657350" y="3428689"/>
            <a:ext cx="876300" cy="190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3400666"/>
            <a:ext cx="160172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rPr>
              <a:t>다운 받은 파일 </a:t>
            </a:r>
            <a:r>
              <a:rPr lang="ko-KR" altLang="en-US" sz="1000" dirty="0" err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rPr>
              <a:t>붙혀넣기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638D69-A6E7-6F35-C7B7-22D922A3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6440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C1F0AC6-8BCC-6048-C820-C4FCC81F9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JDBC ( Java </a:t>
            </a:r>
            <a:r>
              <a:rPr lang="en-US" altLang="ko-KR" dirty="0" err="1"/>
              <a:t>DataBase</a:t>
            </a:r>
            <a:r>
              <a:rPr lang="en-US" altLang="ko-KR" dirty="0"/>
              <a:t> Connector ) </a:t>
            </a:r>
            <a:r>
              <a:rPr lang="ko-KR" altLang="en-US" dirty="0"/>
              <a:t>를 통해 </a:t>
            </a:r>
            <a:r>
              <a:rPr lang="en-US" altLang="ko-KR" dirty="0"/>
              <a:t>Oracle Database</a:t>
            </a:r>
            <a:r>
              <a:rPr lang="ko-KR" altLang="en-US" dirty="0"/>
              <a:t>와 연동함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구조는 아래와 같음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연동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572250" y="2438400"/>
            <a:ext cx="1733550" cy="2209800"/>
            <a:chOff x="3733801" y="2362200"/>
            <a:chExt cx="1183677" cy="1371600"/>
          </a:xfrm>
        </p:grpSpPr>
        <p:sp>
          <p:nvSpPr>
            <p:cNvPr id="20" name="원통 19"/>
            <p:cNvSpPr/>
            <p:nvPr/>
          </p:nvSpPr>
          <p:spPr>
            <a:xfrm>
              <a:off x="3886200" y="2362200"/>
              <a:ext cx="1031278" cy="1371600"/>
            </a:xfrm>
            <a:prstGeom prst="can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6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3733801" y="2647189"/>
              <a:ext cx="1183677" cy="231654"/>
              <a:chOff x="3733801" y="2647189"/>
              <a:chExt cx="1183677" cy="231654"/>
            </a:xfrm>
          </p:grpSpPr>
          <p:sp>
            <p:nvSpPr>
              <p:cNvPr id="28" name="원호 27"/>
              <p:cNvSpPr/>
              <p:nvPr/>
            </p:nvSpPr>
            <p:spPr>
              <a:xfrm rot="10800000">
                <a:off x="3886200" y="2647189"/>
                <a:ext cx="1031278" cy="228600"/>
              </a:xfrm>
              <a:prstGeom prst="arc">
                <a:avLst/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9" name="원호 28"/>
              <p:cNvSpPr/>
              <p:nvPr/>
            </p:nvSpPr>
            <p:spPr>
              <a:xfrm rot="10800000" flipH="1">
                <a:off x="3733801" y="2650243"/>
                <a:ext cx="1182624" cy="228600"/>
              </a:xfrm>
              <a:prstGeom prst="arc">
                <a:avLst>
                  <a:gd name="adj1" fmla="val 16200000"/>
                  <a:gd name="adj2" fmla="val 61382"/>
                </a:avLst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/>
            <p:cNvGrpSpPr/>
            <p:nvPr/>
          </p:nvGrpSpPr>
          <p:grpSpPr>
            <a:xfrm>
              <a:off x="3733801" y="2932173"/>
              <a:ext cx="1183677" cy="231654"/>
              <a:chOff x="3733801" y="2647189"/>
              <a:chExt cx="1183677" cy="231654"/>
            </a:xfrm>
          </p:grpSpPr>
          <p:sp>
            <p:nvSpPr>
              <p:cNvPr id="26" name="원호 25"/>
              <p:cNvSpPr/>
              <p:nvPr/>
            </p:nvSpPr>
            <p:spPr>
              <a:xfrm rot="10800000">
                <a:off x="3886200" y="2647189"/>
                <a:ext cx="1031278" cy="228600"/>
              </a:xfrm>
              <a:prstGeom prst="arc">
                <a:avLst/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7" name="원호 26"/>
              <p:cNvSpPr/>
              <p:nvPr/>
            </p:nvSpPr>
            <p:spPr>
              <a:xfrm rot="10800000" flipH="1">
                <a:off x="3733801" y="2650243"/>
                <a:ext cx="1182624" cy="228600"/>
              </a:xfrm>
              <a:prstGeom prst="arc">
                <a:avLst>
                  <a:gd name="adj1" fmla="val 16200000"/>
                  <a:gd name="adj2" fmla="val 61382"/>
                </a:avLst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23" name="그룹 22"/>
            <p:cNvGrpSpPr/>
            <p:nvPr/>
          </p:nvGrpSpPr>
          <p:grpSpPr>
            <a:xfrm>
              <a:off x="3733801" y="3206498"/>
              <a:ext cx="1183677" cy="231654"/>
              <a:chOff x="3733801" y="2647189"/>
              <a:chExt cx="1183677" cy="231654"/>
            </a:xfrm>
          </p:grpSpPr>
          <p:sp>
            <p:nvSpPr>
              <p:cNvPr id="24" name="원호 23"/>
              <p:cNvSpPr/>
              <p:nvPr/>
            </p:nvSpPr>
            <p:spPr>
              <a:xfrm rot="10800000">
                <a:off x="3886200" y="2647189"/>
                <a:ext cx="1031278" cy="228600"/>
              </a:xfrm>
              <a:prstGeom prst="arc">
                <a:avLst/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5" name="원호 24"/>
              <p:cNvSpPr/>
              <p:nvPr/>
            </p:nvSpPr>
            <p:spPr>
              <a:xfrm rot="10800000" flipH="1">
                <a:off x="3733801" y="2650243"/>
                <a:ext cx="1182624" cy="228600"/>
              </a:xfrm>
              <a:prstGeom prst="arc">
                <a:avLst>
                  <a:gd name="adj1" fmla="val 16200000"/>
                  <a:gd name="adj2" fmla="val 61382"/>
                </a:avLst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6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</p:grpSp>
      <p:sp>
        <p:nvSpPr>
          <p:cNvPr id="11" name="모서리가 둥근 직사각형 10"/>
          <p:cNvSpPr/>
          <p:nvPr/>
        </p:nvSpPr>
        <p:spPr>
          <a:xfrm>
            <a:off x="838200" y="2438400"/>
            <a:ext cx="1371600" cy="2209800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JSP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2667000" y="2438400"/>
            <a:ext cx="2286000" cy="2209800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JDBC API</a:t>
            </a:r>
          </a:p>
          <a:p>
            <a:pPr algn="ctr"/>
            <a:endParaRPr lang="en-US" altLang="ko-KR" sz="1800" dirty="0">
              <a:solidFill>
                <a:schemeClr val="tx1"/>
              </a:solidFill>
            </a:endParaRPr>
          </a:p>
          <a:p>
            <a:pPr algn="ctr"/>
            <a:endParaRPr lang="en-US" altLang="ko-KR" sz="1800" dirty="0">
              <a:solidFill>
                <a:schemeClr val="tx1"/>
              </a:solidFill>
            </a:endParaRPr>
          </a:p>
          <a:p>
            <a:pPr algn="ctr"/>
            <a:endParaRPr lang="en-US" altLang="ko-KR" sz="1800" dirty="0">
              <a:solidFill>
                <a:schemeClr val="tx1"/>
              </a:solidFill>
            </a:endParaRPr>
          </a:p>
          <a:p>
            <a:pPr algn="ctr"/>
            <a:endParaRPr lang="en-US" altLang="ko-KR" sz="1800" dirty="0">
              <a:solidFill>
                <a:schemeClr val="tx1"/>
              </a:solidFill>
            </a:endParaRPr>
          </a:p>
          <a:p>
            <a:pPr algn="ctr"/>
            <a:endParaRPr lang="en-US" altLang="ko-KR" sz="1800" dirty="0">
              <a:solidFill>
                <a:schemeClr val="tx1"/>
              </a:solidFill>
            </a:endParaRPr>
          </a:p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971800" y="2924175"/>
            <a:ext cx="1676400" cy="457200"/>
          </a:xfrm>
          <a:prstGeom prst="roundRect">
            <a:avLst>
              <a:gd name="adj" fmla="val 41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Connection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2971800" y="3429000"/>
            <a:ext cx="1676400" cy="457200"/>
          </a:xfrm>
          <a:prstGeom prst="roundRect">
            <a:avLst>
              <a:gd name="adj" fmla="val 41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Statement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2971800" y="3933825"/>
            <a:ext cx="1676400" cy="457200"/>
          </a:xfrm>
          <a:prstGeom prst="roundRect">
            <a:avLst>
              <a:gd name="adj" fmla="val 41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Result Set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6" name="직선 화살표 연결선 15"/>
          <p:cNvCxnSpPr>
            <a:stCxn id="12" idx="3"/>
            <a:endCxn id="18" idx="1"/>
          </p:cNvCxnSpPr>
          <p:nvPr/>
        </p:nvCxnSpPr>
        <p:spPr>
          <a:xfrm>
            <a:off x="4953000" y="3543300"/>
            <a:ext cx="4572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1" idx="3"/>
            <a:endCxn id="12" idx="1"/>
          </p:cNvCxnSpPr>
          <p:nvPr/>
        </p:nvCxnSpPr>
        <p:spPr>
          <a:xfrm>
            <a:off x="2209800" y="3543300"/>
            <a:ext cx="4572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/>
          <p:cNvSpPr/>
          <p:nvPr/>
        </p:nvSpPr>
        <p:spPr>
          <a:xfrm>
            <a:off x="5410200" y="2438400"/>
            <a:ext cx="952500" cy="2209800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6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JDBC</a:t>
            </a:r>
          </a:p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Driver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stCxn id="18" idx="3"/>
            <a:endCxn id="20" idx="2"/>
          </p:cNvCxnSpPr>
          <p:nvPr/>
        </p:nvCxnSpPr>
        <p:spPr>
          <a:xfrm>
            <a:off x="6362700" y="3543300"/>
            <a:ext cx="43274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1E780A-15FD-D0E1-461C-5B8B17A3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7196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E16CE1-72C3-07A7-D25A-1E8199DE7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API</a:t>
            </a:r>
          </a:p>
          <a:p>
            <a:pPr lvl="1"/>
            <a:r>
              <a:rPr lang="en-US" altLang="ko-KR" dirty="0"/>
              <a:t>Connection</a:t>
            </a:r>
          </a:p>
          <a:p>
            <a:pPr lvl="2"/>
            <a:r>
              <a:rPr lang="en-US" altLang="ko-KR" dirty="0"/>
              <a:t>Database(Oracle)</a:t>
            </a:r>
            <a:r>
              <a:rPr lang="ko-KR" altLang="en-US" dirty="0"/>
              <a:t>과 연결함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PreparedStatement</a:t>
            </a:r>
            <a:endParaRPr lang="en-US" altLang="ko-KR" dirty="0"/>
          </a:p>
          <a:p>
            <a:pPr lvl="2"/>
            <a:r>
              <a:rPr lang="ko-KR" altLang="en-US" dirty="0"/>
              <a:t>쿼리를 </a:t>
            </a:r>
            <a:r>
              <a:rPr lang="en-US" altLang="ko-KR" dirty="0"/>
              <a:t>Oracle</a:t>
            </a:r>
            <a:r>
              <a:rPr lang="ko-KR" altLang="en-US" dirty="0"/>
              <a:t>로 전송해 실행할 준비를 함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쿼리에 파라미터를 </a:t>
            </a:r>
            <a:r>
              <a:rPr lang="en-US" altLang="ko-KR" dirty="0"/>
              <a:t>?(</a:t>
            </a:r>
            <a:r>
              <a:rPr lang="ko-KR" altLang="en-US" dirty="0"/>
              <a:t>물음표</a:t>
            </a:r>
            <a:r>
              <a:rPr lang="en-US" altLang="ko-KR" dirty="0"/>
              <a:t>)</a:t>
            </a:r>
            <a:r>
              <a:rPr lang="ko-KR" altLang="en-US" dirty="0"/>
              <a:t>를 통해 추가할 수 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INSERT, UPDATE, DELETE</a:t>
            </a:r>
          </a:p>
          <a:p>
            <a:pPr lvl="3"/>
            <a:r>
              <a:rPr lang="en-US" altLang="ko-KR" dirty="0" err="1"/>
              <a:t>stmt.execute</a:t>
            </a:r>
            <a:r>
              <a:rPr lang="en-US" altLang="ko-KR" dirty="0"/>
              <a:t>(), </a:t>
            </a:r>
            <a:r>
              <a:rPr lang="en-US" altLang="ko-KR" dirty="0" err="1"/>
              <a:t>stmt.executeUpdate</a:t>
            </a:r>
            <a:r>
              <a:rPr lang="en-US" altLang="ko-KR" dirty="0"/>
              <a:t>()</a:t>
            </a:r>
          </a:p>
          <a:p>
            <a:pPr lvl="2"/>
            <a:r>
              <a:rPr lang="en-US" altLang="ko-KR" dirty="0"/>
              <a:t>SELECT</a:t>
            </a:r>
          </a:p>
          <a:p>
            <a:pPr lvl="3"/>
            <a:r>
              <a:rPr lang="en-US" altLang="ko-KR" dirty="0" err="1"/>
              <a:t>stmt.executeQuery</a:t>
            </a:r>
            <a:r>
              <a:rPr lang="en-US" altLang="ko-KR" dirty="0"/>
              <a:t>()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 err="1"/>
              <a:t>ResultSet</a:t>
            </a:r>
            <a:endParaRPr lang="en-US" altLang="ko-KR" dirty="0"/>
          </a:p>
          <a:p>
            <a:pPr lvl="2"/>
            <a:r>
              <a:rPr lang="en-US" altLang="ko-KR" dirty="0" err="1"/>
              <a:t>PreparedStatement</a:t>
            </a:r>
            <a:r>
              <a:rPr lang="ko-KR" altLang="en-US" dirty="0"/>
              <a:t>를 통해 실행한 결과를 </a:t>
            </a:r>
            <a:r>
              <a:rPr lang="en-US" altLang="ko-KR" dirty="0" err="1"/>
              <a:t>ResultSet</a:t>
            </a:r>
            <a:r>
              <a:rPr lang="ko-KR" altLang="en-US" dirty="0"/>
              <a:t>을 통해 얻어 옴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SELECT </a:t>
            </a:r>
            <a:r>
              <a:rPr lang="ko-KR" altLang="en-US" dirty="0"/>
              <a:t>쿼리에서만 사용됨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연동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4AD01D2-0BDB-E5EA-CA6C-C7D5D5AF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2789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A3856A-E38F-1E17-3C1D-668E4DD58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ResultSet</a:t>
            </a:r>
            <a:r>
              <a:rPr lang="ko-KR" altLang="en-US" dirty="0"/>
              <a:t>의 </a:t>
            </a:r>
            <a:r>
              <a:rPr lang="en-US" altLang="ko-KR" dirty="0"/>
              <a:t>Cursor</a:t>
            </a:r>
          </a:p>
          <a:p>
            <a:pPr lvl="1"/>
            <a:r>
              <a:rPr lang="en-US" altLang="ko-KR" dirty="0" err="1"/>
              <a:t>rs.next</a:t>
            </a:r>
            <a:r>
              <a:rPr lang="en-US" altLang="ko-KR" dirty="0"/>
              <a:t>() </a:t>
            </a:r>
            <a:r>
              <a:rPr lang="ko-KR" altLang="en-US" dirty="0"/>
              <a:t>를 통해 커서를 이동함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커서의 이동은 현재 가리키고 있는 </a:t>
            </a:r>
            <a:r>
              <a:rPr lang="en-US" altLang="ko-KR" dirty="0"/>
              <a:t>Row</a:t>
            </a:r>
            <a:r>
              <a:rPr lang="ko-KR" altLang="en-US" dirty="0"/>
              <a:t>를 </a:t>
            </a:r>
            <a:r>
              <a:rPr lang="ko-KR" altLang="en-US" dirty="0" err="1"/>
              <a:t>한칸</a:t>
            </a:r>
            <a:r>
              <a:rPr lang="ko-KR" altLang="en-US" dirty="0"/>
              <a:t> 아래로 이동하겠다는 의미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다음 </a:t>
            </a:r>
            <a:r>
              <a:rPr lang="en-US" altLang="ko-KR" dirty="0"/>
              <a:t>Row</a:t>
            </a:r>
            <a:r>
              <a:rPr lang="ko-KR" altLang="en-US" dirty="0"/>
              <a:t>가 있을 경우 </a:t>
            </a:r>
            <a:r>
              <a:rPr lang="en-US" altLang="ko-KR" dirty="0"/>
              <a:t>true / </a:t>
            </a:r>
            <a:r>
              <a:rPr lang="ko-KR" altLang="en-US" dirty="0"/>
              <a:t>아닐 경우 </a:t>
            </a:r>
            <a:r>
              <a:rPr lang="en-US" altLang="ko-KR" dirty="0"/>
              <a:t>false</a:t>
            </a:r>
            <a:r>
              <a:rPr lang="ko-KR" altLang="en-US" dirty="0"/>
              <a:t>를 반환함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연동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2286000" y="2889198"/>
            <a:ext cx="5144218" cy="2010056"/>
            <a:chOff x="990600" y="2362200"/>
            <a:chExt cx="5144218" cy="2010056"/>
          </a:xfrm>
        </p:grpSpPr>
        <p:pic>
          <p:nvPicPr>
            <p:cNvPr id="2" name="그림 1" descr="화면 캡처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00" y="2362200"/>
              <a:ext cx="5144218" cy="2010056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1242060" y="2773680"/>
              <a:ext cx="152400" cy="152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242060" y="3032760"/>
              <a:ext cx="152400" cy="152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242060" y="3291028"/>
              <a:ext cx="152400" cy="152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226820" y="3566160"/>
              <a:ext cx="152400" cy="152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234440" y="3832860"/>
              <a:ext cx="152400" cy="152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234440" y="4107180"/>
              <a:ext cx="152400" cy="152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" name="구부러진 연결선 4"/>
            <p:cNvCxnSpPr>
              <a:stCxn id="3" idx="2"/>
              <a:endCxn id="6" idx="1"/>
            </p:cNvCxnSpPr>
            <p:nvPr/>
          </p:nvCxnSpPr>
          <p:spPr>
            <a:xfrm rot="5400000">
              <a:off x="1188720" y="2979420"/>
              <a:ext cx="182880" cy="76200"/>
            </a:xfrm>
            <a:prstGeom prst="curvedConnector4">
              <a:avLst>
                <a:gd name="adj1" fmla="val 29167"/>
                <a:gd name="adj2" fmla="val 400000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구부러진 연결선 12"/>
            <p:cNvCxnSpPr>
              <a:stCxn id="6" idx="2"/>
              <a:endCxn id="7" idx="1"/>
            </p:cNvCxnSpPr>
            <p:nvPr/>
          </p:nvCxnSpPr>
          <p:spPr>
            <a:xfrm rot="5400000">
              <a:off x="1189126" y="3238094"/>
              <a:ext cx="182068" cy="76200"/>
            </a:xfrm>
            <a:prstGeom prst="curvedConnector4">
              <a:avLst>
                <a:gd name="adj1" fmla="val 29074"/>
                <a:gd name="adj2" fmla="val 400000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구부러진 연결선 15"/>
            <p:cNvCxnSpPr>
              <a:stCxn id="7" idx="2"/>
              <a:endCxn id="8" idx="1"/>
            </p:cNvCxnSpPr>
            <p:nvPr/>
          </p:nvCxnSpPr>
          <p:spPr>
            <a:xfrm rot="5400000">
              <a:off x="1173074" y="3497174"/>
              <a:ext cx="198932" cy="91440"/>
            </a:xfrm>
            <a:prstGeom prst="curvedConnector4">
              <a:avLst>
                <a:gd name="adj1" fmla="val 30848"/>
                <a:gd name="adj2" fmla="val 350000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구부러진 연결선 20"/>
            <p:cNvCxnSpPr>
              <a:stCxn id="8" idx="2"/>
              <a:endCxn id="9" idx="1"/>
            </p:cNvCxnSpPr>
            <p:nvPr/>
          </p:nvCxnSpPr>
          <p:spPr>
            <a:xfrm rot="5400000">
              <a:off x="1173480" y="3779520"/>
              <a:ext cx="190500" cy="68580"/>
            </a:xfrm>
            <a:prstGeom prst="curvedConnector4">
              <a:avLst>
                <a:gd name="adj1" fmla="val 30000"/>
                <a:gd name="adj2" fmla="val 433333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구부러진 연결선 23"/>
            <p:cNvCxnSpPr>
              <a:stCxn id="9" idx="2"/>
              <a:endCxn id="11" idx="1"/>
            </p:cNvCxnSpPr>
            <p:nvPr/>
          </p:nvCxnSpPr>
          <p:spPr>
            <a:xfrm rot="5400000">
              <a:off x="1173480" y="4046220"/>
              <a:ext cx="198120" cy="76200"/>
            </a:xfrm>
            <a:prstGeom prst="curvedConnector4">
              <a:avLst>
                <a:gd name="adj1" fmla="val 30769"/>
                <a:gd name="adj2" fmla="val 400000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1531061" y="3212978"/>
            <a:ext cx="786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rs.next</a:t>
            </a:r>
            <a:r>
              <a:rPr lang="en-US" altLang="ko-KR" sz="1200" dirty="0">
                <a:latin typeface="+mn-ea"/>
                <a:ea typeface="+mn-ea"/>
              </a:rPr>
              <a:t>()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24711" y="3472128"/>
            <a:ext cx="786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rs.next</a:t>
            </a:r>
            <a:r>
              <a:rPr lang="en-US" altLang="ko-KR" sz="1200" dirty="0">
                <a:latin typeface="+mn-ea"/>
                <a:ea typeface="+mn-ea"/>
              </a:rPr>
              <a:t>()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31061" y="3750258"/>
            <a:ext cx="786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rs.next</a:t>
            </a:r>
            <a:r>
              <a:rPr lang="en-US" altLang="ko-KR" sz="1200" dirty="0">
                <a:latin typeface="+mn-ea"/>
                <a:ea typeface="+mn-ea"/>
              </a:rPr>
              <a:t>()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31061" y="4025865"/>
            <a:ext cx="786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rs.next</a:t>
            </a:r>
            <a:r>
              <a:rPr lang="en-US" altLang="ko-KR" sz="1200" dirty="0">
                <a:latin typeface="+mn-ea"/>
                <a:ea typeface="+mn-ea"/>
              </a:rPr>
              <a:t>()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31060" y="4310258"/>
            <a:ext cx="786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rs.next</a:t>
            </a:r>
            <a:r>
              <a:rPr lang="en-US" altLang="ko-KR" sz="1200" dirty="0">
                <a:latin typeface="+mn-ea"/>
                <a:ea typeface="+mn-ea"/>
              </a:rPr>
              <a:t>()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531061" y="4565528"/>
            <a:ext cx="786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rs.next</a:t>
            </a:r>
            <a:r>
              <a:rPr lang="en-US" altLang="ko-KR" sz="1200" dirty="0">
                <a:latin typeface="+mn-ea"/>
                <a:ea typeface="+mn-ea"/>
              </a:rPr>
              <a:t>()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6AC068D-8524-8A7F-901A-76BCDA60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6531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D2B2F0B-DF59-35D5-5D62-78CA51BE9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>
                <a:latin typeface="+mn-ea"/>
              </a:rPr>
              <a:t>Oracle Driver </a:t>
            </a:r>
            <a:r>
              <a:rPr lang="ko-KR" altLang="en-US" dirty="0">
                <a:latin typeface="+mn-ea"/>
              </a:rPr>
              <a:t>로딩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ojdbc.6.jar</a:t>
            </a:r>
            <a:r>
              <a:rPr lang="ko-KR" altLang="en-US" dirty="0">
                <a:latin typeface="+mn-ea"/>
              </a:rPr>
              <a:t>에 포함된 드라이버</a:t>
            </a:r>
            <a:r>
              <a:rPr lang="en-US" altLang="ko-KR" dirty="0">
                <a:latin typeface="+mn-ea"/>
              </a:rPr>
              <a:t>.</a:t>
            </a:r>
          </a:p>
          <a:p>
            <a:pPr lvl="1"/>
            <a:r>
              <a:rPr lang="ko-KR" altLang="en-US" dirty="0">
                <a:latin typeface="+mn-ea"/>
              </a:rPr>
              <a:t>오라클 연결을 위한 드라이버 로딩</a:t>
            </a:r>
            <a:r>
              <a:rPr lang="en-US" altLang="ko-KR" dirty="0">
                <a:latin typeface="+mn-ea"/>
              </a:rPr>
              <a:t>.</a:t>
            </a:r>
          </a:p>
          <a:p>
            <a:pPr lvl="1"/>
            <a:endParaRPr lang="en-US" altLang="ko-KR" dirty="0"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latin typeface="+mn-ea"/>
            </a:endParaRP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Connection </a:t>
            </a:r>
            <a:r>
              <a:rPr lang="ko-KR" altLang="en-US" dirty="0">
                <a:latin typeface="+mn-ea"/>
              </a:rPr>
              <a:t>생성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데이터베이스와 연결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 err="1">
                <a:latin typeface="+mn-ea"/>
              </a:rPr>
              <a:t>Jdbc</a:t>
            </a:r>
            <a:r>
              <a:rPr lang="en-US" altLang="ko-KR" dirty="0">
                <a:latin typeface="+mn-ea"/>
              </a:rPr>
              <a:t> Driver</a:t>
            </a:r>
          </a:p>
          <a:p>
            <a:pPr lvl="2"/>
            <a:r>
              <a:rPr kumimoji="1" lang="en-US" altLang="ko-KR" dirty="0" err="1">
                <a:latin typeface="+mn-ea"/>
              </a:rPr>
              <a:t>jdbc:oracle:thin</a:t>
            </a:r>
            <a:r>
              <a:rPr kumimoji="1" lang="en-US" altLang="ko-KR" dirty="0">
                <a:latin typeface="+mn-ea"/>
              </a:rPr>
              <a:t>:@localhost:1521:XE</a:t>
            </a:r>
          </a:p>
          <a:p>
            <a:pPr lvl="1"/>
            <a:r>
              <a:rPr kumimoji="1" lang="en-US" altLang="ko-KR" dirty="0">
                <a:latin typeface="+mn-ea"/>
              </a:rPr>
              <a:t>DB User</a:t>
            </a:r>
          </a:p>
          <a:p>
            <a:pPr lvl="2"/>
            <a:r>
              <a:rPr kumimoji="1" lang="ko-KR" altLang="en-US" dirty="0">
                <a:latin typeface="+mn-ea"/>
              </a:rPr>
              <a:t>데이터 베이스 접근 계정</a:t>
            </a:r>
            <a:endParaRPr kumimoji="1" lang="en-US" altLang="ko-KR" dirty="0">
              <a:latin typeface="+mn-ea"/>
            </a:endParaRPr>
          </a:p>
          <a:p>
            <a:pPr lvl="1"/>
            <a:r>
              <a:rPr kumimoji="1" lang="en-US" altLang="ko-KR" dirty="0">
                <a:latin typeface="+mn-ea"/>
              </a:rPr>
              <a:t>DB </a:t>
            </a:r>
            <a:r>
              <a:rPr kumimoji="1" lang="en-US" altLang="ko-KR" dirty="0" err="1">
                <a:latin typeface="+mn-ea"/>
              </a:rPr>
              <a:t>Pwd</a:t>
            </a:r>
            <a:endParaRPr kumimoji="1" lang="en-US" altLang="ko-KR" dirty="0">
              <a:latin typeface="+mn-ea"/>
            </a:endParaRPr>
          </a:p>
          <a:p>
            <a:pPr lvl="2"/>
            <a:r>
              <a:rPr kumimoji="1" lang="ko-KR" altLang="en-US" dirty="0">
                <a:latin typeface="+mn-ea"/>
              </a:rPr>
              <a:t>데이터 베이스 접근 계정의 비밀번호</a:t>
            </a:r>
            <a:endParaRPr kumimoji="1" lang="en-US" altLang="ko-KR" dirty="0">
              <a:latin typeface="+mn-ea"/>
            </a:endParaRPr>
          </a:p>
          <a:p>
            <a:pPr lvl="2"/>
            <a:endParaRPr kumimoji="1" lang="en-US" altLang="ko-KR" dirty="0">
              <a:latin typeface="+mn-ea"/>
            </a:endParaRPr>
          </a:p>
          <a:p>
            <a:pPr lvl="2"/>
            <a:endParaRPr kumimoji="1" lang="en-US" altLang="ko-KR" dirty="0">
              <a:latin typeface="+mn-ea"/>
            </a:endParaRPr>
          </a:p>
          <a:p>
            <a:pPr lvl="2"/>
            <a:endParaRPr kumimoji="1" lang="en-US" altLang="ko-KR" dirty="0">
              <a:latin typeface="+mn-ea"/>
            </a:endParaRPr>
          </a:p>
          <a:p>
            <a:r>
              <a:rPr kumimoji="1" lang="en-US" altLang="ko-KR" dirty="0" err="1">
                <a:latin typeface="+mn-ea"/>
              </a:rPr>
              <a:t>PreparedStatement</a:t>
            </a:r>
            <a:r>
              <a:rPr kumimoji="1" lang="en-US" altLang="ko-KR" dirty="0">
                <a:latin typeface="+mn-ea"/>
              </a:rPr>
              <a:t> </a:t>
            </a:r>
            <a:r>
              <a:rPr kumimoji="1" lang="ko-KR" altLang="en-US" dirty="0">
                <a:latin typeface="+mn-ea"/>
              </a:rPr>
              <a:t>생성 </a:t>
            </a:r>
            <a:r>
              <a:rPr kumimoji="1" lang="en-US" altLang="ko-KR" dirty="0">
                <a:latin typeface="+mn-ea"/>
              </a:rPr>
              <a:t>– </a:t>
            </a:r>
            <a:r>
              <a:rPr kumimoji="1" lang="ko-KR" altLang="en-US" dirty="0">
                <a:latin typeface="+mn-ea"/>
              </a:rPr>
              <a:t>쿼리를 실행하기 위한 준비</a:t>
            </a:r>
            <a:endParaRPr kumimoji="1" lang="en-US" altLang="ko-KR" dirty="0">
              <a:latin typeface="+mn-ea"/>
            </a:endParaRPr>
          </a:p>
          <a:p>
            <a:pPr lvl="1"/>
            <a:r>
              <a:rPr kumimoji="1" lang="ko-KR" altLang="en-US" dirty="0">
                <a:latin typeface="+mn-ea"/>
              </a:rPr>
              <a:t>보안 취약점을 제거함</a:t>
            </a:r>
            <a:r>
              <a:rPr kumimoji="1" lang="en-US" altLang="ko-KR" dirty="0">
                <a:latin typeface="+mn-ea"/>
              </a:rPr>
              <a:t>.</a:t>
            </a:r>
          </a:p>
          <a:p>
            <a:pPr lvl="1"/>
            <a:r>
              <a:rPr lang="en-US" altLang="ko-KR" dirty="0">
                <a:latin typeface="+mn-ea"/>
              </a:rPr>
              <a:t>Query</a:t>
            </a:r>
          </a:p>
          <a:p>
            <a:pPr lvl="2"/>
            <a:r>
              <a:rPr lang="ko-KR" altLang="en-US" dirty="0">
                <a:latin typeface="+mn-ea"/>
              </a:rPr>
              <a:t>실행하려는 쿼리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파라미터는 </a:t>
            </a:r>
            <a:r>
              <a:rPr lang="en-US" altLang="ko-KR" dirty="0">
                <a:latin typeface="+mn-ea"/>
              </a:rPr>
              <a:t>?(</a:t>
            </a:r>
            <a:r>
              <a:rPr lang="ko-KR" altLang="en-US" dirty="0">
                <a:latin typeface="+mn-ea"/>
              </a:rPr>
              <a:t>물음표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로 작성함</a:t>
            </a:r>
            <a:endParaRPr lang="en-US" altLang="ko-KR" dirty="0">
              <a:latin typeface="+mn-ea"/>
            </a:endParaRPr>
          </a:p>
          <a:p>
            <a:pPr lvl="1"/>
            <a:endParaRPr lang="en-US" altLang="ko-KR" dirty="0">
              <a:latin typeface="+mn-ea"/>
            </a:endParaRPr>
          </a:p>
          <a:p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JDBC </a:t>
            </a:r>
            <a:r>
              <a:rPr lang="ko-KR" altLang="en-US" dirty="0"/>
              <a:t>연동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14400" y="2003633"/>
            <a:ext cx="838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1" lang="en-US" altLang="ko-KR" sz="1600" dirty="0" err="1">
                <a:latin typeface="+mn-ea"/>
                <a:ea typeface="+mn-ea"/>
              </a:rPr>
              <a:t>Class.forName</a:t>
            </a:r>
            <a:r>
              <a:rPr kumimoji="1" lang="en-US" altLang="ko-KR" sz="1600" dirty="0">
                <a:latin typeface="+mn-ea"/>
                <a:ea typeface="+mn-ea"/>
              </a:rPr>
              <a:t>("</a:t>
            </a:r>
            <a:r>
              <a:rPr kumimoji="1" lang="en-US" altLang="ko-KR" sz="1600" dirty="0" err="1">
                <a:latin typeface="+mn-ea"/>
                <a:ea typeface="+mn-ea"/>
              </a:rPr>
              <a:t>oracle.jdbc.driver.OracleDriver</a:t>
            </a:r>
            <a:r>
              <a:rPr kumimoji="1" lang="en-US" altLang="ko-KR" sz="1600" dirty="0">
                <a:latin typeface="+mn-ea"/>
                <a:ea typeface="+mn-ea"/>
              </a:rPr>
              <a:t>");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14400" y="4445338"/>
            <a:ext cx="8229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1" lang="en-US" altLang="ko-KR" sz="1600" dirty="0">
                <a:latin typeface="+mn-ea"/>
                <a:ea typeface="+mn-ea"/>
              </a:rPr>
              <a:t>Connection conn = </a:t>
            </a:r>
            <a:r>
              <a:rPr kumimoji="1" lang="en-US" altLang="ko-KR" sz="1600" dirty="0" err="1">
                <a:latin typeface="+mn-ea"/>
                <a:ea typeface="+mn-ea"/>
              </a:rPr>
              <a:t>DriverManager.getConnection</a:t>
            </a:r>
            <a:r>
              <a:rPr kumimoji="1" lang="en-US" altLang="ko-KR" sz="1600" dirty="0">
                <a:latin typeface="+mn-ea"/>
                <a:ea typeface="+mn-ea"/>
              </a:rPr>
              <a:t>(</a:t>
            </a:r>
            <a:r>
              <a:rPr kumimoji="1" lang="en-US" altLang="ko-KR" sz="1600" dirty="0" err="1">
                <a:latin typeface="+mn-ea"/>
                <a:ea typeface="+mn-ea"/>
              </a:rPr>
              <a:t>jdbcDriver</a:t>
            </a:r>
            <a:r>
              <a:rPr kumimoji="1" lang="en-US" altLang="ko-KR" sz="1600" dirty="0">
                <a:latin typeface="+mn-ea"/>
                <a:ea typeface="+mn-ea"/>
              </a:rPr>
              <a:t>, </a:t>
            </a:r>
            <a:r>
              <a:rPr kumimoji="1" lang="en-US" altLang="ko-KR" sz="1600" dirty="0" err="1">
                <a:latin typeface="+mn-ea"/>
                <a:ea typeface="+mn-ea"/>
              </a:rPr>
              <a:t>dbUser</a:t>
            </a:r>
            <a:r>
              <a:rPr kumimoji="1" lang="en-US" altLang="ko-KR" sz="1600" dirty="0">
                <a:latin typeface="+mn-ea"/>
                <a:ea typeface="+mn-ea"/>
              </a:rPr>
              <a:t>, </a:t>
            </a:r>
            <a:r>
              <a:rPr kumimoji="1" lang="en-US" altLang="ko-KR" sz="1600" dirty="0" err="1">
                <a:latin typeface="+mn-ea"/>
                <a:ea typeface="+mn-ea"/>
              </a:rPr>
              <a:t>dbPwd</a:t>
            </a:r>
            <a:r>
              <a:rPr kumimoji="1" lang="en-US" altLang="ko-KR" sz="1600" dirty="0">
                <a:latin typeface="+mn-ea"/>
                <a:ea typeface="+mn-ea"/>
              </a:rPr>
              <a:t>);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889000" y="6170027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kumimoji="1" lang="en-US" altLang="ko-KR" sz="1600" dirty="0" err="1">
                <a:latin typeface="+mn-ea"/>
                <a:ea typeface="+mn-ea"/>
              </a:rPr>
              <a:t>stmt</a:t>
            </a:r>
            <a:r>
              <a:rPr kumimoji="1" lang="en-US" altLang="ko-KR" sz="1600" dirty="0">
                <a:latin typeface="+mn-ea"/>
                <a:ea typeface="+mn-ea"/>
              </a:rPr>
              <a:t> = </a:t>
            </a:r>
            <a:r>
              <a:rPr kumimoji="1" lang="en-US" altLang="ko-KR" sz="1600" dirty="0" err="1">
                <a:latin typeface="+mn-ea"/>
                <a:ea typeface="+mn-ea"/>
              </a:rPr>
              <a:t>conn.prepareStatement</a:t>
            </a:r>
            <a:r>
              <a:rPr kumimoji="1" lang="en-US" altLang="ko-KR" sz="1600" dirty="0">
                <a:latin typeface="+mn-ea"/>
                <a:ea typeface="+mn-ea"/>
              </a:rPr>
              <a:t>(query);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F8380B9-7089-CB71-135F-138AE4FD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9443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B6AD8-EBF0-5C20-CE5A-1F3F59D8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122363"/>
            <a:ext cx="8737600" cy="2387600"/>
          </a:xfrm>
        </p:spPr>
        <p:txBody>
          <a:bodyPr/>
          <a:lstStyle/>
          <a:p>
            <a:r>
              <a:rPr lang="ko-KR" altLang="en-US">
                <a:latin typeface="+mj-ea"/>
              </a:rPr>
              <a:t>감사합니다</a:t>
            </a:r>
            <a:r>
              <a:rPr lang="en-US" altLang="ko-KR">
                <a:latin typeface="+mj-ea"/>
              </a:rPr>
              <a:t>.</a:t>
            </a:r>
            <a:endParaRPr lang="ko-KR" altLang="en-US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8E3540-D5C2-977C-EFA0-E09A24C5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616848"/>
          </a:xfrm>
        </p:spPr>
        <p:txBody>
          <a:bodyPr>
            <a:normAutofit/>
          </a:bodyPr>
          <a:lstStyle/>
          <a:p>
            <a:r>
              <a:rPr lang="en-US" altLang="ko-KR" sz="3000" dirty="0">
                <a:latin typeface="+mj-ea"/>
                <a:ea typeface="+mj-ea"/>
              </a:rPr>
              <a:t>DBMS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장민창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>
                <a:latin typeface="+mj-ea"/>
                <a:ea typeface="+mj-ea"/>
              </a:rPr>
              <a:t>codemakers.kr@gmail.com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380DC-F3E6-89A5-3D07-7218CB5F3483}"/>
              </a:ext>
            </a:extLst>
          </p:cNvPr>
          <p:cNvSpPr/>
          <p:nvPr/>
        </p:nvSpPr>
        <p:spPr>
          <a:xfrm>
            <a:off x="73891" y="3447319"/>
            <a:ext cx="9023932" cy="626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1FC403-BB74-31C4-E52D-48579C2C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D7398-607C-407A-8D67-83D151584F53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8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4377</TotalTime>
  <Words>4649</Words>
  <Application>Microsoft Office PowerPoint</Application>
  <PresentationFormat>화면 슬라이드 쇼(4:3)</PresentationFormat>
  <Paragraphs>897</Paragraphs>
  <Slides>84</Slides>
  <Notes>70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84</vt:i4>
      </vt:variant>
    </vt:vector>
  </HeadingPairs>
  <TitlesOfParts>
    <vt:vector size="85" baseType="lpstr">
      <vt:lpstr>Office 테마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DBMS</vt:lpstr>
      <vt:lpstr>Database</vt:lpstr>
      <vt:lpstr>Table</vt:lpstr>
      <vt:lpstr>Table</vt:lpstr>
      <vt:lpstr>Table</vt:lpstr>
      <vt:lpstr>Table</vt:lpstr>
      <vt:lpstr>Column</vt:lpstr>
      <vt:lpstr>Column</vt:lpstr>
      <vt:lpstr>Rows</vt:lpstr>
      <vt:lpstr>Keys</vt:lpstr>
      <vt:lpstr>Keys</vt:lpstr>
      <vt:lpstr>관계의 종류</vt:lpstr>
      <vt:lpstr>관계의 종류</vt:lpstr>
      <vt:lpstr>관계의 종류</vt:lpstr>
      <vt:lpstr>관계의 종류</vt:lpstr>
      <vt:lpstr>관계의 종류</vt:lpstr>
      <vt:lpstr>관계의 종류</vt:lpstr>
      <vt:lpstr>무결성</vt:lpstr>
      <vt:lpstr>무결성</vt:lpstr>
      <vt:lpstr>SQL (Structured Query Language)</vt:lpstr>
      <vt:lpstr>데이터 조회</vt:lpstr>
      <vt:lpstr>주요 함수 또는 유용한 문법</vt:lpstr>
      <vt:lpstr>데이터 정렬</vt:lpstr>
      <vt:lpstr>데이터 필터링</vt:lpstr>
      <vt:lpstr>데이터 필터링</vt:lpstr>
      <vt:lpstr>데이터 필터링</vt:lpstr>
      <vt:lpstr>데이터 필터링</vt:lpstr>
      <vt:lpstr>그룹함수</vt:lpstr>
      <vt:lpstr>데이터 그룹핑</vt:lpstr>
      <vt:lpstr>데이터 그룹핑</vt:lpstr>
      <vt:lpstr>데이터 그룹핑</vt:lpstr>
      <vt:lpstr>데이터 그룹 필터링</vt:lpstr>
      <vt:lpstr>서브 쿼리</vt:lpstr>
      <vt:lpstr>서브 쿼리</vt:lpstr>
      <vt:lpstr>테이블 조인</vt:lpstr>
      <vt:lpstr>테이블 조인</vt:lpstr>
      <vt:lpstr>테이블 조인</vt:lpstr>
      <vt:lpstr>테이블 조인</vt:lpstr>
      <vt:lpstr>테이블 조인</vt:lpstr>
      <vt:lpstr>테이블 조인</vt:lpstr>
      <vt:lpstr>테이블 조인 (INLINE VIEW)</vt:lpstr>
      <vt:lpstr>테이블 조인 (외부조인)</vt:lpstr>
      <vt:lpstr>테이블 조인 (외부조인)</vt:lpstr>
      <vt:lpstr>데이터 삽입</vt:lpstr>
      <vt:lpstr>데이터 삽입 (쿼리결과 삽입)</vt:lpstr>
      <vt:lpstr>데이터 삽입 (테이블 복사)</vt:lpstr>
      <vt:lpstr>데이터 수정</vt:lpstr>
      <vt:lpstr>데이터 삭제</vt:lpstr>
      <vt:lpstr>Sequence</vt:lpstr>
      <vt:lpstr>Sequence</vt:lpstr>
      <vt:lpstr>ER-Diagram</vt:lpstr>
      <vt:lpstr>1. ER-Diagram</vt:lpstr>
      <vt:lpstr>2. Table Constraints</vt:lpstr>
      <vt:lpstr>3. 1 vs 1 Constraints</vt:lpstr>
      <vt:lpstr>4. 1 vs N Constraints</vt:lpstr>
      <vt:lpstr>4. N vs M Constraints</vt:lpstr>
      <vt:lpstr>4. N vs M Constraints</vt:lpstr>
      <vt:lpstr>5. Presentation Constraints</vt:lpstr>
      <vt:lpstr>6. Logical, Physical Diagram</vt:lpstr>
      <vt:lpstr>JDBC 연동</vt:lpstr>
      <vt:lpstr>1. JDBC 연동</vt:lpstr>
      <vt:lpstr>1. JDBC 연동</vt:lpstr>
      <vt:lpstr>1. JDBC 연동</vt:lpstr>
      <vt:lpstr>1. JDBC 연동</vt:lpstr>
      <vt:lpstr>1. JDBC 연동</vt:lpstr>
      <vt:lpstr>1. JDBC 연동</vt:lpstr>
      <vt:lpstr>1. JDBC 연동</vt:lpstr>
      <vt:lpstr>1. JDBC 연동</vt:lpstr>
      <vt:lpstr>감사합니다.</vt:lpstr>
    </vt:vector>
  </TitlesOfParts>
  <Company>GuildDesign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자바교재</dc:title>
  <dc:creator>박철훈</dc:creator>
  <cp:lastModifiedBy>민창 장</cp:lastModifiedBy>
  <cp:revision>726</cp:revision>
  <dcterms:created xsi:type="dcterms:W3CDTF">2004-07-21T02:43:03Z</dcterms:created>
  <dcterms:modified xsi:type="dcterms:W3CDTF">2025-08-20T01:02:34Z</dcterms:modified>
</cp:coreProperties>
</file>