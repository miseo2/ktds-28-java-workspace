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3"/>
  </p:notesMasterIdLst>
  <p:sldIdLst>
    <p:sldId id="256" r:id="rId2"/>
    <p:sldId id="1093" r:id="rId3"/>
    <p:sldId id="392" r:id="rId4"/>
    <p:sldId id="386" r:id="rId5"/>
    <p:sldId id="394" r:id="rId6"/>
    <p:sldId id="393" r:id="rId7"/>
    <p:sldId id="480" r:id="rId8"/>
    <p:sldId id="481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0" r:id="rId22"/>
    <p:sldId id="541" r:id="rId23"/>
    <p:sldId id="542" r:id="rId24"/>
    <p:sldId id="543" r:id="rId25"/>
    <p:sldId id="544" r:id="rId26"/>
    <p:sldId id="545" r:id="rId27"/>
    <p:sldId id="546" r:id="rId28"/>
    <p:sldId id="547" r:id="rId29"/>
    <p:sldId id="548" r:id="rId30"/>
    <p:sldId id="550" r:id="rId31"/>
    <p:sldId id="551" r:id="rId32"/>
    <p:sldId id="552" r:id="rId33"/>
    <p:sldId id="553" r:id="rId34"/>
    <p:sldId id="554" r:id="rId35"/>
    <p:sldId id="555" r:id="rId36"/>
    <p:sldId id="557" r:id="rId37"/>
    <p:sldId id="558" r:id="rId38"/>
    <p:sldId id="559" r:id="rId39"/>
    <p:sldId id="560" r:id="rId40"/>
    <p:sldId id="258" r:id="rId41"/>
    <p:sldId id="484" r:id="rId42"/>
    <p:sldId id="257" r:id="rId43"/>
    <p:sldId id="561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1136" r:id="rId52"/>
    <p:sldId id="489" r:id="rId53"/>
    <p:sldId id="569" r:id="rId54"/>
    <p:sldId id="570" r:id="rId55"/>
    <p:sldId id="488" r:id="rId56"/>
    <p:sldId id="571" r:id="rId57"/>
    <p:sldId id="572" r:id="rId58"/>
    <p:sldId id="573" r:id="rId59"/>
    <p:sldId id="578" r:id="rId60"/>
    <p:sldId id="574" r:id="rId61"/>
    <p:sldId id="575" r:id="rId62"/>
    <p:sldId id="576" r:id="rId63"/>
    <p:sldId id="577" r:id="rId64"/>
    <p:sldId id="579" r:id="rId65"/>
    <p:sldId id="580" r:id="rId66"/>
    <p:sldId id="581" r:id="rId67"/>
    <p:sldId id="582" r:id="rId68"/>
    <p:sldId id="583" r:id="rId69"/>
    <p:sldId id="678" r:id="rId70"/>
    <p:sldId id="490" r:id="rId71"/>
    <p:sldId id="584" r:id="rId72"/>
    <p:sldId id="585" r:id="rId73"/>
    <p:sldId id="491" r:id="rId74"/>
    <p:sldId id="586" r:id="rId75"/>
    <p:sldId id="587" r:id="rId76"/>
    <p:sldId id="588" r:id="rId77"/>
    <p:sldId id="589" r:id="rId78"/>
    <p:sldId id="590" r:id="rId79"/>
    <p:sldId id="591" r:id="rId80"/>
    <p:sldId id="592" r:id="rId81"/>
    <p:sldId id="593" r:id="rId82"/>
    <p:sldId id="594" r:id="rId83"/>
    <p:sldId id="595" r:id="rId84"/>
    <p:sldId id="602" r:id="rId85"/>
    <p:sldId id="603" r:id="rId86"/>
    <p:sldId id="604" r:id="rId87"/>
    <p:sldId id="605" r:id="rId88"/>
    <p:sldId id="596" r:id="rId89"/>
    <p:sldId id="597" r:id="rId90"/>
    <p:sldId id="598" r:id="rId91"/>
    <p:sldId id="599" r:id="rId92"/>
    <p:sldId id="600" r:id="rId93"/>
    <p:sldId id="601" r:id="rId94"/>
    <p:sldId id="492" r:id="rId95"/>
    <p:sldId id="606" r:id="rId96"/>
    <p:sldId id="610" r:id="rId97"/>
    <p:sldId id="611" r:id="rId98"/>
    <p:sldId id="613" r:id="rId99"/>
    <p:sldId id="612" r:id="rId100"/>
    <p:sldId id="608" r:id="rId101"/>
    <p:sldId id="614" r:id="rId102"/>
    <p:sldId id="615" r:id="rId103"/>
    <p:sldId id="616" r:id="rId104"/>
    <p:sldId id="617" r:id="rId105"/>
    <p:sldId id="619" r:id="rId106"/>
    <p:sldId id="618" r:id="rId107"/>
    <p:sldId id="620" r:id="rId108"/>
    <p:sldId id="1134" r:id="rId109"/>
    <p:sldId id="607" r:id="rId110"/>
    <p:sldId id="622" r:id="rId111"/>
    <p:sldId id="623" r:id="rId112"/>
    <p:sldId id="621" r:id="rId113"/>
    <p:sldId id="624" r:id="rId114"/>
    <p:sldId id="625" r:id="rId115"/>
    <p:sldId id="609" r:id="rId116"/>
    <p:sldId id="626" r:id="rId117"/>
    <p:sldId id="627" r:id="rId118"/>
    <p:sldId id="628" r:id="rId119"/>
    <p:sldId id="629" r:id="rId120"/>
    <p:sldId id="630" r:id="rId121"/>
    <p:sldId id="631" r:id="rId122"/>
    <p:sldId id="632" r:id="rId123"/>
    <p:sldId id="633" r:id="rId124"/>
    <p:sldId id="634" r:id="rId125"/>
    <p:sldId id="493" r:id="rId126"/>
    <p:sldId id="651" r:id="rId127"/>
    <p:sldId id="635" r:id="rId128"/>
    <p:sldId id="638" r:id="rId129"/>
    <p:sldId id="636" r:id="rId130"/>
    <p:sldId id="679" r:id="rId131"/>
    <p:sldId id="637" r:id="rId132"/>
    <p:sldId id="639" r:id="rId133"/>
    <p:sldId id="640" r:id="rId134"/>
    <p:sldId id="641" r:id="rId135"/>
    <p:sldId id="1135" r:id="rId136"/>
    <p:sldId id="652" r:id="rId137"/>
    <p:sldId id="642" r:id="rId138"/>
    <p:sldId id="646" r:id="rId139"/>
    <p:sldId id="643" r:id="rId140"/>
    <p:sldId id="644" r:id="rId141"/>
    <p:sldId id="647" r:id="rId142"/>
    <p:sldId id="645" r:id="rId143"/>
    <p:sldId id="648" r:id="rId144"/>
    <p:sldId id="649" r:id="rId145"/>
    <p:sldId id="653" r:id="rId146"/>
    <p:sldId id="650" r:id="rId147"/>
    <p:sldId id="654" r:id="rId148"/>
    <p:sldId id="655" r:id="rId149"/>
    <p:sldId id="656" r:id="rId150"/>
    <p:sldId id="657" r:id="rId151"/>
    <p:sldId id="658" r:id="rId152"/>
    <p:sldId id="659" r:id="rId153"/>
    <p:sldId id="1137" r:id="rId154"/>
    <p:sldId id="660" r:id="rId155"/>
    <p:sldId id="661" r:id="rId156"/>
    <p:sldId id="662" r:id="rId157"/>
    <p:sldId id="663" r:id="rId158"/>
    <p:sldId id="664" r:id="rId159"/>
    <p:sldId id="665" r:id="rId160"/>
    <p:sldId id="666" r:id="rId161"/>
    <p:sldId id="667" r:id="rId162"/>
    <p:sldId id="668" r:id="rId163"/>
    <p:sldId id="1138" r:id="rId164"/>
    <p:sldId id="494" r:id="rId165"/>
    <p:sldId id="670" r:id="rId166"/>
    <p:sldId id="671" r:id="rId167"/>
    <p:sldId id="672" r:id="rId168"/>
    <p:sldId id="673" r:id="rId169"/>
    <p:sldId id="674" r:id="rId170"/>
    <p:sldId id="675" r:id="rId171"/>
    <p:sldId id="677" r:id="rId172"/>
    <p:sldId id="676" r:id="rId173"/>
    <p:sldId id="681" r:id="rId174"/>
    <p:sldId id="1139" r:id="rId175"/>
    <p:sldId id="682" r:id="rId176"/>
    <p:sldId id="683" r:id="rId177"/>
    <p:sldId id="684" r:id="rId178"/>
    <p:sldId id="685" r:id="rId179"/>
    <p:sldId id="686" r:id="rId180"/>
    <p:sldId id="687" r:id="rId181"/>
    <p:sldId id="688" r:id="rId182"/>
    <p:sldId id="689" r:id="rId183"/>
    <p:sldId id="1140" r:id="rId184"/>
    <p:sldId id="495" r:id="rId185"/>
    <p:sldId id="753" r:id="rId186"/>
    <p:sldId id="680" r:id="rId187"/>
    <p:sldId id="690" r:id="rId188"/>
    <p:sldId id="691" r:id="rId189"/>
    <p:sldId id="692" r:id="rId190"/>
    <p:sldId id="693" r:id="rId191"/>
    <p:sldId id="696" r:id="rId192"/>
    <p:sldId id="697" r:id="rId193"/>
    <p:sldId id="698" r:id="rId194"/>
    <p:sldId id="699" r:id="rId195"/>
    <p:sldId id="700" r:id="rId196"/>
    <p:sldId id="708" r:id="rId197"/>
    <p:sldId id="710" r:id="rId198"/>
    <p:sldId id="711" r:id="rId199"/>
    <p:sldId id="712" r:id="rId200"/>
    <p:sldId id="713" r:id="rId201"/>
    <p:sldId id="714" r:id="rId202"/>
    <p:sldId id="702" r:id="rId203"/>
    <p:sldId id="701" r:id="rId204"/>
    <p:sldId id="703" r:id="rId205"/>
    <p:sldId id="704" r:id="rId206"/>
    <p:sldId id="705" r:id="rId207"/>
    <p:sldId id="706" r:id="rId208"/>
    <p:sldId id="707" r:id="rId209"/>
    <p:sldId id="709" r:id="rId210"/>
    <p:sldId id="717" r:id="rId211"/>
    <p:sldId id="716" r:id="rId212"/>
    <p:sldId id="718" r:id="rId213"/>
    <p:sldId id="719" r:id="rId214"/>
    <p:sldId id="721" r:id="rId215"/>
    <p:sldId id="723" r:id="rId216"/>
    <p:sldId id="724" r:id="rId217"/>
    <p:sldId id="725" r:id="rId218"/>
    <p:sldId id="726" r:id="rId219"/>
    <p:sldId id="749" r:id="rId220"/>
    <p:sldId id="727" r:id="rId221"/>
    <p:sldId id="728" r:id="rId222"/>
    <p:sldId id="729" r:id="rId223"/>
    <p:sldId id="730" r:id="rId224"/>
    <p:sldId id="732" r:id="rId225"/>
    <p:sldId id="731" r:id="rId226"/>
    <p:sldId id="733" r:id="rId227"/>
    <p:sldId id="734" r:id="rId228"/>
    <p:sldId id="735" r:id="rId229"/>
    <p:sldId id="736" r:id="rId230"/>
    <p:sldId id="737" r:id="rId231"/>
    <p:sldId id="738" r:id="rId232"/>
    <p:sldId id="750" r:id="rId233"/>
    <p:sldId id="694" r:id="rId234"/>
    <p:sldId id="739" r:id="rId235"/>
    <p:sldId id="741" r:id="rId236"/>
    <p:sldId id="746" r:id="rId237"/>
    <p:sldId id="744" r:id="rId238"/>
    <p:sldId id="742" r:id="rId239"/>
    <p:sldId id="743" r:id="rId240"/>
    <p:sldId id="745" r:id="rId241"/>
    <p:sldId id="747" r:id="rId242"/>
    <p:sldId id="751" r:id="rId243"/>
    <p:sldId id="695" r:id="rId244"/>
    <p:sldId id="482" r:id="rId245"/>
    <p:sldId id="496" r:id="rId246"/>
    <p:sldId id="756" r:id="rId247"/>
    <p:sldId id="757" r:id="rId248"/>
    <p:sldId id="758" r:id="rId249"/>
    <p:sldId id="759" r:id="rId250"/>
    <p:sldId id="760" r:id="rId251"/>
    <p:sldId id="761" r:id="rId252"/>
    <p:sldId id="762" r:id="rId253"/>
    <p:sldId id="763" r:id="rId254"/>
    <p:sldId id="764" r:id="rId255"/>
    <p:sldId id="765" r:id="rId256"/>
    <p:sldId id="766" r:id="rId257"/>
    <p:sldId id="767" r:id="rId258"/>
    <p:sldId id="768" r:id="rId259"/>
    <p:sldId id="769" r:id="rId260"/>
    <p:sldId id="770" r:id="rId261"/>
    <p:sldId id="752" r:id="rId262"/>
    <p:sldId id="771" r:id="rId263"/>
    <p:sldId id="748" r:id="rId264"/>
    <p:sldId id="772" r:id="rId265"/>
    <p:sldId id="773" r:id="rId266"/>
    <p:sldId id="774" r:id="rId267"/>
    <p:sldId id="754" r:id="rId268"/>
    <p:sldId id="775" r:id="rId269"/>
    <p:sldId id="776" r:id="rId270"/>
    <p:sldId id="777" r:id="rId271"/>
    <p:sldId id="778" r:id="rId272"/>
    <p:sldId id="779" r:id="rId273"/>
    <p:sldId id="780" r:id="rId274"/>
    <p:sldId id="781" r:id="rId275"/>
    <p:sldId id="782" r:id="rId276"/>
    <p:sldId id="783" r:id="rId277"/>
    <p:sldId id="784" r:id="rId278"/>
    <p:sldId id="785" r:id="rId279"/>
    <p:sldId id="786" r:id="rId280"/>
    <p:sldId id="787" r:id="rId281"/>
    <p:sldId id="788" r:id="rId282"/>
    <p:sldId id="789" r:id="rId283"/>
    <p:sldId id="790" r:id="rId284"/>
    <p:sldId id="791" r:id="rId285"/>
    <p:sldId id="792" r:id="rId286"/>
    <p:sldId id="497" r:id="rId287"/>
    <p:sldId id="794" r:id="rId288"/>
    <p:sldId id="793" r:id="rId289"/>
    <p:sldId id="795" r:id="rId290"/>
    <p:sldId id="796" r:id="rId291"/>
    <p:sldId id="797" r:id="rId292"/>
    <p:sldId id="798" r:id="rId293"/>
    <p:sldId id="799" r:id="rId294"/>
    <p:sldId id="800" r:id="rId295"/>
    <p:sldId id="802" r:id="rId296"/>
    <p:sldId id="801" r:id="rId297"/>
    <p:sldId id="803" r:id="rId298"/>
    <p:sldId id="805" r:id="rId299"/>
    <p:sldId id="804" r:id="rId300"/>
    <p:sldId id="806" r:id="rId301"/>
    <p:sldId id="808" r:id="rId302"/>
    <p:sldId id="807" r:id="rId303"/>
    <p:sldId id="809" r:id="rId304"/>
    <p:sldId id="498" r:id="rId305"/>
    <p:sldId id="810" r:id="rId306"/>
    <p:sldId id="811" r:id="rId307"/>
    <p:sldId id="812" r:id="rId308"/>
    <p:sldId id="813" r:id="rId309"/>
    <p:sldId id="814" r:id="rId310"/>
    <p:sldId id="815" r:id="rId311"/>
    <p:sldId id="816" r:id="rId312"/>
    <p:sldId id="817" r:id="rId313"/>
    <p:sldId id="818" r:id="rId314"/>
    <p:sldId id="499" r:id="rId315"/>
    <p:sldId id="825" r:id="rId316"/>
    <p:sldId id="837" r:id="rId317"/>
    <p:sldId id="828" r:id="rId318"/>
    <p:sldId id="829" r:id="rId319"/>
    <p:sldId id="830" r:id="rId320"/>
    <p:sldId id="831" r:id="rId321"/>
    <p:sldId id="832" r:id="rId322"/>
    <p:sldId id="833" r:id="rId323"/>
    <p:sldId id="834" r:id="rId324"/>
    <p:sldId id="835" r:id="rId325"/>
    <p:sldId id="836" r:id="rId326"/>
    <p:sldId id="838" r:id="rId327"/>
    <p:sldId id="1141" r:id="rId328"/>
    <p:sldId id="821" r:id="rId329"/>
    <p:sldId id="840" r:id="rId330"/>
    <p:sldId id="841" r:id="rId331"/>
    <p:sldId id="824" r:id="rId332"/>
    <p:sldId id="842" r:id="rId333"/>
    <p:sldId id="843" r:id="rId334"/>
    <p:sldId id="852" r:id="rId335"/>
    <p:sldId id="849" r:id="rId336"/>
    <p:sldId id="850" r:id="rId337"/>
    <p:sldId id="851" r:id="rId338"/>
    <p:sldId id="827" r:id="rId339"/>
    <p:sldId id="853" r:id="rId340"/>
    <p:sldId id="854" r:id="rId341"/>
    <p:sldId id="855" r:id="rId342"/>
    <p:sldId id="856" r:id="rId343"/>
    <p:sldId id="501" r:id="rId344"/>
    <p:sldId id="861" r:id="rId345"/>
    <p:sldId id="864" r:id="rId346"/>
    <p:sldId id="865" r:id="rId347"/>
    <p:sldId id="866" r:id="rId348"/>
    <p:sldId id="867" r:id="rId349"/>
    <p:sldId id="868" r:id="rId350"/>
    <p:sldId id="869" r:id="rId351"/>
    <p:sldId id="870" r:id="rId352"/>
    <p:sldId id="871" r:id="rId353"/>
    <p:sldId id="872" r:id="rId354"/>
    <p:sldId id="873" r:id="rId355"/>
    <p:sldId id="874" r:id="rId356"/>
    <p:sldId id="877" r:id="rId357"/>
    <p:sldId id="878" r:id="rId358"/>
    <p:sldId id="875" r:id="rId359"/>
    <p:sldId id="1142" r:id="rId360"/>
    <p:sldId id="502" r:id="rId361"/>
    <p:sldId id="887" r:id="rId362"/>
    <p:sldId id="862" r:id="rId363"/>
    <p:sldId id="904" r:id="rId364"/>
    <p:sldId id="905" r:id="rId365"/>
    <p:sldId id="906" r:id="rId366"/>
    <p:sldId id="909" r:id="rId367"/>
    <p:sldId id="918" r:id="rId368"/>
    <p:sldId id="908" r:id="rId369"/>
    <p:sldId id="907" r:id="rId370"/>
    <p:sldId id="910" r:id="rId371"/>
    <p:sldId id="911" r:id="rId372"/>
    <p:sldId id="912" r:id="rId373"/>
    <p:sldId id="913" r:id="rId374"/>
    <p:sldId id="914" r:id="rId375"/>
    <p:sldId id="915" r:id="rId376"/>
    <p:sldId id="916" r:id="rId377"/>
    <p:sldId id="892" r:id="rId378"/>
    <p:sldId id="893" r:id="rId379"/>
    <p:sldId id="894" r:id="rId380"/>
    <p:sldId id="895" r:id="rId381"/>
    <p:sldId id="917" r:id="rId382"/>
    <p:sldId id="886" r:id="rId383"/>
    <p:sldId id="888" r:id="rId384"/>
    <p:sldId id="879" r:id="rId385"/>
    <p:sldId id="889" r:id="rId386"/>
    <p:sldId id="920" r:id="rId387"/>
    <p:sldId id="921" r:id="rId388"/>
    <p:sldId id="503" r:id="rId389"/>
    <p:sldId id="863" r:id="rId390"/>
    <p:sldId id="922" r:id="rId391"/>
    <p:sldId id="896" r:id="rId392"/>
    <p:sldId id="899" r:id="rId393"/>
    <p:sldId id="923" r:id="rId394"/>
    <p:sldId id="483" r:id="rId395"/>
    <p:sldId id="505" r:id="rId396"/>
    <p:sldId id="881" r:id="rId397"/>
    <p:sldId id="924" r:id="rId398"/>
    <p:sldId id="925" r:id="rId399"/>
    <p:sldId id="926" r:id="rId400"/>
    <p:sldId id="927" r:id="rId401"/>
    <p:sldId id="928" r:id="rId402"/>
    <p:sldId id="929" r:id="rId403"/>
    <p:sldId id="930" r:id="rId404"/>
    <p:sldId id="931" r:id="rId405"/>
    <p:sldId id="932" r:id="rId406"/>
    <p:sldId id="882" r:id="rId407"/>
    <p:sldId id="933" r:id="rId408"/>
    <p:sldId id="959" r:id="rId409"/>
    <p:sldId id="960" r:id="rId410"/>
    <p:sldId id="961" r:id="rId411"/>
    <p:sldId id="963" r:id="rId412"/>
    <p:sldId id="964" r:id="rId413"/>
    <p:sldId id="965" r:id="rId414"/>
    <p:sldId id="966" r:id="rId415"/>
    <p:sldId id="967" r:id="rId416"/>
    <p:sldId id="968" r:id="rId417"/>
    <p:sldId id="969" r:id="rId418"/>
    <p:sldId id="970" r:id="rId419"/>
    <p:sldId id="971" r:id="rId420"/>
    <p:sldId id="972" r:id="rId421"/>
    <p:sldId id="973" r:id="rId422"/>
    <p:sldId id="974" r:id="rId423"/>
    <p:sldId id="958" r:id="rId424"/>
    <p:sldId id="935" r:id="rId425"/>
    <p:sldId id="934" r:id="rId426"/>
    <p:sldId id="936" r:id="rId427"/>
    <p:sldId id="937" r:id="rId428"/>
    <p:sldId id="938" r:id="rId429"/>
    <p:sldId id="939" r:id="rId430"/>
    <p:sldId id="940" r:id="rId431"/>
    <p:sldId id="941" r:id="rId432"/>
    <p:sldId id="942" r:id="rId433"/>
    <p:sldId id="943" r:id="rId434"/>
    <p:sldId id="955" r:id="rId435"/>
    <p:sldId id="956" r:id="rId436"/>
    <p:sldId id="884" r:id="rId437"/>
    <p:sldId id="1094" r:id="rId438"/>
    <p:sldId id="945" r:id="rId439"/>
    <p:sldId id="946" r:id="rId440"/>
    <p:sldId id="947" r:id="rId441"/>
    <p:sldId id="948" r:id="rId442"/>
    <p:sldId id="883" r:id="rId443"/>
    <p:sldId id="949" r:id="rId444"/>
    <p:sldId id="950" r:id="rId445"/>
    <p:sldId id="951" r:id="rId446"/>
    <p:sldId id="952" r:id="rId447"/>
    <p:sldId id="953" r:id="rId448"/>
    <p:sldId id="954" r:id="rId449"/>
    <p:sldId id="957" r:id="rId450"/>
    <p:sldId id="506" r:id="rId451"/>
    <p:sldId id="975" r:id="rId452"/>
    <p:sldId id="976" r:id="rId453"/>
    <p:sldId id="977" r:id="rId454"/>
    <p:sldId id="902" r:id="rId455"/>
    <p:sldId id="978" r:id="rId456"/>
    <p:sldId id="979" r:id="rId457"/>
    <p:sldId id="980" r:id="rId458"/>
    <p:sldId id="981" r:id="rId459"/>
    <p:sldId id="982" r:id="rId460"/>
    <p:sldId id="983" r:id="rId461"/>
    <p:sldId id="984" r:id="rId462"/>
    <p:sldId id="903" r:id="rId463"/>
    <p:sldId id="985" r:id="rId464"/>
    <p:sldId id="986" r:id="rId465"/>
    <p:sldId id="987" r:id="rId466"/>
    <p:sldId id="988" r:id="rId467"/>
    <p:sldId id="989" r:id="rId468"/>
    <p:sldId id="990" r:id="rId469"/>
    <p:sldId id="991" r:id="rId470"/>
    <p:sldId id="992" r:id="rId471"/>
    <p:sldId id="993" r:id="rId472"/>
    <p:sldId id="901" r:id="rId473"/>
    <p:sldId id="994" r:id="rId474"/>
    <p:sldId id="995" r:id="rId475"/>
    <p:sldId id="996" r:id="rId476"/>
    <p:sldId id="997" r:id="rId477"/>
    <p:sldId id="998" r:id="rId478"/>
    <p:sldId id="999" r:id="rId479"/>
    <p:sldId id="1000" r:id="rId480"/>
    <p:sldId id="1001" r:id="rId481"/>
    <p:sldId id="1002" r:id="rId482"/>
    <p:sldId id="1003" r:id="rId483"/>
    <p:sldId id="900" r:id="rId484"/>
    <p:sldId id="1004" r:id="rId485"/>
    <p:sldId id="1005" r:id="rId486"/>
    <p:sldId id="1006" r:id="rId487"/>
    <p:sldId id="509" r:id="rId488"/>
    <p:sldId id="1007" r:id="rId489"/>
    <p:sldId id="823" r:id="rId490"/>
    <p:sldId id="1008" r:id="rId491"/>
    <p:sldId id="1009" r:id="rId492"/>
    <p:sldId id="1010" r:id="rId493"/>
    <p:sldId id="1011" r:id="rId494"/>
    <p:sldId id="1012" r:id="rId495"/>
    <p:sldId id="1015" r:id="rId496"/>
    <p:sldId id="1013" r:id="rId497"/>
    <p:sldId id="1014" r:id="rId498"/>
    <p:sldId id="1016" r:id="rId499"/>
    <p:sldId id="1017" r:id="rId500"/>
    <p:sldId id="1018" r:id="rId501"/>
    <p:sldId id="1019" r:id="rId502"/>
    <p:sldId id="1020" r:id="rId503"/>
    <p:sldId id="1021" r:id="rId504"/>
    <p:sldId id="1022" r:id="rId505"/>
    <p:sldId id="1023" r:id="rId506"/>
    <p:sldId id="822" r:id="rId507"/>
    <p:sldId id="1024" r:id="rId508"/>
    <p:sldId id="1025" r:id="rId509"/>
    <p:sldId id="1026" r:id="rId510"/>
    <p:sldId id="1027" r:id="rId511"/>
    <p:sldId id="1028" r:id="rId512"/>
    <p:sldId id="1029" r:id="rId513"/>
    <p:sldId id="1030" r:id="rId514"/>
    <p:sldId id="1031" r:id="rId515"/>
    <p:sldId id="1032" r:id="rId516"/>
    <p:sldId id="1033" r:id="rId517"/>
    <p:sldId id="1034" r:id="rId518"/>
    <p:sldId id="1035" r:id="rId519"/>
    <p:sldId id="1036" r:id="rId520"/>
    <p:sldId id="1037" r:id="rId521"/>
    <p:sldId id="1038" r:id="rId522"/>
    <p:sldId id="1039" r:id="rId523"/>
    <p:sldId id="1040" r:id="rId524"/>
    <p:sldId id="1041" r:id="rId525"/>
    <p:sldId id="1042" r:id="rId526"/>
    <p:sldId id="1043" r:id="rId527"/>
    <p:sldId id="1044" r:id="rId528"/>
    <p:sldId id="1045" r:id="rId529"/>
    <p:sldId id="1046" r:id="rId530"/>
    <p:sldId id="1047" r:id="rId531"/>
    <p:sldId id="1048" r:id="rId532"/>
    <p:sldId id="1049" r:id="rId533"/>
    <p:sldId id="1050" r:id="rId534"/>
    <p:sldId id="1051" r:id="rId535"/>
    <p:sldId id="1052" r:id="rId536"/>
    <p:sldId id="1053" r:id="rId537"/>
    <p:sldId id="510" r:id="rId538"/>
    <p:sldId id="1054" r:id="rId539"/>
    <p:sldId id="1055" r:id="rId540"/>
    <p:sldId id="1057" r:id="rId541"/>
    <p:sldId id="1058" r:id="rId542"/>
    <p:sldId id="1056" r:id="rId543"/>
    <p:sldId id="1059" r:id="rId544"/>
    <p:sldId id="1061" r:id="rId545"/>
    <p:sldId id="1062" r:id="rId546"/>
    <p:sldId id="1063" r:id="rId547"/>
    <p:sldId id="1060" r:id="rId548"/>
    <p:sldId id="1064" r:id="rId549"/>
    <p:sldId id="1065" r:id="rId550"/>
    <p:sldId id="1066" r:id="rId551"/>
    <p:sldId id="1067" r:id="rId552"/>
    <p:sldId id="1068" r:id="rId553"/>
    <p:sldId id="1069" r:id="rId554"/>
    <p:sldId id="1070" r:id="rId555"/>
    <p:sldId id="1071" r:id="rId556"/>
    <p:sldId id="1072" r:id="rId557"/>
    <p:sldId id="511" r:id="rId558"/>
    <p:sldId id="1073" r:id="rId559"/>
    <p:sldId id="1074" r:id="rId560"/>
    <p:sldId id="1075" r:id="rId561"/>
    <p:sldId id="1076" r:id="rId562"/>
    <p:sldId id="1077" r:id="rId563"/>
    <p:sldId id="1078" r:id="rId564"/>
    <p:sldId id="1079" r:id="rId565"/>
    <p:sldId id="844" r:id="rId566"/>
    <p:sldId id="1083" r:id="rId567"/>
    <p:sldId id="1081" r:id="rId568"/>
    <p:sldId id="1080" r:id="rId569"/>
    <p:sldId id="1085" r:id="rId570"/>
    <p:sldId id="1086" r:id="rId571"/>
    <p:sldId id="1082" r:id="rId572"/>
    <p:sldId id="1084" r:id="rId573"/>
    <p:sldId id="1087" r:id="rId574"/>
    <p:sldId id="1088" r:id="rId575"/>
    <p:sldId id="1089" r:id="rId576"/>
    <p:sldId id="1090" r:id="rId577"/>
    <p:sldId id="1091" r:id="rId578"/>
    <p:sldId id="1092" r:id="rId579"/>
    <p:sldId id="1095" r:id="rId580"/>
    <p:sldId id="1096" r:id="rId581"/>
    <p:sldId id="485" r:id="rId582"/>
    <p:sldId id="486" r:id="rId583"/>
    <p:sldId id="487" r:id="rId584"/>
    <p:sldId id="1097" r:id="rId585"/>
    <p:sldId id="1098" r:id="rId586"/>
    <p:sldId id="1099" r:id="rId587"/>
    <p:sldId id="1100" r:id="rId588"/>
    <p:sldId id="1101" r:id="rId589"/>
    <p:sldId id="1102" r:id="rId590"/>
    <p:sldId id="1103" r:id="rId591"/>
    <p:sldId id="1104" r:id="rId592"/>
    <p:sldId id="1105" r:id="rId593"/>
    <p:sldId id="504" r:id="rId594"/>
    <p:sldId id="1106" r:id="rId595"/>
    <p:sldId id="1107" r:id="rId596"/>
    <p:sldId id="507" r:id="rId597"/>
    <p:sldId id="508" r:id="rId598"/>
    <p:sldId id="1108" r:id="rId599"/>
    <p:sldId id="1109" r:id="rId600"/>
    <p:sldId id="516" r:id="rId601"/>
    <p:sldId id="517" r:id="rId602"/>
    <p:sldId id="518" r:id="rId603"/>
    <p:sldId id="519" r:id="rId604"/>
    <p:sldId id="1110" r:id="rId605"/>
    <p:sldId id="1111" r:id="rId606"/>
    <p:sldId id="520" r:id="rId607"/>
    <p:sldId id="1112" r:id="rId608"/>
    <p:sldId id="1113" r:id="rId609"/>
    <p:sldId id="521" r:id="rId610"/>
    <p:sldId id="522" r:id="rId611"/>
    <p:sldId id="523" r:id="rId612"/>
    <p:sldId id="1114" r:id="rId613"/>
    <p:sldId id="512" r:id="rId614"/>
    <p:sldId id="524" r:id="rId615"/>
    <p:sldId id="525" r:id="rId616"/>
    <p:sldId id="526" r:id="rId617"/>
    <p:sldId id="1115" r:id="rId618"/>
    <p:sldId id="513" r:id="rId619"/>
    <p:sldId id="527" r:id="rId620"/>
    <p:sldId id="1116" r:id="rId621"/>
    <p:sldId id="514" r:id="rId622"/>
    <p:sldId id="1117" r:id="rId623"/>
    <p:sldId id="500" r:id="rId624"/>
    <p:sldId id="1118" r:id="rId625"/>
    <p:sldId id="515" r:id="rId626"/>
    <p:sldId id="1119" r:id="rId627"/>
    <p:sldId id="1120" r:id="rId628"/>
    <p:sldId id="1121" r:id="rId629"/>
    <p:sldId id="1122" r:id="rId630"/>
    <p:sldId id="1123" r:id="rId631"/>
    <p:sldId id="1124" r:id="rId632"/>
    <p:sldId id="1125" r:id="rId633"/>
    <p:sldId id="1126" r:id="rId634"/>
    <p:sldId id="1127" r:id="rId635"/>
    <p:sldId id="1128" r:id="rId636"/>
    <p:sldId id="1129" r:id="rId637"/>
    <p:sldId id="1130" r:id="rId638"/>
    <p:sldId id="1131" r:id="rId639"/>
    <p:sldId id="1132" r:id="rId640"/>
    <p:sldId id="1133" r:id="rId641"/>
    <p:sldId id="449" r:id="rId6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5D27F0C-D8FD-4D06-8C51-CBD231BAB42A}">
          <p14:sldIdLst>
            <p14:sldId id="256"/>
          </p14:sldIdLst>
        </p14:section>
        <p14:section name="개요" id="{BA5D16DC-A304-48F6-B458-4FF2DF69A64B}">
          <p14:sldIdLst>
            <p14:sldId id="1093"/>
            <p14:sldId id="392"/>
            <p14:sldId id="386"/>
            <p14:sldId id="394"/>
            <p14:sldId id="393"/>
          </p14:sldIdLst>
        </p14:section>
        <p14:section name="Java Programming Dev Env" id="{36FCE7D5-028A-4C4C-9D26-7FF0D8859D22}">
          <p14:sldIdLst>
            <p14:sldId id="480"/>
          </p14:sldIdLst>
        </p14:section>
        <p14:section name="Java 설치" id="{51B66F1D-6E7D-44EB-83AB-F86A221D1A5A}">
          <p14:sldIdLst>
            <p14:sldId id="481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</p14:sldIdLst>
        </p14:section>
        <p14:section name="Eclipse 설치" id="{22C2F1C8-48B4-41BC-B4A9-51C04E2B4431}">
          <p14:sldIdLst>
            <p14:sldId id="544"/>
            <p14:sldId id="545"/>
            <p14:sldId id="546"/>
            <p14:sldId id="547"/>
            <p14:sldId id="548"/>
            <p14:sldId id="550"/>
            <p14:sldId id="551"/>
            <p14:sldId id="552"/>
            <p14:sldId id="553"/>
            <p14:sldId id="554"/>
            <p14:sldId id="555"/>
            <p14:sldId id="557"/>
            <p14:sldId id="558"/>
            <p14:sldId id="559"/>
            <p14:sldId id="560"/>
          </p14:sldIdLst>
        </p14:section>
        <p14:section name="기초 목차" id="{4528CDDD-73BE-438D-A07A-1DE456BDCCBF}">
          <p14:sldIdLst>
            <p14:sldId id="258"/>
          </p14:sldIdLst>
        </p14:section>
        <p14:section name="1. Hello Java Programming" id="{FEACD5AD-74F1-48A4-A42C-EEF8C0874FC8}">
          <p14:sldIdLst>
            <p14:sldId id="484"/>
            <p14:sldId id="257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1136"/>
          </p14:sldIdLst>
        </p14:section>
        <p14:section name="2. 자료형" id="{F9625B27-7BD0-45B1-A7F8-226BA2306846}">
          <p14:sldIdLst>
            <p14:sldId id="489"/>
            <p14:sldId id="569"/>
            <p14:sldId id="570"/>
          </p14:sldIdLst>
        </p14:section>
        <p14:section name="3. 변수와 변수의 범위" id="{2FF33810-011D-44EB-A637-157DB703729E}">
          <p14:sldIdLst>
            <p14:sldId id="488"/>
            <p14:sldId id="571"/>
            <p14:sldId id="572"/>
            <p14:sldId id="573"/>
            <p14:sldId id="578"/>
            <p14:sldId id="574"/>
            <p14:sldId id="575"/>
            <p14:sldId id="576"/>
            <p14:sldId id="577"/>
            <p14:sldId id="579"/>
            <p14:sldId id="580"/>
            <p14:sldId id="581"/>
            <p14:sldId id="582"/>
            <p14:sldId id="583"/>
            <p14:sldId id="678"/>
          </p14:sldIdLst>
        </p14:section>
        <p14:section name="4. 상수" id="{4AF7441B-63EA-433D-8FF3-EE2AC69C02F9}">
          <p14:sldIdLst>
            <p14:sldId id="490"/>
            <p14:sldId id="584"/>
            <p14:sldId id="585"/>
          </p14:sldIdLst>
        </p14:section>
        <p14:section name="5. 형 변환" id="{EA820C51-0A97-4796-A3A7-3BB3720286C7}">
          <p14:sldIdLst>
            <p14:sldId id="491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602"/>
            <p14:sldId id="603"/>
            <p14:sldId id="604"/>
            <p14:sldId id="605"/>
            <p14:sldId id="596"/>
            <p14:sldId id="597"/>
            <p14:sldId id="598"/>
            <p14:sldId id="599"/>
            <p14:sldId id="600"/>
            <p14:sldId id="601"/>
          </p14:sldIdLst>
        </p14:section>
        <p14:section name="6. 연산자" id="{97836C23-4B69-4628-8A85-980BF220D4CC}">
          <p14:sldIdLst>
            <p14:sldId id="492"/>
          </p14:sldIdLst>
        </p14:section>
        <p14:section name="6. 연산자 - 산술 연산자" id="{D6607847-94D1-4C1A-9233-BD1EB5F7C7C2}">
          <p14:sldIdLst>
            <p14:sldId id="606"/>
            <p14:sldId id="610"/>
            <p14:sldId id="611"/>
            <p14:sldId id="613"/>
            <p14:sldId id="612"/>
            <p14:sldId id="608"/>
            <p14:sldId id="614"/>
            <p14:sldId id="615"/>
            <p14:sldId id="616"/>
            <p14:sldId id="617"/>
            <p14:sldId id="619"/>
            <p14:sldId id="618"/>
            <p14:sldId id="620"/>
            <p14:sldId id="1134"/>
          </p14:sldIdLst>
        </p14:section>
        <p14:section name="6. 연산자 - 비교 연산자" id="{1AC41937-3F00-41B4-B18F-B66C9B615A1A}">
          <p14:sldIdLst>
            <p14:sldId id="607"/>
            <p14:sldId id="622"/>
            <p14:sldId id="623"/>
          </p14:sldIdLst>
        </p14:section>
        <p14:section name="6. 연산자 - 논리 연산자" id="{6ABD13F7-30C0-4477-8295-321C0089504C}">
          <p14:sldIdLst>
            <p14:sldId id="621"/>
            <p14:sldId id="624"/>
            <p14:sldId id="625"/>
            <p14:sldId id="609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</p14:sldIdLst>
        </p14:section>
        <p14:section name="7. 실행흐름 제어" id="{5FE38CEF-C0A3-4B48-BB3E-8FA46B85BE7A}">
          <p14:sldIdLst>
            <p14:sldId id="493"/>
          </p14:sldIdLst>
        </p14:section>
        <p14:section name="7. 실행흐름 제어 - if" id="{0039C518-C9BF-455F-8BA3-EF2E2458E4F7}">
          <p14:sldIdLst>
            <p14:sldId id="651"/>
            <p14:sldId id="635"/>
            <p14:sldId id="638"/>
            <p14:sldId id="636"/>
            <p14:sldId id="679"/>
            <p14:sldId id="637"/>
            <p14:sldId id="639"/>
            <p14:sldId id="640"/>
            <p14:sldId id="641"/>
            <p14:sldId id="1135"/>
          </p14:sldIdLst>
        </p14:section>
        <p14:section name="7. 실행흐름 제어 - switch" id="{19D8AF2B-8E9A-40AF-AFFF-E6F098A09C01}">
          <p14:sldIdLst>
            <p14:sldId id="652"/>
            <p14:sldId id="642"/>
            <p14:sldId id="646"/>
            <p14:sldId id="643"/>
            <p14:sldId id="644"/>
            <p14:sldId id="647"/>
            <p14:sldId id="645"/>
            <p14:sldId id="648"/>
            <p14:sldId id="649"/>
          </p14:sldIdLst>
        </p14:section>
        <p14:section name="7. 실행흐름 제어 - while" id="{3EDC4807-2079-45BF-A0E1-26095D9889A5}">
          <p14:sldIdLst>
            <p14:sldId id="653"/>
            <p14:sldId id="650"/>
            <p14:sldId id="654"/>
            <p14:sldId id="655"/>
            <p14:sldId id="656"/>
            <p14:sldId id="657"/>
            <p14:sldId id="658"/>
            <p14:sldId id="659"/>
            <p14:sldId id="1137"/>
          </p14:sldIdLst>
        </p14:section>
        <p14:section name="7. 실행흐름 제어 - for" id="{3AEE927A-2CF4-4C41-9FA2-DE3800E0C377}">
          <p14:sldIdLst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1138"/>
          </p14:sldIdLst>
        </p14:section>
        <p14:section name="8. 메소드" id="{4432443A-B106-496A-9B96-0955C9EEC3F1}">
          <p14:sldIdLst>
            <p14:sldId id="494"/>
            <p14:sldId id="670"/>
            <p14:sldId id="671"/>
            <p14:sldId id="672"/>
            <p14:sldId id="673"/>
            <p14:sldId id="674"/>
            <p14:sldId id="675"/>
            <p14:sldId id="677"/>
            <p14:sldId id="676"/>
            <p14:sldId id="681"/>
            <p14:sldId id="1139"/>
          </p14:sldIdLst>
        </p14:section>
        <p14:section name="8. 메소드 - 반환하는 메소드" id="{027AFF76-429C-45F9-9E74-1EC6305E92A0}">
          <p14:sldIdLst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1140"/>
          </p14:sldIdLst>
        </p14:section>
        <p14:section name="9. 클래스 / 인스턴스 / 생성자" id="{BFC36BAC-DE37-48FB-A102-0FB1C70A9B23}">
          <p14:sldIdLst>
            <p14:sldId id="495"/>
          </p14:sldIdLst>
        </p14:section>
        <p14:section name="9. 클래스와 인스턴스" id="{015E08DF-E0D5-4156-9B86-14B21ADBE664}">
          <p14:sldIdLst>
            <p14:sldId id="753"/>
            <p14:sldId id="680"/>
            <p14:sldId id="690"/>
            <p14:sldId id="691"/>
            <p14:sldId id="692"/>
            <p14:sldId id="693"/>
            <p14:sldId id="696"/>
            <p14:sldId id="697"/>
            <p14:sldId id="698"/>
            <p14:sldId id="699"/>
            <p14:sldId id="700"/>
            <p14:sldId id="708"/>
            <p14:sldId id="710"/>
            <p14:sldId id="711"/>
            <p14:sldId id="712"/>
            <p14:sldId id="713"/>
            <p14:sldId id="714"/>
            <p14:sldId id="702"/>
            <p14:sldId id="701"/>
            <p14:sldId id="703"/>
            <p14:sldId id="704"/>
            <p14:sldId id="705"/>
            <p14:sldId id="706"/>
            <p14:sldId id="707"/>
            <p14:sldId id="709"/>
            <p14:sldId id="717"/>
            <p14:sldId id="716"/>
            <p14:sldId id="718"/>
            <p14:sldId id="719"/>
            <p14:sldId id="721"/>
            <p14:sldId id="723"/>
            <p14:sldId id="724"/>
            <p14:sldId id="725"/>
            <p14:sldId id="726"/>
          </p14:sldIdLst>
        </p14:section>
        <p14:section name="9. 생성자" id="{82456124-D384-46E6-A00A-F11D41DACADC}">
          <p14:sldIdLst>
            <p14:sldId id="749"/>
            <p14:sldId id="727"/>
            <p14:sldId id="728"/>
            <p14:sldId id="729"/>
            <p14:sldId id="730"/>
            <p14:sldId id="732"/>
            <p14:sldId id="731"/>
            <p14:sldId id="733"/>
            <p14:sldId id="734"/>
            <p14:sldId id="735"/>
            <p14:sldId id="736"/>
            <p14:sldId id="737"/>
            <p14:sldId id="738"/>
          </p14:sldIdLst>
        </p14:section>
        <p14:section name="9. 데이터 클래스" id="{2F091617-DDF0-4D5F-8518-57286C22E086}">
          <p14:sldIdLst>
            <p14:sldId id="750"/>
            <p14:sldId id="694"/>
            <p14:sldId id="739"/>
            <p14:sldId id="741"/>
            <p14:sldId id="746"/>
            <p14:sldId id="744"/>
            <p14:sldId id="742"/>
            <p14:sldId id="743"/>
            <p14:sldId id="745"/>
            <p14:sldId id="747"/>
          </p14:sldIdLst>
        </p14:section>
        <p14:section name="9. 유틸리티 클래스" id="{328D701F-698A-4C4D-AE8E-5DD7B01E30D9}">
          <p14:sldIdLst>
            <p14:sldId id="751"/>
            <p14:sldId id="695"/>
          </p14:sldIdLst>
        </p14:section>
        <p14:section name="Java 심화 목차" id="{F0B0F203-EA97-453B-B907-B8554181D52B}">
          <p14:sldIdLst>
            <p14:sldId id="482"/>
          </p14:sldIdLst>
        </p14:section>
        <p14:section name="10. 패키지 / 접근제어자 / 정보은닉 / 캡슐화" id="{C89646E6-D6F2-401A-B16C-A61577DC64A8}">
          <p14:sldIdLst>
            <p14:sldId id="496"/>
          </p14:sldIdLst>
        </p14:section>
        <p14:section name="11. 패키지와 임포트" id="{5FD0ADF3-AF7A-4BAB-B64F-A76A711ECE05}">
          <p14:sldIdLst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</p14:sldIdLst>
        </p14:section>
        <p14:section name="10. 접근제어지시자" id="{8BA29492-CFE3-40F1-9671-8D8860F92567}">
          <p14:sldIdLst>
            <p14:sldId id="752"/>
            <p14:sldId id="771"/>
            <p14:sldId id="748"/>
            <p14:sldId id="772"/>
            <p14:sldId id="773"/>
            <p14:sldId id="774"/>
          </p14:sldIdLst>
        </p14:section>
        <p14:section name="10. 정보은닉과 캡슐화" id="{67AC0730-20E0-4269-8F16-2389ED22F121}">
          <p14:sldIdLst>
            <p14:sldId id="75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</p14:sldIdLst>
        </p14:section>
        <p14:section name="11. 클래스 변수 / 클래스 메소드" id="{2C566577-9EF5-4534-BA63-A3121E7F3673}">
          <p14:sldIdLst>
            <p14:sldId id="497"/>
          </p14:sldIdLst>
        </p14:section>
        <p14:section name="11. 클래스 변수" id="{E25EDBCB-6468-482F-A2BB-22F85421AEAC}">
          <p14:sldIdLst>
            <p14:sldId id="794"/>
            <p14:sldId id="793"/>
            <p14:sldId id="795"/>
            <p14:sldId id="796"/>
            <p14:sldId id="797"/>
            <p14:sldId id="798"/>
            <p14:sldId id="799"/>
            <p14:sldId id="800"/>
            <p14:sldId id="802"/>
            <p14:sldId id="801"/>
          </p14:sldIdLst>
        </p14:section>
        <p14:section name="11. 클래스 메소드" id="{F565297B-C735-4C28-896C-B0A06095A56B}">
          <p14:sldIdLst>
            <p14:sldId id="803"/>
            <p14:sldId id="805"/>
            <p14:sldId id="804"/>
            <p14:sldId id="806"/>
            <p14:sldId id="808"/>
            <p14:sldId id="807"/>
            <p14:sldId id="809"/>
          </p14:sldIdLst>
        </p14:section>
        <p14:section name="12. 메소드 오버로딩" id="{242FCFDB-C068-474D-901C-901149CDE294}">
          <p14:sldIdLst>
            <p14:sldId id="498"/>
            <p14:sldId id="810"/>
            <p14:sldId id="811"/>
            <p14:sldId id="812"/>
            <p14:sldId id="813"/>
            <p14:sldId id="814"/>
          </p14:sldIdLst>
        </p14:section>
        <p14:section name="12. 생성자 오버로딩" id="{85C20BAE-3762-4DAF-B433-6D2F3F062A0E}">
          <p14:sldIdLst>
            <p14:sldId id="815"/>
            <p14:sldId id="816"/>
            <p14:sldId id="817"/>
            <p14:sldId id="818"/>
          </p14:sldIdLst>
        </p14:section>
        <p14:section name="13. String" id="{526E7119-4F5F-4055-86A2-6B4EB592F615}">
          <p14:sldIdLst>
            <p14:sldId id="499"/>
            <p14:sldId id="825"/>
            <p14:sldId id="83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8"/>
            <p14:sldId id="1141"/>
          </p14:sldIdLst>
        </p14:section>
        <p14:section name="13. String의 패키지와 임포트" id="{A153A94E-D563-452B-A26D-82EE69557DF6}">
          <p14:sldIdLst>
            <p14:sldId id="821"/>
            <p14:sldId id="840"/>
            <p14:sldId id="841"/>
          </p14:sldIdLst>
        </p14:section>
        <p14:section name="13. 문자열 연결하기" id="{CF265634-DECA-4EC1-9DE3-6772FA8957DA}">
          <p14:sldIdLst>
            <p14:sldId id="824"/>
            <p14:sldId id="842"/>
            <p14:sldId id="843"/>
            <p14:sldId id="852"/>
            <p14:sldId id="849"/>
            <p14:sldId id="850"/>
            <p14:sldId id="851"/>
          </p14:sldIdLst>
        </p14:section>
        <p14:section name="13. StringBuffer" id="{AC851F19-1E05-482C-BEAB-89506F28B5F2}">
          <p14:sldIdLst>
            <p14:sldId id="827"/>
            <p14:sldId id="853"/>
            <p14:sldId id="854"/>
            <p14:sldId id="855"/>
            <p14:sldId id="856"/>
          </p14:sldIdLst>
        </p14:section>
        <p14:section name="14. 배열" id="{E7A14267-DD97-4A22-AF2F-018D461DA7D0}">
          <p14:sldIdLst>
            <p14:sldId id="501"/>
            <p14:sldId id="861"/>
            <p14:sldId id="864"/>
            <p14:sldId id="865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874"/>
            <p14:sldId id="877"/>
            <p14:sldId id="878"/>
            <p14:sldId id="875"/>
            <p14:sldId id="1142"/>
          </p14:sldIdLst>
        </p14:section>
        <p14:section name="15. 상속과 다형성" id="{816AB79E-13B7-4078-9C3D-51C4F2B3F32E}">
          <p14:sldIdLst>
            <p14:sldId id="502"/>
          </p14:sldIdLst>
        </p14:section>
        <p14:section name="15. 상속" id="{0E7E4EB7-715B-43AE-8FBC-DCBCEF657866}">
          <p14:sldIdLst>
            <p14:sldId id="887"/>
            <p14:sldId id="862"/>
            <p14:sldId id="904"/>
            <p14:sldId id="905"/>
            <p14:sldId id="906"/>
            <p14:sldId id="909"/>
            <p14:sldId id="918"/>
            <p14:sldId id="908"/>
            <p14:sldId id="907"/>
            <p14:sldId id="910"/>
            <p14:sldId id="911"/>
            <p14:sldId id="912"/>
            <p14:sldId id="913"/>
          </p14:sldIdLst>
        </p14:section>
        <p14:section name="15. 상속의 유연성" id="{5EB8C368-FDD3-4D23-BF6B-DC052123E0FB}">
          <p14:sldIdLst>
            <p14:sldId id="914"/>
            <p14:sldId id="915"/>
            <p14:sldId id="916"/>
          </p14:sldIdLst>
        </p14:section>
        <p14:section name="15. 상속이 불가능한 final class" id="{101867C9-2B96-4E36-85E4-B7440E45B7DF}">
          <p14:sldIdLst>
            <p14:sldId id="892"/>
            <p14:sldId id="893"/>
          </p14:sldIdLst>
        </p14:section>
        <p14:section name="15. 상속을 제한하는 sealed class" id="{AA5A8D8D-C715-4051-B3CD-6C222701FCB2}">
          <p14:sldIdLst>
            <p14:sldId id="894"/>
            <p14:sldId id="895"/>
            <p14:sldId id="917"/>
          </p14:sldIdLst>
        </p14:section>
        <p14:section name="15. 다형성" id="{6788A2EB-2EBD-45E2-B997-5B0C49D33559}">
          <p14:sldIdLst>
            <p14:sldId id="886"/>
            <p14:sldId id="888"/>
          </p14:sldIdLst>
        </p14:section>
        <p14:section name="15. is a 관계를 이용한 다형성" id="{2FF30724-2DF3-4E45-9535-F579F6D8C62C}">
          <p14:sldIdLst>
            <p14:sldId id="879"/>
            <p14:sldId id="889"/>
            <p14:sldId id="920"/>
            <p14:sldId id="921"/>
          </p14:sldIdLst>
        </p14:section>
        <p14:section name="16. 메소드 오버라이딩" id="{A2CEA046-AC33-42A7-875B-B6A4DC0AE22E}">
          <p14:sldIdLst>
            <p14:sldId id="503"/>
            <p14:sldId id="863"/>
            <p14:sldId id="922"/>
          </p14:sldIdLst>
        </p14:section>
        <p14:section name="16. 오버라이딩이 불가능한 final method" id="{C9EE1522-CFB6-46D8-9520-A92FCD1C2347}">
          <p14:sldIdLst>
            <p14:sldId id="896"/>
            <p14:sldId id="899"/>
            <p14:sldId id="923"/>
          </p14:sldIdLst>
        </p14:section>
        <p14:section name="Java 고급 목차" id="{87FDA0FC-1A97-4149-89A8-B279CCE0346A}">
          <p14:sldIdLst>
            <p14:sldId id="483"/>
          </p14:sldIdLst>
        </p14:section>
        <p14:section name="17. 추상클래스 / 인터페이스 / 추상화 / 익명클래스" id="{F6988BA1-1DD2-49FC-9664-3477394AEA45}">
          <p14:sldIdLst>
            <p14:sldId id="505"/>
          </p14:sldIdLst>
        </p14:section>
        <p14:section name="17. 추상클래스" id="{0DC91EDA-F6A2-416A-8CFE-2627FA2543A4}">
          <p14:sldIdLst>
            <p14:sldId id="881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</p14:sldIdLst>
        </p14:section>
        <p14:section name="17. 인터페이스" id="{B5637842-443A-49F8-8762-F6FEC0E64F65}">
          <p14:sldIdLst>
            <p14:sldId id="882"/>
            <p14:sldId id="933"/>
            <p14:sldId id="959"/>
            <p14:sldId id="960"/>
            <p14:sldId id="961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58"/>
            <p14:sldId id="935"/>
            <p14:sldId id="934"/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55"/>
            <p14:sldId id="956"/>
          </p14:sldIdLst>
        </p14:section>
        <p14:section name="17. 추상화" id="{8D0DE08B-66DD-4C6E-89DE-67E8B7ED4AA1}">
          <p14:sldIdLst>
            <p14:sldId id="884"/>
            <p14:sldId id="1094"/>
            <p14:sldId id="945"/>
            <p14:sldId id="946"/>
            <p14:sldId id="947"/>
            <p14:sldId id="948"/>
          </p14:sldIdLst>
        </p14:section>
        <p14:section name="17. 익명 클래스" id="{EE12F124-7C7B-4A7C-AEE7-C96CA4708E0B}">
          <p14:sldIdLst>
            <p14:sldId id="883"/>
            <p14:sldId id="949"/>
            <p14:sldId id="950"/>
            <p14:sldId id="951"/>
            <p14:sldId id="952"/>
            <p14:sldId id="953"/>
            <p14:sldId id="954"/>
            <p14:sldId id="957"/>
          </p14:sldIdLst>
        </p14:section>
        <p14:section name="18. 예외처리" id="{5582C021-BE72-4A42-9451-38D9D63EFA17}">
          <p14:sldIdLst>
            <p14:sldId id="506"/>
            <p14:sldId id="975"/>
            <p14:sldId id="976"/>
            <p14:sldId id="977"/>
          </p14:sldIdLst>
        </p14:section>
        <p14:section name="18. if를 활용한 예외처리" id="{AE46D68E-DAFD-4EA7-A6C7-BF055F1361C2}">
          <p14:sldIdLst>
            <p14:sldId id="902"/>
            <p14:sldId id="978"/>
            <p14:sldId id="979"/>
            <p14:sldId id="980"/>
            <p14:sldId id="981"/>
            <p14:sldId id="982"/>
            <p14:sldId id="983"/>
            <p14:sldId id="984"/>
          </p14:sldIdLst>
        </p14:section>
        <p14:section name="18. try - catch - finally 예외처리" id="{31AD78EC-EA82-4BF5-8B02-10763E287662}">
          <p14:sldIdLst>
            <p14:sldId id="903"/>
            <p14:sldId id="985"/>
            <p14:sldId id="986"/>
            <p14:sldId id="987"/>
            <p14:sldId id="988"/>
            <p14:sldId id="989"/>
            <p14:sldId id="990"/>
            <p14:sldId id="991"/>
            <p14:sldId id="992"/>
            <p14:sldId id="993"/>
          </p14:sldIdLst>
        </p14:section>
        <p14:section name="18. 사용자 예외 발생시키기" id="{65665521-DAA9-47BC-BE7F-55136EF4677F}">
          <p14:sldIdLst>
            <p14:sldId id="901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</p14:sldIdLst>
        </p14:section>
        <p14:section name="18. 예외 위임하기" id="{B8128F88-CE4B-49C0-BAAF-653A9D08EAE1}">
          <p14:sldIdLst>
            <p14:sldId id="900"/>
            <p14:sldId id="1004"/>
            <p14:sldId id="1005"/>
            <p14:sldId id="1006"/>
          </p14:sldIdLst>
        </p14:section>
        <p14:section name="19. 제네릭과 컬렉션" id="{BDF7D684-4BE7-4E9A-961D-71B415D9C410}">
          <p14:sldIdLst>
            <p14:sldId id="509"/>
            <p14:sldId id="1007"/>
          </p14:sldIdLst>
        </p14:section>
        <p14:section name="19. 제네릭" id="{707A5DB5-2310-430C-AE8C-4E1E500B5CA1}">
          <p14:sldIdLst>
            <p14:sldId id="823"/>
            <p14:sldId id="1008"/>
            <p14:sldId id="1009"/>
            <p14:sldId id="1010"/>
            <p14:sldId id="1011"/>
            <p14:sldId id="1012"/>
            <p14:sldId id="1015"/>
            <p14:sldId id="1013"/>
            <p14:sldId id="1014"/>
            <p14:sldId id="1016"/>
            <p14:sldId id="1017"/>
            <p14:sldId id="1018"/>
            <p14:sldId id="1019"/>
            <p14:sldId id="1020"/>
            <p14:sldId id="1021"/>
            <p14:sldId id="1022"/>
            <p14:sldId id="1023"/>
          </p14:sldIdLst>
        </p14:section>
        <p14:section name="19. 컬렉션" id="{2404F48C-2CAE-4B90-8D79-973FF1CC4DD7}">
          <p14:sldIdLst>
            <p14:sldId id="822"/>
            <p14:sldId id="1024"/>
          </p14:sldIdLst>
        </p14:section>
        <p14:section name="19. 컬렉션 - List" id="{A43A9AFC-98B5-42C5-916B-E7D932F3A622}">
          <p14:sldIdLst>
            <p14:sldId id="1025"/>
            <p14:sldId id="1026"/>
            <p14:sldId id="1027"/>
            <p14:sldId id="1028"/>
            <p14:sldId id="1029"/>
            <p14:sldId id="1030"/>
            <p14:sldId id="1031"/>
            <p14:sldId id="1032"/>
            <p14:sldId id="1033"/>
            <p14:sldId id="1034"/>
          </p14:sldIdLst>
        </p14:section>
        <p14:section name="19. 컬렉션 - Map" id="{691F5FFA-D8C8-4B69-A6F6-A85CC6C47426}">
          <p14:sldIdLst>
            <p14:sldId id="1035"/>
            <p14:sldId id="1036"/>
            <p14:sldId id="1037"/>
            <p14:sldId id="1038"/>
            <p14:sldId id="1039"/>
            <p14:sldId id="1040"/>
            <p14:sldId id="1041"/>
            <p14:sldId id="1042"/>
            <p14:sldId id="1043"/>
            <p14:sldId id="1044"/>
          </p14:sldIdLst>
        </p14:section>
        <p14:section name="19. 컬렉션 - Set" id="{180E7350-467C-499E-9907-04153CEBB6E1}">
          <p14:sldIdLst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</p14:sldIdLst>
        </p14:section>
        <p14:section name="20. File I/O" id="{E19C4DB5-DDAC-410D-B743-80A48EC7F7A7}">
          <p14:sldIdLst>
            <p14:sldId id="510"/>
            <p14:sldId id="1054"/>
            <p14:sldId id="1055"/>
            <p14:sldId id="1057"/>
            <p14:sldId id="1058"/>
            <p14:sldId id="1056"/>
            <p14:sldId id="1059"/>
            <p14:sldId id="1061"/>
            <p14:sldId id="1062"/>
            <p14:sldId id="1063"/>
            <p14:sldId id="1060"/>
            <p14:sldId id="1064"/>
            <p14:sldId id="1065"/>
            <p14:sldId id="1066"/>
            <p14:sldId id="1067"/>
            <p14:sldId id="1068"/>
            <p14:sldId id="1069"/>
            <p14:sldId id="1070"/>
            <p14:sldId id="1071"/>
            <p14:sldId id="1072"/>
          </p14:sldIdLst>
        </p14:section>
        <p14:section name="21. 열거형" id="{0BDF56BD-0EA0-4FDF-89AB-DB3B0F834ED5}">
          <p14:sldIdLst>
            <p14:sldId id="511"/>
            <p14:sldId id="1073"/>
            <p14:sldId id="1074"/>
            <p14:sldId id="1075"/>
            <p14:sldId id="1076"/>
            <p14:sldId id="1077"/>
            <p14:sldId id="1078"/>
            <p14:sldId id="1079"/>
          </p14:sldIdLst>
        </p14:section>
        <p14:section name="22. Calendar / LocalDateTime" id="{01907894-2F26-4184-BFA8-85892946F4A4}">
          <p14:sldIdLst>
            <p14:sldId id="844"/>
            <p14:sldId id="1083"/>
          </p14:sldIdLst>
        </p14:section>
        <p14:section name="22. Calendar" id="{5A441359-3051-4E4D-9B27-5EFAAFE26590}">
          <p14:sldIdLst>
            <p14:sldId id="1081"/>
            <p14:sldId id="1080"/>
            <p14:sldId id="1085"/>
            <p14:sldId id="1086"/>
          </p14:sldIdLst>
        </p14:section>
        <p14:section name="22. LocalDateTime" id="{C08E836C-6D81-4CE3-AD11-69513D345C09}">
          <p14:sldIdLst>
            <p14:sldId id="1082"/>
            <p14:sldId id="1084"/>
            <p14:sldId id="1087"/>
            <p14:sldId id="1088"/>
            <p14:sldId id="1089"/>
            <p14:sldId id="1090"/>
            <p14:sldId id="1091"/>
            <p14:sldId id="1092"/>
            <p14:sldId id="1095"/>
            <p14:sldId id="1096"/>
            <p14:sldId id="485"/>
            <p14:sldId id="486"/>
            <p14:sldId id="487"/>
            <p14:sldId id="1097"/>
            <p14:sldId id="1098"/>
            <p14:sldId id="1099"/>
            <p14:sldId id="1100"/>
            <p14:sldId id="1101"/>
            <p14:sldId id="1102"/>
            <p14:sldId id="1103"/>
            <p14:sldId id="1104"/>
            <p14:sldId id="1105"/>
            <p14:sldId id="504"/>
            <p14:sldId id="1106"/>
            <p14:sldId id="1107"/>
            <p14:sldId id="507"/>
            <p14:sldId id="508"/>
            <p14:sldId id="1108"/>
            <p14:sldId id="1109"/>
            <p14:sldId id="516"/>
            <p14:sldId id="517"/>
            <p14:sldId id="518"/>
            <p14:sldId id="519"/>
            <p14:sldId id="1110"/>
            <p14:sldId id="1111"/>
            <p14:sldId id="520"/>
            <p14:sldId id="1112"/>
            <p14:sldId id="1113"/>
            <p14:sldId id="521"/>
            <p14:sldId id="522"/>
            <p14:sldId id="523"/>
            <p14:sldId id="1114"/>
            <p14:sldId id="512"/>
            <p14:sldId id="524"/>
            <p14:sldId id="525"/>
            <p14:sldId id="526"/>
            <p14:sldId id="1115"/>
            <p14:sldId id="513"/>
            <p14:sldId id="527"/>
            <p14:sldId id="1116"/>
            <p14:sldId id="514"/>
            <p14:sldId id="1117"/>
            <p14:sldId id="500"/>
            <p14:sldId id="1118"/>
            <p14:sldId id="515"/>
            <p14:sldId id="1119"/>
            <p14:sldId id="1120"/>
            <p14:sldId id="1121"/>
            <p14:sldId id="1122"/>
            <p14:sldId id="1123"/>
            <p14:sldId id="1124"/>
            <p14:sldId id="1125"/>
            <p14:sldId id="1126"/>
            <p14:sldId id="1127"/>
            <p14:sldId id="1128"/>
            <p14:sldId id="1129"/>
            <p14:sldId id="1130"/>
            <p14:sldId id="1131"/>
            <p14:sldId id="1132"/>
            <p14:sldId id="1133"/>
            <p14:sldId id="4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11-11" initials="21" lastIdx="1" clrIdx="0">
    <p:extLst>
      <p:ext uri="{19B8F6BF-5375-455C-9EA6-DF929625EA0E}">
        <p15:presenceInfo xmlns:p15="http://schemas.microsoft.com/office/powerpoint/2012/main" userId="211-1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A0B95-88EF-6A41-A5A8-FD5012B35EC3}" v="1" dt="2026-07-09T23:28:22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70540" autoAdjust="0"/>
  </p:normalViewPr>
  <p:slideViewPr>
    <p:cSldViewPr snapToGrid="0">
      <p:cViewPr varScale="1">
        <p:scale>
          <a:sx n="78" d="100"/>
          <a:sy n="78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170" Type="http://schemas.openxmlformats.org/officeDocument/2006/relationships/slide" Target="slides/slide169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497" Type="http://schemas.openxmlformats.org/officeDocument/2006/relationships/slide" Target="slides/slide496.xml"/><Relationship Id="rId620" Type="http://schemas.openxmlformats.org/officeDocument/2006/relationships/slide" Target="slides/slide619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slide" Target="slides/slide596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14" Type="http://schemas.openxmlformats.org/officeDocument/2006/relationships/slide" Target="slides/slide13.xml"/><Relationship Id="rId317" Type="http://schemas.openxmlformats.org/officeDocument/2006/relationships/slide" Target="slides/slide316.xml"/><Relationship Id="rId524" Type="http://schemas.openxmlformats.org/officeDocument/2006/relationships/slide" Target="slides/slide523.xml"/><Relationship Id="rId98" Type="http://schemas.openxmlformats.org/officeDocument/2006/relationships/slide" Target="slides/slide97.xml"/><Relationship Id="rId163" Type="http://schemas.openxmlformats.org/officeDocument/2006/relationships/slide" Target="slides/slide162.xml"/><Relationship Id="rId370" Type="http://schemas.openxmlformats.org/officeDocument/2006/relationships/slide" Target="slides/slide369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25" Type="http://schemas.openxmlformats.org/officeDocument/2006/relationships/slide" Target="slides/slide24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602" Type="http://schemas.openxmlformats.org/officeDocument/2006/relationships/slide" Target="slides/slide601.xml"/><Relationship Id="rId241" Type="http://schemas.openxmlformats.org/officeDocument/2006/relationships/slide" Target="slides/slide240.xml"/><Relationship Id="rId479" Type="http://schemas.openxmlformats.org/officeDocument/2006/relationships/slide" Target="slides/slide478.xml"/><Relationship Id="rId36" Type="http://schemas.openxmlformats.org/officeDocument/2006/relationships/slide" Target="slides/slide35.xml"/><Relationship Id="rId339" Type="http://schemas.openxmlformats.org/officeDocument/2006/relationships/slide" Target="slides/slide338.xml"/><Relationship Id="rId546" Type="http://schemas.openxmlformats.org/officeDocument/2006/relationships/slide" Target="slides/slide545.xml"/><Relationship Id="rId101" Type="http://schemas.openxmlformats.org/officeDocument/2006/relationships/slide" Target="slides/slide100.xml"/><Relationship Id="rId185" Type="http://schemas.openxmlformats.org/officeDocument/2006/relationships/slide" Target="slides/slide184.xml"/><Relationship Id="rId406" Type="http://schemas.openxmlformats.org/officeDocument/2006/relationships/slide" Target="slides/slide405.xml"/><Relationship Id="rId392" Type="http://schemas.openxmlformats.org/officeDocument/2006/relationships/slide" Target="slides/slide391.xml"/><Relationship Id="rId613" Type="http://schemas.openxmlformats.org/officeDocument/2006/relationships/slide" Target="slides/slide612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112" Type="http://schemas.openxmlformats.org/officeDocument/2006/relationships/slide" Target="slides/slide111.xml"/><Relationship Id="rId557" Type="http://schemas.openxmlformats.org/officeDocument/2006/relationships/slide" Target="slides/slide556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624" Type="http://schemas.openxmlformats.org/officeDocument/2006/relationships/slide" Target="slides/slide623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526" Type="http://schemas.openxmlformats.org/officeDocument/2006/relationships/slide" Target="slides/slide525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37" Type="http://schemas.openxmlformats.org/officeDocument/2006/relationships/slide" Target="slides/slide536.xml"/><Relationship Id="rId579" Type="http://schemas.openxmlformats.org/officeDocument/2006/relationships/slide" Target="slides/slide578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439" Type="http://schemas.openxmlformats.org/officeDocument/2006/relationships/slide" Target="slides/slide438.xml"/><Relationship Id="rId590" Type="http://schemas.openxmlformats.org/officeDocument/2006/relationships/slide" Target="slides/slide589.xml"/><Relationship Id="rId604" Type="http://schemas.openxmlformats.org/officeDocument/2006/relationships/slide" Target="slides/slide603.xml"/><Relationship Id="rId646" Type="http://schemas.openxmlformats.org/officeDocument/2006/relationships/viewProps" Target="viewProps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506" Type="http://schemas.openxmlformats.org/officeDocument/2006/relationships/slide" Target="slides/slide505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548" Type="http://schemas.openxmlformats.org/officeDocument/2006/relationships/slide" Target="slides/slide547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87" Type="http://schemas.openxmlformats.org/officeDocument/2006/relationships/slide" Target="slides/slide186.xml"/><Relationship Id="rId352" Type="http://schemas.openxmlformats.org/officeDocument/2006/relationships/slide" Target="slides/slide351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212" Type="http://schemas.openxmlformats.org/officeDocument/2006/relationships/slide" Target="slides/slide211.xml"/><Relationship Id="rId254" Type="http://schemas.openxmlformats.org/officeDocument/2006/relationships/slide" Target="slides/slide253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96" Type="http://schemas.openxmlformats.org/officeDocument/2006/relationships/slide" Target="slides/slide295.xml"/><Relationship Id="rId461" Type="http://schemas.openxmlformats.org/officeDocument/2006/relationships/slide" Target="slides/slide460.xml"/><Relationship Id="rId517" Type="http://schemas.openxmlformats.org/officeDocument/2006/relationships/slide" Target="slides/slide516.xml"/><Relationship Id="rId559" Type="http://schemas.openxmlformats.org/officeDocument/2006/relationships/slide" Target="slides/slide558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63" Type="http://schemas.openxmlformats.org/officeDocument/2006/relationships/slide" Target="slides/slide362.xml"/><Relationship Id="rId419" Type="http://schemas.openxmlformats.org/officeDocument/2006/relationships/slide" Target="slides/slide418.xml"/><Relationship Id="rId570" Type="http://schemas.openxmlformats.org/officeDocument/2006/relationships/slide" Target="slides/slide569.xml"/><Relationship Id="rId626" Type="http://schemas.openxmlformats.org/officeDocument/2006/relationships/slide" Target="slides/slide625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18" Type="http://schemas.openxmlformats.org/officeDocument/2006/relationships/slide" Target="slides/slide17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528" Type="http://schemas.openxmlformats.org/officeDocument/2006/relationships/slide" Target="slides/slide527.xml"/><Relationship Id="rId125" Type="http://schemas.openxmlformats.org/officeDocument/2006/relationships/slide" Target="slides/slide124.xml"/><Relationship Id="rId167" Type="http://schemas.openxmlformats.org/officeDocument/2006/relationships/slide" Target="slides/slide166.xml"/><Relationship Id="rId332" Type="http://schemas.openxmlformats.org/officeDocument/2006/relationships/slide" Target="slides/slide331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637" Type="http://schemas.openxmlformats.org/officeDocument/2006/relationships/slide" Target="slides/slide636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76" Type="http://schemas.openxmlformats.org/officeDocument/2006/relationships/slide" Target="slides/slide275.xml"/><Relationship Id="rId441" Type="http://schemas.openxmlformats.org/officeDocument/2006/relationships/slide" Target="slides/slide440.xml"/><Relationship Id="rId483" Type="http://schemas.openxmlformats.org/officeDocument/2006/relationships/slide" Target="slides/slide482.xml"/><Relationship Id="rId539" Type="http://schemas.openxmlformats.org/officeDocument/2006/relationships/slide" Target="slides/slide538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82" Type="http://schemas.openxmlformats.org/officeDocument/2006/relationships/slide" Target="slides/slide81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606" Type="http://schemas.openxmlformats.org/officeDocument/2006/relationships/slide" Target="slides/slide605.xml"/><Relationship Id="rId648" Type="http://schemas.openxmlformats.org/officeDocument/2006/relationships/tableStyles" Target="tableStyles.xml"/><Relationship Id="rId245" Type="http://schemas.openxmlformats.org/officeDocument/2006/relationships/slide" Target="slides/slide244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52" Type="http://schemas.openxmlformats.org/officeDocument/2006/relationships/slide" Target="slides/slide451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105" Type="http://schemas.openxmlformats.org/officeDocument/2006/relationships/slide" Target="slides/slide104.xml"/><Relationship Id="rId147" Type="http://schemas.openxmlformats.org/officeDocument/2006/relationships/slide" Target="slides/slide146.xml"/><Relationship Id="rId312" Type="http://schemas.openxmlformats.org/officeDocument/2006/relationships/slide" Target="slides/slide311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561" Type="http://schemas.openxmlformats.org/officeDocument/2006/relationships/slide" Target="slides/slide560.xml"/><Relationship Id="rId617" Type="http://schemas.openxmlformats.org/officeDocument/2006/relationships/slide" Target="slides/slide616.xml"/><Relationship Id="rId214" Type="http://schemas.openxmlformats.org/officeDocument/2006/relationships/slide" Target="slides/slide213.xml"/><Relationship Id="rId256" Type="http://schemas.openxmlformats.org/officeDocument/2006/relationships/slide" Target="slides/slide255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463" Type="http://schemas.openxmlformats.org/officeDocument/2006/relationships/slide" Target="slides/slide462.xml"/><Relationship Id="rId519" Type="http://schemas.openxmlformats.org/officeDocument/2006/relationships/slide" Target="slides/slide518.xml"/><Relationship Id="rId116" Type="http://schemas.openxmlformats.org/officeDocument/2006/relationships/slide" Target="slides/slide115.xml"/><Relationship Id="rId158" Type="http://schemas.openxmlformats.org/officeDocument/2006/relationships/slide" Target="slides/slide157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628" Type="http://schemas.openxmlformats.org/officeDocument/2006/relationships/slide" Target="slides/slide627.xml"/><Relationship Id="rId225" Type="http://schemas.openxmlformats.org/officeDocument/2006/relationships/slide" Target="slides/slide224.xml"/><Relationship Id="rId267" Type="http://schemas.openxmlformats.org/officeDocument/2006/relationships/slide" Target="slides/slide266.xml"/><Relationship Id="rId432" Type="http://schemas.openxmlformats.org/officeDocument/2006/relationships/slide" Target="slides/slide431.xml"/><Relationship Id="rId474" Type="http://schemas.openxmlformats.org/officeDocument/2006/relationships/slide" Target="slides/slide473.xml"/><Relationship Id="rId127" Type="http://schemas.openxmlformats.org/officeDocument/2006/relationships/slide" Target="slides/slide126.xml"/><Relationship Id="rId31" Type="http://schemas.openxmlformats.org/officeDocument/2006/relationships/slide" Target="slides/slide30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76" Type="http://schemas.openxmlformats.org/officeDocument/2006/relationships/slide" Target="slides/slide375.xml"/><Relationship Id="rId541" Type="http://schemas.openxmlformats.org/officeDocument/2006/relationships/slide" Target="slides/slide540.xml"/><Relationship Id="rId583" Type="http://schemas.openxmlformats.org/officeDocument/2006/relationships/slide" Target="slides/slide582.xml"/><Relationship Id="rId639" Type="http://schemas.openxmlformats.org/officeDocument/2006/relationships/slide" Target="slides/slide63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36" Type="http://schemas.openxmlformats.org/officeDocument/2006/relationships/slide" Target="slides/slide235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43" Type="http://schemas.openxmlformats.org/officeDocument/2006/relationships/slide" Target="slides/slide442.xml"/><Relationship Id="rId650" Type="http://schemas.microsoft.com/office/2015/10/relationships/revisionInfo" Target="revisionInfo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52" Type="http://schemas.openxmlformats.org/officeDocument/2006/relationships/slide" Target="slides/slide551.xml"/><Relationship Id="rId594" Type="http://schemas.openxmlformats.org/officeDocument/2006/relationships/slide" Target="slides/slide593.xml"/><Relationship Id="rId608" Type="http://schemas.openxmlformats.org/officeDocument/2006/relationships/slide" Target="slides/slide60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563" Type="http://schemas.openxmlformats.org/officeDocument/2006/relationships/slide" Target="slides/slide562.xml"/><Relationship Id="rId619" Type="http://schemas.openxmlformats.org/officeDocument/2006/relationships/slide" Target="slides/slide61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30" Type="http://schemas.openxmlformats.org/officeDocument/2006/relationships/slide" Target="slides/slide629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574" Type="http://schemas.openxmlformats.org/officeDocument/2006/relationships/slide" Target="slides/slide573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641" Type="http://schemas.openxmlformats.org/officeDocument/2006/relationships/slide" Target="slides/slide640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slide" Target="slides/slide542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585" Type="http://schemas.openxmlformats.org/officeDocument/2006/relationships/slide" Target="slides/slide584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610" Type="http://schemas.openxmlformats.org/officeDocument/2006/relationships/slide" Target="slides/slide60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54" Type="http://schemas.openxmlformats.org/officeDocument/2006/relationships/slide" Target="slides/slide553.xml"/><Relationship Id="rId596" Type="http://schemas.openxmlformats.org/officeDocument/2006/relationships/slide" Target="slides/slide595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621" Type="http://schemas.openxmlformats.org/officeDocument/2006/relationships/slide" Target="slides/slide620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632" Type="http://schemas.openxmlformats.org/officeDocument/2006/relationships/slide" Target="slides/slide631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576" Type="http://schemas.openxmlformats.org/officeDocument/2006/relationships/slide" Target="slides/slide575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601" Type="http://schemas.openxmlformats.org/officeDocument/2006/relationships/slide" Target="slides/slide600.xml"/><Relationship Id="rId643" Type="http://schemas.openxmlformats.org/officeDocument/2006/relationships/notesMaster" Target="notesMasters/notesMaster1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slide" Target="slides/slide586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612" Type="http://schemas.openxmlformats.org/officeDocument/2006/relationships/slide" Target="slides/slide611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598" Type="http://schemas.openxmlformats.org/officeDocument/2006/relationships/slide" Target="slides/slide597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23" Type="http://schemas.openxmlformats.org/officeDocument/2006/relationships/slide" Target="slides/slide622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634" Type="http://schemas.openxmlformats.org/officeDocument/2006/relationships/slide" Target="slides/slide633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603" Type="http://schemas.openxmlformats.org/officeDocument/2006/relationships/slide" Target="slides/slide602.xml"/><Relationship Id="rId645" Type="http://schemas.openxmlformats.org/officeDocument/2006/relationships/presProps" Target="presProps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547" Type="http://schemas.openxmlformats.org/officeDocument/2006/relationships/slide" Target="slides/slide546.xml"/><Relationship Id="rId589" Type="http://schemas.openxmlformats.org/officeDocument/2006/relationships/slide" Target="slides/slide588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614" Type="http://schemas.openxmlformats.org/officeDocument/2006/relationships/slide" Target="slides/slide613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569" Type="http://schemas.openxmlformats.org/officeDocument/2006/relationships/slide" Target="slides/slide568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636" Type="http://schemas.openxmlformats.org/officeDocument/2006/relationships/slide" Target="slides/slide635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605" Type="http://schemas.openxmlformats.org/officeDocument/2006/relationships/slide" Target="slides/slide604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647" Type="http://schemas.openxmlformats.org/officeDocument/2006/relationships/theme" Target="theme/theme1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49" Type="http://schemas.openxmlformats.org/officeDocument/2006/relationships/slide" Target="slides/slide54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16" Type="http://schemas.openxmlformats.org/officeDocument/2006/relationships/slide" Target="slides/slide615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571" Type="http://schemas.openxmlformats.org/officeDocument/2006/relationships/slide" Target="slides/slide570.xml"/><Relationship Id="rId627" Type="http://schemas.openxmlformats.org/officeDocument/2006/relationships/slide" Target="slides/slide626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638" Type="http://schemas.openxmlformats.org/officeDocument/2006/relationships/slide" Target="slides/slide637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93" Type="http://schemas.openxmlformats.org/officeDocument/2006/relationships/slide" Target="slides/slide592.xml"/><Relationship Id="rId607" Type="http://schemas.openxmlformats.org/officeDocument/2006/relationships/slide" Target="slides/slide606.xml"/><Relationship Id="rId649" Type="http://schemas.microsoft.com/office/2016/11/relationships/changesInfo" Target="changesInfos/changesInfo1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62" Type="http://schemas.openxmlformats.org/officeDocument/2006/relationships/slide" Target="slides/slide561.xml"/><Relationship Id="rId618" Type="http://schemas.openxmlformats.org/officeDocument/2006/relationships/slide" Target="slides/slide617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299" Type="http://schemas.openxmlformats.org/officeDocument/2006/relationships/slide" Target="slides/slide298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640" Type="http://schemas.openxmlformats.org/officeDocument/2006/relationships/slide" Target="slides/slide639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444" Type="http://schemas.openxmlformats.org/officeDocument/2006/relationships/slide" Target="slides/slide443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slide" Target="slides/slide599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56" Type="http://schemas.openxmlformats.org/officeDocument/2006/relationships/slide" Target="slides/slide55.xml"/><Relationship Id="rId359" Type="http://schemas.openxmlformats.org/officeDocument/2006/relationships/slide" Target="slides/slide358.xml"/><Relationship Id="rId566" Type="http://schemas.openxmlformats.org/officeDocument/2006/relationships/slide" Target="slides/slide565.xml"/><Relationship Id="rId121" Type="http://schemas.openxmlformats.org/officeDocument/2006/relationships/slide" Target="slides/slide120.xml"/><Relationship Id="rId219" Type="http://schemas.openxmlformats.org/officeDocument/2006/relationships/slide" Target="slides/slide218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577" Type="http://schemas.openxmlformats.org/officeDocument/2006/relationships/slide" Target="slides/slide576.xml"/><Relationship Id="rId132" Type="http://schemas.openxmlformats.org/officeDocument/2006/relationships/slide" Target="slides/slide131.xml"/><Relationship Id="rId437" Type="http://schemas.openxmlformats.org/officeDocument/2006/relationships/slide" Target="slides/slide436.xml"/><Relationship Id="rId644" Type="http://schemas.openxmlformats.org/officeDocument/2006/relationships/commentAuthors" Target="commentAuthors.xml"/><Relationship Id="rId283" Type="http://schemas.openxmlformats.org/officeDocument/2006/relationships/slide" Target="slides/slide282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78" Type="http://schemas.openxmlformats.org/officeDocument/2006/relationships/slide" Target="slides/slide77.xml"/><Relationship Id="rId143" Type="http://schemas.openxmlformats.org/officeDocument/2006/relationships/slide" Target="slides/slide142.xml"/><Relationship Id="rId350" Type="http://schemas.openxmlformats.org/officeDocument/2006/relationships/slide" Target="slides/slide349.xml"/><Relationship Id="rId588" Type="http://schemas.openxmlformats.org/officeDocument/2006/relationships/slide" Target="slides/slide587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448" Type="http://schemas.openxmlformats.org/officeDocument/2006/relationships/slide" Target="slides/slide447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89" Type="http://schemas.openxmlformats.org/officeDocument/2006/relationships/slide" Target="slides/slide88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99" Type="http://schemas.openxmlformats.org/officeDocument/2006/relationships/slide" Target="slides/slide598.xml"/><Relationship Id="rId459" Type="http://schemas.openxmlformats.org/officeDocument/2006/relationships/slide" Target="slides/slide4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창 장" userId="5d9bafdb3db22792" providerId="LiveId" clId="{E5218F42-5CC5-5559-96F8-4C62259CD47E}"/>
    <pc:docChg chg="undo custSel modSld">
      <pc:chgData name="민창 장" userId="5d9bafdb3db22792" providerId="LiveId" clId="{E5218F42-5CC5-5559-96F8-4C62259CD47E}" dt="2026-07-09T23:29:11.122" v="553" actId="478"/>
      <pc:docMkLst>
        <pc:docMk/>
      </pc:docMkLst>
      <pc:sldChg chg="delSp">
        <pc:chgData name="민창 장" userId="5d9bafdb3db22792" providerId="LiveId" clId="{E5218F42-5CC5-5559-96F8-4C62259CD47E}" dt="2026-07-09T23:28:22.505" v="533" actId="478"/>
        <pc:sldMkLst>
          <pc:docMk/>
          <pc:sldMk cId="498867009" sldId="386"/>
        </pc:sldMkLst>
        <pc:picChg chg="del">
          <ac:chgData name="민창 장" userId="5d9bafdb3db22792" providerId="LiveId" clId="{E5218F42-5CC5-5559-96F8-4C62259CD47E}" dt="2026-07-09T23:28:22.505" v="533" actId="478"/>
          <ac:picMkLst>
            <pc:docMk/>
            <pc:sldMk cId="498867009" sldId="386"/>
            <ac:picMk id="1036" creationId="{1484D0BB-F0B6-4E1C-9AA6-F9F3F986F4A2}"/>
          </ac:picMkLst>
        </pc:picChg>
      </pc:sldChg>
      <pc:sldChg chg="delSp modSp mod">
        <pc:chgData name="민창 장" userId="5d9bafdb3db22792" providerId="LiveId" clId="{E5218F42-5CC5-5559-96F8-4C62259CD47E}" dt="2026-07-09T23:29:11.122" v="553" actId="478"/>
        <pc:sldMkLst>
          <pc:docMk/>
          <pc:sldMk cId="1479158970" sldId="512"/>
        </pc:sldMkLst>
        <pc:spChg chg="del mod">
          <ac:chgData name="민창 장" userId="5d9bafdb3db22792" providerId="LiveId" clId="{E5218F42-5CC5-5559-96F8-4C62259CD47E}" dt="2026-07-09T23:29:11.122" v="553" actId="478"/>
          <ac:spMkLst>
            <pc:docMk/>
            <pc:sldMk cId="1479158970" sldId="512"/>
            <ac:spMk id="5" creationId="{39557862-9A21-1BFF-2840-299FA498AD73}"/>
          </ac:spMkLst>
        </pc:spChg>
      </pc:sldChg>
      <pc:sldChg chg="delSp modSp mod">
        <pc:chgData name="민창 장" userId="5d9bafdb3db22792" providerId="LiveId" clId="{E5218F42-5CC5-5559-96F8-4C62259CD47E}" dt="2026-07-09T23:29:07.551" v="549" actId="478"/>
        <pc:sldMkLst>
          <pc:docMk/>
          <pc:sldMk cId="2748267994" sldId="513"/>
        </pc:sldMkLst>
        <pc:spChg chg="del mod">
          <ac:chgData name="민창 장" userId="5d9bafdb3db22792" providerId="LiveId" clId="{E5218F42-5CC5-5559-96F8-4C62259CD47E}" dt="2026-07-09T23:29:07.551" v="549" actId="478"/>
          <ac:spMkLst>
            <pc:docMk/>
            <pc:sldMk cId="2748267994" sldId="513"/>
            <ac:spMk id="5" creationId="{E0863C13-F146-BF77-7066-C4698516F414}"/>
          </ac:spMkLst>
        </pc:spChg>
      </pc:sldChg>
      <pc:sldChg chg="delSp mod">
        <pc:chgData name="민창 장" userId="5d9bafdb3db22792" providerId="LiveId" clId="{E5218F42-5CC5-5559-96F8-4C62259CD47E}" dt="2026-07-09T23:29:10.271" v="551" actId="478"/>
        <pc:sldMkLst>
          <pc:docMk/>
          <pc:sldMk cId="200899867" sldId="524"/>
        </pc:sldMkLst>
        <pc:spChg chg="del">
          <ac:chgData name="민창 장" userId="5d9bafdb3db22792" providerId="LiveId" clId="{E5218F42-5CC5-5559-96F8-4C62259CD47E}" dt="2026-07-09T23:29:10.271" v="551" actId="478"/>
          <ac:spMkLst>
            <pc:docMk/>
            <pc:sldMk cId="200899867" sldId="524"/>
            <ac:spMk id="5" creationId="{C6206465-B7C1-8A15-91FD-AF4399B10D3C}"/>
          </ac:spMkLst>
        </pc:spChg>
      </pc:sldChg>
      <pc:sldChg chg="delSp mod">
        <pc:chgData name="민창 장" userId="5d9bafdb3db22792" providerId="LiveId" clId="{E5218F42-5CC5-5559-96F8-4C62259CD47E}" dt="2026-07-09T23:29:09.359" v="550" actId="478"/>
        <pc:sldMkLst>
          <pc:docMk/>
          <pc:sldMk cId="14435027" sldId="525"/>
        </pc:sldMkLst>
        <pc:spChg chg="del">
          <ac:chgData name="민창 장" userId="5d9bafdb3db22792" providerId="LiveId" clId="{E5218F42-5CC5-5559-96F8-4C62259CD47E}" dt="2026-07-09T23:29:09.359" v="550" actId="478"/>
          <ac:spMkLst>
            <pc:docMk/>
            <pc:sldMk cId="14435027" sldId="525"/>
            <ac:spMk id="5" creationId="{B587AF0C-E483-030E-3EA4-9232B4867AB0}"/>
          </ac:spMkLst>
        </pc:spChg>
      </pc:sldChg>
      <pc:sldChg chg="delSp mod">
        <pc:chgData name="민창 장" userId="5d9bafdb3db22792" providerId="LiveId" clId="{E5218F42-5CC5-5559-96F8-4C62259CD47E}" dt="2026-07-09T23:29:06.634" v="547" actId="478"/>
        <pc:sldMkLst>
          <pc:docMk/>
          <pc:sldMk cId="2136814895" sldId="527"/>
        </pc:sldMkLst>
        <pc:spChg chg="del">
          <ac:chgData name="민창 장" userId="5d9bafdb3db22792" providerId="LiveId" clId="{E5218F42-5CC5-5559-96F8-4C62259CD47E}" dt="2026-07-09T23:29:06.634" v="547" actId="478"/>
          <ac:spMkLst>
            <pc:docMk/>
            <pc:sldMk cId="2136814895" sldId="527"/>
            <ac:spMk id="5" creationId="{00DA75BE-2466-0EB2-F673-9442D0BE7E51}"/>
          </ac:spMkLst>
        </pc:spChg>
      </pc:sldChg>
      <pc:sldChg chg="delSp modSp mod">
        <pc:chgData name="민창 장" userId="5d9bafdb3db22792" providerId="LiveId" clId="{E5218F42-5CC5-5559-96F8-4C62259CD47E}" dt="2026-07-09T23:29:04.120" v="546" actId="478"/>
        <pc:sldMkLst>
          <pc:docMk/>
          <pc:sldMk cId="4041900044" sldId="1124"/>
        </pc:sldMkLst>
        <pc:spChg chg="del mod">
          <ac:chgData name="민창 장" userId="5d9bafdb3db22792" providerId="LiveId" clId="{E5218F42-5CC5-5559-96F8-4C62259CD47E}" dt="2026-07-09T23:29:04.120" v="546" actId="478"/>
          <ac:spMkLst>
            <pc:docMk/>
            <pc:sldMk cId="4041900044" sldId="1124"/>
            <ac:spMk id="5" creationId="{1C1BAAAA-B4BF-4988-1311-0CE4AF6B0AFE}"/>
          </ac:spMkLst>
        </pc:spChg>
      </pc:sldChg>
      <pc:sldChg chg="delSp modSp mod">
        <pc:chgData name="민창 장" userId="5d9bafdb3db22792" providerId="LiveId" clId="{E5218F42-5CC5-5559-96F8-4C62259CD47E}" dt="2026-07-09T23:29:02.387" v="544" actId="478"/>
        <pc:sldMkLst>
          <pc:docMk/>
          <pc:sldMk cId="3652781823" sldId="1125"/>
        </pc:sldMkLst>
        <pc:spChg chg="del mod">
          <ac:chgData name="민창 장" userId="5d9bafdb3db22792" providerId="LiveId" clId="{E5218F42-5CC5-5559-96F8-4C62259CD47E}" dt="2026-07-09T23:29:02.387" v="544" actId="478"/>
          <ac:spMkLst>
            <pc:docMk/>
            <pc:sldMk cId="3652781823" sldId="1125"/>
            <ac:spMk id="5" creationId="{B2FD4300-7436-7EC0-FC6C-B4C0969C180C}"/>
          </ac:spMkLst>
        </pc:spChg>
      </pc:sldChg>
      <pc:sldChg chg="delSp modSp mod">
        <pc:chgData name="민창 장" userId="5d9bafdb3db22792" providerId="LiveId" clId="{E5218F42-5CC5-5559-96F8-4C62259CD47E}" dt="2026-07-09T23:29:00.844" v="542" actId="478"/>
        <pc:sldMkLst>
          <pc:docMk/>
          <pc:sldMk cId="3199609806" sldId="1126"/>
        </pc:sldMkLst>
        <pc:spChg chg="del mod">
          <ac:chgData name="민창 장" userId="5d9bafdb3db22792" providerId="LiveId" clId="{E5218F42-5CC5-5559-96F8-4C62259CD47E}" dt="2026-07-09T23:29:00.844" v="542" actId="478"/>
          <ac:spMkLst>
            <pc:docMk/>
            <pc:sldMk cId="3199609806" sldId="1126"/>
            <ac:spMk id="5" creationId="{68AC8E23-71BC-4F46-B190-6D2B240D058A}"/>
          </ac:spMkLst>
        </pc:spChg>
      </pc:sldChg>
      <pc:sldChg chg="delSp modSp mod">
        <pc:chgData name="민창 장" userId="5d9bafdb3db22792" providerId="LiveId" clId="{E5218F42-5CC5-5559-96F8-4C62259CD47E}" dt="2026-07-09T23:28:59.936" v="540" actId="478"/>
        <pc:sldMkLst>
          <pc:docMk/>
          <pc:sldMk cId="3393591702" sldId="1128"/>
        </pc:sldMkLst>
        <pc:spChg chg="del mod">
          <ac:chgData name="민창 장" userId="5d9bafdb3db22792" providerId="LiveId" clId="{E5218F42-5CC5-5559-96F8-4C62259CD47E}" dt="2026-07-09T23:28:59.936" v="540" actId="478"/>
          <ac:spMkLst>
            <pc:docMk/>
            <pc:sldMk cId="3393591702" sldId="1128"/>
            <ac:spMk id="5" creationId="{B1E96575-669D-9D9A-02E3-E28C483FE95F}"/>
          </ac:spMkLst>
        </pc:spChg>
      </pc:sldChg>
      <pc:sldChg chg="delSp modSp mod">
        <pc:chgData name="민창 장" userId="5d9bafdb3db22792" providerId="LiveId" clId="{E5218F42-5CC5-5559-96F8-4C62259CD47E}" dt="2026-07-09T23:28:58.322" v="538" actId="478"/>
        <pc:sldMkLst>
          <pc:docMk/>
          <pc:sldMk cId="1968910445" sldId="1130"/>
        </pc:sldMkLst>
        <pc:spChg chg="del mod">
          <ac:chgData name="민창 장" userId="5d9bafdb3db22792" providerId="LiveId" clId="{E5218F42-5CC5-5559-96F8-4C62259CD47E}" dt="2026-07-09T23:28:58.322" v="538" actId="478"/>
          <ac:spMkLst>
            <pc:docMk/>
            <pc:sldMk cId="1968910445" sldId="1130"/>
            <ac:spMk id="5" creationId="{1FB3F10D-60F3-A867-E477-1EA39D210396}"/>
          </ac:spMkLst>
        </pc:spChg>
      </pc:sldChg>
      <pc:sldChg chg="delSp modSp mod">
        <pc:chgData name="민창 장" userId="5d9bafdb3db22792" providerId="LiveId" clId="{E5218F42-5CC5-5559-96F8-4C62259CD47E}" dt="2026-07-09T23:28:57.341" v="536" actId="478"/>
        <pc:sldMkLst>
          <pc:docMk/>
          <pc:sldMk cId="4239194523" sldId="1131"/>
        </pc:sldMkLst>
        <pc:spChg chg="del mod">
          <ac:chgData name="민창 장" userId="5d9bafdb3db22792" providerId="LiveId" clId="{E5218F42-5CC5-5559-96F8-4C62259CD47E}" dt="2026-07-09T23:28:57.341" v="536" actId="478"/>
          <ac:spMkLst>
            <pc:docMk/>
            <pc:sldMk cId="4239194523" sldId="1131"/>
            <ac:spMk id="5" creationId="{948C4A10-1906-96EF-6D55-AFA1F905DB53}"/>
          </ac:spMkLst>
        </pc:spChg>
      </pc:sldChg>
      <pc:sldChg chg="delSp mod">
        <pc:chgData name="민창 장" userId="5d9bafdb3db22792" providerId="LiveId" clId="{E5218F42-5CC5-5559-96F8-4C62259CD47E}" dt="2026-07-09T23:28:56.232" v="534" actId="478"/>
        <pc:sldMkLst>
          <pc:docMk/>
          <pc:sldMk cId="3960735503" sldId="1133"/>
        </pc:sldMkLst>
        <pc:spChg chg="del">
          <ac:chgData name="민창 장" userId="5d9bafdb3db22792" providerId="LiveId" clId="{E5218F42-5CC5-5559-96F8-4C62259CD47E}" dt="2026-07-09T23:28:56.232" v="534" actId="478"/>
          <ac:spMkLst>
            <pc:docMk/>
            <pc:sldMk cId="3960735503" sldId="1133"/>
            <ac:spMk id="5" creationId="{E843B8F9-D7C0-9065-1A29-26F8D75E4306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3T14:42:07.776" idx="1">
    <p:pos x="4419" y="138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69940-48AE-4792-A3AF-1092A27A4FDD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82E14-384A-4D50-B78B-BF8D9EE371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59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9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Float</a:t>
            </a:r>
            <a:r>
              <a:rPr lang="ko-KR" altLang="en-US" dirty="0"/>
              <a:t> 은 </a:t>
            </a:r>
            <a:r>
              <a:rPr lang="en-US" altLang="ko-KR" dirty="0"/>
              <a:t>7</a:t>
            </a:r>
            <a:r>
              <a:rPr lang="ko-KR" altLang="en-US" dirty="0"/>
              <a:t>자리</a:t>
            </a:r>
            <a:endParaRPr lang="en-US" altLang="ko-KR" dirty="0"/>
          </a:p>
          <a:p>
            <a:r>
              <a:rPr lang="en-US" altLang="ko-KR" dirty="0"/>
              <a:t>Double</a:t>
            </a:r>
            <a:r>
              <a:rPr lang="ko-KR" altLang="en-US" dirty="0"/>
              <a:t>은 </a:t>
            </a:r>
            <a:r>
              <a:rPr lang="en-US" altLang="ko-KR" dirty="0"/>
              <a:t>16</a:t>
            </a:r>
            <a:r>
              <a:rPr lang="ko-KR" altLang="en-US" dirty="0"/>
              <a:t>자리까지 소수점 표현이 가능함</a:t>
            </a:r>
            <a:endParaRPr lang="en-US" altLang="ko-KR" dirty="0"/>
          </a:p>
          <a:p>
            <a:r>
              <a:rPr lang="en-US" altLang="ko-KR" dirty="0"/>
              <a:t>Long</a:t>
            </a:r>
            <a:r>
              <a:rPr lang="ko-KR" altLang="en-US" dirty="0"/>
              <a:t> 타입에는 </a:t>
            </a:r>
            <a:r>
              <a:rPr lang="en-US" altLang="ko-KR" dirty="0"/>
              <a:t>int</a:t>
            </a:r>
            <a:r>
              <a:rPr lang="ko-KR" altLang="en-US" dirty="0"/>
              <a:t>의 범위를 넘어간 숫자면 </a:t>
            </a:r>
            <a:r>
              <a:rPr lang="ko-KR" altLang="en-US" dirty="0" err="1"/>
              <a:t>에러가나는데</a:t>
            </a:r>
            <a:r>
              <a:rPr lang="ko-KR" altLang="en-US" dirty="0"/>
              <a:t> 숫자 뒤에 </a:t>
            </a:r>
            <a:r>
              <a:rPr lang="en-US" altLang="ko-KR" dirty="0"/>
              <a:t>L</a:t>
            </a:r>
            <a:r>
              <a:rPr lang="ko-KR" altLang="en-US" dirty="0"/>
              <a:t>을 적어주면 됨 보통 대문자</a:t>
            </a:r>
            <a:r>
              <a:rPr lang="en-US" altLang="ko-KR" dirty="0"/>
              <a:t>L</a:t>
            </a:r>
            <a:r>
              <a:rPr lang="ko-KR" altLang="en-US" dirty="0"/>
              <a:t>을 사용함</a:t>
            </a:r>
            <a:endParaRPr lang="en-US" altLang="ko-KR" dirty="0"/>
          </a:p>
          <a:p>
            <a:r>
              <a:rPr lang="en-US" altLang="ko-KR" dirty="0"/>
              <a:t>Float </a:t>
            </a:r>
            <a:r>
              <a:rPr lang="ko-KR" altLang="en-US" dirty="0"/>
              <a:t>이든 </a:t>
            </a:r>
            <a:r>
              <a:rPr lang="en-US" altLang="ko-KR" dirty="0"/>
              <a:t>double </a:t>
            </a:r>
            <a:r>
              <a:rPr lang="ko-KR" altLang="en-US" dirty="0"/>
              <a:t>이든 정수로 적으면 결과값은 소수점으로 나온다 </a:t>
            </a:r>
            <a:r>
              <a:rPr lang="en-US" altLang="ko-KR" dirty="0"/>
              <a:t>ex) 3</a:t>
            </a:r>
            <a:r>
              <a:rPr lang="ko-KR" altLang="en-US" dirty="0"/>
              <a:t>을 할당 </a:t>
            </a:r>
            <a:r>
              <a:rPr lang="en-US" altLang="ko-KR" dirty="0"/>
              <a:t>-&gt; </a:t>
            </a:r>
            <a:r>
              <a:rPr lang="ko-KR" altLang="en-US" dirty="0"/>
              <a:t>결과값은 </a:t>
            </a:r>
            <a:r>
              <a:rPr lang="en-US" altLang="ko-KR" dirty="0"/>
              <a:t>3.0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737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숫자같은</a:t>
            </a:r>
            <a:r>
              <a:rPr lang="ko-KR" altLang="en-US" dirty="0"/>
              <a:t> 경우 </a:t>
            </a:r>
            <a:r>
              <a:rPr lang="ko-KR" altLang="en-US" dirty="0" err="1"/>
              <a:t>언더바로</a:t>
            </a:r>
            <a:r>
              <a:rPr lang="ko-KR" altLang="en-US" dirty="0"/>
              <a:t> 허용해줌 </a:t>
            </a:r>
            <a:r>
              <a:rPr lang="en-US" altLang="ko-KR" dirty="0"/>
              <a:t>ex) 300_000_000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934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똑같은 변수명을 만들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8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암호화 알고리즘을 </a:t>
            </a:r>
            <a:r>
              <a:rPr lang="ko-KR" altLang="en-US" dirty="0" err="1"/>
              <a:t>만들때</a:t>
            </a:r>
            <a:r>
              <a:rPr lang="ko-KR" altLang="en-US" dirty="0"/>
              <a:t> 사용함 실무에서 잘 </a:t>
            </a:r>
            <a:r>
              <a:rPr lang="ko-KR" altLang="en-US" dirty="0" err="1"/>
              <a:t>사용하지않음</a:t>
            </a:r>
            <a:r>
              <a:rPr lang="ko-KR" altLang="en-US" dirty="0"/>
              <a:t> 반드시 </a:t>
            </a:r>
            <a:r>
              <a:rPr lang="ko-KR" altLang="en-US" dirty="0" err="1"/>
              <a:t>한글자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56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불리타입을 명시적을 </a:t>
            </a:r>
            <a:r>
              <a:rPr lang="ko-KR" altLang="en-US" dirty="0" err="1"/>
              <a:t>사용하는일은</a:t>
            </a:r>
            <a:r>
              <a:rPr lang="ko-KR" altLang="en-US" dirty="0"/>
              <a:t> 거의 없음 어쩌다 한번씩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002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387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11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48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타입이 바뀌는 것을 묵시적 형변환이라고 함</a:t>
            </a:r>
            <a:endParaRPr lang="en-US" altLang="ko-KR" dirty="0"/>
          </a:p>
          <a:p>
            <a:r>
              <a:rPr lang="ko-KR" altLang="en-US" dirty="0"/>
              <a:t>다른 타입일땐 </a:t>
            </a:r>
            <a:r>
              <a:rPr lang="en-US" altLang="ko-KR" dirty="0"/>
              <a:t>byte</a:t>
            </a:r>
            <a:r>
              <a:rPr lang="ko-KR" altLang="en-US" dirty="0"/>
              <a:t> 크기가 큰 타입으로 결과값이 나옴</a:t>
            </a:r>
            <a:endParaRPr lang="en-US" altLang="ko-KR" dirty="0"/>
          </a:p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long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long</a:t>
            </a:r>
            <a:r>
              <a:rPr lang="ko-KR" altLang="en-US" dirty="0"/>
              <a:t> 타입</a:t>
            </a:r>
            <a:endParaRPr lang="en-US" altLang="ko-KR" dirty="0"/>
          </a:p>
          <a:p>
            <a:r>
              <a:rPr lang="en-US" altLang="ko-KR" dirty="0"/>
              <a:t>Float + double = double </a:t>
            </a:r>
            <a:r>
              <a:rPr lang="ko-KR" altLang="en-US" dirty="0"/>
              <a:t>타입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Byte</a:t>
            </a:r>
            <a:r>
              <a:rPr lang="ko-KR" altLang="en-US" dirty="0"/>
              <a:t>가 같으면 숫자의 범위가 더 큰 쪽으로 </a:t>
            </a:r>
            <a:endParaRPr lang="en-US" altLang="ko-KR" dirty="0"/>
          </a:p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+ float = float -&gt; </a:t>
            </a:r>
            <a:r>
              <a:rPr lang="ko-KR" altLang="en-US" dirty="0"/>
              <a:t>정수보다 실수의 범위가 더 크다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정수랑</a:t>
            </a:r>
            <a:r>
              <a:rPr lang="ko-KR" altLang="en-US" dirty="0"/>
              <a:t> </a:t>
            </a:r>
            <a:r>
              <a:rPr lang="ko-KR" altLang="en-US" dirty="0" err="1"/>
              <a:t>실수랑</a:t>
            </a:r>
            <a:r>
              <a:rPr lang="ko-KR" altLang="en-US" dirty="0"/>
              <a:t> 더하면 무조건 실수</a:t>
            </a:r>
            <a:endParaRPr lang="en-US" altLang="ko-KR" dirty="0"/>
          </a:p>
          <a:p>
            <a:r>
              <a:rPr lang="en-US" altLang="ko-KR" dirty="0"/>
              <a:t>Long + float = float</a:t>
            </a:r>
          </a:p>
          <a:p>
            <a:endParaRPr lang="en-US" altLang="ko-KR" dirty="0"/>
          </a:p>
          <a:p>
            <a:r>
              <a:rPr lang="ko-KR" altLang="en-US" dirty="0"/>
              <a:t>연산자에서는 </a:t>
            </a:r>
            <a:r>
              <a:rPr lang="ko-KR" altLang="en-US" dirty="0" err="1"/>
              <a:t>묵시적형변환이</a:t>
            </a:r>
            <a:r>
              <a:rPr lang="ko-KR" altLang="en-US" dirty="0"/>
              <a:t> 일어난 케이스와 </a:t>
            </a:r>
            <a:r>
              <a:rPr lang="ko-KR" altLang="en-US" dirty="0" err="1"/>
              <a:t>정수오버플로우랑</a:t>
            </a:r>
            <a:r>
              <a:rPr lang="ko-KR" altLang="en-US" dirty="0"/>
              <a:t> </a:t>
            </a:r>
            <a:r>
              <a:rPr lang="ko-KR" altLang="en-US" dirty="0" err="1"/>
              <a:t>정수언더플로우를</a:t>
            </a:r>
            <a:r>
              <a:rPr lang="ko-KR" altLang="en-US" dirty="0"/>
              <a:t> 잘 </a:t>
            </a:r>
            <a:r>
              <a:rPr lang="ko-KR" altLang="en-US" dirty="0" err="1"/>
              <a:t>생각해야함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정수 </a:t>
            </a:r>
            <a:r>
              <a:rPr lang="ko-KR" altLang="en-US" dirty="0" err="1"/>
              <a:t>오버플로우랑</a:t>
            </a:r>
            <a:r>
              <a:rPr lang="ko-KR" altLang="en-US" dirty="0"/>
              <a:t> 정수 </a:t>
            </a:r>
            <a:r>
              <a:rPr lang="ko-KR" altLang="en-US" dirty="0" err="1"/>
              <a:t>언더플로우는</a:t>
            </a:r>
            <a:r>
              <a:rPr lang="ko-KR" altLang="en-US" dirty="0"/>
              <a:t> 가진 바이트내에서 최대값 최소값에서 더 올라가거나 내려가면 수치가 다시 반대로 가는 현상을 말함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417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/****/ </a:t>
            </a:r>
            <a:r>
              <a:rPr lang="ko-KR" altLang="en-US" dirty="0" err="1"/>
              <a:t>멀리라인주석</a:t>
            </a:r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 err="1"/>
              <a:t>싱글라인</a:t>
            </a:r>
            <a:r>
              <a:rPr lang="ko-KR" altLang="en-US" dirty="0"/>
              <a:t> 주석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278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38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767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Switch</a:t>
            </a:r>
            <a:r>
              <a:rPr lang="ko-KR" altLang="en-US" dirty="0"/>
              <a:t>는 잘 쓰이지 않음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가 제일 많이 쓰임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050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808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0713</a:t>
            </a:r>
            <a:r>
              <a:rPr lang="ko-KR" altLang="en-US" dirty="0"/>
              <a:t>일까지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480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숫자와 문자사이에 있는 </a:t>
            </a:r>
            <a:r>
              <a:rPr lang="en-US" altLang="ko-KR" dirty="0"/>
              <a:t>+ </a:t>
            </a:r>
            <a:r>
              <a:rPr lang="ko-KR" altLang="en-US" dirty="0"/>
              <a:t>는 더해준다가 아니라 문자를 이어주는 </a:t>
            </a:r>
            <a:r>
              <a:rPr lang="en-US" altLang="ko-KR" dirty="0"/>
              <a:t>+ </a:t>
            </a:r>
            <a:r>
              <a:rPr lang="ko-KR" altLang="en-US" dirty="0"/>
              <a:t>기호이다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컨캣이라고</a:t>
            </a:r>
            <a:r>
              <a:rPr lang="ko-KR" altLang="en-US" dirty="0"/>
              <a:t> 한다</a:t>
            </a:r>
            <a:r>
              <a:rPr lang="en-US" altLang="ko-KR" dirty="0"/>
              <a:t>.(</a:t>
            </a:r>
            <a:r>
              <a:rPr lang="en-US" altLang="ko-KR" dirty="0" err="1"/>
              <a:t>cancat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Char ‘</a:t>
            </a:r>
            <a:r>
              <a:rPr lang="ko-KR" altLang="en-US" dirty="0"/>
              <a:t>가</a:t>
            </a:r>
            <a:r>
              <a:rPr lang="en-US" altLang="ko-KR" dirty="0"/>
              <a:t>’ </a:t>
            </a:r>
          </a:p>
          <a:p>
            <a:r>
              <a:rPr lang="ko-KR" altLang="en-US" dirty="0"/>
              <a:t>기본적으로 </a:t>
            </a:r>
            <a:r>
              <a:rPr lang="en-US" altLang="ko-KR" dirty="0"/>
              <a:t>char</a:t>
            </a:r>
            <a:r>
              <a:rPr lang="ko-KR" altLang="en-US" dirty="0"/>
              <a:t>은 </a:t>
            </a:r>
            <a:r>
              <a:rPr lang="en-US" altLang="ko-KR" dirty="0"/>
              <a:t>1byte(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특수문자</a:t>
            </a:r>
            <a:r>
              <a:rPr lang="en-US" altLang="ko-KR" dirty="0"/>
              <a:t>) </a:t>
            </a:r>
            <a:r>
              <a:rPr lang="ko-KR" altLang="en-US" dirty="0"/>
              <a:t>지만 한글은 </a:t>
            </a:r>
            <a:r>
              <a:rPr lang="en-US" altLang="ko-KR" dirty="0"/>
              <a:t>3byte</a:t>
            </a:r>
          </a:p>
          <a:p>
            <a:r>
              <a:rPr lang="en-US" altLang="ko-KR" dirty="0"/>
              <a:t>Int</a:t>
            </a:r>
            <a:r>
              <a:rPr lang="ko-KR" altLang="en-US" dirty="0"/>
              <a:t> 는 </a:t>
            </a:r>
            <a:r>
              <a:rPr lang="en-US" altLang="ko-KR" dirty="0"/>
              <a:t>4byte </a:t>
            </a:r>
            <a:r>
              <a:rPr lang="ko-KR" altLang="en-US" dirty="0"/>
              <a:t>문자열은 한단어당 </a:t>
            </a:r>
            <a:r>
              <a:rPr lang="en-US" altLang="ko-KR" dirty="0"/>
              <a:t>3byte</a:t>
            </a:r>
          </a:p>
          <a:p>
            <a:r>
              <a:rPr lang="ko-KR" altLang="en-US" dirty="0"/>
              <a:t>아무거나 </a:t>
            </a:r>
            <a:r>
              <a:rPr lang="en-US" altLang="ko-KR" dirty="0"/>
              <a:t>+ </a:t>
            </a:r>
            <a:r>
              <a:rPr lang="ko-KR" altLang="en-US" dirty="0"/>
              <a:t>스트링 하면 </a:t>
            </a:r>
            <a:r>
              <a:rPr lang="ko-KR" altLang="en-US" dirty="0" err="1"/>
              <a:t>스트링이나온다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“3+7</a:t>
            </a:r>
            <a:r>
              <a:rPr lang="ko-KR" altLang="en-US" dirty="0"/>
              <a:t>의 결과</a:t>
            </a:r>
            <a:r>
              <a:rPr lang="en-US" altLang="ko-KR" dirty="0"/>
              <a:t>“ + 3 +7 </a:t>
            </a:r>
            <a:r>
              <a:rPr lang="en-US" altLang="ko-KR" dirty="0">
                <a:sym typeface="Wingdings" panose="05000000000000000000" pitchFamily="2" charset="2"/>
              </a:rPr>
              <a:t> “3+7</a:t>
            </a:r>
            <a:r>
              <a:rPr lang="ko-KR" altLang="en-US" dirty="0">
                <a:sym typeface="Wingdings" panose="05000000000000000000" pitchFamily="2" charset="2"/>
              </a:rPr>
              <a:t>의 결과</a:t>
            </a:r>
            <a:r>
              <a:rPr lang="en-US" altLang="ko-KR" dirty="0">
                <a:sym typeface="Wingdings" panose="05000000000000000000" pitchFamily="2" charset="2"/>
              </a:rPr>
              <a:t>“ + 3 </a:t>
            </a:r>
            <a:r>
              <a:rPr lang="ko-KR" altLang="en-US" dirty="0">
                <a:sym typeface="Wingdings" panose="05000000000000000000" pitchFamily="2" charset="2"/>
              </a:rPr>
              <a:t>부터 더함 </a:t>
            </a:r>
            <a:r>
              <a:rPr lang="en-US" altLang="ko-KR" dirty="0">
                <a:sym typeface="Wingdings" panose="05000000000000000000" pitchFamily="2" charset="2"/>
              </a:rPr>
              <a:t>-&gt; “3+7</a:t>
            </a:r>
            <a:r>
              <a:rPr lang="ko-KR" altLang="en-US" dirty="0">
                <a:sym typeface="Wingdings" panose="05000000000000000000" pitchFamily="2" charset="2"/>
              </a:rPr>
              <a:t>의 결과 </a:t>
            </a:r>
            <a:r>
              <a:rPr lang="en-US" altLang="ko-KR" dirty="0">
                <a:sym typeface="Wingdings" panose="05000000000000000000" pitchFamily="2" charset="2"/>
              </a:rPr>
              <a:t>3” </a:t>
            </a:r>
            <a:r>
              <a:rPr lang="ko-KR" altLang="en-US" dirty="0">
                <a:sym typeface="Wingdings" panose="05000000000000000000" pitchFamily="2" charset="2"/>
              </a:rPr>
              <a:t>이라는 값이 나옴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다음으로 </a:t>
            </a:r>
            <a:r>
              <a:rPr lang="en-US" altLang="ko-KR" dirty="0">
                <a:sym typeface="Wingdings" panose="05000000000000000000" pitchFamily="2" charset="2"/>
              </a:rPr>
              <a:t>“3+7</a:t>
            </a:r>
            <a:r>
              <a:rPr lang="ko-KR" altLang="en-US" dirty="0">
                <a:sym typeface="Wingdings" panose="05000000000000000000" pitchFamily="2" charset="2"/>
              </a:rPr>
              <a:t>의 결과 </a:t>
            </a:r>
            <a:r>
              <a:rPr lang="en-US" altLang="ko-KR" dirty="0">
                <a:sym typeface="Wingdings" panose="05000000000000000000" pitchFamily="2" charset="2"/>
              </a:rPr>
              <a:t>3” + 7 </a:t>
            </a:r>
            <a:r>
              <a:rPr lang="ko-KR" altLang="en-US" dirty="0">
                <a:sym typeface="Wingdings" panose="05000000000000000000" pitchFamily="2" charset="2"/>
              </a:rPr>
              <a:t>을 하면 </a:t>
            </a:r>
            <a:r>
              <a:rPr lang="en-US" altLang="ko-KR" dirty="0">
                <a:sym typeface="Wingdings" panose="05000000000000000000" pitchFamily="2" charset="2"/>
              </a:rPr>
              <a:t>-&gt; “3+7</a:t>
            </a:r>
            <a:r>
              <a:rPr lang="ko-KR" altLang="en-US" dirty="0">
                <a:sym typeface="Wingdings" panose="05000000000000000000" pitchFamily="2" charset="2"/>
              </a:rPr>
              <a:t>의결과 </a:t>
            </a:r>
            <a:r>
              <a:rPr lang="en-US" altLang="ko-KR" dirty="0">
                <a:sym typeface="Wingdings" panose="05000000000000000000" pitchFamily="2" charset="2"/>
              </a:rPr>
              <a:t>37” </a:t>
            </a:r>
            <a:r>
              <a:rPr lang="ko-KR" altLang="en-US" dirty="0">
                <a:sym typeface="Wingdings" panose="05000000000000000000" pitchFamily="2" charset="2"/>
              </a:rPr>
              <a:t>이 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소괄호 뒤에 </a:t>
            </a:r>
            <a:r>
              <a:rPr lang="ko-KR" altLang="en-US" dirty="0" err="1">
                <a:sym typeface="Wingdings" panose="05000000000000000000" pitchFamily="2" charset="2"/>
              </a:rPr>
              <a:t>중괄호까지가</a:t>
            </a:r>
            <a:r>
              <a:rPr lang="ko-KR" altLang="en-US" dirty="0">
                <a:sym typeface="Wingdings" panose="05000000000000000000" pitchFamily="2" charset="2"/>
              </a:rPr>
              <a:t> 변수의 범위이다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위에 지문에서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범위는 모든 곳에서 쓰이지만 </a:t>
            </a:r>
            <a:r>
              <a:rPr lang="en-US" altLang="ko-KR" dirty="0">
                <a:sym typeface="Wingdings" panose="05000000000000000000" pitchFamily="2" charset="2"/>
              </a:rPr>
              <a:t>j</a:t>
            </a:r>
            <a:r>
              <a:rPr lang="ko-KR" altLang="en-US" dirty="0">
                <a:sym typeface="Wingdings" panose="05000000000000000000" pitchFamily="2" charset="2"/>
              </a:rPr>
              <a:t>는 제일 안에 있는 중괄호에서만 쓰인다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제일안에 있는 중괄호에서 하나 벗어난 중괄호에서 쓰려고 하면 </a:t>
            </a:r>
            <a:r>
              <a:rPr lang="ko-KR" altLang="en-US" dirty="0" err="1">
                <a:sym typeface="Wingdings" panose="05000000000000000000" pitchFamily="2" charset="2"/>
              </a:rPr>
              <a:t>에러가난다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자기의 범위를 </a:t>
            </a:r>
            <a:r>
              <a:rPr lang="ko-KR" altLang="en-US" dirty="0" err="1">
                <a:sym typeface="Wingdings" panose="05000000000000000000" pitchFamily="2" charset="2"/>
              </a:rPr>
              <a:t>벗어나게되면</a:t>
            </a:r>
            <a:r>
              <a:rPr lang="ko-KR" altLang="en-US" dirty="0">
                <a:sym typeface="Wingdings" panose="05000000000000000000" pitchFamily="2" charset="2"/>
              </a:rPr>
              <a:t> 그 값은 </a:t>
            </a:r>
            <a:r>
              <a:rPr lang="ko-KR" altLang="en-US" dirty="0" err="1">
                <a:sym typeface="Wingdings" panose="05000000000000000000" pitchFamily="2" charset="2"/>
              </a:rPr>
              <a:t>사라지게됨</a:t>
            </a:r>
            <a:r>
              <a:rPr lang="ko-KR" altLang="en-US" dirty="0">
                <a:sym typeface="Wingdings" panose="05000000000000000000" pitchFamily="2" charset="2"/>
              </a:rPr>
              <a:t> 그래서 </a:t>
            </a:r>
            <a:r>
              <a:rPr lang="en-US" altLang="ko-KR" dirty="0">
                <a:sym typeface="Wingdings" panose="05000000000000000000" pitchFamily="2" charset="2"/>
              </a:rPr>
              <a:t>j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부터 계속 반복 할 수 있는 것임 그러다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 값도 조건에 </a:t>
            </a:r>
            <a:r>
              <a:rPr lang="ko-KR" altLang="en-US" dirty="0" err="1">
                <a:sym typeface="Wingdings" panose="05000000000000000000" pitchFamily="2" charset="2"/>
              </a:rPr>
              <a:t>부합하게되면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값도 사라지고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For </a:t>
            </a:r>
            <a:r>
              <a:rPr lang="ko-KR" altLang="en-US" dirty="0"/>
              <a:t>문만 쓰면 변수를 </a:t>
            </a:r>
            <a:r>
              <a:rPr lang="en-US" altLang="ko-KR" dirty="0" err="1"/>
              <a:t>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쓰는 이유는 </a:t>
            </a:r>
            <a:r>
              <a:rPr lang="en-US" altLang="ko-KR" dirty="0" err="1"/>
              <a:t>increse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ko-KR" altLang="en-US" dirty="0"/>
              <a:t>를 씀 또다른 이유는 배열에서 </a:t>
            </a:r>
            <a:r>
              <a:rPr lang="en-US" altLang="ko-KR" dirty="0"/>
              <a:t>index </a:t>
            </a:r>
            <a:r>
              <a:rPr lang="en-US" altLang="ko-KR" dirty="0" err="1"/>
              <a:t>i</a:t>
            </a:r>
            <a:r>
              <a:rPr lang="ko-KR" altLang="en-US" dirty="0"/>
              <a:t>를 </a:t>
            </a:r>
            <a:r>
              <a:rPr lang="ko-KR" altLang="en-US" dirty="0" err="1"/>
              <a:t>따옴</a:t>
            </a:r>
            <a:r>
              <a:rPr lang="ko-KR" altLang="en-US" dirty="0"/>
              <a:t> 관례라고 </a:t>
            </a:r>
            <a:r>
              <a:rPr lang="ko-KR" altLang="en-US" dirty="0" err="1"/>
              <a:t>생각하면됨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30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static</a:t>
            </a:r>
            <a:r>
              <a:rPr lang="ko-KR" altLang="en-US" dirty="0"/>
              <a:t> </a:t>
            </a:r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 err="1"/>
              <a:t>getMultiply</a:t>
            </a:r>
            <a:r>
              <a:rPr lang="ko-KR" altLang="en-US" dirty="0"/>
              <a:t> 라고 있는데 </a:t>
            </a:r>
            <a:r>
              <a:rPr lang="en-US" altLang="ko-KR" dirty="0"/>
              <a:t>int,</a:t>
            </a:r>
            <a:r>
              <a:rPr lang="ko-KR" altLang="en-US" dirty="0"/>
              <a:t> </a:t>
            </a:r>
            <a:r>
              <a:rPr lang="en-US" altLang="ko-KR" dirty="0"/>
              <a:t>void</a:t>
            </a:r>
            <a:r>
              <a:rPr lang="ko-KR" altLang="en-US" dirty="0"/>
              <a:t> 라고 있는데 그 자리가 반환타입을 알려줌</a:t>
            </a:r>
            <a:endParaRPr lang="en-US" altLang="ko-KR" dirty="0"/>
          </a:p>
          <a:p>
            <a:r>
              <a:rPr lang="en-US" altLang="ko-KR" dirty="0"/>
              <a:t>Void </a:t>
            </a:r>
            <a:r>
              <a:rPr lang="ko-KR" altLang="en-US" dirty="0"/>
              <a:t>가 </a:t>
            </a:r>
            <a:r>
              <a:rPr lang="ko-KR" altLang="en-US" dirty="0" err="1"/>
              <a:t>적혀있다면</a:t>
            </a:r>
            <a:r>
              <a:rPr lang="ko-KR" altLang="en-US" dirty="0"/>
              <a:t> 반환하는 게 없다 라는 뜻이다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197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getMultiply</a:t>
            </a:r>
            <a:r>
              <a:rPr lang="ko-KR" altLang="en-US" dirty="0"/>
              <a:t>는 </a:t>
            </a:r>
            <a:r>
              <a:rPr lang="en-US" altLang="ko-KR" dirty="0"/>
              <a:t>int</a:t>
            </a:r>
            <a:r>
              <a:rPr lang="ko-KR" altLang="en-US" dirty="0"/>
              <a:t> 타입을 반환한다</a:t>
            </a:r>
            <a:r>
              <a:rPr lang="en-US" altLang="ko-KR" dirty="0"/>
              <a:t>. </a:t>
            </a:r>
            <a:r>
              <a:rPr lang="ko-KR" altLang="en-US" dirty="0"/>
              <a:t>호출해서 변수에 할당을 하면 반환하는 값이 변수에 할당이 되고 </a:t>
            </a:r>
            <a:r>
              <a:rPr lang="ko-KR" altLang="en-US" dirty="0" err="1"/>
              <a:t>상ㅇ할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31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클래스를 인스턴스로 만들어주는 생성자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172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/>
              <a:t>– </a:t>
            </a:r>
            <a:r>
              <a:rPr lang="ko-KR" altLang="en-US" dirty="0"/>
              <a:t>의사가 할 수 있는 행동과 의사가 가지고 있는 정보들을 가지고 있는 것을 명시해놓는 명세서</a:t>
            </a:r>
            <a:endParaRPr lang="en-US" altLang="ko-KR" dirty="0"/>
          </a:p>
          <a:p>
            <a:r>
              <a:rPr lang="ko-KR" altLang="en-US" dirty="0" err="1"/>
              <a:t>레퍼런스타입은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 을 사용할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레퍼런스타입은</a:t>
            </a:r>
            <a:r>
              <a:rPr lang="ko-KR" altLang="en-US" dirty="0"/>
              <a:t> 데이터가 몰려다님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91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지역변수 </a:t>
            </a:r>
            <a:r>
              <a:rPr lang="en-US" altLang="ko-KR" dirty="0"/>
              <a:t>, </a:t>
            </a:r>
            <a:r>
              <a:rPr lang="ko-KR" altLang="en-US" dirty="0"/>
              <a:t>임시변수</a:t>
            </a:r>
            <a:r>
              <a:rPr lang="en-US" altLang="ko-KR" dirty="0"/>
              <a:t>, </a:t>
            </a:r>
            <a:r>
              <a:rPr lang="ko-KR" altLang="en-US" dirty="0"/>
              <a:t>멤버변수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지역변수는 </a:t>
            </a:r>
            <a:r>
              <a:rPr lang="en-US" altLang="ko-KR" dirty="0"/>
              <a:t>public </a:t>
            </a:r>
            <a:r>
              <a:rPr lang="ko-KR" altLang="en-US" dirty="0"/>
              <a:t>안에 코드안에 잇는 변수</a:t>
            </a:r>
            <a:endParaRPr lang="en-US" altLang="ko-KR" dirty="0"/>
          </a:p>
          <a:p>
            <a:r>
              <a:rPr lang="ko-KR" altLang="en-US" dirty="0"/>
              <a:t>임시변수는 </a:t>
            </a:r>
            <a:r>
              <a:rPr lang="en-US" altLang="ko-KR" dirty="0"/>
              <a:t>( ) </a:t>
            </a:r>
            <a:r>
              <a:rPr lang="ko-KR" altLang="en-US" dirty="0"/>
              <a:t>안에 잇는 변수</a:t>
            </a:r>
            <a:r>
              <a:rPr lang="en-US" altLang="ko-KR" dirty="0"/>
              <a:t>( </a:t>
            </a:r>
            <a:r>
              <a:rPr lang="ko-KR" altLang="en-US" dirty="0"/>
              <a:t>파라미터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멤버변수는 </a:t>
            </a:r>
            <a:r>
              <a:rPr lang="en-US" altLang="ko-KR" dirty="0"/>
              <a:t>. </a:t>
            </a:r>
            <a:r>
              <a:rPr lang="ko-KR" altLang="en-US" dirty="0"/>
              <a:t>찍었을 때 나온 세모모양 인스턴스가 독립적으로 값을 가지는 변수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862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new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생성자를 호출하겠다는 뜻 생성자를 호출해서 새로운 인스턴스를 만들겠다는 키워드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533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생성자로 만들어진 </a:t>
            </a:r>
            <a:r>
              <a:rPr lang="ko-KR" altLang="en-US" dirty="0" err="1"/>
              <a:t>레퍼런스타입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인스턴스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877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r>
              <a:rPr lang="ko-KR" altLang="en-US" dirty="0"/>
              <a:t>에는 명세라는 모든 것들이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클래스변수명과</a:t>
            </a:r>
            <a:r>
              <a:rPr lang="en-US" altLang="ko-KR" dirty="0"/>
              <a:t>, </a:t>
            </a:r>
            <a:r>
              <a:rPr lang="ko-KR" altLang="en-US" dirty="0"/>
              <a:t>타입 </a:t>
            </a:r>
            <a:r>
              <a:rPr lang="ko-KR" altLang="en-US" dirty="0" err="1"/>
              <a:t>클래스메소드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이거는 값과 명세가 같이 </a:t>
            </a:r>
            <a:r>
              <a:rPr lang="ko-KR" altLang="en-US" dirty="0" err="1"/>
              <a:t>들어감</a:t>
            </a:r>
            <a:r>
              <a:rPr lang="ko-KR" altLang="en-US" dirty="0"/>
              <a:t> 나머지는 명세만 </a:t>
            </a:r>
            <a:r>
              <a:rPr lang="ko-KR" altLang="en-US" dirty="0" err="1"/>
              <a:t>들어가있음</a:t>
            </a:r>
            <a:endParaRPr lang="en-US" altLang="ko-KR" dirty="0"/>
          </a:p>
          <a:p>
            <a:r>
              <a:rPr lang="ko-KR" altLang="en-US" dirty="0"/>
              <a:t>중괄호에 들어간 </a:t>
            </a:r>
            <a:r>
              <a:rPr lang="ko-KR" altLang="en-US" dirty="0" err="1"/>
              <a:t>모든것들은</a:t>
            </a:r>
            <a:r>
              <a:rPr lang="ko-KR" altLang="en-US" dirty="0"/>
              <a:t> 중괄호 영역을 벗어나면 사라진다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Method</a:t>
            </a:r>
            <a:r>
              <a:rPr lang="ko-KR" altLang="en-US" dirty="0"/>
              <a:t>에 있는 것들은 </a:t>
            </a:r>
            <a:r>
              <a:rPr lang="ko-KR" altLang="en-US" dirty="0" err="1"/>
              <a:t>안살아짐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어플리케이션을 실행하는 순간 생성되고 어플리케이션을 끄면 사라짐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6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 다이어그램</a:t>
            </a:r>
            <a:endParaRPr lang="en-US" altLang="ko-KR" dirty="0"/>
          </a:p>
          <a:p>
            <a:r>
              <a:rPr lang="en-US" altLang="ko-KR" dirty="0" err="1"/>
              <a:t>getAverage</a:t>
            </a:r>
            <a:r>
              <a:rPr lang="en-US" altLang="ko-KR" dirty="0"/>
              <a:t>(int): double</a:t>
            </a:r>
          </a:p>
          <a:p>
            <a:r>
              <a:rPr lang="en-US" altLang="ko-KR" dirty="0" err="1"/>
              <a:t>getCourseCredit</a:t>
            </a:r>
            <a:r>
              <a:rPr lang="en-US" altLang="ko-KR" dirty="0"/>
              <a:t>(double): double</a:t>
            </a:r>
          </a:p>
          <a:p>
            <a:r>
              <a:rPr lang="en-US" altLang="ko-KR" dirty="0" err="1"/>
              <a:t>getABCDE</a:t>
            </a:r>
            <a:r>
              <a:rPr lang="en-US" altLang="ko-KR" dirty="0"/>
              <a:t>(double): String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768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생성자의 역할은 인스턴스를 만드는 것</a:t>
            </a:r>
            <a:endParaRPr lang="en-US" altLang="ko-KR" dirty="0"/>
          </a:p>
          <a:p>
            <a:r>
              <a:rPr lang="ko-KR" altLang="en-US" dirty="0"/>
              <a:t>왜 생성자를 사용하는가 </a:t>
            </a:r>
            <a:r>
              <a:rPr lang="en-US" altLang="ko-KR" dirty="0"/>
              <a:t>-&gt; </a:t>
            </a:r>
            <a:r>
              <a:rPr lang="ko-KR" altLang="en-US" dirty="0"/>
              <a:t>값을 할당해주기 위해 생성자를 만든다</a:t>
            </a:r>
            <a:r>
              <a:rPr lang="en-US" altLang="ko-KR" dirty="0"/>
              <a:t>. </a:t>
            </a:r>
            <a:r>
              <a:rPr lang="ko-KR" altLang="en-US" dirty="0"/>
              <a:t>값을 초기화해줌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189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class </a:t>
            </a:r>
            <a:r>
              <a:rPr lang="ko-KR" altLang="en-US" dirty="0"/>
              <a:t>이름 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   1. </a:t>
            </a:r>
            <a:r>
              <a:rPr lang="ko-KR" altLang="en-US" dirty="0"/>
              <a:t>상수</a:t>
            </a:r>
            <a:endParaRPr lang="en-US" altLang="ko-KR" dirty="0"/>
          </a:p>
          <a:p>
            <a:r>
              <a:rPr lang="en-US" altLang="ko-KR" dirty="0"/>
              <a:t>        2. </a:t>
            </a:r>
            <a:r>
              <a:rPr lang="ko-KR" altLang="en-US" dirty="0"/>
              <a:t>멤버변수들</a:t>
            </a:r>
            <a:endParaRPr lang="en-US" altLang="ko-KR" dirty="0"/>
          </a:p>
          <a:p>
            <a:r>
              <a:rPr lang="en-US" altLang="ko-KR" dirty="0"/>
              <a:t>        3. </a:t>
            </a:r>
            <a:r>
              <a:rPr lang="ko-KR" altLang="en-US" dirty="0"/>
              <a:t>생성자</a:t>
            </a:r>
            <a:endParaRPr lang="en-US" altLang="ko-KR" dirty="0"/>
          </a:p>
          <a:p>
            <a:r>
              <a:rPr lang="en-US" altLang="ko-KR" dirty="0"/>
              <a:t>        4. </a:t>
            </a:r>
            <a:r>
              <a:rPr lang="ko-KR" altLang="en-US" dirty="0"/>
              <a:t>메소드들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적는 순서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46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3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VO = Value Object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14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50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14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Protected</a:t>
            </a:r>
            <a:r>
              <a:rPr lang="ko-KR" altLang="en-US" dirty="0"/>
              <a:t>는 아직 사용하지 않음</a:t>
            </a:r>
            <a:endParaRPr lang="en-US" altLang="ko-KR" dirty="0"/>
          </a:p>
          <a:p>
            <a:r>
              <a:rPr lang="en-US" altLang="ko-KR" dirty="0"/>
              <a:t>Private – </a:t>
            </a:r>
            <a:r>
              <a:rPr lang="ko-KR" altLang="en-US" dirty="0"/>
              <a:t>클래스 내부에서만 나만 사용할 수 있음</a:t>
            </a:r>
            <a:endParaRPr lang="en-US" altLang="ko-KR" dirty="0"/>
          </a:p>
          <a:p>
            <a:r>
              <a:rPr lang="en-US" altLang="ko-KR" dirty="0"/>
              <a:t>Default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접근제어지시자가 없으면 사용됨</a:t>
            </a:r>
            <a:r>
              <a:rPr lang="en-US" altLang="ko-KR" dirty="0"/>
              <a:t>) – </a:t>
            </a:r>
            <a:r>
              <a:rPr lang="ko-KR" altLang="en-US" dirty="0"/>
              <a:t>내가 </a:t>
            </a:r>
            <a:r>
              <a:rPr lang="ko-KR" altLang="en-US" dirty="0" err="1"/>
              <a:t>쓸수</a:t>
            </a:r>
            <a:r>
              <a:rPr lang="ko-KR" altLang="en-US" dirty="0"/>
              <a:t> 있고 동일 패키지에서 사용가능 </a:t>
            </a:r>
            <a:endParaRPr lang="en-US" altLang="ko-KR" dirty="0"/>
          </a:p>
          <a:p>
            <a:r>
              <a:rPr lang="en-US" altLang="ko-KR" dirty="0"/>
              <a:t>Public – </a:t>
            </a:r>
            <a:r>
              <a:rPr lang="ko-KR" altLang="en-US" dirty="0"/>
              <a:t>프로젝트 전역에서 사용가능 </a:t>
            </a:r>
            <a:r>
              <a:rPr lang="ko-KR" altLang="en-US" dirty="0" err="1"/>
              <a:t>아무곳에서</a:t>
            </a:r>
            <a:r>
              <a:rPr lang="ko-KR" altLang="en-US" dirty="0"/>
              <a:t> 사용가능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5899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토스 내 계좌 </a:t>
            </a:r>
            <a:r>
              <a:rPr lang="en-US" altLang="ko-KR" dirty="0"/>
              <a:t>= new</a:t>
            </a:r>
            <a:r>
              <a:rPr lang="ko-KR" altLang="en-US" dirty="0"/>
              <a:t> 토스</a:t>
            </a:r>
            <a:r>
              <a:rPr lang="en-US" altLang="ko-KR" dirty="0"/>
              <a:t>( )</a:t>
            </a:r>
          </a:p>
          <a:p>
            <a:r>
              <a:rPr lang="ko-KR" altLang="en-US" dirty="0" err="1"/>
              <a:t>내계좌</a:t>
            </a:r>
            <a:r>
              <a:rPr lang="en-US" altLang="ko-KR" dirty="0"/>
              <a:t>.</a:t>
            </a:r>
            <a:r>
              <a:rPr lang="ko-KR" altLang="en-US" dirty="0"/>
              <a:t>입금 </a:t>
            </a:r>
            <a:r>
              <a:rPr lang="en-US" altLang="ko-KR" dirty="0"/>
              <a:t>= 100,000</a:t>
            </a:r>
          </a:p>
          <a:p>
            <a:endParaRPr lang="en-US" altLang="ko-KR" dirty="0"/>
          </a:p>
          <a:p>
            <a:r>
              <a:rPr lang="ko-KR" altLang="en-US" dirty="0"/>
              <a:t>토스 </a:t>
            </a:r>
            <a:r>
              <a:rPr lang="ko-KR" altLang="en-US" dirty="0" err="1"/>
              <a:t>니</a:t>
            </a:r>
            <a:r>
              <a:rPr lang="ko-KR" altLang="en-US" dirty="0"/>
              <a:t> 계좌 </a:t>
            </a:r>
            <a:r>
              <a:rPr lang="en-US" altLang="ko-KR" dirty="0"/>
              <a:t>= new</a:t>
            </a:r>
            <a:r>
              <a:rPr lang="ko-KR" altLang="en-US" dirty="0"/>
              <a:t> 토스</a:t>
            </a:r>
            <a:r>
              <a:rPr lang="en-US" altLang="ko-KR" dirty="0"/>
              <a:t>( )</a:t>
            </a:r>
          </a:p>
          <a:p>
            <a:r>
              <a:rPr lang="ko-KR" altLang="en-US" dirty="0" err="1"/>
              <a:t>니계좌</a:t>
            </a:r>
            <a:r>
              <a:rPr lang="en-US" altLang="ko-KR" dirty="0"/>
              <a:t>.</a:t>
            </a:r>
            <a:r>
              <a:rPr lang="ko-KR" altLang="en-US" dirty="0" err="1"/>
              <a:t>입급</a:t>
            </a:r>
            <a:r>
              <a:rPr lang="ko-KR" altLang="en-US" dirty="0"/>
              <a:t> </a:t>
            </a:r>
            <a:r>
              <a:rPr lang="en-US" altLang="ko-KR" dirty="0"/>
              <a:t>= -100,000</a:t>
            </a:r>
          </a:p>
          <a:p>
            <a:endParaRPr lang="en-US" altLang="ko-KR" dirty="0"/>
          </a:p>
          <a:p>
            <a:r>
              <a:rPr lang="ko-KR" altLang="en-US" dirty="0"/>
              <a:t>통장잔액이 </a:t>
            </a:r>
            <a:r>
              <a:rPr lang="ko-KR" altLang="en-US" dirty="0" err="1"/>
              <a:t>다른사람이</a:t>
            </a:r>
            <a:r>
              <a:rPr lang="ko-KR" altLang="en-US" dirty="0"/>
              <a:t> 사용할 수 있도록 하면 안됨</a:t>
            </a:r>
            <a:endParaRPr lang="en-US" altLang="ko-KR" dirty="0"/>
          </a:p>
          <a:p>
            <a:r>
              <a:rPr lang="ko-KR" altLang="en-US" dirty="0"/>
              <a:t>그래서 나만 사용할 수 있게 </a:t>
            </a:r>
            <a:r>
              <a:rPr lang="en-US" altLang="ko-KR" dirty="0"/>
              <a:t>private</a:t>
            </a:r>
            <a:r>
              <a:rPr lang="ko-KR" altLang="en-US" dirty="0"/>
              <a:t>로 인스턴스로 해야함</a:t>
            </a:r>
            <a:endParaRPr lang="en-US" altLang="ko-KR" dirty="0"/>
          </a:p>
          <a:p>
            <a:r>
              <a:rPr lang="en-US" altLang="ko-KR" dirty="0"/>
              <a:t>Private</a:t>
            </a:r>
            <a:r>
              <a:rPr lang="ko-KR" altLang="en-US" dirty="0"/>
              <a:t>로 하면 오로지 나만 사용할 수 있음</a:t>
            </a:r>
            <a:endParaRPr lang="en-US" altLang="ko-KR" dirty="0"/>
          </a:p>
          <a:p>
            <a:r>
              <a:rPr lang="ko-KR" altLang="en-US" dirty="0"/>
              <a:t>멤버변수만 </a:t>
            </a:r>
            <a:r>
              <a:rPr lang="en-US" altLang="ko-KR" dirty="0"/>
              <a:t>Private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982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정보은닉 </a:t>
            </a:r>
            <a:r>
              <a:rPr lang="en-US" altLang="ko-KR" dirty="0"/>
              <a:t>= </a:t>
            </a:r>
            <a:r>
              <a:rPr lang="ko-KR" altLang="en-US" dirty="0"/>
              <a:t>은닉</a:t>
            </a:r>
            <a:r>
              <a:rPr lang="en-US" altLang="ko-KR" dirty="0"/>
              <a:t>(private)</a:t>
            </a:r>
            <a:r>
              <a:rPr lang="ko-KR" altLang="en-US" dirty="0"/>
              <a:t> 정보</a:t>
            </a:r>
            <a:r>
              <a:rPr lang="en-US" altLang="ko-KR" dirty="0"/>
              <a:t>(</a:t>
            </a:r>
            <a:r>
              <a:rPr lang="ko-KR" altLang="en-US" dirty="0"/>
              <a:t>멤버변수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캡슐화는 변화를 일으키는 메소드를 만드는 방식</a:t>
            </a:r>
            <a:endParaRPr lang="en-US" altLang="ko-KR" dirty="0"/>
          </a:p>
          <a:p>
            <a:r>
              <a:rPr lang="ko-KR" altLang="en-US" dirty="0"/>
              <a:t>멤버변수는 행위를 </a:t>
            </a:r>
            <a:r>
              <a:rPr lang="ko-KR" altLang="en-US" dirty="0" err="1"/>
              <a:t>할때</a:t>
            </a:r>
            <a:r>
              <a:rPr lang="ko-KR" altLang="en-US" dirty="0"/>
              <a:t> </a:t>
            </a:r>
            <a:r>
              <a:rPr lang="ko-KR" altLang="en-US" dirty="0" err="1"/>
              <a:t>봐뀜</a:t>
            </a:r>
            <a:endParaRPr lang="en-US" altLang="ko-KR" dirty="0"/>
          </a:p>
          <a:p>
            <a:r>
              <a:rPr lang="ko-KR" altLang="en-US" dirty="0"/>
              <a:t>계좌라고 치면 입금</a:t>
            </a:r>
            <a:r>
              <a:rPr lang="en-US" altLang="ko-KR" dirty="0"/>
              <a:t>, </a:t>
            </a:r>
            <a:r>
              <a:rPr lang="ko-KR" altLang="en-US" dirty="0"/>
              <a:t>출금</a:t>
            </a:r>
            <a:r>
              <a:rPr lang="en-US" altLang="ko-KR" dirty="0"/>
              <a:t>, </a:t>
            </a:r>
            <a:r>
              <a:rPr lang="ko-KR" altLang="en-US" dirty="0"/>
              <a:t>대출 이라는 행위를 </a:t>
            </a:r>
            <a:r>
              <a:rPr lang="ko-KR" altLang="en-US" dirty="0" err="1"/>
              <a:t>할때</a:t>
            </a:r>
            <a:r>
              <a:rPr lang="ko-KR" altLang="en-US" dirty="0"/>
              <a:t> 바뀐다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캡슐화</a:t>
            </a:r>
            <a:r>
              <a:rPr lang="en-US" altLang="ko-KR" dirty="0"/>
              <a:t>(Encapsulation)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여러 개의 기능을 하나의 기능으로 </a:t>
            </a:r>
            <a:r>
              <a:rPr lang="ko-KR" altLang="en-US" dirty="0" err="1"/>
              <a:t>만드는것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인캡슐레이션했냐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캡슐화를 했냐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바이어가 구매를 했냐 는 셀러가 판매를 하겠다 라는 기능도 포함 되어있다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78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3710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값을 반환만 해주고 값을 </a:t>
            </a:r>
            <a:r>
              <a:rPr lang="ko-KR" altLang="en-US" dirty="0" err="1"/>
              <a:t>바꿀수는</a:t>
            </a:r>
            <a:r>
              <a:rPr lang="ko-KR" altLang="en-US" dirty="0"/>
              <a:t> 없음</a:t>
            </a:r>
            <a:endParaRPr lang="en-US" altLang="ko-KR" dirty="0"/>
          </a:p>
          <a:p>
            <a:r>
              <a:rPr lang="ko-KR" altLang="en-US" dirty="0"/>
              <a:t>값을 </a:t>
            </a:r>
            <a:r>
              <a:rPr lang="ko-KR" altLang="en-US" dirty="0" err="1"/>
              <a:t>들고와서</a:t>
            </a:r>
            <a:r>
              <a:rPr lang="ko-KR" altLang="en-US" dirty="0"/>
              <a:t> 출력을 할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709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값을 </a:t>
            </a:r>
            <a:r>
              <a:rPr lang="ko-KR" altLang="en-US" dirty="0" err="1"/>
              <a:t>들고와서</a:t>
            </a:r>
            <a:r>
              <a:rPr lang="ko-KR" altLang="en-US" dirty="0"/>
              <a:t> 출력을 할 수 있음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9164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외부의 </a:t>
            </a:r>
            <a:r>
              <a:rPr lang="ko-KR" altLang="en-US" dirty="0" err="1"/>
              <a:t>행동없이</a:t>
            </a:r>
            <a:r>
              <a:rPr lang="ko-KR" altLang="en-US" dirty="0"/>
              <a:t> 값이 바뀌지 </a:t>
            </a:r>
            <a:r>
              <a:rPr lang="ko-KR" altLang="en-US" dirty="0" err="1"/>
              <a:t>않도로</a:t>
            </a:r>
            <a:r>
              <a:rPr lang="ko-KR" altLang="en-US" dirty="0"/>
              <a:t> 보호한다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7045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외부에서는 재할당을 할 수 없다</a:t>
            </a:r>
            <a:r>
              <a:rPr lang="en-US" altLang="ko-KR" dirty="0"/>
              <a:t>. </a:t>
            </a:r>
            <a:r>
              <a:rPr lang="ko-KR" altLang="en-US" dirty="0"/>
              <a:t>행위를 통해서만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091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211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ko-KR" dirty="0"/>
              <a:t>Getter</a:t>
            </a:r>
          </a:p>
          <a:p>
            <a:pPr marL="228600" indent="-228600">
              <a:buAutoNum type="arabicPeriod"/>
            </a:pP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6184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캡슐화 </a:t>
            </a:r>
            <a:r>
              <a:rPr lang="en-US" altLang="ko-KR" dirty="0"/>
              <a:t>– </a:t>
            </a:r>
            <a:r>
              <a:rPr lang="ko-KR" altLang="en-US" dirty="0"/>
              <a:t>여러 개의 기능을 하나의 기능으로 </a:t>
            </a:r>
            <a:r>
              <a:rPr lang="ko-KR" altLang="en-US" dirty="0" err="1"/>
              <a:t>만드는것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9935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캡슐화를 하면 이 단점들을 보완을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9799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4382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7436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클래스로만 접근할 수 있는 변수</a:t>
            </a:r>
            <a:r>
              <a:rPr lang="en-US" altLang="ko-KR" dirty="0"/>
              <a:t>, </a:t>
            </a:r>
            <a:r>
              <a:rPr lang="ko-KR" altLang="en-US" dirty="0"/>
              <a:t>메소드이다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인스턴스 필드를 멤버 변수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4224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스테틱</a:t>
            </a:r>
            <a:r>
              <a:rPr lang="ko-KR" altLang="en-US" dirty="0"/>
              <a:t> 필드</a:t>
            </a:r>
            <a:r>
              <a:rPr lang="en-US" altLang="ko-KR" dirty="0"/>
              <a:t>, </a:t>
            </a:r>
            <a:r>
              <a:rPr lang="ko-KR" altLang="en-US" dirty="0" err="1"/>
              <a:t>스테틱변수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25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위에는 클래스로 접근 아래는 인스턴스로 접근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80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실무에서는 클래스 변수를 경우는 없다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806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실무에서는 클래스 변수를 쓰는 경우는 없다</a:t>
            </a:r>
            <a:r>
              <a:rPr lang="en-US" altLang="ko-KR" dirty="0"/>
              <a:t>. </a:t>
            </a:r>
            <a:endParaRPr lang="ko-KR" altLang="en-US" dirty="0"/>
          </a:p>
          <a:p>
            <a:r>
              <a:rPr lang="ko-KR" altLang="en-US" dirty="0"/>
              <a:t>하나의 프로세스는 동시에 쓰레드 여러 개가 실행된다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Process = </a:t>
            </a:r>
            <a:br>
              <a:rPr lang="en-US" altLang="ko-KR" dirty="0"/>
            </a:br>
            <a:r>
              <a:rPr lang="en-US" altLang="ko-KR" dirty="0"/>
              <a:t>    -&gt; Thread 1</a:t>
            </a:r>
          </a:p>
          <a:p>
            <a:r>
              <a:rPr lang="en-US" altLang="ko-KR" dirty="0"/>
              <a:t>    -&gt; Thread 2</a:t>
            </a:r>
          </a:p>
          <a:p>
            <a:r>
              <a:rPr lang="en-US" altLang="ko-KR" dirty="0"/>
              <a:t>    -&gt; Thread 3</a:t>
            </a:r>
          </a:p>
          <a:p>
            <a:r>
              <a:rPr lang="en-US" altLang="ko-KR" dirty="0"/>
              <a:t>    -&gt; ……</a:t>
            </a:r>
          </a:p>
          <a:p>
            <a:endParaRPr lang="en-US" altLang="ko-KR" dirty="0"/>
          </a:p>
          <a:p>
            <a:r>
              <a:rPr lang="ko-KR" altLang="en-US" dirty="0"/>
              <a:t>땅을 판다고 가정을 </a:t>
            </a:r>
            <a:r>
              <a:rPr lang="ko-KR" altLang="en-US" dirty="0" err="1"/>
              <a:t>했을때</a:t>
            </a:r>
            <a:r>
              <a:rPr lang="ko-KR" altLang="en-US" dirty="0"/>
              <a:t> 한사람씩 일을 한다</a:t>
            </a:r>
            <a:r>
              <a:rPr lang="en-US" altLang="ko-KR" dirty="0"/>
              <a:t>. 1</a:t>
            </a:r>
            <a:r>
              <a:rPr lang="ko-KR" altLang="en-US" dirty="0" err="1"/>
              <a:t>번일꾼</a:t>
            </a:r>
            <a:r>
              <a:rPr lang="ko-KR" altLang="en-US" dirty="0"/>
              <a:t> </a:t>
            </a:r>
            <a:r>
              <a:rPr lang="ko-KR" altLang="en-US" dirty="0" err="1"/>
              <a:t>땅세번파고</a:t>
            </a:r>
            <a:r>
              <a:rPr lang="ko-KR" altLang="en-US" dirty="0"/>
              <a:t> 쉬고 </a:t>
            </a:r>
            <a:r>
              <a:rPr lang="en-US" altLang="ko-KR" dirty="0"/>
              <a:t>2</a:t>
            </a:r>
            <a:r>
              <a:rPr lang="ko-KR" altLang="en-US" dirty="0" err="1"/>
              <a:t>번일꾼</a:t>
            </a:r>
            <a:r>
              <a:rPr lang="ko-KR" altLang="en-US" dirty="0"/>
              <a:t> 땅 </a:t>
            </a:r>
            <a:r>
              <a:rPr lang="ko-KR" altLang="en-US" dirty="0" err="1"/>
              <a:t>세번파고</a:t>
            </a:r>
            <a:r>
              <a:rPr lang="ko-KR" altLang="en-US" dirty="0"/>
              <a:t> 쉬고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공용변수라는 것이 굉장히 위험함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클래스변수가 필요한 가능성은 없다</a:t>
            </a:r>
            <a:r>
              <a:rPr lang="en-US" altLang="ko-KR" dirty="0"/>
              <a:t>. </a:t>
            </a:r>
            <a:r>
              <a:rPr lang="ko-KR" altLang="en-US" dirty="0"/>
              <a:t>진짜 없음 클래식 변수로 </a:t>
            </a:r>
            <a:r>
              <a:rPr lang="ko-KR" altLang="en-US" dirty="0" err="1"/>
              <a:t>쓰는게</a:t>
            </a:r>
            <a:r>
              <a:rPr lang="ko-KR" altLang="en-US" dirty="0"/>
              <a:t> 아닌 </a:t>
            </a:r>
            <a:r>
              <a:rPr lang="en-US" altLang="ko-KR" dirty="0"/>
              <a:t>final</a:t>
            </a:r>
            <a:r>
              <a:rPr lang="ko-KR" altLang="en-US" dirty="0"/>
              <a:t>으로 앞에 붙여서 공용상수로 사용함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453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r>
              <a:rPr lang="ko-KR" altLang="en-US" dirty="0"/>
              <a:t>에는 명세라는 모든 것들이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클래스변수명과</a:t>
            </a:r>
            <a:r>
              <a:rPr lang="en-US" altLang="ko-KR" dirty="0"/>
              <a:t>, </a:t>
            </a:r>
            <a:r>
              <a:rPr lang="ko-KR" altLang="en-US" dirty="0"/>
              <a:t>타입 </a:t>
            </a:r>
            <a:r>
              <a:rPr lang="ko-KR" altLang="en-US" dirty="0" err="1"/>
              <a:t>클래스메소드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이거는 값과 명세가 같이 </a:t>
            </a:r>
            <a:r>
              <a:rPr lang="ko-KR" altLang="en-US" dirty="0" err="1"/>
              <a:t>들어감</a:t>
            </a:r>
            <a:r>
              <a:rPr lang="ko-KR" altLang="en-US" dirty="0"/>
              <a:t> 나머지는 명세만 </a:t>
            </a:r>
            <a:r>
              <a:rPr lang="ko-KR" altLang="en-US" dirty="0" err="1"/>
              <a:t>들어가있음</a:t>
            </a:r>
            <a:endParaRPr lang="en-US" altLang="ko-KR" dirty="0"/>
          </a:p>
          <a:p>
            <a:r>
              <a:rPr lang="ko-KR" altLang="en-US" dirty="0"/>
              <a:t>중괄호에 들어간 </a:t>
            </a:r>
            <a:r>
              <a:rPr lang="ko-KR" altLang="en-US" dirty="0" err="1"/>
              <a:t>모든것들은</a:t>
            </a:r>
            <a:r>
              <a:rPr lang="ko-KR" altLang="en-US" dirty="0"/>
              <a:t> 중괄호 영역을 벗어나면 사라진다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Method</a:t>
            </a:r>
            <a:r>
              <a:rPr lang="ko-KR" altLang="en-US" dirty="0"/>
              <a:t>에 있는 것들은 </a:t>
            </a:r>
            <a:r>
              <a:rPr lang="ko-KR" altLang="en-US" dirty="0" err="1"/>
              <a:t>안살아짐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어플리케이션을 실행하는 순간 생성되고 어플리케이션을 끄면 사라짐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App Time(</a:t>
            </a:r>
            <a:r>
              <a:rPr lang="ko-KR" altLang="en-US" dirty="0"/>
              <a:t>시점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en-US" altLang="ko-KR" dirty="0" err="1"/>
              <a:t>Cpmpile</a:t>
            </a:r>
            <a:r>
              <a:rPr lang="ko-KR" altLang="en-US" dirty="0"/>
              <a:t> </a:t>
            </a:r>
            <a:r>
              <a:rPr lang="en-US" altLang="ko-KR" dirty="0"/>
              <a:t>Time </a:t>
            </a:r>
            <a:r>
              <a:rPr lang="ko-KR" altLang="en-US" dirty="0"/>
              <a:t>이클립스에서 코드를 쓰고 저장을 하는 순간 컴파일됨 애플리케이션을 작성하는 시점 코드를 쓰는 시점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Run Time </a:t>
            </a:r>
            <a:r>
              <a:rPr lang="ko-KR" altLang="en-US" dirty="0"/>
              <a:t>애플리케이션이 </a:t>
            </a:r>
            <a:r>
              <a:rPr lang="ko-KR" altLang="en-US" dirty="0" err="1"/>
              <a:t>실행중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5596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파라미터가 다른 생성자는 여러 개 </a:t>
            </a:r>
            <a:r>
              <a:rPr lang="ko-KR" altLang="en-US" dirty="0" err="1"/>
              <a:t>만들수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936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9424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파라미터가 다른 생성자는 여러 개 </a:t>
            </a:r>
            <a:r>
              <a:rPr lang="ko-KR" altLang="en-US" dirty="0" err="1"/>
              <a:t>만들수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3321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3227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indexOf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찾는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문자가 </a:t>
            </a:r>
            <a:r>
              <a:rPr kumimoji="1" lang="ko-KR" altLang="en-US" dirty="0" err="1"/>
              <a:t>없을경우</a:t>
            </a:r>
            <a:r>
              <a:rPr kumimoji="1" lang="ko-KR" altLang="en-US" dirty="0"/>
              <a:t> </a:t>
            </a:r>
            <a:r>
              <a:rPr kumimoji="1" lang="en-US" altLang="ko-KR" dirty="0"/>
              <a:t>-1</a:t>
            </a:r>
          </a:p>
          <a:p>
            <a:r>
              <a:rPr kumimoji="1" lang="en-US" altLang="ko-KR" dirty="0" err="1"/>
              <a:t>isBlank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공백도 데이터로 취급</a:t>
            </a:r>
            <a:endParaRPr kumimoji="1" lang="en-US" altLang="ko-KR" dirty="0"/>
          </a:p>
          <a:p>
            <a:r>
              <a:rPr kumimoji="1" lang="en-US" altLang="ko-KR" dirty="0" err="1"/>
              <a:t>isEmpty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공백은 </a:t>
            </a:r>
            <a:r>
              <a:rPr kumimoji="1" lang="en-US" altLang="ko-KR" dirty="0"/>
              <a:t>true</a:t>
            </a:r>
            <a:r>
              <a:rPr kumimoji="1" lang="ko-KR" altLang="en-US" dirty="0"/>
              <a:t>로 나옴 </a:t>
            </a:r>
            <a:endParaRPr kumimoji="1" lang="en-US" altLang="ko-KR" dirty="0"/>
          </a:p>
          <a:p>
            <a:r>
              <a:rPr kumimoji="1" lang="en-US" altLang="ko-KR" dirty="0"/>
              <a:t>Join -&gt; (“-”, 010, 7553, 2431 ) -&gt; 010-7335-2431 </a:t>
            </a:r>
            <a:r>
              <a:rPr kumimoji="1" lang="ko-KR" altLang="en-US" dirty="0"/>
              <a:t>로 출력</a:t>
            </a:r>
            <a:endParaRPr kumimoji="1" lang="en-US" altLang="ko-KR" dirty="0"/>
          </a:p>
          <a:p>
            <a:r>
              <a:rPr kumimoji="1" lang="en-US" altLang="ko-KR" dirty="0" err="1"/>
              <a:t>Lastindexof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찾을 문자열의 마지막 문자 </a:t>
            </a:r>
            <a:r>
              <a:rPr kumimoji="1" lang="en-US" altLang="ko-KR" dirty="0"/>
              <a:t>ABBC </a:t>
            </a:r>
            <a:r>
              <a:rPr kumimoji="1" lang="ko-KR" altLang="en-US" dirty="0"/>
              <a:t>하면 </a:t>
            </a:r>
            <a:r>
              <a:rPr kumimoji="1" lang="en-US" altLang="ko-KR" dirty="0"/>
              <a:t>B</a:t>
            </a:r>
            <a:r>
              <a:rPr kumimoji="1" lang="ko-KR" altLang="en-US" dirty="0"/>
              <a:t>를 찾는다고 </a:t>
            </a:r>
            <a:r>
              <a:rPr kumimoji="1" lang="ko-KR" altLang="en-US" dirty="0" err="1"/>
              <a:t>할때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번이 나옴</a:t>
            </a:r>
            <a:r>
              <a:rPr kumimoji="1" lang="en-US" altLang="ko-KR" dirty="0"/>
              <a:t>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regexr.com( </a:t>
            </a:r>
            <a:r>
              <a:rPr kumimoji="1" lang="ko-KR" altLang="en-US" dirty="0"/>
              <a:t>정규표현식 </a:t>
            </a:r>
            <a:r>
              <a:rPr kumimoji="1" lang="ko-KR" altLang="en-US" dirty="0" err="1"/>
              <a:t>쓸때</a:t>
            </a:r>
            <a:r>
              <a:rPr kumimoji="1" lang="ko-KR" altLang="en-US" dirty="0"/>
              <a:t> 사용하는 사이트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replace 010-1111-1111” </a:t>
            </a:r>
            <a:r>
              <a:rPr kumimoji="1" lang="ko-KR" altLang="en-US" dirty="0"/>
              <a:t>여기서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를</a:t>
            </a:r>
            <a:r>
              <a:rPr kumimoji="1" lang="en-US" altLang="ko-KR" dirty="0"/>
              <a:t> </a:t>
            </a:r>
            <a:r>
              <a:rPr kumimoji="1" lang="ko-KR" altLang="en-US" dirty="0"/>
              <a:t>제거하고 </a:t>
            </a:r>
            <a:r>
              <a:rPr kumimoji="1" lang="ko-KR" altLang="en-US" dirty="0" err="1"/>
              <a:t>싶을때</a:t>
            </a:r>
            <a:r>
              <a:rPr kumimoji="1" lang="ko-KR" altLang="en-US" dirty="0"/>
              <a:t> 사용함</a:t>
            </a:r>
            <a:endParaRPr kumimoji="1" lang="en-US" altLang="ko-KR" dirty="0"/>
          </a:p>
          <a:p>
            <a:r>
              <a:rPr kumimoji="1" lang="en-US" altLang="ko-KR" dirty="0" err="1"/>
              <a:t>ReplaceAll</a:t>
            </a:r>
            <a:r>
              <a:rPr kumimoji="1" lang="en-US" altLang="ko-KR" dirty="0"/>
              <a:t> </a:t>
            </a:r>
          </a:p>
          <a:p>
            <a:endParaRPr kumimoji="1" lang="en-US" altLang="ko-KR" dirty="0"/>
          </a:p>
          <a:p>
            <a:r>
              <a:rPr kumimoji="1" lang="en-US" altLang="ko-KR" dirty="0" err="1"/>
              <a:t>SubString</a:t>
            </a:r>
            <a:r>
              <a:rPr kumimoji="1" lang="ko-KR" altLang="en-US" dirty="0"/>
              <a:t>은 </a:t>
            </a:r>
            <a:r>
              <a:rPr kumimoji="1" lang="en-US" altLang="ko-KR" dirty="0" err="1"/>
              <a:t>Indexof</a:t>
            </a:r>
            <a:r>
              <a:rPr kumimoji="1" lang="ko-KR" altLang="en-US" dirty="0"/>
              <a:t>랑 </a:t>
            </a:r>
            <a:r>
              <a:rPr kumimoji="1" lang="en-US" altLang="ko-KR" dirty="0" err="1"/>
              <a:t>lastidexof</a:t>
            </a:r>
            <a:r>
              <a:rPr kumimoji="1" lang="ko-KR" altLang="en-US" dirty="0"/>
              <a:t>랑</a:t>
            </a:r>
            <a:r>
              <a:rPr kumimoji="1" lang="en-US" altLang="ko-KR" dirty="0"/>
              <a:t> </a:t>
            </a:r>
            <a:r>
              <a:rPr kumimoji="1" lang="ko-KR" altLang="en-US" dirty="0"/>
              <a:t>같이 쓴다</a:t>
            </a:r>
            <a:endParaRPr kumimoji="1" lang="en-US" altLang="ko-KR" dirty="0"/>
          </a:p>
          <a:p>
            <a:r>
              <a:rPr kumimoji="1" lang="ko-KR" altLang="en-US" dirty="0"/>
              <a:t>표에 없지만 자주 </a:t>
            </a:r>
            <a:r>
              <a:rPr kumimoji="1" lang="ko-KR" altLang="en-US" dirty="0" err="1"/>
              <a:t>사용하는거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tirm</a:t>
            </a:r>
            <a:r>
              <a:rPr kumimoji="1" lang="en-US" altLang="ko-KR" dirty="0"/>
              <a:t>() </a:t>
            </a:r>
            <a:r>
              <a:rPr kumimoji="1" lang="ko-KR" altLang="en-US" dirty="0"/>
              <a:t>시작과 끝에 있는 스페이스를 </a:t>
            </a:r>
            <a:r>
              <a:rPr kumimoji="1" lang="ko-KR" altLang="en-US" dirty="0" err="1"/>
              <a:t>날려버림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 user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-&gt;”user”    “ us er “ -&gt; “us er”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바인딩 </a:t>
            </a:r>
            <a:r>
              <a:rPr lang="en-US" altLang="ko-KR" dirty="0"/>
              <a:t>(</a:t>
            </a:r>
            <a:r>
              <a:rPr lang="ko-KR" altLang="en-US" dirty="0"/>
              <a:t>묶어놓는 기능</a:t>
            </a:r>
            <a:r>
              <a:rPr lang="en-US" altLang="ko-KR" dirty="0"/>
              <a:t>)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뭔가를 대입한다</a:t>
            </a:r>
            <a:r>
              <a:rPr lang="en-US" altLang="ko-KR" dirty="0"/>
              <a:t>, </a:t>
            </a:r>
            <a:r>
              <a:rPr lang="ko-KR" altLang="en-US" dirty="0"/>
              <a:t>뭔가를 할당한다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값을 특정 부분에 대입한다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(“%</a:t>
            </a:r>
            <a:r>
              <a:rPr lang="en-US" altLang="ko-KR" dirty="0" err="1"/>
              <a:t>s%d%d%d%f%s</a:t>
            </a:r>
            <a:r>
              <a:rPr lang="en-US" altLang="ko-KR" dirty="0"/>
              <a:t>”)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(Object… </a:t>
            </a:r>
            <a:r>
              <a:rPr lang="en-US" altLang="ko-KR" dirty="0" err="1"/>
              <a:t>args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Object… </a:t>
            </a:r>
            <a:r>
              <a:rPr lang="ko-KR" altLang="en-US" dirty="0"/>
              <a:t> 무제한으로 아무거나 사용가능 가변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Char</a:t>
            </a:r>
            <a:r>
              <a:rPr lang="ko-KR" altLang="en-US" dirty="0"/>
              <a:t>은 문자이자 숫자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8498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^ -&gt; </a:t>
            </a:r>
            <a:r>
              <a:rPr kumimoji="1" lang="ko-KR" altLang="en-US" dirty="0" err="1"/>
              <a:t>뒤에나오는</a:t>
            </a:r>
            <a:r>
              <a:rPr kumimoji="1" lang="ko-KR" altLang="en-US" dirty="0"/>
              <a:t> 패턴으로 </a:t>
            </a:r>
            <a:r>
              <a:rPr kumimoji="1" lang="ko-KR" altLang="en-US" dirty="0" err="1"/>
              <a:t>시작해야한다</a:t>
            </a:r>
            <a:endParaRPr kumimoji="1" lang="en-US" altLang="ko-KR" dirty="0"/>
          </a:p>
          <a:p>
            <a:r>
              <a:rPr kumimoji="1" lang="en-US" altLang="ko-KR" dirty="0"/>
              <a:t>[ ] -&gt; </a:t>
            </a:r>
            <a:r>
              <a:rPr kumimoji="1" lang="ko-KR" altLang="en-US" dirty="0"/>
              <a:t>그룹내에 글자가 한 개 존재한다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^[</a:t>
            </a:r>
            <a:r>
              <a:rPr kumimoji="1" lang="en-US" altLang="ko-KR" dirty="0" err="1"/>
              <a:t>abc</a:t>
            </a:r>
            <a:r>
              <a:rPr kumimoji="1" lang="en-US" altLang="ko-KR" dirty="0"/>
              <a:t>]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시작하거나 </a:t>
            </a:r>
            <a:r>
              <a:rPr kumimoji="1" lang="en-US" altLang="ko-KR" dirty="0"/>
              <a:t>b</a:t>
            </a:r>
            <a:r>
              <a:rPr kumimoji="1" lang="ko-KR" altLang="en-US" dirty="0"/>
              <a:t>로 시작하거나 </a:t>
            </a:r>
            <a:r>
              <a:rPr kumimoji="1" lang="en-US" altLang="ko-KR" dirty="0"/>
              <a:t>c</a:t>
            </a:r>
            <a:r>
              <a:rPr kumimoji="1" lang="ko-KR" altLang="en-US" dirty="0"/>
              <a:t>로 시작하거나</a:t>
            </a:r>
            <a:endParaRPr kumimoji="1" lang="en-US" altLang="ko-KR" dirty="0"/>
          </a:p>
          <a:p>
            <a:r>
              <a:rPr kumimoji="1" lang="en-US" altLang="ko-KR" dirty="0"/>
              <a:t>^[0-9] -&gt; 0</a:t>
            </a:r>
            <a:r>
              <a:rPr kumimoji="1" lang="ko-KR" altLang="en-US" dirty="0"/>
              <a:t>부터 </a:t>
            </a:r>
            <a:r>
              <a:rPr kumimoji="1" lang="en-US" altLang="ko-KR" dirty="0"/>
              <a:t>9</a:t>
            </a:r>
            <a:r>
              <a:rPr kumimoji="1" lang="ko-KR" altLang="en-US" dirty="0"/>
              <a:t>중에 하나로 시작한다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^[a-z] -&gt; a-z</a:t>
            </a:r>
            <a:r>
              <a:rPr kumimoji="1" lang="ko-KR" altLang="en-US" dirty="0"/>
              <a:t>중에 하나로 시작한</a:t>
            </a:r>
            <a:endParaRPr kumimoji="1" lang="en-US" altLang="ko-KR" dirty="0"/>
          </a:p>
          <a:p>
            <a:r>
              <a:rPr kumimoji="1" lang="en-US" altLang="ko-KR" dirty="0"/>
              <a:t>^[a-</a:t>
            </a:r>
            <a:r>
              <a:rPr kumimoji="1" lang="en-US" altLang="ko-KR" dirty="0" err="1"/>
              <a:t>zA</a:t>
            </a:r>
            <a:r>
              <a:rPr kumimoji="1" lang="en-US" altLang="ko-KR" dirty="0"/>
              <a:t>-Z] -&gt; </a:t>
            </a:r>
            <a:r>
              <a:rPr kumimoji="1" lang="ko-KR" altLang="en-US" dirty="0"/>
              <a:t>대소문자 상관없이 영어로 시작하느냐</a:t>
            </a:r>
            <a:endParaRPr kumimoji="1" lang="en-US" altLang="ko-KR" dirty="0"/>
          </a:p>
          <a:p>
            <a:r>
              <a:rPr kumimoji="1" lang="en-US" altLang="ko-KR" dirty="0"/>
              <a:t>^[</a:t>
            </a:r>
            <a:r>
              <a:rPr kumimoji="1" lang="ko-KR" altLang="en-US" dirty="0"/>
              <a:t>가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힣</a:t>
            </a:r>
            <a:r>
              <a:rPr kumimoji="1" lang="en-US" altLang="ko-KR" dirty="0"/>
              <a:t>] -&gt; </a:t>
            </a:r>
            <a:r>
              <a:rPr kumimoji="1" lang="ko-KR" altLang="en-US" dirty="0"/>
              <a:t>한글로 </a:t>
            </a:r>
            <a:r>
              <a:rPr kumimoji="1" lang="ko-KR" altLang="en-US" dirty="0" err="1"/>
              <a:t>시작하는냐</a:t>
            </a:r>
            <a:endParaRPr kumimoji="1" lang="en-US" altLang="ko-KR" dirty="0"/>
          </a:p>
          <a:p>
            <a:r>
              <a:rPr kumimoji="1" lang="en-US" altLang="ko-KR" dirty="0"/>
              <a:t>+ </a:t>
            </a:r>
            <a:r>
              <a:rPr kumimoji="1" lang="ko-KR" altLang="en-US" dirty="0"/>
              <a:t>이 글자가</a:t>
            </a:r>
            <a:r>
              <a:rPr kumimoji="1" lang="en-US" altLang="ko-KR" dirty="0"/>
              <a:t>[ ] </a:t>
            </a:r>
            <a:r>
              <a:rPr kumimoji="1" lang="ko-KR" altLang="en-US" dirty="0" err="1"/>
              <a:t>범위안에있는</a:t>
            </a:r>
            <a:r>
              <a:rPr kumimoji="1" lang="ko-KR" altLang="en-US" dirty="0"/>
              <a:t> 문자 한 </a:t>
            </a:r>
            <a:r>
              <a:rPr kumimoji="1" lang="ko-KR" altLang="en-US" dirty="0" err="1"/>
              <a:t>개이상있다</a:t>
            </a:r>
            <a:r>
              <a:rPr kumimoji="1" lang="en-US" altLang="ko-KR" dirty="0"/>
              <a:t>.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"^[0-9]+$"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-&gt; 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숫자로만 </a:t>
            </a:r>
            <a:r>
              <a:rPr lang="ko-KR" alt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이루어져있다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kumimoji="1"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kumimoji="1"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그룹안에 </a:t>
            </a:r>
            <a:r>
              <a:rPr kumimoji="1"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 </a:t>
            </a:r>
            <a:r>
              <a:rPr kumimoji="1"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있으면 부정한다</a:t>
            </a:r>
            <a:endParaRPr kumimoji="1"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"[^0-9]“ -&gt; 0-9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가 아니다 숫자가 </a:t>
            </a:r>
            <a:r>
              <a:rPr lang="ko-KR" alt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아닌것을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사라진다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9783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556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1476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5469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9841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8543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290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클래스와 클래스를 이어주는 규칙을 만들어서 이렇게 신호를 </a:t>
            </a:r>
            <a:r>
              <a:rPr lang="ko-KR" altLang="en-US" dirty="0" err="1"/>
              <a:t>보낼테니</a:t>
            </a:r>
            <a:r>
              <a:rPr lang="ko-KR" altLang="en-US" dirty="0"/>
              <a:t> 이렇게 처리해라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4164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어떤 장치를 제어하는 화면을 의미한다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6964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애플리케이션을 개발하는 인터페이스이다</a:t>
            </a:r>
            <a:r>
              <a:rPr lang="en-US" altLang="ko-KR" dirty="0"/>
              <a:t>. API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6627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약속된 형태로 데이터를 주고받는 것을 인터페이스라고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형태만 맞는다면 다형성이라고 봐도 무방하다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6013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클래스느</a:t>
            </a:r>
            <a:r>
              <a:rPr lang="ko-KR" altLang="en-US" dirty="0"/>
              <a:t> 명상 인터페이스 형용사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추상메소드에는</a:t>
            </a:r>
            <a:r>
              <a:rPr lang="ko-KR" altLang="en-US" dirty="0"/>
              <a:t> </a:t>
            </a:r>
            <a:r>
              <a:rPr lang="en-US" altLang="ko-KR" dirty="0"/>
              <a:t>abstract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/>
              <a:t>public static final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1402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-&gt;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를 구현한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이 클래스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96102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608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인터페이스를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ko-KR" alt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에 할당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6021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인터페이스는 인터페이스끼리 클래스는 클래스끼리 </a:t>
            </a:r>
            <a:r>
              <a:rPr lang="ko-KR" altLang="en-US"/>
              <a:t>상속이 가능하다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015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8566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5238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54161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복구가능할</a:t>
            </a:r>
            <a:r>
              <a:rPr lang="ko-KR" altLang="en-US" dirty="0"/>
              <a:t> 수 있게 </a:t>
            </a:r>
            <a:r>
              <a:rPr lang="ko-KR" altLang="en-US" dirty="0" err="1"/>
              <a:t>하는ㄴ게</a:t>
            </a:r>
            <a:r>
              <a:rPr lang="ko-KR" altLang="en-US" dirty="0"/>
              <a:t> </a:t>
            </a:r>
            <a:r>
              <a:rPr lang="en-US" altLang="ko-KR" dirty="0"/>
              <a:t>try catch</a:t>
            </a:r>
            <a:r>
              <a:rPr lang="ko-KR" altLang="en-US" dirty="0"/>
              <a:t>가 필요하다 </a:t>
            </a:r>
            <a:r>
              <a:rPr lang="en-US" altLang="ko-KR" dirty="0"/>
              <a:t>try catch</a:t>
            </a:r>
            <a:r>
              <a:rPr lang="ko-KR" altLang="en-US" dirty="0"/>
              <a:t>없으면 복구가 불가능하다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복구가 되는 예외</a:t>
            </a:r>
            <a:r>
              <a:rPr lang="en-US" altLang="ko-KR" dirty="0"/>
              <a:t>(Exception)</a:t>
            </a:r>
            <a:r>
              <a:rPr lang="ko-KR" altLang="en-US" dirty="0"/>
              <a:t>인가 복구가 </a:t>
            </a:r>
            <a:r>
              <a:rPr lang="ko-KR" altLang="en-US" dirty="0" err="1"/>
              <a:t>되지않는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 err="1"/>
              <a:t>런타임입셉션</a:t>
            </a:r>
            <a:r>
              <a:rPr lang="en-US" altLang="ko-KR" dirty="0"/>
              <a:t>)</a:t>
            </a:r>
            <a:r>
              <a:rPr lang="ko-KR" altLang="en-US" dirty="0"/>
              <a:t>인가</a:t>
            </a:r>
            <a:endParaRPr lang="en-US" altLang="ko-KR" dirty="0"/>
          </a:p>
          <a:p>
            <a:r>
              <a:rPr lang="ko-KR" altLang="en-US" dirty="0"/>
              <a:t>런타임은 복구가 </a:t>
            </a:r>
            <a:r>
              <a:rPr lang="ko-KR" altLang="en-US" dirty="0" err="1"/>
              <a:t>안되서</a:t>
            </a:r>
            <a:r>
              <a:rPr lang="ko-KR" altLang="en-US" dirty="0"/>
              <a:t> </a:t>
            </a:r>
            <a:r>
              <a:rPr lang="en-US" altLang="ko-KR" dirty="0"/>
              <a:t>try catch</a:t>
            </a:r>
            <a:r>
              <a:rPr lang="ko-KR" altLang="en-US" dirty="0"/>
              <a:t>를 하면 안된다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Try</a:t>
            </a:r>
            <a:r>
              <a:rPr lang="ko-KR" altLang="en-US" dirty="0"/>
              <a:t> </a:t>
            </a:r>
            <a:r>
              <a:rPr lang="en-US" altLang="ko-KR" dirty="0"/>
              <a:t>catch</a:t>
            </a:r>
            <a:r>
              <a:rPr lang="ko-KR" altLang="en-US" dirty="0"/>
              <a:t>는 복구를</a:t>
            </a:r>
            <a:r>
              <a:rPr lang="en-US" altLang="ko-KR" dirty="0"/>
              <a:t> </a:t>
            </a:r>
            <a:r>
              <a:rPr lang="ko-KR" altLang="en-US" dirty="0"/>
              <a:t>하기 위한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66211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런타임은 </a:t>
            </a:r>
            <a:r>
              <a:rPr lang="ko-KR" altLang="en-US" dirty="0" err="1"/>
              <a:t>실행중</a:t>
            </a:r>
            <a:endParaRPr lang="en-US" altLang="ko-KR" dirty="0"/>
          </a:p>
          <a:p>
            <a:r>
              <a:rPr lang="ko-KR" altLang="en-US" dirty="0"/>
              <a:t>컴파일은 </a:t>
            </a:r>
            <a:r>
              <a:rPr lang="ko-KR" altLang="en-US" dirty="0" err="1"/>
              <a:t>작성중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복구가 되는 예외인가 복구가 </a:t>
            </a:r>
            <a:r>
              <a:rPr lang="ko-KR" altLang="en-US" dirty="0" err="1"/>
              <a:t>되지않는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 err="1"/>
              <a:t>런타임입셉션</a:t>
            </a:r>
            <a:r>
              <a:rPr lang="en-US" altLang="ko-KR" dirty="0"/>
              <a:t>)</a:t>
            </a:r>
            <a:r>
              <a:rPr lang="ko-KR" altLang="en-US" dirty="0"/>
              <a:t>인가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83044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쓰면 안됨 </a:t>
            </a:r>
            <a:endParaRPr lang="en-US" altLang="ko-KR" dirty="0"/>
          </a:p>
          <a:p>
            <a:r>
              <a:rPr lang="ko-KR" altLang="en-US" dirty="0" err="1"/>
              <a:t>이런것이</a:t>
            </a:r>
            <a:r>
              <a:rPr lang="ko-KR" altLang="en-US" dirty="0"/>
              <a:t> 있다 정도로만 알고 있으면 됨</a:t>
            </a:r>
            <a:endParaRPr lang="en-US" altLang="ko-KR" dirty="0"/>
          </a:p>
          <a:p>
            <a:r>
              <a:rPr lang="ko-KR" altLang="en-US" dirty="0"/>
              <a:t>정확하게는 예외처리 위임하기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8413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Size -&gt; </a:t>
            </a:r>
            <a:r>
              <a:rPr lang="ko-KR" altLang="en-US" dirty="0"/>
              <a:t>실제 가지고 있는 </a:t>
            </a:r>
            <a:r>
              <a:rPr lang="en-US" altLang="ko-KR" dirty="0"/>
              <a:t>list </a:t>
            </a:r>
            <a:r>
              <a:rPr lang="ko-KR" altLang="en-US" dirty="0"/>
              <a:t>요소의 수</a:t>
            </a:r>
            <a:endParaRPr lang="en-US" altLang="ko-KR" dirty="0"/>
          </a:p>
          <a:p>
            <a:r>
              <a:rPr lang="en-US" altLang="ko-KR" dirty="0" err="1"/>
              <a:t>IsEmpty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실제 가지고 잇는 </a:t>
            </a:r>
            <a:r>
              <a:rPr lang="en-US" altLang="ko-KR" dirty="0"/>
              <a:t>list</a:t>
            </a:r>
            <a:r>
              <a:rPr lang="ko-KR" altLang="en-US" dirty="0"/>
              <a:t>의 값이 있냐 없냐 </a:t>
            </a:r>
            <a:endParaRPr lang="en-US" altLang="ko-KR" dirty="0"/>
          </a:p>
          <a:p>
            <a:r>
              <a:rPr lang="ko-KR" altLang="en-US" dirty="0" err="1"/>
              <a:t>제일많이</a:t>
            </a:r>
            <a:r>
              <a:rPr lang="ko-KR" altLang="en-US" dirty="0"/>
              <a:t> 씀 </a:t>
            </a:r>
            <a:r>
              <a:rPr lang="en-US" altLang="ko-KR" dirty="0"/>
              <a:t>add -&gt; </a:t>
            </a:r>
            <a:r>
              <a:rPr lang="ko-KR" altLang="en-US" dirty="0"/>
              <a:t>순서대로 </a:t>
            </a:r>
            <a:r>
              <a:rPr lang="en-US" altLang="ko-KR" dirty="0"/>
              <a:t>list</a:t>
            </a:r>
            <a:r>
              <a:rPr lang="ko-KR" altLang="en-US" dirty="0"/>
              <a:t>에 값을 </a:t>
            </a:r>
            <a:r>
              <a:rPr lang="ko-KR" altLang="en-US" dirty="0" err="1"/>
              <a:t>넣어줌</a:t>
            </a:r>
            <a:endParaRPr lang="en-US" altLang="ko-KR" dirty="0"/>
          </a:p>
          <a:p>
            <a:r>
              <a:rPr lang="en-US" altLang="ko-KR" dirty="0"/>
              <a:t>Remove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인덱스의 값만 </a:t>
            </a:r>
            <a:r>
              <a:rPr lang="ko-KR" altLang="en-US" dirty="0" err="1"/>
              <a:t>지우는게</a:t>
            </a:r>
            <a:r>
              <a:rPr lang="ko-KR" altLang="en-US" dirty="0"/>
              <a:t> 아니라 인덱스 자체를 </a:t>
            </a:r>
            <a:r>
              <a:rPr lang="ko-KR" altLang="en-US" dirty="0" err="1"/>
              <a:t>지워버리는거</a:t>
            </a:r>
            <a:endParaRPr lang="en-US" altLang="ko-KR" dirty="0"/>
          </a:p>
          <a:p>
            <a:r>
              <a:rPr lang="en-US" altLang="ko-KR" dirty="0" err="1"/>
              <a:t>addAll</a:t>
            </a:r>
            <a:endParaRPr lang="en-US" altLang="ko-KR" dirty="0"/>
          </a:p>
          <a:p>
            <a:r>
              <a:rPr lang="en-US" altLang="ko-KR" dirty="0"/>
              <a:t>Clear -&gt; </a:t>
            </a:r>
            <a:r>
              <a:rPr lang="ko-KR" altLang="en-US" dirty="0"/>
              <a:t>리스트 안에 있는 </a:t>
            </a:r>
            <a:r>
              <a:rPr lang="en-US" altLang="ko-KR" dirty="0"/>
              <a:t>index</a:t>
            </a:r>
            <a:r>
              <a:rPr lang="ko-KR" altLang="en-US" dirty="0"/>
              <a:t>를 비워라</a:t>
            </a:r>
            <a:endParaRPr lang="en-US" altLang="ko-KR" dirty="0"/>
          </a:p>
          <a:p>
            <a:r>
              <a:rPr lang="en-US" altLang="ko-KR" dirty="0"/>
              <a:t>Add</a:t>
            </a:r>
            <a:r>
              <a:rPr lang="ko-KR" altLang="en-US" dirty="0"/>
              <a:t>만큼 자주 쓰임 </a:t>
            </a:r>
            <a:r>
              <a:rPr lang="en-US" altLang="ko-KR" dirty="0"/>
              <a:t>get -&gt;list</a:t>
            </a:r>
            <a:r>
              <a:rPr lang="ko-KR" altLang="en-US" dirty="0"/>
              <a:t>의 인덱스번호를 </a:t>
            </a:r>
            <a:r>
              <a:rPr lang="ko-KR" altLang="en-US" dirty="0" err="1"/>
              <a:t>줄테니</a:t>
            </a:r>
            <a:r>
              <a:rPr lang="ko-KR" altLang="en-US" dirty="0"/>
              <a:t> </a:t>
            </a:r>
            <a:r>
              <a:rPr lang="en-US" altLang="ko-KR" dirty="0"/>
              <a:t>index</a:t>
            </a:r>
            <a:r>
              <a:rPr lang="ko-KR" altLang="en-US" dirty="0"/>
              <a:t>번호에 있는 값을 가져와라</a:t>
            </a:r>
            <a:endParaRPr lang="en-US" altLang="ko-KR" dirty="0"/>
          </a:p>
          <a:p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</a:p>
          <a:p>
            <a:endParaRPr lang="en-US" altLang="ko-KR" dirty="0"/>
          </a:p>
          <a:p>
            <a:r>
              <a:rPr lang="ko-KR" altLang="en-US" dirty="0"/>
              <a:t>자주 </a:t>
            </a:r>
            <a:r>
              <a:rPr lang="ko-KR" altLang="en-US" dirty="0" err="1"/>
              <a:t>쓰이는거</a:t>
            </a:r>
            <a:r>
              <a:rPr lang="ko-KR" altLang="en-US" dirty="0"/>
              <a:t> </a:t>
            </a:r>
            <a:r>
              <a:rPr lang="en-US" altLang="ko-KR" dirty="0"/>
              <a:t>size, contains, add, remove, </a:t>
            </a:r>
            <a:r>
              <a:rPr lang="en-US" altLang="ko-KR" dirty="0" err="1"/>
              <a:t>addAll</a:t>
            </a:r>
            <a:r>
              <a:rPr lang="en-US" altLang="ko-KR" dirty="0"/>
              <a:t> </a:t>
            </a:r>
            <a:r>
              <a:rPr lang="en-US" altLang="ko-KR"/>
              <a:t>, get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1039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간단히 말하면 값이 없는 상수</a:t>
            </a:r>
            <a:endParaRPr lang="en-US" altLang="ko-KR" dirty="0"/>
          </a:p>
          <a:p>
            <a:r>
              <a:rPr lang="ko-KR" altLang="en-US" dirty="0"/>
              <a:t>이름만 존재하는 상수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값이 없는 상수에게 값을 할당해줄 수 도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Enum </a:t>
            </a:r>
            <a:r>
              <a:rPr lang="ko-KR" altLang="en-US" dirty="0"/>
              <a:t>들이 사용할 수 있는 멤버변수로 해서 값을 할당할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Enum</a:t>
            </a:r>
            <a:r>
              <a:rPr lang="ko-KR" altLang="en-US" dirty="0"/>
              <a:t>에서는 생성자를 </a:t>
            </a:r>
            <a:r>
              <a:rPr lang="ko-KR" altLang="en-US" dirty="0" err="1"/>
              <a:t>만들때</a:t>
            </a:r>
            <a:r>
              <a:rPr lang="en-US" altLang="ko-KR" dirty="0"/>
              <a:t> </a:t>
            </a:r>
            <a:r>
              <a:rPr lang="ko-KR" altLang="en-US" dirty="0"/>
              <a:t>접근제한자가 붙는 것을 허용하지 않는다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생성자를 쓰지 </a:t>
            </a:r>
            <a:r>
              <a:rPr lang="ko-KR" altLang="en-US" dirty="0" err="1"/>
              <a:t>않을거면</a:t>
            </a:r>
            <a:r>
              <a:rPr lang="ko-KR" altLang="en-US" dirty="0"/>
              <a:t> </a:t>
            </a:r>
            <a:r>
              <a:rPr lang="en-US" altLang="ko-KR" dirty="0"/>
              <a:t>;(</a:t>
            </a:r>
            <a:r>
              <a:rPr lang="ko-KR" altLang="en-US" dirty="0"/>
              <a:t>세미콜론</a:t>
            </a:r>
            <a:r>
              <a:rPr lang="en-US" altLang="ko-KR" dirty="0"/>
              <a:t>)</a:t>
            </a:r>
            <a:r>
              <a:rPr lang="ko-KR" altLang="en-US" dirty="0"/>
              <a:t>을 사용하지 않아도 되지만 </a:t>
            </a:r>
            <a:endParaRPr lang="en-US" altLang="ko-KR" dirty="0"/>
          </a:p>
          <a:p>
            <a:r>
              <a:rPr lang="ko-KR" altLang="en-US" dirty="0"/>
              <a:t>생성자를 사용할거면 </a:t>
            </a:r>
            <a:r>
              <a:rPr lang="en-US" altLang="ko-KR" dirty="0"/>
              <a:t>;(</a:t>
            </a:r>
            <a:r>
              <a:rPr lang="ko-KR" altLang="en-US" dirty="0"/>
              <a:t>세미콜론</a:t>
            </a:r>
            <a:r>
              <a:rPr lang="en-US" altLang="ko-KR" dirty="0"/>
              <a:t>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 err="1"/>
              <a:t>사용해야한다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생성자는 멤버변수에게 값을 할당한다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이넘타입은</a:t>
            </a:r>
            <a:r>
              <a:rPr lang="ko-KR" altLang="en-US" dirty="0"/>
              <a:t> 인스턴스화를 할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 언제 인스턴스화를 할 수 있느냐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지역변수</a:t>
            </a:r>
            <a:r>
              <a:rPr lang="en-US" altLang="ko-KR" dirty="0"/>
              <a:t>, </a:t>
            </a:r>
            <a:r>
              <a:rPr lang="ko-KR" altLang="en-US" dirty="0"/>
              <a:t>클래스</a:t>
            </a:r>
            <a:r>
              <a:rPr lang="en-US" altLang="ko-KR" dirty="0"/>
              <a:t>, </a:t>
            </a:r>
            <a:r>
              <a:rPr lang="ko-KR" altLang="en-US" dirty="0"/>
              <a:t>인터페이스</a:t>
            </a:r>
            <a:r>
              <a:rPr lang="en-US" altLang="ko-KR" dirty="0"/>
              <a:t>, </a:t>
            </a:r>
            <a:r>
              <a:rPr lang="en-US" altLang="ko-KR" dirty="0" err="1"/>
              <a:t>enum</a:t>
            </a:r>
            <a:endParaRPr lang="en-US" altLang="ko-KR" dirty="0"/>
          </a:p>
          <a:p>
            <a:r>
              <a:rPr lang="en-US" altLang="ko-KR" dirty="0"/>
              <a:t>Final,   static final,  </a:t>
            </a:r>
            <a:r>
              <a:rPr lang="ko-KR" altLang="en-US" dirty="0"/>
              <a:t>상수 정의</a:t>
            </a:r>
            <a:r>
              <a:rPr lang="en-US" altLang="ko-KR" dirty="0"/>
              <a:t>,   </a:t>
            </a:r>
            <a:r>
              <a:rPr lang="en-US" altLang="ko-KR" dirty="0" err="1"/>
              <a:t>enum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앞에 </a:t>
            </a:r>
            <a:r>
              <a:rPr lang="en-US" altLang="ko-KR" dirty="0"/>
              <a:t>3</a:t>
            </a:r>
            <a:r>
              <a:rPr lang="ko-KR" altLang="en-US" dirty="0"/>
              <a:t>가지 상수의 특징은 의미가 오염된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Enum</a:t>
            </a:r>
            <a:r>
              <a:rPr lang="ko-KR" altLang="en-US" dirty="0"/>
              <a:t>은 오염 </a:t>
            </a:r>
            <a:r>
              <a:rPr lang="en-US" altLang="ko-KR" dirty="0"/>
              <a:t>X -&gt; </a:t>
            </a:r>
            <a:r>
              <a:rPr lang="ko-KR" altLang="en-US" dirty="0"/>
              <a:t>대체불가하기 때문에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의미가 오염 될 수 있느냐 </a:t>
            </a:r>
            <a:r>
              <a:rPr lang="ko-KR" altLang="en-US" dirty="0" err="1"/>
              <a:t>없느냐에</a:t>
            </a:r>
            <a:r>
              <a:rPr lang="ko-KR" altLang="en-US" dirty="0"/>
              <a:t> 따라 </a:t>
            </a:r>
            <a:r>
              <a:rPr lang="en-US" altLang="ko-KR" dirty="0" err="1"/>
              <a:t>enum</a:t>
            </a:r>
            <a:r>
              <a:rPr lang="ko-KR" altLang="en-US" dirty="0"/>
              <a:t>을 쓸지 말지 결정된다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08767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86611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이렇게 되어있으면 메소드를 </a:t>
            </a:r>
            <a:r>
              <a:rPr lang="ko-KR" altLang="en-US" dirty="0" err="1"/>
              <a:t>보지않으면</a:t>
            </a:r>
            <a:r>
              <a:rPr lang="ko-KR" altLang="en-US" dirty="0"/>
              <a:t> </a:t>
            </a:r>
            <a:r>
              <a:rPr lang="en-US" altLang="ko-K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ADD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가 뭐하는 것인지 모르기도 하고 어떤 타입을 </a:t>
            </a:r>
            <a:r>
              <a:rPr lang="ko-KR" alt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보내야하는지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모른다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그래서 도큐먼트를 자세히 </a:t>
            </a:r>
            <a:r>
              <a:rPr lang="ko-KR" alt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달아주지않으면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다른사람이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알기 어렵다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65744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56983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상수가 가지고 있는 메모리가 고유하다</a:t>
            </a:r>
            <a:r>
              <a:rPr lang="en-US" altLang="ko-KR" dirty="0"/>
              <a:t>. </a:t>
            </a:r>
            <a:r>
              <a:rPr lang="ko-KR" altLang="en-US" dirty="0"/>
              <a:t>고유한 인스턴스이다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Application </a:t>
            </a:r>
            <a:r>
              <a:rPr lang="ko-KR" altLang="en-US" dirty="0"/>
              <a:t>내부에서 유일한 객체로 사용할 수 있도록 하는 개발 패턴을</a:t>
            </a:r>
            <a:r>
              <a:rPr lang="en-US" altLang="ko-KR" dirty="0"/>
              <a:t> Singleton Pattern </a:t>
            </a:r>
          </a:p>
          <a:p>
            <a:r>
              <a:rPr lang="en-US" altLang="ko-KR" dirty="0"/>
              <a:t>Singleton Pattern </a:t>
            </a:r>
            <a:r>
              <a:rPr lang="ko-KR" altLang="en-US" dirty="0"/>
              <a:t>은 만들기 어렵다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350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날자를</a:t>
            </a:r>
            <a:r>
              <a:rPr lang="ko-KR" altLang="en-US" dirty="0"/>
              <a:t> </a:t>
            </a:r>
            <a:r>
              <a:rPr lang="ko-KR" altLang="en-US" dirty="0" err="1"/>
              <a:t>핸들링하는</a:t>
            </a:r>
            <a:r>
              <a:rPr lang="ko-KR" altLang="en-US" dirty="0"/>
              <a:t> </a:t>
            </a:r>
            <a:r>
              <a:rPr lang="en-US" altLang="ko-KR" dirty="0"/>
              <a:t>java </a:t>
            </a:r>
            <a:r>
              <a:rPr lang="ko-KR" altLang="en-US" dirty="0"/>
              <a:t>라이브러리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endParaRPr lang="en-US" altLang="ko-KR" dirty="0"/>
          </a:p>
          <a:p>
            <a:r>
              <a:rPr lang="en-US" altLang="ko-KR" dirty="0"/>
              <a:t>Calendar</a:t>
            </a:r>
          </a:p>
          <a:p>
            <a:r>
              <a:rPr lang="en-US" altLang="ko-KR" dirty="0" err="1"/>
              <a:t>JodaTime</a:t>
            </a:r>
            <a:r>
              <a:rPr lang="en-US" altLang="ko-KR" dirty="0"/>
              <a:t>(</a:t>
            </a:r>
            <a:r>
              <a:rPr lang="ko-KR" altLang="en-US" dirty="0" err="1"/>
              <a:t>빠르긴하지만</a:t>
            </a:r>
            <a:r>
              <a:rPr lang="ko-KR" altLang="en-US" dirty="0"/>
              <a:t> 메모리를 </a:t>
            </a:r>
            <a:r>
              <a:rPr lang="ko-KR" altLang="en-US" dirty="0" err="1"/>
              <a:t>많이쓴다</a:t>
            </a:r>
            <a:r>
              <a:rPr lang="en-US" altLang="ko-KR" dirty="0"/>
              <a:t>.)</a:t>
            </a:r>
          </a:p>
          <a:p>
            <a:r>
              <a:rPr lang="en-US" altLang="ko-KR" dirty="0" err="1"/>
              <a:t>LocalDate</a:t>
            </a:r>
            <a:r>
              <a:rPr lang="en-US" altLang="ko-KR" dirty="0"/>
              <a:t> (</a:t>
            </a:r>
            <a:r>
              <a:rPr lang="ko-KR" altLang="en-US" dirty="0"/>
              <a:t>날짜 시간과 관계없이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LocalTime</a:t>
            </a:r>
            <a:r>
              <a:rPr lang="en-US" altLang="ko-KR" dirty="0"/>
              <a:t> (</a:t>
            </a:r>
            <a:r>
              <a:rPr lang="ko-KR" altLang="en-US" dirty="0"/>
              <a:t>시간 </a:t>
            </a:r>
            <a:r>
              <a:rPr lang="ko-KR" altLang="en-US" dirty="0" err="1"/>
              <a:t>날짜과</a:t>
            </a:r>
            <a:r>
              <a:rPr lang="ko-KR" altLang="en-US" dirty="0"/>
              <a:t> 관계없이 시간만 구함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LocalDateTime</a:t>
            </a:r>
            <a:r>
              <a:rPr lang="en-US" altLang="ko-KR" dirty="0"/>
              <a:t>(</a:t>
            </a:r>
            <a:r>
              <a:rPr lang="ko-KR" altLang="en-US" dirty="0"/>
              <a:t>날짜 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1/1000 -&gt; milli</a:t>
            </a:r>
            <a:r>
              <a:rPr lang="ko-KR" altLang="en-US" dirty="0"/>
              <a:t> </a:t>
            </a:r>
            <a:r>
              <a:rPr lang="en-US" altLang="ko-KR" dirty="0"/>
              <a:t>seconds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초 </a:t>
            </a:r>
            <a:r>
              <a:rPr lang="en-US" altLang="ko-KR" dirty="0"/>
              <a:t>/ 1000000 -&gt; nano</a:t>
            </a:r>
            <a:r>
              <a:rPr lang="ko-KR" altLang="en-US" dirty="0"/>
              <a:t> </a:t>
            </a:r>
            <a:r>
              <a:rPr lang="en-US" altLang="ko-KR" dirty="0"/>
              <a:t>seconds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4521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59357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람다 함수를 사용하려면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인터페이스가 필요하다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 메소드가 반드시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있어야한다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81276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람다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인스턴스처럼 보이겠지만 인스턴스가 아닌 함수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메소드에게 전달할 수 있는 익명 클래스를 함수로 단순화 시킨 것</a:t>
            </a:r>
            <a:r>
              <a:rPr lang="en-US" altLang="ko-KR" dirty="0"/>
              <a:t>. </a:t>
            </a:r>
            <a:r>
              <a:rPr lang="ko-KR" altLang="en-US" dirty="0"/>
              <a:t>이것이 중요</a:t>
            </a:r>
            <a:endParaRPr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26480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함수의 파라미터</a:t>
            </a:r>
            <a:r>
              <a:rPr lang="en-US" altLang="ko-KR" dirty="0"/>
              <a:t>, </a:t>
            </a:r>
            <a:r>
              <a:rPr lang="ko-KR" altLang="en-US" dirty="0"/>
              <a:t>함수의 </a:t>
            </a:r>
            <a:r>
              <a:rPr lang="en-US" altLang="ko-KR" dirty="0"/>
              <a:t>input</a:t>
            </a:r>
            <a:r>
              <a:rPr lang="ko-KR" altLang="en-US" dirty="0"/>
              <a:t>이다 라고 생각하면 됨 </a:t>
            </a:r>
            <a:r>
              <a:rPr lang="en-US" altLang="ko-KR" dirty="0"/>
              <a:t>-&gt; </a:t>
            </a:r>
            <a:r>
              <a:rPr lang="ko-KR" altLang="en-US" dirty="0"/>
              <a:t>람다 파라미터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화살표로 </a:t>
            </a:r>
            <a:r>
              <a:rPr lang="ko-KR" altLang="en-US" dirty="0" err="1"/>
              <a:t>파라미터랑</a:t>
            </a:r>
            <a:r>
              <a:rPr lang="ko-KR" altLang="en-US" dirty="0"/>
              <a:t> 바디를 구분한다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99848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{}</a:t>
            </a:r>
            <a:r>
              <a:rPr lang="ko-KR" altLang="en-US" dirty="0"/>
              <a:t>가 있으면 </a:t>
            </a:r>
            <a:r>
              <a:rPr lang="ko-KR" altLang="en-US" dirty="0" err="1"/>
              <a:t>리턴값이</a:t>
            </a:r>
            <a:r>
              <a:rPr lang="ko-KR" altLang="en-US" dirty="0"/>
              <a:t> </a:t>
            </a:r>
            <a:r>
              <a:rPr lang="ko-KR" altLang="en-US" dirty="0" err="1"/>
              <a:t>없는것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둘다</a:t>
            </a:r>
            <a:r>
              <a:rPr lang="ko-KR" altLang="en-US" dirty="0"/>
              <a:t> </a:t>
            </a:r>
            <a:r>
              <a:rPr lang="ko-KR" altLang="en-US" dirty="0" err="1"/>
              <a:t>반환값이</a:t>
            </a:r>
            <a:r>
              <a:rPr lang="ko-KR" altLang="en-US" dirty="0"/>
              <a:t> </a:t>
            </a:r>
            <a:r>
              <a:rPr lang="en-US" altLang="ko-KR" dirty="0"/>
              <a:t>void </a:t>
            </a:r>
            <a:r>
              <a:rPr lang="en-US" altLang="ko-KR" dirty="0" err="1"/>
              <a:t>void</a:t>
            </a:r>
            <a:r>
              <a:rPr lang="ko-KR" altLang="en-US" dirty="0"/>
              <a:t>이면 </a:t>
            </a:r>
            <a:r>
              <a:rPr lang="en-US" altLang="ko-KR" dirty="0"/>
              <a:t>{} </a:t>
            </a:r>
            <a:r>
              <a:rPr lang="ko-KR" altLang="en-US" dirty="0"/>
              <a:t>중괄호 생략가능</a:t>
            </a:r>
            <a:endParaRPr lang="en-US" altLang="ko-KR" dirty="0"/>
          </a:p>
          <a:p>
            <a:r>
              <a:rPr lang="en-US" altLang="ko-KR" dirty="0"/>
              <a:t>{}</a:t>
            </a:r>
            <a:r>
              <a:rPr lang="ko-KR" altLang="en-US" dirty="0"/>
              <a:t> 생략이 가능한데 가끔씩 </a:t>
            </a:r>
            <a:r>
              <a:rPr lang="ko-KR" altLang="en-US" dirty="0" err="1"/>
              <a:t>여러줄이</a:t>
            </a:r>
            <a:r>
              <a:rPr lang="ko-KR" altLang="en-US" dirty="0"/>
              <a:t> 나오는 경우도 있다 그때도 </a:t>
            </a:r>
            <a:r>
              <a:rPr lang="en-US" altLang="ko-KR" dirty="0"/>
              <a:t>{}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35215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85396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5485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69038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집계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92396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ko-KR" altLang="en-US" dirty="0"/>
              <a:t>최초의 값 </a:t>
            </a:r>
            <a:r>
              <a:rPr lang="en-US" altLang="ko-KR" dirty="0"/>
              <a:t>– </a:t>
            </a:r>
            <a:r>
              <a:rPr lang="ko-KR" altLang="en-US" dirty="0"/>
              <a:t>스트림이 </a:t>
            </a:r>
            <a:r>
              <a:rPr lang="ko-KR" altLang="en-US" dirty="0" err="1"/>
              <a:t>시작할때의</a:t>
            </a:r>
            <a:r>
              <a:rPr lang="ko-KR" altLang="en-US" dirty="0"/>
              <a:t> 값</a:t>
            </a:r>
            <a:endParaRPr lang="en-US" altLang="ko-KR" dirty="0"/>
          </a:p>
          <a:p>
            <a:r>
              <a:rPr lang="en-US" altLang="ko-KR" dirty="0"/>
              <a:t>A = </a:t>
            </a:r>
            <a:r>
              <a:rPr lang="ko-KR" altLang="en-US" dirty="0"/>
              <a:t>누적 값 </a:t>
            </a:r>
            <a:r>
              <a:rPr lang="en-US" altLang="ko-KR" dirty="0" err="1"/>
              <a:t>a+b</a:t>
            </a:r>
            <a:r>
              <a:rPr lang="en-US" altLang="ko-KR" dirty="0"/>
              <a:t> </a:t>
            </a:r>
            <a:r>
              <a:rPr lang="ko-KR" altLang="en-US" dirty="0" err="1"/>
              <a:t>한값이</a:t>
            </a:r>
            <a:r>
              <a:rPr lang="ko-KR" altLang="en-US" dirty="0"/>
              <a:t> </a:t>
            </a:r>
            <a:r>
              <a:rPr lang="ko-KR" altLang="en-US" dirty="0" err="1"/>
              <a:t>누적이되어서</a:t>
            </a:r>
            <a:r>
              <a:rPr lang="ko-KR" altLang="en-US" dirty="0"/>
              <a:t> </a:t>
            </a:r>
            <a:r>
              <a:rPr lang="en-US" altLang="ko-KR" dirty="0"/>
              <a:t>a </a:t>
            </a:r>
            <a:r>
              <a:rPr lang="ko-KR" altLang="en-US" dirty="0"/>
              <a:t>에 할당이 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785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 스트림 은 </a:t>
            </a:r>
            <a:r>
              <a:rPr lang="en-US" altLang="ko-KR" dirty="0"/>
              <a:t>b</a:t>
            </a:r>
            <a:r>
              <a:rPr lang="ko-KR" altLang="en-US" dirty="0"/>
              <a:t>이고  아래에 있는 값이 </a:t>
            </a:r>
            <a:r>
              <a:rPr lang="en-US" altLang="ko-KR" dirty="0"/>
              <a:t>a</a:t>
            </a:r>
            <a:r>
              <a:rPr lang="ko-KR" altLang="en-US" dirty="0"/>
              <a:t>이다 에 </a:t>
            </a:r>
            <a:r>
              <a:rPr lang="en-US" altLang="ko-KR" dirty="0"/>
              <a:t>b</a:t>
            </a:r>
            <a:r>
              <a:rPr lang="ko-KR" altLang="en-US" dirty="0"/>
              <a:t>를 </a:t>
            </a:r>
            <a:r>
              <a:rPr lang="en-US" altLang="ko-KR" dirty="0"/>
              <a:t>+</a:t>
            </a:r>
            <a:r>
              <a:rPr lang="ko-KR" altLang="en-US" dirty="0" err="1"/>
              <a:t>해줌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00104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42100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boxed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를 쓰면 다시 원래 상태의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으로 돌아옴</a:t>
            </a: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1502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Stream</a:t>
            </a:r>
            <a:r>
              <a:rPr lang="ko-KR" altLang="en-US" dirty="0"/>
              <a:t> </a:t>
            </a:r>
            <a:r>
              <a:rPr lang="en-US" altLang="ko-KR" dirty="0"/>
              <a:t>-&gt;string</a:t>
            </a:r>
          </a:p>
          <a:p>
            <a:r>
              <a:rPr lang="en-US" altLang="ko-KR" dirty="0"/>
              <a:t>List -&gt; Stream -&gt; List</a:t>
            </a:r>
          </a:p>
          <a:p>
            <a:r>
              <a:rPr lang="en-US" altLang="ko-KR" dirty="0"/>
              <a:t>List -&gt; Stream -&gt; Map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Collectors.maxBy</a:t>
            </a:r>
            <a:r>
              <a:rPr lang="en-US" altLang="ko-KR" dirty="0"/>
              <a:t> </a:t>
            </a:r>
            <a:r>
              <a:rPr lang="ko-KR" altLang="en-US" dirty="0"/>
              <a:t>혹은 </a:t>
            </a:r>
            <a:r>
              <a:rPr lang="en-US" altLang="ko-KR" dirty="0" err="1"/>
              <a:t>Collectors.minBy</a:t>
            </a:r>
            <a:r>
              <a:rPr lang="en-US" altLang="ko-KR" dirty="0"/>
              <a:t>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꼭알아두기</a:t>
            </a:r>
            <a:r>
              <a:rPr lang="ko-KR" altLang="en-US" dirty="0"/>
              <a:t>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6301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11473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Collectors.maxBy</a:t>
            </a:r>
            <a:r>
              <a:rPr lang="en-US" altLang="ko-KR" dirty="0"/>
              <a:t> </a:t>
            </a:r>
            <a:r>
              <a:rPr lang="ko-KR" altLang="en-US" dirty="0"/>
              <a:t>혹은 </a:t>
            </a:r>
            <a:r>
              <a:rPr lang="en-US" altLang="ko-KR" dirty="0" err="1"/>
              <a:t>Collectors.minBy</a:t>
            </a:r>
            <a:r>
              <a:rPr lang="en-US" altLang="ko-KR" dirty="0"/>
              <a:t>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꼭알아두기</a:t>
            </a:r>
            <a:r>
              <a:rPr lang="ko-KR" altLang="en-US" dirty="0"/>
              <a:t> </a:t>
            </a:r>
            <a:r>
              <a:rPr lang="ko-KR" altLang="en-US" dirty="0" err="1"/>
              <a:t>자주쓰임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72082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25121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를 </a:t>
            </a:r>
            <a:r>
              <a:rPr lang="ko-KR" altLang="en-US" dirty="0" err="1"/>
              <a:t>들고와서</a:t>
            </a:r>
            <a:r>
              <a:rPr lang="ko-KR" altLang="en-US" dirty="0"/>
              <a:t> </a:t>
            </a:r>
            <a:r>
              <a:rPr lang="en-US" altLang="ko-KR" dirty="0"/>
              <a:t>Stream</a:t>
            </a:r>
            <a:r>
              <a:rPr lang="ko-KR" altLang="en-US" dirty="0"/>
              <a:t>으로 바꾸고 다시 </a:t>
            </a:r>
            <a:r>
              <a:rPr lang="en-US" altLang="ko-KR" dirty="0"/>
              <a:t>Map</a:t>
            </a:r>
            <a:r>
              <a:rPr lang="ko-KR" altLang="en-US" dirty="0"/>
              <a:t>으로 바꾸는 과정</a:t>
            </a:r>
            <a:endParaRPr lang="en-US" altLang="ko-KR" dirty="0"/>
          </a:p>
          <a:p>
            <a:r>
              <a:rPr lang="en-US" altLang="ko-KR" dirty="0"/>
              <a:t>List</a:t>
            </a:r>
            <a:r>
              <a:rPr lang="ko-KR" altLang="en-US" dirty="0"/>
              <a:t>를 </a:t>
            </a:r>
            <a:r>
              <a:rPr lang="en-US" altLang="ko-KR" dirty="0"/>
              <a:t>Map</a:t>
            </a:r>
            <a:r>
              <a:rPr lang="ko-KR" altLang="en-US" dirty="0"/>
              <a:t>으로 바꾸는 것을 그룹화라고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791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4633DE-E229-0D9F-2B67-909A0C6F7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9376E9C-F668-FD1F-863F-0D12C08939C5}"/>
              </a:ext>
            </a:extLst>
          </p:cNvPr>
          <p:cNvSpPr txBox="1">
            <a:spLocks/>
          </p:cNvSpPr>
          <p:nvPr userDrawn="1"/>
        </p:nvSpPr>
        <p:spPr>
          <a:xfrm>
            <a:off x="203200" y="1122363"/>
            <a:ext cx="87376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6000">
                <a:latin typeface="+mj-ea"/>
              </a:rPr>
              <a:t>주제목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440C0EE6-0C99-FE35-AAD9-70FB52CE814B}"/>
              </a:ext>
            </a:extLst>
          </p:cNvPr>
          <p:cNvSpPr txBox="1">
            <a:spLocks/>
          </p:cNvSpPr>
          <p:nvPr userDrawn="1"/>
        </p:nvSpPr>
        <p:spPr>
          <a:xfrm>
            <a:off x="1143000" y="5496318"/>
            <a:ext cx="6858000" cy="8935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>
                <a:latin typeface="+mj-ea"/>
                <a:ea typeface="+mj-ea"/>
              </a:rPr>
              <a:t>mcjang@hucloud.co.kr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92400F-A894-B3CF-AA5D-9D7D0D49105A}"/>
              </a:ext>
            </a:extLst>
          </p:cNvPr>
          <p:cNvSpPr/>
          <p:nvPr userDrawn="1"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24CAD72D-CAEC-95D0-9C1E-8788AF7AD2E3}"/>
              </a:ext>
            </a:extLst>
          </p:cNvPr>
          <p:cNvSpPr txBox="1">
            <a:spLocks/>
          </p:cNvSpPr>
          <p:nvPr userDrawn="1"/>
        </p:nvSpPr>
        <p:spPr>
          <a:xfrm>
            <a:off x="1143000" y="3602036"/>
            <a:ext cx="6858000" cy="17984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>
                <a:latin typeface="+mj-ea"/>
                <a:ea typeface="+mj-ea"/>
              </a:rPr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157244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7786F0-73DB-C338-46B1-C5672B3E6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E068B59-1E1D-84B5-B546-8BDA9E9BE4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-110086"/>
            <a:ext cx="8737600" cy="2387600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pPr algn="l"/>
            <a:r>
              <a:rPr lang="ko-KR" altLang="en-US" b="1">
                <a:latin typeface="+mj-ea"/>
              </a:rPr>
              <a:t>제목</a:t>
            </a:r>
            <a:endParaRPr lang="ko-KR" altLang="en-US">
              <a:latin typeface="+mj-ea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6C1E517-1BF2-97D6-40D9-7B8D8C038C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2800" y="2449100"/>
            <a:ext cx="6858000" cy="4049142"/>
          </a:xfrm>
          <a:prstGeom prst="rect">
            <a:avLst/>
          </a:prstGeo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목차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0806CB-D815-7B09-6EB0-0E6FAF9870CC}"/>
              </a:ext>
            </a:extLst>
          </p:cNvPr>
          <p:cNvSpPr/>
          <p:nvPr userDrawn="1"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4">
            <a:extLst>
              <a:ext uri="{FF2B5EF4-FFF2-40B4-BE49-F238E27FC236}">
                <a16:creationId xmlns:a16="http://schemas.microsoft.com/office/drawing/2014/main" id="{245F1F44-1AA8-1084-354D-2EE256EEC528}"/>
              </a:ext>
            </a:extLst>
          </p:cNvPr>
          <p:cNvSpPr txBox="1">
            <a:spLocks/>
          </p:cNvSpPr>
          <p:nvPr userDrawn="1"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0D7398-607C-407A-8D67-83D151584F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4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1A7445-EC18-9DEA-559B-94D8F60D1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D354038-60D2-FA52-6C0E-C2C8079A75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4051263"/>
            <a:ext cx="8737600" cy="67663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/>
            <a:r>
              <a:rPr lang="en-US" altLang="ko-KR" sz="4000" b="1">
                <a:latin typeface="+mj-ea"/>
              </a:rPr>
              <a:t>1. </a:t>
            </a:r>
            <a:r>
              <a:rPr lang="ko-KR" altLang="en-US" sz="4000" b="1">
                <a:latin typeface="+mj-ea"/>
              </a:rPr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51226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5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0426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A06F3B3-F8E6-1FA4-465E-B152A3E3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3F961-05B8-48DF-B628-A54B3B6FA5E0}"/>
              </a:ext>
            </a:extLst>
          </p:cNvPr>
          <p:cNvSpPr/>
          <p:nvPr userDrawn="1"/>
        </p:nvSpPr>
        <p:spPr>
          <a:xfrm>
            <a:off x="73891" y="986281"/>
            <a:ext cx="9023932" cy="62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9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9049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0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8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66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52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92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01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363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20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8312"/>
            <a:ext cx="8593200" cy="547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997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14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C5558559-C34F-403B-6786-74092EB86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308" y="3492258"/>
            <a:ext cx="9008515" cy="1235641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4000" b="1"/>
            </a:lvl1pPr>
            <a:lvl4pPr marL="1371600" indent="0">
              <a:buNone/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1A7445-EC18-9DEA-559B-94D8F60D1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6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9047" y="6485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42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2" r:id="rId4"/>
    <p:sldLayoutId id="2147483661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10171" TargetMode="External"/><Relationship Id="rId2" Type="http://schemas.openxmlformats.org/officeDocument/2006/relationships/hyperlink" Target="https://www.acmicpc.net/problem/2557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cmicpc.net/problem/10172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ol.programmers.co.kr/learn/courses/30/lessons/120804" TargetMode="External"/><Relationship Id="rId3" Type="http://schemas.openxmlformats.org/officeDocument/2006/relationships/hyperlink" Target="https://www.acmicpc.net/problem/1001" TargetMode="External"/><Relationship Id="rId7" Type="http://schemas.openxmlformats.org/officeDocument/2006/relationships/hyperlink" Target="https://www.acmicpc.net/problem/18108" TargetMode="External"/><Relationship Id="rId12" Type="http://schemas.openxmlformats.org/officeDocument/2006/relationships/hyperlink" Target="https://school.programmers.co.kr/learn/courses/30/lessons/120805" TargetMode="External"/><Relationship Id="rId2" Type="http://schemas.openxmlformats.org/officeDocument/2006/relationships/hyperlink" Target="https://www.acmicpc.net/problem/1000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10869" TargetMode="External"/><Relationship Id="rId11" Type="http://schemas.openxmlformats.org/officeDocument/2006/relationships/hyperlink" Target="https://school.programmers.co.kr/learn/courses/30/lessons/120810" TargetMode="External"/><Relationship Id="rId5" Type="http://schemas.openxmlformats.org/officeDocument/2006/relationships/hyperlink" Target="https://www.acmicpc.net/problem/10998" TargetMode="External"/><Relationship Id="rId10" Type="http://schemas.openxmlformats.org/officeDocument/2006/relationships/hyperlink" Target="https://school.programmers.co.kr/learn/courses/30/lessons/120803" TargetMode="External"/><Relationship Id="rId4" Type="http://schemas.openxmlformats.org/officeDocument/2006/relationships/hyperlink" Target="https://www.acmicpc.net/problem/1008" TargetMode="External"/><Relationship Id="rId9" Type="http://schemas.openxmlformats.org/officeDocument/2006/relationships/hyperlink" Target="https://school.programmers.co.kr/learn/courses/30/lessons/120820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micpc.net/problem/2480" TargetMode="External"/><Relationship Id="rId3" Type="http://schemas.openxmlformats.org/officeDocument/2006/relationships/hyperlink" Target="https://www.acmicpc.net/problem/9498" TargetMode="External"/><Relationship Id="rId7" Type="http://schemas.openxmlformats.org/officeDocument/2006/relationships/hyperlink" Target="https://www.acmicpc.net/problem/2525" TargetMode="External"/><Relationship Id="rId2" Type="http://schemas.openxmlformats.org/officeDocument/2006/relationships/hyperlink" Target="https://www.acmicpc.net/problem/1330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884" TargetMode="External"/><Relationship Id="rId5" Type="http://schemas.openxmlformats.org/officeDocument/2006/relationships/hyperlink" Target="https://www.acmicpc.net/problem/14681" TargetMode="External"/><Relationship Id="rId10" Type="http://schemas.openxmlformats.org/officeDocument/2006/relationships/hyperlink" Target="https://school.programmers.co.kr/learn/courses/30/lessons/120830" TargetMode="External"/><Relationship Id="rId4" Type="http://schemas.openxmlformats.org/officeDocument/2006/relationships/hyperlink" Target="https://www.acmicpc.net/problem/2753" TargetMode="External"/><Relationship Id="rId9" Type="http://schemas.openxmlformats.org/officeDocument/2006/relationships/hyperlink" Target="https://school.programmers.co.kr/learn/courses/30/lessons/120829" TargetMode="Externa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8393" TargetMode="External"/><Relationship Id="rId2" Type="http://schemas.openxmlformats.org/officeDocument/2006/relationships/hyperlink" Target="https://www.acmicpc.net/problem/273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439" TargetMode="External"/><Relationship Id="rId5" Type="http://schemas.openxmlformats.org/officeDocument/2006/relationships/hyperlink" Target="https://www.acmicpc.net/problem/2438" TargetMode="External"/><Relationship Id="rId4" Type="http://schemas.openxmlformats.org/officeDocument/2006/relationships/hyperlink" Target="https://www.acmicpc.net/problem/25314" TargetMode="Externa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8393" TargetMode="External"/><Relationship Id="rId2" Type="http://schemas.openxmlformats.org/officeDocument/2006/relationships/hyperlink" Target="https://www.acmicpc.net/problem/273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439" TargetMode="External"/><Relationship Id="rId5" Type="http://schemas.openxmlformats.org/officeDocument/2006/relationships/hyperlink" Target="https://www.acmicpc.net/problem/2438" TargetMode="External"/><Relationship Id="rId4" Type="http://schemas.openxmlformats.org/officeDocument/2006/relationships/hyperlink" Target="https://www.acmicpc.net/problem/25314" TargetMode="Externa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micpc.net/problem/1152" TargetMode="External"/><Relationship Id="rId13" Type="http://schemas.openxmlformats.org/officeDocument/2006/relationships/hyperlink" Target="https://school.programmers.co.kr/learn/courses/30/lessons/181848" TargetMode="External"/><Relationship Id="rId18" Type="http://schemas.openxmlformats.org/officeDocument/2006/relationships/hyperlink" Target="https://school.programmers.co.kr/learn/courses/30/lessons/181875" TargetMode="External"/><Relationship Id="rId3" Type="http://schemas.openxmlformats.org/officeDocument/2006/relationships/hyperlink" Target="https://www.acmicpc.net/problem/27866" TargetMode="External"/><Relationship Id="rId7" Type="http://schemas.openxmlformats.org/officeDocument/2006/relationships/hyperlink" Target="https://www.acmicpc.net/problem/10809" TargetMode="External"/><Relationship Id="rId12" Type="http://schemas.openxmlformats.org/officeDocument/2006/relationships/hyperlink" Target="https://school.programmers.co.kr/learn/courses/30/lessons/181845" TargetMode="External"/><Relationship Id="rId17" Type="http://schemas.openxmlformats.org/officeDocument/2006/relationships/hyperlink" Target="https://school.programmers.co.kr/learn/courses/30/lessons/181878" TargetMode="External"/><Relationship Id="rId2" Type="http://schemas.openxmlformats.org/officeDocument/2006/relationships/notesSlide" Target="../notesSlides/notesSlide59.xml"/><Relationship Id="rId16" Type="http://schemas.openxmlformats.org/officeDocument/2006/relationships/hyperlink" Target="https://school.programmers.co.kr/learn/courses/30/lessons/181876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11720" TargetMode="External"/><Relationship Id="rId11" Type="http://schemas.openxmlformats.org/officeDocument/2006/relationships/hyperlink" Target="https://school.programmers.co.kr/learn/courses/30/lessons/181843" TargetMode="External"/><Relationship Id="rId5" Type="http://schemas.openxmlformats.org/officeDocument/2006/relationships/hyperlink" Target="https://www.acmicpc.net/problem/11654" TargetMode="External"/><Relationship Id="rId15" Type="http://schemas.openxmlformats.org/officeDocument/2006/relationships/hyperlink" Target="https://school.programmers.co.kr/learn/courses/30/lessons/181849" TargetMode="External"/><Relationship Id="rId10" Type="http://schemas.openxmlformats.org/officeDocument/2006/relationships/hyperlink" Target="https://school.programmers.co.kr/learn/courses/30/lessons/181842" TargetMode="External"/><Relationship Id="rId4" Type="http://schemas.openxmlformats.org/officeDocument/2006/relationships/hyperlink" Target="https://www.acmicpc.net/problem/2743" TargetMode="External"/><Relationship Id="rId9" Type="http://schemas.openxmlformats.org/officeDocument/2006/relationships/hyperlink" Target="https://www.acmicpc.net/problem/2908" TargetMode="External"/><Relationship Id="rId14" Type="http://schemas.openxmlformats.org/officeDocument/2006/relationships/hyperlink" Target="https://school.programmers.co.kr/learn/courses/30/lessons/181847" TargetMode="Externa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9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ol.programmers.co.kr/learn/courses/30/lessons/181941" TargetMode="External"/><Relationship Id="rId13" Type="http://schemas.openxmlformats.org/officeDocument/2006/relationships/hyperlink" Target="https://school.programmers.co.kr/learn/courses/30/lessons/181861" TargetMode="External"/><Relationship Id="rId18" Type="http://schemas.openxmlformats.org/officeDocument/2006/relationships/hyperlink" Target="https://www.acmicpc.net/problem/10798" TargetMode="External"/><Relationship Id="rId3" Type="http://schemas.openxmlformats.org/officeDocument/2006/relationships/hyperlink" Target="https://www.acmicpc.net/problem/10807" TargetMode="External"/><Relationship Id="rId7" Type="http://schemas.openxmlformats.org/officeDocument/2006/relationships/hyperlink" Target="https://www.acmicpc.net/problem/5597" TargetMode="External"/><Relationship Id="rId12" Type="http://schemas.openxmlformats.org/officeDocument/2006/relationships/hyperlink" Target="https://school.programmers.co.kr/learn/courses/30/lessons/181856" TargetMode="External"/><Relationship Id="rId17" Type="http://schemas.openxmlformats.org/officeDocument/2006/relationships/hyperlink" Target="https://www.acmicpc.net/problem/2566" TargetMode="External"/><Relationship Id="rId2" Type="http://schemas.openxmlformats.org/officeDocument/2006/relationships/notesSlide" Target="../notesSlides/notesSlide60.xml"/><Relationship Id="rId16" Type="http://schemas.openxmlformats.org/officeDocument/2006/relationships/hyperlink" Target="https://school.programmers.co.kr/learn/courses/30/lessons/18186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562" TargetMode="External"/><Relationship Id="rId11" Type="http://schemas.openxmlformats.org/officeDocument/2006/relationships/hyperlink" Target="https://school.programmers.co.kr/learn/courses/30/lessons/181854" TargetMode="External"/><Relationship Id="rId5" Type="http://schemas.openxmlformats.org/officeDocument/2006/relationships/hyperlink" Target="https://www.acmicpc.net/problem/10818" TargetMode="External"/><Relationship Id="rId15" Type="http://schemas.openxmlformats.org/officeDocument/2006/relationships/hyperlink" Target="https://school.programmers.co.kr/learn/courses/30/lessons/181868" TargetMode="External"/><Relationship Id="rId10" Type="http://schemas.openxmlformats.org/officeDocument/2006/relationships/hyperlink" Target="https://school.programmers.co.kr/learn/courses/30/lessons/181853" TargetMode="External"/><Relationship Id="rId4" Type="http://schemas.openxmlformats.org/officeDocument/2006/relationships/hyperlink" Target="https://www.acmicpc.net/problem/10871" TargetMode="External"/><Relationship Id="rId9" Type="http://schemas.openxmlformats.org/officeDocument/2006/relationships/hyperlink" Target="https://school.programmers.co.kr/learn/courses/30/lessons/181852" TargetMode="External"/><Relationship Id="rId14" Type="http://schemas.openxmlformats.org/officeDocument/2006/relationships/hyperlink" Target="https://school.programmers.co.kr/learn/courses/30/lessons/181867" TargetMode="Externa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4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3.jpeg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4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4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5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5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5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5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5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5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5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5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6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6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6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6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6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6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/Relationships>
</file>

<file path=ppt/slides/_rels/slide6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6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5.xml"/></Relationships>
</file>

<file path=ppt/slides/_rels/slide6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6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6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6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/Relationships>
</file>

<file path=ppt/slides/_rels/slide6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en-US" altLang="ko-KR">
                <a:latin typeface="+mj-ea"/>
              </a:rPr>
              <a:t>Java Programming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232881"/>
          </a:xfrm>
        </p:spPr>
        <p:txBody>
          <a:bodyPr>
            <a:normAutofit/>
          </a:bodyPr>
          <a:lstStyle/>
          <a:p>
            <a:r>
              <a:rPr lang="en-US" altLang="ko-KR" sz="3000">
                <a:latin typeface="+mj-ea"/>
                <a:ea typeface="+mj-ea"/>
              </a:rPr>
              <a:t>Basic and Advanced</a:t>
            </a:r>
            <a:endParaRPr lang="en-US" altLang="ko-KR" sz="3200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codemakers.kr@gmail.com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D3F32A-7348-7DF9-202C-EB5A33E0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4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9B1D09F-8610-2B4E-498F-5B5619F61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4000" b="1">
                <a:latin typeface="+mj-ea"/>
              </a:rPr>
              <a:t>Java </a:t>
            </a:r>
            <a:r>
              <a:rPr lang="ko-KR" altLang="en-US" sz="4000" b="1">
                <a:latin typeface="+mj-ea"/>
              </a:rPr>
              <a:t>개요</a:t>
            </a:r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0C3227-555B-F9B9-40AB-589B4C204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7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프로그래밍이란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어떤 작업을 수행하기 위해 작업 내용을 순서대로 나열해 놓은 것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예</a:t>
            </a:r>
            <a:r>
              <a:rPr lang="en-US" altLang="ko-KR"/>
              <a:t>&gt; 10+50</a:t>
            </a:r>
            <a:r>
              <a:rPr lang="ko-KR" altLang="en-US"/>
              <a:t>을 계산해서 결과를 화면에 출력한다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1. 10</a:t>
            </a:r>
            <a:r>
              <a:rPr lang="ko-KR" altLang="en-US"/>
              <a:t>과 </a:t>
            </a:r>
            <a:r>
              <a:rPr lang="en-US" altLang="ko-KR"/>
              <a:t>50</a:t>
            </a:r>
            <a:r>
              <a:rPr lang="ko-KR" altLang="en-US"/>
              <a:t>을 더한 결과를 얻는다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2. </a:t>
            </a:r>
            <a:r>
              <a:rPr lang="ko-KR" altLang="en-US"/>
              <a:t>결과를 화면에 출력한다</a:t>
            </a:r>
            <a:r>
              <a:rPr lang="en-US" altLang="ko-KR"/>
              <a:t>.</a:t>
            </a:r>
          </a:p>
          <a:p>
            <a:pPr lvl="2"/>
            <a:r>
              <a:rPr lang="ko-KR" altLang="en-US"/>
              <a:t>등의 순서를 나열해 놓은 것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1414D0A-E388-473D-577B-B7EC00B10828}"/>
              </a:ext>
            </a:extLst>
          </p:cNvPr>
          <p:cNvGrpSpPr/>
          <p:nvPr/>
        </p:nvGrpSpPr>
        <p:grpSpPr>
          <a:xfrm>
            <a:off x="2674640" y="3145148"/>
            <a:ext cx="3794720" cy="3251627"/>
            <a:chOff x="2483768" y="2480320"/>
            <a:chExt cx="3794720" cy="3251627"/>
          </a:xfrm>
        </p:grpSpPr>
        <p:pic>
          <p:nvPicPr>
            <p:cNvPr id="6" name="그래픽 5" descr="컴퓨터 단색으로 채워진">
              <a:extLst>
                <a:ext uri="{FF2B5EF4-FFF2-40B4-BE49-F238E27FC236}">
                  <a16:creationId xmlns:a16="http://schemas.microsoft.com/office/drawing/2014/main" id="{35C3289E-251B-460C-9403-9F93687BC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63888" y="2480320"/>
              <a:ext cx="1452736" cy="1452736"/>
            </a:xfrm>
            <a:prstGeom prst="rect">
              <a:avLst/>
            </a:prstGeom>
          </p:spPr>
        </p:pic>
        <p:pic>
          <p:nvPicPr>
            <p:cNvPr id="8" name="그래픽 7" descr="가로 막대형 차트 단색으로 채워진">
              <a:extLst>
                <a:ext uri="{FF2B5EF4-FFF2-40B4-BE49-F238E27FC236}">
                  <a16:creationId xmlns:a16="http://schemas.microsoft.com/office/drawing/2014/main" id="{CF08121B-1075-922B-717B-2894EF935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83768" y="4509120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광 디스크 단색으로 채워진">
              <a:extLst>
                <a:ext uri="{FF2B5EF4-FFF2-40B4-BE49-F238E27FC236}">
                  <a16:creationId xmlns:a16="http://schemas.microsoft.com/office/drawing/2014/main" id="{B24E73E1-EA40-C43E-0FDA-F26E1F6CC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5663" y="4446240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게임 컨트롤러 단색으로 채워진">
              <a:extLst>
                <a:ext uri="{FF2B5EF4-FFF2-40B4-BE49-F238E27FC236}">
                  <a16:creationId xmlns:a16="http://schemas.microsoft.com/office/drawing/2014/main" id="{AF06B564-A461-7B65-F032-6565325AC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64088" y="4446240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A4CE63-E070-EED3-33A0-248E92F567E2}"/>
                </a:ext>
              </a:extLst>
            </p:cNvPr>
            <p:cNvSpPr txBox="1"/>
            <p:nvPr/>
          </p:nvSpPr>
          <p:spPr>
            <a:xfrm>
              <a:off x="2541659" y="5362615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Office</a:t>
              </a:r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3A7F85-3BC4-EF0E-DC38-B0E78CCECDA7}"/>
                </a:ext>
              </a:extLst>
            </p:cNvPr>
            <p:cNvSpPr txBox="1"/>
            <p:nvPr/>
          </p:nvSpPr>
          <p:spPr>
            <a:xfrm>
              <a:off x="4048391" y="5362615"/>
              <a:ext cx="835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Media</a:t>
              </a:r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9D88B0-5065-0DB1-A7C7-919EE4696618}"/>
                </a:ext>
              </a:extLst>
            </p:cNvPr>
            <p:cNvSpPr txBox="1"/>
            <p:nvPr/>
          </p:nvSpPr>
          <p:spPr>
            <a:xfrm>
              <a:off x="5432051" y="5362615"/>
              <a:ext cx="793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Game</a:t>
              </a:r>
              <a:endParaRPr lang="ko-KR" altLang="en-US"/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34E1B1A-44F0-1B97-6E58-C0672C53C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0967" y="3587445"/>
              <a:ext cx="1114606" cy="9216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548C544-04A3-4527-4E24-68EADB08F83A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4422863" y="3587445"/>
              <a:ext cx="0" cy="8587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00C57ED-FEF0-E5A6-8658-DDA14A641D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6524" y="3587445"/>
              <a:ext cx="1051567" cy="98177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1F33A06-4D75-F1C3-0F10-6C2479D88F1E}"/>
                </a:ext>
              </a:extLst>
            </p:cNvPr>
            <p:cNvSpPr txBox="1"/>
            <p:nvPr/>
          </p:nvSpPr>
          <p:spPr>
            <a:xfrm>
              <a:off x="3017646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E2C14-7281-E73D-7633-83CAF74D97A7}"/>
                </a:ext>
              </a:extLst>
            </p:cNvPr>
            <p:cNvSpPr txBox="1"/>
            <p:nvPr/>
          </p:nvSpPr>
          <p:spPr>
            <a:xfrm>
              <a:off x="3994901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ACAB90-77D4-00DE-073B-E582C04F4041}"/>
                </a:ext>
              </a:extLst>
            </p:cNvPr>
            <p:cNvSpPr txBox="1"/>
            <p:nvPr/>
          </p:nvSpPr>
          <p:spPr>
            <a:xfrm>
              <a:off x="4972156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</p:grp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9AB91485-8AD9-0FE3-71FC-9BC4946B1466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3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8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9200" y="1249200"/>
            <a:ext cx="8729352" cy="5477892"/>
          </a:xfrm>
        </p:spPr>
        <p:txBody>
          <a:bodyPr/>
          <a:lstStyle/>
          <a:p>
            <a:r>
              <a:rPr lang="en-US" altLang="ko-KR"/>
              <a:t>1995</a:t>
            </a:r>
            <a:r>
              <a:rPr lang="ko-KR" altLang="en-US"/>
              <a:t>년 </a:t>
            </a:r>
            <a:r>
              <a:rPr lang="en-US" altLang="ko-KR"/>
              <a:t>Sun Microsystems </a:t>
            </a:r>
            <a:r>
              <a:rPr lang="ko-KR" altLang="en-US"/>
              <a:t>소속의 제임스 </a:t>
            </a:r>
            <a:r>
              <a:rPr lang="ko-KR" altLang="en-US" err="1"/>
              <a:t>고슬링에</a:t>
            </a:r>
            <a:r>
              <a:rPr lang="ko-KR" altLang="en-US"/>
              <a:t> 의해 개발된 언어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현재는 </a:t>
            </a:r>
            <a:r>
              <a:rPr lang="en-US" altLang="ko-KR"/>
              <a:t>Oracle</a:t>
            </a:r>
            <a:r>
              <a:rPr lang="ko-KR" altLang="en-US"/>
              <a:t>에 인수되어 </a:t>
            </a:r>
            <a:r>
              <a:rPr lang="en-US" altLang="ko-KR"/>
              <a:t>Oracle JAVA </a:t>
            </a:r>
            <a:r>
              <a:rPr lang="ko-KR" altLang="en-US"/>
              <a:t>로 사용됨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엔터프라이즈 웹 어플리케이션 제작 언어 </a:t>
            </a:r>
            <a:r>
              <a:rPr lang="en-US" altLang="ko-KR"/>
              <a:t>= JAVA </a:t>
            </a:r>
            <a:r>
              <a:rPr lang="ko-KR" altLang="en-US"/>
              <a:t>로 자리매김함</a:t>
            </a:r>
            <a:r>
              <a:rPr lang="en-US" altLang="ko-KR"/>
              <a:t>.</a:t>
            </a:r>
          </a:p>
        </p:txBody>
      </p:sp>
      <p:pic>
        <p:nvPicPr>
          <p:cNvPr id="1026" name="Picture 2" descr="https://upload.wikimedia.org/wikipedia/commons/thumb/1/14/James_Gosling_2008.jpg/225px-James_Gosling_2008.jpg">
            <a:extLst>
              <a:ext uri="{FF2B5EF4-FFF2-40B4-BE49-F238E27FC236}">
                <a16:creationId xmlns:a16="http://schemas.microsoft.com/office/drawing/2014/main" id="{19AD3900-941E-463B-9BE9-DDA260AE5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31800"/>
            <a:ext cx="1905000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F75E9B-2EC7-4F0A-AC06-024D78F39374}"/>
              </a:ext>
            </a:extLst>
          </p:cNvPr>
          <p:cNvSpPr/>
          <p:nvPr/>
        </p:nvSpPr>
        <p:spPr>
          <a:xfrm>
            <a:off x="774700" y="2810312"/>
            <a:ext cx="1905000" cy="83495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E3985480-EBF5-84AE-AAE4-2F18B68A90D2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4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8" name="Picture 4" descr="https://upload.wikimedia.org/wikipedia/commons/thumb/8/8b/Sun-Logo.svg/200px-Sun-Logo.svg.png">
            <a:extLst>
              <a:ext uri="{FF2B5EF4-FFF2-40B4-BE49-F238E27FC236}">
                <a16:creationId xmlns:a16="http://schemas.microsoft.com/office/drawing/2014/main" id="{61D69DE1-5A7B-4B7A-9320-4380AA61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89" y="2881837"/>
            <a:ext cx="1605022" cy="69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racle Java 8 (Stable) Released, Install it In Ubuntu ~ Web Upd8 ...">
            <a:extLst>
              <a:ext uri="{FF2B5EF4-FFF2-40B4-BE49-F238E27FC236}">
                <a16:creationId xmlns:a16="http://schemas.microsoft.com/office/drawing/2014/main" id="{3478AE0D-3416-4352-AC30-88C5942F3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676" y="4550810"/>
            <a:ext cx="18884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un Java">
            <a:extLst>
              <a:ext uri="{FF2B5EF4-FFF2-40B4-BE49-F238E27FC236}">
                <a16:creationId xmlns:a16="http://schemas.microsoft.com/office/drawing/2014/main" id="{E48DEEF9-64B9-45C2-A542-5B8C5EB0C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4448493"/>
            <a:ext cx="1888400" cy="116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E1314AF-A078-4D6E-88C2-8E12C5366C87}"/>
              </a:ext>
            </a:extLst>
          </p:cNvPr>
          <p:cNvSpPr/>
          <p:nvPr/>
        </p:nvSpPr>
        <p:spPr>
          <a:xfrm>
            <a:off x="2946861" y="4665375"/>
            <a:ext cx="1384300" cy="72654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86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Java Program</a:t>
            </a:r>
            <a:r>
              <a:rPr lang="ko-KR" altLang="en-US"/>
              <a:t>의 실행구조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929234-9CBA-2FDB-E8E0-7A2DBBA8E3AD}"/>
              </a:ext>
            </a:extLst>
          </p:cNvPr>
          <p:cNvGrpSpPr/>
          <p:nvPr/>
        </p:nvGrpSpPr>
        <p:grpSpPr>
          <a:xfrm>
            <a:off x="1340453" y="1554650"/>
            <a:ext cx="2976496" cy="2406280"/>
            <a:chOff x="960854" y="1554650"/>
            <a:chExt cx="2976496" cy="240628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CF6D192-F316-59F7-144B-D69725870417}"/>
                </a:ext>
              </a:extLst>
            </p:cNvPr>
            <p:cNvGrpSpPr/>
            <p:nvPr/>
          </p:nvGrpSpPr>
          <p:grpSpPr>
            <a:xfrm>
              <a:off x="960854" y="1554650"/>
              <a:ext cx="2976496" cy="2406280"/>
              <a:chOff x="875424" y="1434821"/>
              <a:chExt cx="2976496" cy="1742889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57ABC75-C3A6-DC22-9E8E-3FEB7BB4683E}"/>
                  </a:ext>
                </a:extLst>
              </p:cNvPr>
              <p:cNvSpPr/>
              <p:nvPr/>
            </p:nvSpPr>
            <p:spPr>
              <a:xfrm>
                <a:off x="875424" y="1556792"/>
                <a:ext cx="2976496" cy="1620918"/>
              </a:xfrm>
              <a:prstGeom prst="roundRect">
                <a:avLst>
                  <a:gd name="adj" fmla="val 5384"/>
                </a:avLst>
              </a:prstGeom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C03D21-21FF-D3D9-E998-7FC8C78C1B62}"/>
                  </a:ext>
                </a:extLst>
              </p:cNvPr>
              <p:cNvSpPr txBox="1"/>
              <p:nvPr/>
            </p:nvSpPr>
            <p:spPr>
              <a:xfrm>
                <a:off x="1164925" y="1434821"/>
                <a:ext cx="2167581" cy="1894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/>
                  <a:t>일반적인 프로그램의 실행 구조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976827" y="1916832"/>
              <a:ext cx="2850460" cy="1581162"/>
              <a:chOff x="929188" y="1814732"/>
              <a:chExt cx="2850460" cy="1581162"/>
            </a:xfrm>
          </p:grpSpPr>
          <p:grpSp>
            <p:nvGrpSpPr>
              <p:cNvPr id="7" name="그룹 6"/>
              <p:cNvGrpSpPr/>
              <p:nvPr/>
            </p:nvGrpSpPr>
            <p:grpSpPr>
              <a:xfrm>
                <a:off x="1052146" y="1814732"/>
                <a:ext cx="1143000" cy="1200150"/>
                <a:chOff x="1171575" y="2019300"/>
                <a:chExt cx="1143000" cy="1200150"/>
              </a:xfrm>
            </p:grpSpPr>
            <p:sp>
              <p:nvSpPr>
                <p:cNvPr id="5" name="모서리가 둥근 직사각형 4"/>
                <p:cNvSpPr/>
                <p:nvPr/>
              </p:nvSpPr>
              <p:spPr>
                <a:xfrm>
                  <a:off x="1171575" y="28194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Hardware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15" name="모서리가 둥근 직사각형 14"/>
                <p:cNvSpPr/>
                <p:nvPr/>
              </p:nvSpPr>
              <p:spPr>
                <a:xfrm>
                  <a:off x="1171575" y="24193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OS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19" name="모서리가 둥근 직사각형 18"/>
                <p:cNvSpPr/>
                <p:nvPr/>
              </p:nvSpPr>
              <p:spPr>
                <a:xfrm>
                  <a:off x="1171575" y="20193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Program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929188" y="3057340"/>
                <a:ext cx="28504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OS</a:t>
                </a:r>
                <a:r>
                  <a:rPr lang="ko-KR" altLang="en-US" sz="800">
                    <a:latin typeface="+mn-ea"/>
                    <a:ea typeface="+mn-ea"/>
                  </a:rPr>
                  <a:t>의 종류에 따라 </a:t>
                </a:r>
                <a:r>
                  <a:rPr lang="en-US" altLang="ko-KR" sz="800">
                    <a:latin typeface="+mn-ea"/>
                    <a:ea typeface="+mn-ea"/>
                  </a:rPr>
                  <a:t>Program</a:t>
                </a:r>
                <a:r>
                  <a:rPr lang="ko-KR" altLang="en-US" sz="800">
                    <a:latin typeface="+mn-ea"/>
                    <a:ea typeface="+mn-ea"/>
                  </a:rPr>
                  <a:t>의 개발도 다르다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</a:p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Windows / Linux / MacOS </a:t>
                </a:r>
                <a:r>
                  <a:rPr lang="ko-KR" altLang="en-US" sz="800">
                    <a:latin typeface="+mn-ea"/>
                    <a:ea typeface="+mn-ea"/>
                  </a:rPr>
                  <a:t>마다 구현되는 방법이 다르다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  <a:endParaRPr lang="ko-KR" altLang="en-US" sz="8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CE6420-62FF-D3E4-FAAC-AD9115D98A70}"/>
              </a:ext>
            </a:extLst>
          </p:cNvPr>
          <p:cNvGrpSpPr/>
          <p:nvPr/>
        </p:nvGrpSpPr>
        <p:grpSpPr>
          <a:xfrm>
            <a:off x="4850002" y="1591148"/>
            <a:ext cx="2976496" cy="2369782"/>
            <a:chOff x="5277148" y="1591148"/>
            <a:chExt cx="2976496" cy="236978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5B27904-1B6B-A1E9-EE6E-9BC27A1FC3E5}"/>
                </a:ext>
              </a:extLst>
            </p:cNvPr>
            <p:cNvGrpSpPr/>
            <p:nvPr/>
          </p:nvGrpSpPr>
          <p:grpSpPr>
            <a:xfrm>
              <a:off x="5277148" y="1591148"/>
              <a:ext cx="2976496" cy="2369782"/>
              <a:chOff x="875424" y="1421129"/>
              <a:chExt cx="2976496" cy="1756581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B08FA5B4-F8DE-B988-8B45-4A0CF8517D2E}"/>
                  </a:ext>
                </a:extLst>
              </p:cNvPr>
              <p:cNvSpPr/>
              <p:nvPr/>
            </p:nvSpPr>
            <p:spPr>
              <a:xfrm>
                <a:off x="875424" y="1518897"/>
                <a:ext cx="2976496" cy="1658813"/>
              </a:xfrm>
              <a:prstGeom prst="roundRect">
                <a:avLst>
                  <a:gd name="adj" fmla="val 5384"/>
                </a:avLst>
              </a:prstGeom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015933-81B7-152C-F8E2-781FF3CBEA17}"/>
                  </a:ext>
                </a:extLst>
              </p:cNvPr>
              <p:cNvSpPr txBox="1"/>
              <p:nvPr/>
            </p:nvSpPr>
            <p:spPr>
              <a:xfrm>
                <a:off x="1164925" y="1421129"/>
                <a:ext cx="1821332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/>
                  <a:t>Java</a:t>
                </a:r>
                <a:r>
                  <a:rPr lang="ko-KR" altLang="en-US" sz="1100"/>
                  <a:t> 프로그램의 실행구조</a:t>
                </a: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5364088" y="1916832"/>
              <a:ext cx="2242922" cy="1993464"/>
              <a:chOff x="956896" y="3973911"/>
              <a:chExt cx="2242922" cy="1993464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052146" y="3973911"/>
                <a:ext cx="1143000" cy="1600200"/>
                <a:chOff x="1171575" y="1619250"/>
                <a:chExt cx="1143000" cy="1600200"/>
              </a:xfrm>
            </p:grpSpPr>
            <p:sp>
              <p:nvSpPr>
                <p:cNvPr id="23" name="모서리가 둥근 직사각형 22"/>
                <p:cNvSpPr/>
                <p:nvPr/>
              </p:nvSpPr>
              <p:spPr>
                <a:xfrm>
                  <a:off x="1171575" y="28194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Hardware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4" name="모서리가 둥근 직사각형 23"/>
                <p:cNvSpPr/>
                <p:nvPr/>
              </p:nvSpPr>
              <p:spPr>
                <a:xfrm>
                  <a:off x="1171575" y="24193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OS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1171575" y="20193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JVM</a:t>
                  </a:r>
                </a:p>
                <a:p>
                  <a:pPr algn="ctr"/>
                  <a:r>
                    <a:rPr lang="en-US" altLang="ko-KR" sz="600" b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(Java Virtual Machine)</a:t>
                  </a:r>
                  <a:endParaRPr lang="ko-KR" altLang="en-US" sz="1100" b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171575" y="16192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Java Program</a:t>
                  </a:r>
                  <a:endParaRPr lang="ko-KR" altLang="en-US" sz="1100" b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956896" y="5628821"/>
                <a:ext cx="22429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OS</a:t>
                </a:r>
                <a:r>
                  <a:rPr lang="ko-KR" altLang="en-US" sz="800">
                    <a:latin typeface="+mn-ea"/>
                    <a:ea typeface="+mn-ea"/>
                  </a:rPr>
                  <a:t>의 종류에 관계없이 동일한 개발방법</a:t>
                </a:r>
                <a:r>
                  <a:rPr lang="en-US" altLang="ko-KR" sz="800">
                    <a:latin typeface="+mn-ea"/>
                    <a:ea typeface="+mn-ea"/>
                  </a:rPr>
                  <a:t>,</a:t>
                </a:r>
              </a:p>
              <a:p>
                <a:pPr algn="l"/>
                <a:r>
                  <a:rPr lang="ko-KR" altLang="en-US" sz="800">
                    <a:latin typeface="+mn-ea"/>
                    <a:ea typeface="+mn-ea"/>
                  </a:rPr>
                  <a:t>동일한 소스로</a:t>
                </a:r>
                <a:r>
                  <a:rPr lang="en-US" altLang="ko-KR" sz="800">
                    <a:latin typeface="+mn-ea"/>
                    <a:ea typeface="+mn-ea"/>
                  </a:rPr>
                  <a:t> </a:t>
                </a:r>
                <a:r>
                  <a:rPr lang="ko-KR" altLang="en-US" sz="800">
                    <a:latin typeface="+mn-ea"/>
                    <a:ea typeface="+mn-ea"/>
                  </a:rPr>
                  <a:t>프로그램의 개발이 가능하다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  <a:endParaRPr lang="ko-KR" altLang="en-US" sz="8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9" name="그룹 8"/>
          <p:cNvGrpSpPr/>
          <p:nvPr/>
        </p:nvGrpSpPr>
        <p:grpSpPr>
          <a:xfrm>
            <a:off x="2527127" y="4515099"/>
            <a:ext cx="3886200" cy="1894791"/>
            <a:chOff x="4495800" y="3973911"/>
            <a:chExt cx="3886200" cy="1894791"/>
          </a:xfrm>
        </p:grpSpPr>
        <p:grpSp>
          <p:nvGrpSpPr>
            <p:cNvPr id="29" name="그룹 28"/>
            <p:cNvGrpSpPr/>
            <p:nvPr/>
          </p:nvGrpSpPr>
          <p:grpSpPr>
            <a:xfrm>
              <a:off x="4495800" y="3973911"/>
              <a:ext cx="1143000" cy="1600200"/>
              <a:chOff x="1171575" y="1619250"/>
              <a:chExt cx="1143000" cy="1600200"/>
            </a:xfrm>
          </p:grpSpPr>
          <p:sp>
            <p:nvSpPr>
              <p:cNvPr id="30" name="모서리가 둥근 직사각형 29"/>
              <p:cNvSpPr/>
              <p:nvPr/>
            </p:nvSpPr>
            <p:spPr>
              <a:xfrm>
                <a:off x="1171575" y="28194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Hardware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모서리가 둥근 직사각형 30"/>
              <p:cNvSpPr/>
              <p:nvPr/>
            </p:nvSpPr>
            <p:spPr>
              <a:xfrm>
                <a:off x="1171575" y="24193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Windows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1171575" y="20193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Windows JVM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" name="모서리가 둥근 직사각형 32"/>
              <p:cNvSpPr/>
              <p:nvPr/>
            </p:nvSpPr>
            <p:spPr>
              <a:xfrm>
                <a:off x="1171575" y="16192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Java Program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7239000" y="3973911"/>
              <a:ext cx="1143000" cy="1600200"/>
              <a:chOff x="1171575" y="1619250"/>
              <a:chExt cx="1143000" cy="1600200"/>
            </a:xfrm>
          </p:grpSpPr>
          <p:sp>
            <p:nvSpPr>
              <p:cNvPr id="35" name="모서리가 둥근 직사각형 34"/>
              <p:cNvSpPr/>
              <p:nvPr/>
            </p:nvSpPr>
            <p:spPr>
              <a:xfrm>
                <a:off x="1171575" y="28194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Hardware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/>
              <p:cNvSpPr/>
              <p:nvPr/>
            </p:nvSpPr>
            <p:spPr>
              <a:xfrm>
                <a:off x="1171575" y="24193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Linux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7" name="모서리가 둥근 직사각형 36"/>
              <p:cNvSpPr/>
              <p:nvPr/>
            </p:nvSpPr>
            <p:spPr>
              <a:xfrm>
                <a:off x="1171575" y="20193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Linux JVM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모서리가 둥근 직사각형 37"/>
              <p:cNvSpPr/>
              <p:nvPr/>
            </p:nvSpPr>
            <p:spPr>
              <a:xfrm>
                <a:off x="1171575" y="16192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Java Program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8" name="왼쪽/오른쪽 화살표 7"/>
            <p:cNvSpPr/>
            <p:nvPr/>
          </p:nvSpPr>
          <p:spPr>
            <a:xfrm>
              <a:off x="5715000" y="410853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왼쪽/오른쪽 화살표 38"/>
            <p:cNvSpPr/>
            <p:nvPr/>
          </p:nvSpPr>
          <p:spPr>
            <a:xfrm>
              <a:off x="5715000" y="450858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왼쪽/오른쪽 화살표 39"/>
            <p:cNvSpPr/>
            <p:nvPr/>
          </p:nvSpPr>
          <p:spPr>
            <a:xfrm>
              <a:off x="5715000" y="490863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20355" y="4080671"/>
              <a:ext cx="837089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동일</a:t>
              </a:r>
              <a:r>
                <a:rPr lang="en-US" altLang="ko-KR" sz="800">
                  <a:latin typeface="+mn-ea"/>
                  <a:ea typeface="+mn-ea"/>
                </a:rPr>
                <a:t> </a:t>
              </a:r>
              <a:r>
                <a:rPr lang="ko-KR" altLang="en-US" sz="800">
                  <a:latin typeface="+mn-ea"/>
                  <a:ea typeface="+mn-ea"/>
                </a:rPr>
                <a:t>프로그램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8940" y="4448515"/>
              <a:ext cx="639919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다른 </a:t>
              </a:r>
              <a:r>
                <a:rPr lang="en-US" altLang="ko-KR" sz="800">
                  <a:latin typeface="+mn-ea"/>
                  <a:ea typeface="+mn-ea"/>
                </a:rPr>
                <a:t>JVM</a:t>
              </a:r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56611" y="4866314"/>
              <a:ext cx="56457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다른 </a:t>
              </a:r>
              <a:r>
                <a:rPr lang="en-US" altLang="ko-KR" sz="800">
                  <a:latin typeface="+mn-ea"/>
                  <a:ea typeface="+mn-ea"/>
                </a:rPr>
                <a:t>OS</a:t>
              </a:r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513004" y="5653258"/>
              <a:ext cx="185178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운영체제에 독립적인 </a:t>
              </a:r>
              <a:r>
                <a:rPr lang="en-US" altLang="ko-KR" sz="800">
                  <a:latin typeface="+mn-ea"/>
                  <a:ea typeface="+mn-ea"/>
                </a:rPr>
                <a:t>Java Program</a:t>
              </a:r>
              <a:endParaRPr lang="ko-KR" altLang="en-US" sz="800">
                <a:latin typeface="+mn-ea"/>
                <a:ea typeface="+mn-ea"/>
              </a:endParaRPr>
            </a:p>
          </p:txBody>
        </p:sp>
      </p:grpSp>
      <p:sp>
        <p:nvSpPr>
          <p:cNvPr id="20" name="슬라이드 번호 개체 틀 4">
            <a:extLst>
              <a:ext uri="{FF2B5EF4-FFF2-40B4-BE49-F238E27FC236}">
                <a16:creationId xmlns:a16="http://schemas.microsoft.com/office/drawing/2014/main" id="{77D6658D-DB3E-876D-F09E-1D6629E58D57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5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91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Write Once, Run Anywhere.</a:t>
            </a:r>
          </a:p>
          <a:p>
            <a:r>
              <a:rPr lang="ko-KR" altLang="en-US"/>
              <a:t>한 번의 작성으로 </a:t>
            </a:r>
            <a:r>
              <a:rPr lang="ko-KR" altLang="en-US" err="1"/>
              <a:t>어디에서든</a:t>
            </a:r>
            <a:r>
              <a:rPr lang="ko-KR" altLang="en-US"/>
              <a:t> 똑같이 실행된다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81C41E-DE08-C686-CD4D-5C10B8C3A38C}"/>
              </a:ext>
            </a:extLst>
          </p:cNvPr>
          <p:cNvGrpSpPr/>
          <p:nvPr/>
        </p:nvGrpSpPr>
        <p:grpSpPr>
          <a:xfrm>
            <a:off x="1507835" y="2420888"/>
            <a:ext cx="6189994" cy="3267491"/>
            <a:chOff x="1259632" y="2395086"/>
            <a:chExt cx="6189994" cy="3267491"/>
          </a:xfrm>
        </p:grpSpPr>
        <p:pic>
          <p:nvPicPr>
            <p:cNvPr id="5" name="그래픽 4" descr="컴퓨터 단색으로 채워진">
              <a:extLst>
                <a:ext uri="{FF2B5EF4-FFF2-40B4-BE49-F238E27FC236}">
                  <a16:creationId xmlns:a16="http://schemas.microsoft.com/office/drawing/2014/main" id="{C18862E1-586A-0FD1-07F1-2930221C7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59632" y="2395086"/>
              <a:ext cx="1452736" cy="1452736"/>
            </a:xfrm>
            <a:prstGeom prst="rect">
              <a:avLst/>
            </a:prstGeom>
          </p:spPr>
        </p:pic>
        <p:pic>
          <p:nvPicPr>
            <p:cNvPr id="6" name="그래픽 5" descr="컴퓨터 단색으로 채워진">
              <a:extLst>
                <a:ext uri="{FF2B5EF4-FFF2-40B4-BE49-F238E27FC236}">
                  <a16:creationId xmlns:a16="http://schemas.microsoft.com/office/drawing/2014/main" id="{592CF009-DDD4-1F08-6587-38016C1BC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4800" y="2395086"/>
              <a:ext cx="1452736" cy="1452736"/>
            </a:xfrm>
            <a:prstGeom prst="rect">
              <a:avLst/>
            </a:prstGeom>
          </p:spPr>
        </p:pic>
        <p:pic>
          <p:nvPicPr>
            <p:cNvPr id="7" name="그래픽 6" descr="컴퓨터 단색으로 채워진">
              <a:extLst>
                <a:ext uri="{FF2B5EF4-FFF2-40B4-BE49-F238E27FC236}">
                  <a16:creationId xmlns:a16="http://schemas.microsoft.com/office/drawing/2014/main" id="{1517E8B3-99FE-F5F1-CABA-5AD238351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9968" y="2395086"/>
              <a:ext cx="1452736" cy="1452736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EA3213B-952E-FB31-02CE-03B45A359014}"/>
                </a:ext>
              </a:extLst>
            </p:cNvPr>
            <p:cNvGrpSpPr/>
            <p:nvPr/>
          </p:nvGrpSpPr>
          <p:grpSpPr>
            <a:xfrm>
              <a:off x="3851920" y="4717766"/>
              <a:ext cx="944811" cy="944811"/>
              <a:chOff x="3616004" y="4716437"/>
              <a:chExt cx="1250328" cy="1250328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2107D3AA-E0E5-7F26-7D35-C10534FB5E5D}"/>
                  </a:ext>
                </a:extLst>
              </p:cNvPr>
              <p:cNvSpPr/>
              <p:nvPr/>
            </p:nvSpPr>
            <p:spPr>
              <a:xfrm>
                <a:off x="3635896" y="4725144"/>
                <a:ext cx="1224136" cy="122413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26" name="Picture 2" descr="Logo Java – Logos PNG">
                <a:extLst>
                  <a:ext uri="{FF2B5EF4-FFF2-40B4-BE49-F238E27FC236}">
                    <a16:creationId xmlns:a16="http://schemas.microsoft.com/office/drawing/2014/main" id="{69FE2CE3-F783-0D1C-43B9-7B277F5A62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6004" y="4716437"/>
                <a:ext cx="1250328" cy="12503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49C2D8-6E0C-D600-823D-D855824FD99D}"/>
                </a:ext>
              </a:extLst>
            </p:cNvPr>
            <p:cNvSpPr txBox="1"/>
            <p:nvPr/>
          </p:nvSpPr>
          <p:spPr>
            <a:xfrm>
              <a:off x="1819955" y="3167390"/>
              <a:ext cx="1109599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Windows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1BDB1E-F7C6-57FF-C51F-102F12FD5CCE}"/>
                </a:ext>
              </a:extLst>
            </p:cNvPr>
            <p:cNvSpPr txBox="1"/>
            <p:nvPr/>
          </p:nvSpPr>
          <p:spPr>
            <a:xfrm>
              <a:off x="4197694" y="3167390"/>
              <a:ext cx="886781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err="1"/>
                <a:t>macos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DC4A95-9989-7F83-329F-13C06EEE802C}"/>
                </a:ext>
              </a:extLst>
            </p:cNvPr>
            <p:cNvSpPr txBox="1"/>
            <p:nvPr/>
          </p:nvSpPr>
          <p:spPr>
            <a:xfrm>
              <a:off x="6452708" y="3167390"/>
              <a:ext cx="858247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Linux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CFD65D-D1DA-DA85-CED8-331A363E499F}"/>
                </a:ext>
              </a:extLst>
            </p:cNvPr>
            <p:cNvSpPr txBox="1"/>
            <p:nvPr/>
          </p:nvSpPr>
          <p:spPr>
            <a:xfrm>
              <a:off x="1544781" y="2395086"/>
              <a:ext cx="9300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Windows</a:t>
              </a:r>
              <a:endParaRPr lang="ko-KR" altLang="en-US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81D083-1DEA-F71C-E58E-EF681874AC73}"/>
                </a:ext>
              </a:extLst>
            </p:cNvPr>
            <p:cNvSpPr txBox="1"/>
            <p:nvPr/>
          </p:nvSpPr>
          <p:spPr>
            <a:xfrm>
              <a:off x="3884339" y="2395086"/>
              <a:ext cx="7136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err="1"/>
                <a:t>macos</a:t>
              </a:r>
              <a:endParaRPr lang="ko-KR" altLang="en-US" sz="14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002671-6BFA-5D2D-AA9E-48599AEFD8F5}"/>
                </a:ext>
              </a:extLst>
            </p:cNvPr>
            <p:cNvSpPr txBox="1"/>
            <p:nvPr/>
          </p:nvSpPr>
          <p:spPr>
            <a:xfrm>
              <a:off x="6211645" y="2395086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Linux</a:t>
              </a:r>
              <a:endParaRPr lang="ko-KR" altLang="en-US" sz="14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B72A7B-0201-7AF6-B811-3944026180EE}"/>
                </a:ext>
              </a:extLst>
            </p:cNvPr>
            <p:cNvSpPr txBox="1"/>
            <p:nvPr/>
          </p:nvSpPr>
          <p:spPr>
            <a:xfrm>
              <a:off x="4967536" y="5103901"/>
              <a:ext cx="2482090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컴퓨터에 인스톨된 </a:t>
              </a:r>
              <a:r>
                <a:rPr lang="en-US" altLang="ko-KR" sz="1400"/>
                <a:t>Java VM </a:t>
              </a:r>
            </a:p>
            <a:p>
              <a:r>
                <a:rPr lang="ko-KR" altLang="en-US" sz="1400"/>
                <a:t>위에서 프로그램이 실행된다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288922C-B092-BB20-DB18-E4B1BECB84D6}"/>
                </a:ext>
              </a:extLst>
            </p:cNvPr>
            <p:cNvCxnSpPr/>
            <p:nvPr/>
          </p:nvCxnSpPr>
          <p:spPr>
            <a:xfrm flipH="1" flipV="1">
              <a:off x="2474844" y="3789040"/>
              <a:ext cx="1409495" cy="93530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38F36E4-B7CE-9666-E556-31B2C9CE3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25" y="3740743"/>
              <a:ext cx="0" cy="87938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D24906B0-CB08-AB22-33AC-4EDAB87DD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1970" y="3690610"/>
              <a:ext cx="1377076" cy="10337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슬라이드 번호 개체 틀 4">
            <a:extLst>
              <a:ext uri="{FF2B5EF4-FFF2-40B4-BE49-F238E27FC236}">
                <a16:creationId xmlns:a16="http://schemas.microsoft.com/office/drawing/2014/main" id="{22C0684F-6282-3EDF-E776-5EAB02F30FF5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6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4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0. Java Programming Dev Env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3B0D9F-0B5E-7AFF-535F-8B82491F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2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https://jdk.java.net/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AF5D30-1947-F17E-DC38-C451E0607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1" y="1691442"/>
            <a:ext cx="4284399" cy="39229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1BFD835-735C-3AE0-4CB2-3CCD305E3E08}"/>
              </a:ext>
            </a:extLst>
          </p:cNvPr>
          <p:cNvSpPr/>
          <p:nvPr/>
        </p:nvSpPr>
        <p:spPr>
          <a:xfrm>
            <a:off x="1489166" y="3335384"/>
            <a:ext cx="574766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F3011-796C-42DE-0BD4-E01FBA01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60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https://jdk.java.net/20/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FCCDDD-CF35-B3D9-3B00-260C3400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1" y="1904861"/>
            <a:ext cx="6830378" cy="372479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BFD835-735C-3AE0-4CB2-3CCD305E3E08}"/>
              </a:ext>
            </a:extLst>
          </p:cNvPr>
          <p:cNvSpPr/>
          <p:nvPr/>
        </p:nvSpPr>
        <p:spPr>
          <a:xfrm>
            <a:off x="3415407" y="5320939"/>
            <a:ext cx="808250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D5E67-6828-A1B9-1C5D-BDF5E7C5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52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C:\dev_program</a:t>
            </a:r>
            <a:r>
              <a:rPr lang="ko-KR" altLang="en-US">
                <a:latin typeface="+mj-ea"/>
                <a:ea typeface="+mj-ea"/>
              </a:rPr>
              <a:t> 에 복사 후 압축 풀기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81BF88-CD2A-5B01-E0B6-2EE962CF3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48" y="1824733"/>
            <a:ext cx="7983064" cy="291505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4E5B0-A880-C4FF-67CC-D71AACF5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038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내 </a:t>
            </a:r>
            <a:r>
              <a:rPr lang="en-US" altLang="ko-KR">
                <a:latin typeface="+mj-ea"/>
                <a:ea typeface="+mj-ea"/>
              </a:rPr>
              <a:t>PC </a:t>
            </a:r>
            <a:r>
              <a:rPr lang="ko-KR" altLang="en-US">
                <a:latin typeface="+mj-ea"/>
                <a:ea typeface="+mj-ea"/>
              </a:rPr>
              <a:t>오른쪽클릭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속성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AE9B6C-2D77-FBF0-A0C9-8F9538D1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90" y="2231431"/>
            <a:ext cx="6025392" cy="392117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2013328" y="5022233"/>
            <a:ext cx="1861986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45302-D278-EF7C-B368-D63A5CF7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76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고급 시스템 설정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AFDDAA-AE7A-12A5-5A19-3CC8547B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72" y="2054414"/>
            <a:ext cx="6731205" cy="4372209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994426" y="3567903"/>
            <a:ext cx="2088408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C1DDAF-9437-46B7-7089-399F091BF611}"/>
              </a:ext>
            </a:extLst>
          </p:cNvPr>
          <p:cNvSpPr/>
          <p:nvPr/>
        </p:nvSpPr>
        <p:spPr>
          <a:xfrm>
            <a:off x="6084587" y="5714566"/>
            <a:ext cx="995482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B717B-E5E2-0B24-BC85-E6AA507F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12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고급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환경 변수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(N)...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C95663-FB00-CD05-E08D-34B7F4010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6" y="2083225"/>
            <a:ext cx="3988435" cy="443807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987203" y="2366120"/>
            <a:ext cx="486031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C1DDAF-9437-46B7-7089-399F091BF611}"/>
              </a:ext>
            </a:extLst>
          </p:cNvPr>
          <p:cNvSpPr/>
          <p:nvPr/>
        </p:nvSpPr>
        <p:spPr>
          <a:xfrm>
            <a:off x="3280426" y="5649252"/>
            <a:ext cx="1291574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4511A-363B-4F17-CBFB-2FD9C483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11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F0E1A5-CE90-7F4A-A58E-1E288F26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5" y="2083224"/>
            <a:ext cx="4711247" cy="445967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508232" y="5074485"/>
            <a:ext cx="1052088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고급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환경 변수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(N)...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5F1EF-6045-9839-3514-363C8AB8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5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이름</a:t>
            </a:r>
            <a:r>
              <a:rPr lang="en-US" altLang="ko-KR">
                <a:latin typeface="+mj-ea"/>
                <a:ea typeface="+mj-ea"/>
              </a:rPr>
              <a:t>(N): JAVA_HOME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9098B9-DF67-B7FF-93D7-9389B421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33" y="2146690"/>
            <a:ext cx="6220693" cy="157184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958043" y="2640442"/>
            <a:ext cx="4886894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847701" y="3331901"/>
            <a:ext cx="1277190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7C262F-D745-E37A-7450-0CABA1835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79" y="3075565"/>
            <a:ext cx="3534268" cy="35819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0ACC7-C8DE-0A0E-DAF7-C41A8099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96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이름</a:t>
            </a:r>
            <a:r>
              <a:rPr lang="en-US" altLang="ko-KR">
                <a:latin typeface="+mj-ea"/>
                <a:ea typeface="+mj-ea"/>
              </a:rPr>
              <a:t>(N): JAVA_HOME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7C262F-D745-E37A-7450-0CABA183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05" y="2439840"/>
            <a:ext cx="3534268" cy="35819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998718" y="3364223"/>
            <a:ext cx="1277190" cy="188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85BA9A-ACAB-C3B5-CB65-5EA76BF5DF4E}"/>
              </a:ext>
            </a:extLst>
          </p:cNvPr>
          <p:cNvSpPr/>
          <p:nvPr/>
        </p:nvSpPr>
        <p:spPr>
          <a:xfrm>
            <a:off x="3386246" y="4127642"/>
            <a:ext cx="802577" cy="188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DEC0E2-B9D5-5D74-CE47-8E35ED63544E}"/>
              </a:ext>
            </a:extLst>
          </p:cNvPr>
          <p:cNvSpPr/>
          <p:nvPr/>
        </p:nvSpPr>
        <p:spPr>
          <a:xfrm>
            <a:off x="4284617" y="5612453"/>
            <a:ext cx="862149" cy="31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B9F91-66CA-82D6-6D9A-1D80AB03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81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값</a:t>
            </a:r>
            <a:r>
              <a:rPr lang="en-US" altLang="ko-KR">
                <a:latin typeface="+mj-ea"/>
                <a:ea typeface="+mj-ea"/>
              </a:rPr>
              <a:t>(V) </a:t>
            </a:r>
            <a:r>
              <a:rPr lang="ko-KR" altLang="en-US">
                <a:latin typeface="+mj-ea"/>
                <a:ea typeface="+mj-ea"/>
              </a:rPr>
              <a:t>에 입력된 것 확인 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확인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버튼 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3CC95-9225-832A-67E9-3A82982CA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61" y="2672739"/>
            <a:ext cx="6220693" cy="157184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371698" y="3491317"/>
            <a:ext cx="49086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4E7E2E-F0E6-8D9D-C0AC-5383E1B91D11}"/>
              </a:ext>
            </a:extLst>
          </p:cNvPr>
          <p:cNvSpPr/>
          <p:nvPr/>
        </p:nvSpPr>
        <p:spPr>
          <a:xfrm>
            <a:off x="5556069" y="3864554"/>
            <a:ext cx="814251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31170-E551-8534-6F29-470ECDE5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6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변수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EC48C3-0B09-447F-817E-7FCAA9E1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71" y="2159726"/>
            <a:ext cx="4819080" cy="45617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230881" y="4447568"/>
            <a:ext cx="2924594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DA065-D255-80C0-ABF2-B90A7F95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68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변수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6E656C-D269-BABC-1B10-68518F92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97" y="2134236"/>
            <a:ext cx="4871307" cy="461118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196045" y="4447568"/>
            <a:ext cx="2924594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8E8600-93CB-5442-C063-56B588657DC5}"/>
              </a:ext>
            </a:extLst>
          </p:cNvPr>
          <p:cNvSpPr/>
          <p:nvPr/>
        </p:nvSpPr>
        <p:spPr>
          <a:xfrm>
            <a:off x="3805645" y="5244403"/>
            <a:ext cx="722810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14F29B-77C0-3080-6DB0-C75937C7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260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새로 만들기</a:t>
            </a:r>
            <a:r>
              <a:rPr lang="en-US" altLang="ko-KR">
                <a:latin typeface="+mj-ea"/>
                <a:ea typeface="+mj-ea"/>
              </a:rPr>
              <a:t>(N) </a:t>
            </a:r>
            <a:r>
              <a:rPr lang="ko-KR" altLang="en-US">
                <a:latin typeface="+mj-ea"/>
                <a:ea typeface="+mj-ea"/>
              </a:rPr>
              <a:t>클릭 후 </a:t>
            </a:r>
            <a:r>
              <a:rPr lang="en-US" altLang="ko-KR">
                <a:latin typeface="+mj-ea"/>
                <a:ea typeface="+mj-ea"/>
              </a:rPr>
              <a:t>%JAVA_HOME%\bin</a:t>
            </a:r>
            <a:r>
              <a:rPr lang="ko-KR" altLang="en-US">
                <a:latin typeface="+mj-ea"/>
                <a:ea typeface="+mj-ea"/>
              </a:rPr>
              <a:t> 작성 하고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3EDB1D-E148-1C52-8CB4-9513CBC3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79" y="1983621"/>
            <a:ext cx="5020376" cy="477269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100251" y="5161670"/>
            <a:ext cx="3760618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8E8600-93CB-5442-C063-56B588657DC5}"/>
              </a:ext>
            </a:extLst>
          </p:cNvPr>
          <p:cNvSpPr/>
          <p:nvPr/>
        </p:nvSpPr>
        <p:spPr>
          <a:xfrm>
            <a:off x="5956660" y="2475076"/>
            <a:ext cx="8795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CC9ACC-0E8C-1982-CB85-254692912E85}"/>
              </a:ext>
            </a:extLst>
          </p:cNvPr>
          <p:cNvSpPr/>
          <p:nvPr/>
        </p:nvSpPr>
        <p:spPr>
          <a:xfrm>
            <a:off x="5050966" y="6367548"/>
            <a:ext cx="8795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0DBB06-D305-7396-2CDA-ED64B8EB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74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C0207D5-8345-31FA-777D-E31A67AE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8" y="2073643"/>
            <a:ext cx="4536125" cy="42939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C340AB-89A9-B78D-C938-2DFC600F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0" y="2028177"/>
            <a:ext cx="3702513" cy="411991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확인 버튼 클릭해서 시스템 설정 창 닫기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039290" y="5378464"/>
            <a:ext cx="669075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AB1C5B-5D86-C026-58ED-E4101A22F15B}"/>
              </a:ext>
            </a:extLst>
          </p:cNvPr>
          <p:cNvSpPr/>
          <p:nvPr/>
        </p:nvSpPr>
        <p:spPr>
          <a:xfrm>
            <a:off x="6501688" y="5870799"/>
            <a:ext cx="669075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29313-1895-9993-FD9F-D0F3B21C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781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10BC43-F3D4-0D94-EA21-10CEB6CF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4" y="2049655"/>
            <a:ext cx="8762163" cy="3148360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Windows Key </a:t>
            </a:r>
            <a:r>
              <a:rPr lang="ko-KR" altLang="en-US" err="1">
                <a:latin typeface="+mj-ea"/>
                <a:ea typeface="+mj-ea"/>
              </a:rPr>
              <a:t>누른채로</a:t>
            </a:r>
            <a:r>
              <a:rPr lang="en-US" altLang="ko-KR">
                <a:latin typeface="+mj-ea"/>
                <a:ea typeface="+mj-ea"/>
              </a:rPr>
              <a:t> R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E207F0-7EFC-C305-8306-65814FD1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10BE14-D4CC-79B0-CFBD-FED49B94325C}"/>
              </a:ext>
            </a:extLst>
          </p:cNvPr>
          <p:cNvSpPr/>
          <p:nvPr/>
        </p:nvSpPr>
        <p:spPr>
          <a:xfrm>
            <a:off x="2363141" y="3254928"/>
            <a:ext cx="430393" cy="4155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5B78DF-53F7-42D0-ADAE-FB54A26E7A20}"/>
              </a:ext>
            </a:extLst>
          </p:cNvPr>
          <p:cNvSpPr/>
          <p:nvPr/>
        </p:nvSpPr>
        <p:spPr>
          <a:xfrm>
            <a:off x="871299" y="4661813"/>
            <a:ext cx="529662" cy="4155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8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열기</a:t>
            </a:r>
            <a:r>
              <a:rPr lang="en-US" altLang="ko-KR">
                <a:latin typeface="+mj-ea"/>
                <a:ea typeface="+mj-ea"/>
              </a:rPr>
              <a:t>(O):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cmd</a:t>
            </a:r>
            <a:r>
              <a:rPr lang="ko-KR" altLang="en-US">
                <a:latin typeface="+mj-ea"/>
                <a:ea typeface="+mj-ea"/>
              </a:rPr>
              <a:t> 입력하고 </a:t>
            </a:r>
            <a:r>
              <a:rPr lang="ko-KR" altLang="en-US" err="1">
                <a:latin typeface="+mj-ea"/>
                <a:ea typeface="+mj-ea"/>
              </a:rPr>
              <a:t>엔터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AECAE6E-44F1-2A6C-D086-279D508C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00" y="2084123"/>
            <a:ext cx="3801005" cy="196242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BB3DC-C3F2-674A-8058-1CBA8D13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9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–version  </a:t>
            </a:r>
            <a:r>
              <a:rPr lang="ko-KR" altLang="en-US">
                <a:latin typeface="+mj-ea"/>
                <a:ea typeface="+mj-ea"/>
              </a:rPr>
              <a:t>입력 후 </a:t>
            </a:r>
            <a:r>
              <a:rPr lang="ko-KR" altLang="en-US" err="1">
                <a:latin typeface="+mj-ea"/>
                <a:ea typeface="+mj-ea"/>
              </a:rPr>
              <a:t>엔터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C88067-2B1A-E125-2C44-6D9A496F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40" y="2102286"/>
            <a:ext cx="5830114" cy="22005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2D0F7-B321-BACE-6E28-75F6A506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87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021D8D-300C-684A-6F30-EFC105E77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56" y="2110606"/>
            <a:ext cx="4267796" cy="37438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1791097" y="5069310"/>
            <a:ext cx="1326571" cy="31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4AAA47-EAFD-7C69-FD29-2E445A0F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83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D59DAF-7B5D-79F5-E617-7A091C36B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3" y="2190755"/>
            <a:ext cx="6552957" cy="394545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6148251" y="4703551"/>
            <a:ext cx="957942" cy="173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2F0B8-B526-D1E4-BF90-489B702B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54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E57DF9-2381-030E-F77E-E4340E45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0" y="2152472"/>
            <a:ext cx="8097380" cy="255305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3892732" y="2892168"/>
            <a:ext cx="1341120" cy="4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6DAE76-BAFE-B8AA-F2C5-5E13A263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909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C:\dev_programs </a:t>
            </a:r>
            <a:r>
              <a:rPr lang="ko-KR" altLang="en-US">
                <a:latin typeface="+mj-ea"/>
                <a:ea typeface="+mj-ea"/>
              </a:rPr>
              <a:t>에 압축 풀기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eclipse </a:t>
            </a:r>
            <a:r>
              <a:rPr lang="ko-KR" altLang="en-US">
                <a:latin typeface="+mj-ea"/>
                <a:ea typeface="+mj-ea"/>
              </a:rPr>
              <a:t>폴더의 </a:t>
            </a:r>
            <a:r>
              <a:rPr lang="en-US" altLang="ko-KR">
                <a:latin typeface="+mj-ea"/>
                <a:ea typeface="+mj-ea"/>
              </a:rPr>
              <a:t>eclipse.exe </a:t>
            </a:r>
            <a:r>
              <a:rPr lang="ko-KR" altLang="en-US">
                <a:latin typeface="+mj-ea"/>
                <a:ea typeface="+mj-ea"/>
              </a:rPr>
              <a:t>파일 실행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673172-1905-20BE-C162-5B97D4393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6" y="1717660"/>
            <a:ext cx="3362794" cy="15242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D7DC26-1ECD-D4F5-0834-EF7C1A24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26" y="3913478"/>
            <a:ext cx="4947111" cy="29445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37774-B4D6-53D6-622F-1748C75E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545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이클립스 실행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workspace</a:t>
            </a:r>
            <a:r>
              <a:rPr lang="ko-KR" altLang="en-US">
                <a:latin typeface="+mj-ea"/>
                <a:ea typeface="+mj-ea"/>
              </a:rPr>
              <a:t>를 </a:t>
            </a:r>
            <a:r>
              <a:rPr lang="en-US" altLang="ko-KR">
                <a:latin typeface="+mj-ea"/>
                <a:ea typeface="+mj-ea"/>
              </a:rPr>
              <a:t>“C:\</a:t>
            </a:r>
            <a:r>
              <a:rPr lang="en-US" altLang="ko-KR" err="1">
                <a:latin typeface="+mj-ea"/>
                <a:ea typeface="+mj-ea"/>
              </a:rPr>
              <a:t>dev_programs</a:t>
            </a:r>
            <a:r>
              <a:rPr lang="en-US" altLang="ko-KR">
                <a:latin typeface="+mj-ea"/>
                <a:ea typeface="+mj-ea"/>
              </a:rPr>
              <a:t>\</a:t>
            </a:r>
            <a:r>
              <a:rPr lang="en-US" altLang="ko-KR" err="1">
                <a:latin typeface="+mj-ea"/>
                <a:ea typeface="+mj-ea"/>
              </a:rPr>
              <a:t>eclipse_workspace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로 지정 후 </a:t>
            </a:r>
            <a:r>
              <a:rPr lang="en-US" altLang="ko-KR">
                <a:latin typeface="+mj-ea"/>
                <a:ea typeface="+mj-ea"/>
              </a:rPr>
              <a:t>Launch </a:t>
            </a:r>
            <a:r>
              <a:rPr lang="ko-KR" altLang="en-US">
                <a:latin typeface="+mj-ea"/>
                <a:ea typeface="+mj-ea"/>
              </a:rPr>
              <a:t>클릭</a:t>
            </a:r>
            <a:endParaRPr lang="en-US" altLang="ko-KR">
              <a:latin typeface="+mj-ea"/>
              <a:ea typeface="+mj-ea"/>
            </a:endParaRPr>
          </a:p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DD36C8-6ED5-04A7-B524-4559E7ED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6" y="1740716"/>
            <a:ext cx="5858693" cy="26102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94A63F-E0EA-D405-97DC-B1B84DC1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691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801452-BDAB-EBF1-D854-E99854C0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74" y="1743936"/>
            <a:ext cx="6606196" cy="49775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F1B7C2B-108E-0CCA-6CD1-4E19C0D13D47}"/>
              </a:ext>
            </a:extLst>
          </p:cNvPr>
          <p:cNvSpPr/>
          <p:nvPr/>
        </p:nvSpPr>
        <p:spPr>
          <a:xfrm>
            <a:off x="5495109" y="6305928"/>
            <a:ext cx="1436914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51797F-9328-3324-B700-62C1ED36A397}"/>
              </a:ext>
            </a:extLst>
          </p:cNvPr>
          <p:cNvSpPr/>
          <p:nvPr/>
        </p:nvSpPr>
        <p:spPr>
          <a:xfrm>
            <a:off x="1110344" y="2420983"/>
            <a:ext cx="169816" cy="161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F1ABF-DD36-117F-C230-800FE2B4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D2061C-C4BE-E3CF-D5C4-E2A0A36BD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7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Welcome Page </a:t>
            </a:r>
            <a:r>
              <a:rPr lang="ko-KR" altLang="en-US">
                <a:latin typeface="+mj-ea"/>
                <a:ea typeface="+mj-ea"/>
              </a:rPr>
              <a:t>제거 후 레이아웃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1EA10C-22A6-E222-1924-1E87552F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0" y="1715588"/>
            <a:ext cx="6744107" cy="50814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B83ED4-C761-7A8A-0CE8-E5D78ADB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426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1EA10C-22A6-E222-1924-1E87552F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0" y="1325880"/>
            <a:ext cx="7028723" cy="52958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00B8732-EC75-64E5-3C4C-C13C3ACD4E19}"/>
              </a:ext>
            </a:extLst>
          </p:cNvPr>
          <p:cNvSpPr/>
          <p:nvPr/>
        </p:nvSpPr>
        <p:spPr>
          <a:xfrm>
            <a:off x="445569" y="2016553"/>
            <a:ext cx="1719729" cy="439186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프로젝트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177CED-0C5F-476C-3F71-23948D7F1CDE}"/>
              </a:ext>
            </a:extLst>
          </p:cNvPr>
          <p:cNvSpPr/>
          <p:nvPr/>
        </p:nvSpPr>
        <p:spPr>
          <a:xfrm>
            <a:off x="2209366" y="2033212"/>
            <a:ext cx="3647437" cy="3039531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에디터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44D8F2-540F-55CF-4A64-71CBCFC2134A}"/>
              </a:ext>
            </a:extLst>
          </p:cNvPr>
          <p:cNvSpPr/>
          <p:nvPr/>
        </p:nvSpPr>
        <p:spPr>
          <a:xfrm>
            <a:off x="5905500" y="2031812"/>
            <a:ext cx="1543074" cy="3039531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뷰 영역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1A7B43-9430-89A3-A039-F05BC6AD6DA1}"/>
              </a:ext>
            </a:extLst>
          </p:cNvPr>
          <p:cNvSpPr/>
          <p:nvPr/>
        </p:nvSpPr>
        <p:spPr>
          <a:xfrm>
            <a:off x="2209366" y="5111017"/>
            <a:ext cx="5239208" cy="129740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뷰 영역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252616-E317-D89C-DD27-466CD66D203C}"/>
              </a:ext>
            </a:extLst>
          </p:cNvPr>
          <p:cNvSpPr/>
          <p:nvPr/>
        </p:nvSpPr>
        <p:spPr>
          <a:xfrm>
            <a:off x="445569" y="1502541"/>
            <a:ext cx="7003005" cy="16623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메뉴 영역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3B3440-839D-19EE-1A0F-3035A9C7E31F}"/>
              </a:ext>
            </a:extLst>
          </p:cNvPr>
          <p:cNvSpPr/>
          <p:nvPr/>
        </p:nvSpPr>
        <p:spPr>
          <a:xfrm>
            <a:off x="445569" y="1675737"/>
            <a:ext cx="7003005" cy="166239"/>
          </a:xfrm>
          <a:prstGeom prst="rect">
            <a:avLst/>
          </a:prstGeom>
          <a:solidFill>
            <a:srgbClr val="0070C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툴바 영역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6C5FD5-7495-CC7F-1694-9B3E7C1D9AFF}"/>
              </a:ext>
            </a:extLst>
          </p:cNvPr>
          <p:cNvSpPr/>
          <p:nvPr/>
        </p:nvSpPr>
        <p:spPr>
          <a:xfrm>
            <a:off x="5958840" y="1851393"/>
            <a:ext cx="1489734" cy="180419"/>
          </a:xfrm>
          <a:prstGeom prst="rect">
            <a:avLst/>
          </a:prstGeom>
          <a:solidFill>
            <a:srgbClr val="7030A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>
                <a:solidFill>
                  <a:schemeClr val="tx1"/>
                </a:solidFill>
              </a:rPr>
              <a:t>퍼스펙티브</a:t>
            </a:r>
            <a:r>
              <a:rPr lang="ko-KR" altLang="en-US" sz="12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9D7D58-262B-3752-6E8A-94910CE22A62}"/>
              </a:ext>
            </a:extLst>
          </p:cNvPr>
          <p:cNvSpPr/>
          <p:nvPr/>
        </p:nvSpPr>
        <p:spPr>
          <a:xfrm>
            <a:off x="445569" y="6439075"/>
            <a:ext cx="7003005" cy="166239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상태 영역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2307624-BFC6-DBA6-C112-BC93AC8A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128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필요없는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View </a:t>
            </a:r>
            <a:r>
              <a:rPr lang="ko-KR" altLang="en-US">
                <a:latin typeface="+mj-ea"/>
                <a:ea typeface="+mj-ea"/>
              </a:rPr>
              <a:t>제거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21109E0-9F61-BEF9-3D5E-049671F67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1" y="1757880"/>
            <a:ext cx="6587690" cy="496359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535432-330D-F45C-AF4C-0E39D3594A69}"/>
              </a:ext>
            </a:extLst>
          </p:cNvPr>
          <p:cNvSpPr/>
          <p:nvPr/>
        </p:nvSpPr>
        <p:spPr>
          <a:xfrm>
            <a:off x="5550627" y="2404488"/>
            <a:ext cx="598713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2FA9C0-3C8E-A158-3FF1-C0DEE75DB363}"/>
              </a:ext>
            </a:extLst>
          </p:cNvPr>
          <p:cNvSpPr/>
          <p:nvPr/>
        </p:nvSpPr>
        <p:spPr>
          <a:xfrm>
            <a:off x="3703321" y="5277228"/>
            <a:ext cx="1935479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E1379D-3B31-F1C4-8A2A-8B304409D640}"/>
              </a:ext>
            </a:extLst>
          </p:cNvPr>
          <p:cNvSpPr/>
          <p:nvPr/>
        </p:nvSpPr>
        <p:spPr>
          <a:xfrm>
            <a:off x="2705101" y="5277228"/>
            <a:ext cx="548639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FC0277-1F48-72FB-3D84-BF410AAB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84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E833D9B-638B-9B3E-54AE-33BCE90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2" y="1757880"/>
            <a:ext cx="6587690" cy="496359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필요없는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View </a:t>
            </a:r>
            <a:r>
              <a:rPr lang="ko-KR" altLang="en-US">
                <a:latin typeface="+mj-ea"/>
                <a:ea typeface="+mj-ea"/>
              </a:rPr>
              <a:t>제거 후 레이아웃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6DE43-197D-C811-F010-2678A74B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194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키 명칭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2E7D5D-1E31-B5B1-314A-F9D4C81AB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942459"/>
            <a:ext cx="8625840" cy="7283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921609-8C85-EFE2-34DD-AEC160074D43}"/>
              </a:ext>
            </a:extLst>
          </p:cNvPr>
          <p:cNvSpPr/>
          <p:nvPr/>
        </p:nvSpPr>
        <p:spPr>
          <a:xfrm>
            <a:off x="386751" y="1999069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6DD01E-3DB0-0919-EF71-572B3EFC24AC}"/>
              </a:ext>
            </a:extLst>
          </p:cNvPr>
          <p:cNvSpPr/>
          <p:nvPr/>
        </p:nvSpPr>
        <p:spPr>
          <a:xfrm>
            <a:off x="2352714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83EF9E-DA65-DBF8-D2C3-22CAA775F23F}"/>
              </a:ext>
            </a:extLst>
          </p:cNvPr>
          <p:cNvSpPr/>
          <p:nvPr/>
        </p:nvSpPr>
        <p:spPr>
          <a:xfrm>
            <a:off x="4341537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37FBFD-4C87-06B0-DF65-EDF74043C0C7}"/>
              </a:ext>
            </a:extLst>
          </p:cNvPr>
          <p:cNvSpPr/>
          <p:nvPr/>
        </p:nvSpPr>
        <p:spPr>
          <a:xfrm>
            <a:off x="5652088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00ECE7-3F7F-A96C-D57A-4C8BC98C3D0C}"/>
              </a:ext>
            </a:extLst>
          </p:cNvPr>
          <p:cNvSpPr/>
          <p:nvPr/>
        </p:nvSpPr>
        <p:spPr>
          <a:xfrm>
            <a:off x="6319044" y="2026777"/>
            <a:ext cx="1217135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ECD530-6A19-89ED-C92F-4769919C964A}"/>
              </a:ext>
            </a:extLst>
          </p:cNvPr>
          <p:cNvSpPr txBox="1"/>
          <p:nvPr/>
        </p:nvSpPr>
        <p:spPr>
          <a:xfrm>
            <a:off x="414663" y="26723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백틱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0B1D12-7B76-3992-68F7-E6CE9E9811B7}"/>
              </a:ext>
            </a:extLst>
          </p:cNvPr>
          <p:cNvSpPr txBox="1"/>
          <p:nvPr/>
        </p:nvSpPr>
        <p:spPr>
          <a:xfrm>
            <a:off x="2282768" y="1665460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샵</a:t>
            </a:r>
            <a:r>
              <a:rPr lang="en-US" altLang="ko-KR" sz="1200"/>
              <a:t>/</a:t>
            </a:r>
            <a:r>
              <a:rPr lang="ko-KR" altLang="en-US" sz="1200"/>
              <a:t>해시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F98866-0380-4964-222C-78CD8711BBA6}"/>
              </a:ext>
            </a:extLst>
          </p:cNvPr>
          <p:cNvSpPr txBox="1"/>
          <p:nvPr/>
        </p:nvSpPr>
        <p:spPr>
          <a:xfrm>
            <a:off x="4363878" y="1665460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캐럿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71228E-5756-6EFB-6F5D-519B59BA5441}"/>
              </a:ext>
            </a:extLst>
          </p:cNvPr>
          <p:cNvSpPr txBox="1"/>
          <p:nvPr/>
        </p:nvSpPr>
        <p:spPr>
          <a:xfrm>
            <a:off x="5374185" y="1129737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애스터리스크</a:t>
            </a:r>
            <a:endParaRPr lang="en-US" altLang="ko-KR" sz="1200"/>
          </a:p>
          <a:p>
            <a:pPr algn="ctr"/>
            <a:r>
              <a:rPr lang="ko-KR" altLang="en-US" sz="1200" err="1"/>
              <a:t>아스타</a:t>
            </a:r>
            <a:endParaRPr lang="ko-KR" altLang="en-US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43E6A8-0CAC-115D-5E17-2BF6E99E962C}"/>
              </a:ext>
            </a:extLst>
          </p:cNvPr>
          <p:cNvSpPr txBox="1"/>
          <p:nvPr/>
        </p:nvSpPr>
        <p:spPr>
          <a:xfrm>
            <a:off x="7426999" y="1549734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언더스코어</a:t>
            </a:r>
            <a:endParaRPr lang="en-US" altLang="ko-KR" sz="1200"/>
          </a:p>
          <a:p>
            <a:pPr algn="ctr"/>
            <a:r>
              <a:rPr lang="ko-KR" altLang="en-US" sz="1200" err="1"/>
              <a:t>언더바</a:t>
            </a:r>
            <a:endParaRPr lang="ko-KR" altLang="en-US" sz="120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360B33E-E147-E156-EB64-9C4C7DE7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81" y="3486356"/>
            <a:ext cx="2350639" cy="728367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7FFD7A2E-1FC2-D19B-B84E-FC9C27A7CB38}"/>
              </a:ext>
            </a:extLst>
          </p:cNvPr>
          <p:cNvSpPr/>
          <p:nvPr/>
        </p:nvSpPr>
        <p:spPr>
          <a:xfrm>
            <a:off x="6630578" y="3557547"/>
            <a:ext cx="1247808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7CB916-D996-EBEE-BE23-1472145FA83F}"/>
              </a:ext>
            </a:extLst>
          </p:cNvPr>
          <p:cNvSpPr/>
          <p:nvPr/>
        </p:nvSpPr>
        <p:spPr>
          <a:xfrm>
            <a:off x="7969826" y="3557547"/>
            <a:ext cx="869374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459F2B-0A92-B366-E9F9-583CD1C1880B}"/>
              </a:ext>
            </a:extLst>
          </p:cNvPr>
          <p:cNvSpPr txBox="1"/>
          <p:nvPr/>
        </p:nvSpPr>
        <p:spPr>
          <a:xfrm>
            <a:off x="6721773" y="3058873"/>
            <a:ext cx="1065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중괄호</a:t>
            </a:r>
            <a:endParaRPr lang="en-US" altLang="ko-KR" sz="1200"/>
          </a:p>
          <a:p>
            <a:pPr algn="ctr"/>
            <a:r>
              <a:rPr lang="en-US" altLang="ko-KR" sz="1200"/>
              <a:t>Curly Brackets</a:t>
            </a:r>
            <a:endParaRPr lang="ko-KR" alt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5BDA91-825F-DF05-F90E-E0AC1ECEFDA0}"/>
              </a:ext>
            </a:extLst>
          </p:cNvPr>
          <p:cNvSpPr txBox="1"/>
          <p:nvPr/>
        </p:nvSpPr>
        <p:spPr>
          <a:xfrm>
            <a:off x="8081347" y="322164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파이프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228FA1-5BC5-5455-3FDA-8500A1F52CEE}"/>
              </a:ext>
            </a:extLst>
          </p:cNvPr>
          <p:cNvSpPr/>
          <p:nvPr/>
        </p:nvSpPr>
        <p:spPr>
          <a:xfrm>
            <a:off x="6630578" y="3850539"/>
            <a:ext cx="1247808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386E3D0-D7B4-FA6E-EDFF-FB7CDB54462E}"/>
              </a:ext>
            </a:extLst>
          </p:cNvPr>
          <p:cNvSpPr/>
          <p:nvPr/>
        </p:nvSpPr>
        <p:spPr>
          <a:xfrm>
            <a:off x="7969826" y="3850539"/>
            <a:ext cx="869374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2A5E6-FC1C-D26E-DAF6-290368B97ED7}"/>
              </a:ext>
            </a:extLst>
          </p:cNvPr>
          <p:cNvSpPr txBox="1"/>
          <p:nvPr/>
        </p:nvSpPr>
        <p:spPr>
          <a:xfrm>
            <a:off x="6665091" y="4235729"/>
            <a:ext cx="1178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대괄호</a:t>
            </a:r>
            <a:endParaRPr lang="en-US" altLang="ko-KR" sz="1200"/>
          </a:p>
          <a:p>
            <a:pPr algn="ctr"/>
            <a:r>
              <a:rPr lang="en-US" altLang="ko-KR" sz="1200"/>
              <a:t>Square Brackets</a:t>
            </a:r>
            <a:endParaRPr lang="ko-KR" altLang="en-US"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3A339C-B045-2630-9CF2-89C7B18A0021}"/>
              </a:ext>
            </a:extLst>
          </p:cNvPr>
          <p:cNvSpPr txBox="1"/>
          <p:nvPr/>
        </p:nvSpPr>
        <p:spPr>
          <a:xfrm>
            <a:off x="7974878" y="424053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역슬래시</a:t>
            </a:r>
            <a:endParaRPr lang="en-US" altLang="ko-KR" sz="1200"/>
          </a:p>
          <a:p>
            <a:pPr algn="ctr"/>
            <a:r>
              <a:rPr lang="ko-KR" altLang="en-US" sz="1200"/>
              <a:t>백슬래시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3FD19459-B992-AD1F-216F-EDB25F75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03" y="4513524"/>
            <a:ext cx="1407851" cy="724752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F0E7B9E4-73E4-2477-0219-C3BAD64B4A84}"/>
              </a:ext>
            </a:extLst>
          </p:cNvPr>
          <p:cNvSpPr/>
          <p:nvPr/>
        </p:nvSpPr>
        <p:spPr>
          <a:xfrm>
            <a:off x="4826313" y="4579925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A605380-8F2A-65D1-D1A2-D8AC4F5CAE27}"/>
              </a:ext>
            </a:extLst>
          </p:cNvPr>
          <p:cNvSpPr/>
          <p:nvPr/>
        </p:nvSpPr>
        <p:spPr>
          <a:xfrm>
            <a:off x="4826313" y="4872917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6EAEF7F-2F38-1C8F-EEF4-C2BC4B3D33D3}"/>
              </a:ext>
            </a:extLst>
          </p:cNvPr>
          <p:cNvSpPr/>
          <p:nvPr/>
        </p:nvSpPr>
        <p:spPr>
          <a:xfrm>
            <a:off x="5508371" y="4579925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439C38-8D05-C6FA-9F50-EA38D6A0D3BF}"/>
              </a:ext>
            </a:extLst>
          </p:cNvPr>
          <p:cNvSpPr/>
          <p:nvPr/>
        </p:nvSpPr>
        <p:spPr>
          <a:xfrm>
            <a:off x="5508371" y="4872917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30D4A2-794B-4F23-DB94-78539364D1FD}"/>
              </a:ext>
            </a:extLst>
          </p:cNvPr>
          <p:cNvSpPr txBox="1"/>
          <p:nvPr/>
        </p:nvSpPr>
        <p:spPr>
          <a:xfrm>
            <a:off x="2029134" y="5259483"/>
            <a:ext cx="1082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부등호</a:t>
            </a:r>
            <a:r>
              <a:rPr lang="en-US" altLang="ko-KR" sz="1200"/>
              <a:t> (</a:t>
            </a:r>
            <a:r>
              <a:rPr lang="ko-KR" altLang="en-US" sz="1200"/>
              <a:t>작다</a:t>
            </a:r>
            <a:r>
              <a:rPr lang="en-US" altLang="ko-KR" sz="1200"/>
              <a:t>)</a:t>
            </a:r>
          </a:p>
          <a:p>
            <a:pPr algn="ctr"/>
            <a:r>
              <a:rPr lang="en-US" altLang="ko-KR" sz="1200"/>
              <a:t>less than sign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F3E88E-673B-C02C-DC61-73AFFF44CEEC}"/>
              </a:ext>
            </a:extLst>
          </p:cNvPr>
          <p:cNvSpPr txBox="1"/>
          <p:nvPr/>
        </p:nvSpPr>
        <p:spPr>
          <a:xfrm>
            <a:off x="5408247" y="423572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큰따옴표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594150-C80F-2A8F-1FB1-BA4E41AA37F5}"/>
              </a:ext>
            </a:extLst>
          </p:cNvPr>
          <p:cNvSpPr txBox="1"/>
          <p:nvPr/>
        </p:nvSpPr>
        <p:spPr>
          <a:xfrm>
            <a:off x="4702944" y="5247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세미콜론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39615C-4F66-4F7C-E5D7-8FE586EEBB8E}"/>
              </a:ext>
            </a:extLst>
          </p:cNvPr>
          <p:cNvSpPr txBox="1"/>
          <p:nvPr/>
        </p:nvSpPr>
        <p:spPr>
          <a:xfrm>
            <a:off x="5331302" y="548616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작은따옴표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C3F97CA0-ADA1-3088-CBA9-1372E0A24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548" y="5720383"/>
            <a:ext cx="2008592" cy="719126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A47496-E673-BEF2-AA54-6E9D85DCA0FF}"/>
              </a:ext>
            </a:extLst>
          </p:cNvPr>
          <p:cNvSpPr/>
          <p:nvPr/>
        </p:nvSpPr>
        <p:spPr>
          <a:xfrm>
            <a:off x="2238535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4E9BE99-43F0-CBEC-8DEC-2CD1296A7E7A}"/>
              </a:ext>
            </a:extLst>
          </p:cNvPr>
          <p:cNvSpPr/>
          <p:nvPr/>
        </p:nvSpPr>
        <p:spPr>
          <a:xfrm>
            <a:off x="2238535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FE148FE-2A90-37BC-2BDB-C0352C9C3A17}"/>
              </a:ext>
            </a:extLst>
          </p:cNvPr>
          <p:cNvSpPr/>
          <p:nvPr/>
        </p:nvSpPr>
        <p:spPr>
          <a:xfrm>
            <a:off x="2897527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818716A-39D1-C1B5-8335-8CC0E67DFB95}"/>
              </a:ext>
            </a:extLst>
          </p:cNvPr>
          <p:cNvSpPr/>
          <p:nvPr/>
        </p:nvSpPr>
        <p:spPr>
          <a:xfrm>
            <a:off x="2897527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2DB7E45-60F2-57D3-93ED-203E858EB2BE}"/>
              </a:ext>
            </a:extLst>
          </p:cNvPr>
          <p:cNvSpPr/>
          <p:nvPr/>
        </p:nvSpPr>
        <p:spPr>
          <a:xfrm>
            <a:off x="3554333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341F288-DBAB-8292-D48E-F65A879BE6EE}"/>
              </a:ext>
            </a:extLst>
          </p:cNvPr>
          <p:cNvSpPr/>
          <p:nvPr/>
        </p:nvSpPr>
        <p:spPr>
          <a:xfrm>
            <a:off x="3554333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F053F5-3CE3-E020-B68A-4FE72F5DCF6A}"/>
              </a:ext>
            </a:extLst>
          </p:cNvPr>
          <p:cNvSpPr/>
          <p:nvPr/>
        </p:nvSpPr>
        <p:spPr>
          <a:xfrm>
            <a:off x="1701276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0A3677-FAAB-C68E-5504-A51367CF787D}"/>
              </a:ext>
            </a:extLst>
          </p:cNvPr>
          <p:cNvSpPr txBox="1"/>
          <p:nvPr/>
        </p:nvSpPr>
        <p:spPr>
          <a:xfrm>
            <a:off x="1814874" y="166546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앳</a:t>
            </a:r>
            <a:endParaRPr lang="ko-KR" altLang="en-US" sz="120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8FA30D5-135A-AC3E-8807-3E9AD4E21A58}"/>
              </a:ext>
            </a:extLst>
          </p:cNvPr>
          <p:cNvSpPr/>
          <p:nvPr/>
        </p:nvSpPr>
        <p:spPr>
          <a:xfrm>
            <a:off x="4996173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A2A844-56D0-0C5D-A2FF-BC4009B4E17B}"/>
              </a:ext>
            </a:extLst>
          </p:cNvPr>
          <p:cNvSpPr txBox="1"/>
          <p:nvPr/>
        </p:nvSpPr>
        <p:spPr>
          <a:xfrm>
            <a:off x="4864627" y="15434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앤드</a:t>
            </a:r>
            <a:endParaRPr lang="en-US" altLang="ko-KR" sz="1200"/>
          </a:p>
          <a:p>
            <a:pPr algn="ctr"/>
            <a:r>
              <a:rPr lang="ko-KR" altLang="en-US" sz="1200" err="1"/>
              <a:t>앰퍼센드</a:t>
            </a:r>
            <a:endParaRPr lang="ko-KR" altLang="en-US" sz="1200"/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C9D6CAF-9E95-78EF-6464-1E002668C5FE}"/>
              </a:ext>
            </a:extLst>
          </p:cNvPr>
          <p:cNvCxnSpPr>
            <a:stCxn id="34" idx="2"/>
            <a:endCxn id="24" idx="0"/>
          </p:cNvCxnSpPr>
          <p:nvPr/>
        </p:nvCxnSpPr>
        <p:spPr>
          <a:xfrm>
            <a:off x="5928184" y="1591402"/>
            <a:ext cx="6779" cy="4353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C94E1B2-C975-2FAA-5446-31C122EE5686}"/>
              </a:ext>
            </a:extLst>
          </p:cNvPr>
          <p:cNvSpPr txBox="1"/>
          <p:nvPr/>
        </p:nvSpPr>
        <p:spPr>
          <a:xfrm>
            <a:off x="6464414" y="1549734"/>
            <a:ext cx="90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소괄호</a:t>
            </a:r>
            <a:endParaRPr lang="en-US" altLang="ko-KR" sz="1200"/>
          </a:p>
          <a:p>
            <a:pPr algn="ctr"/>
            <a:r>
              <a:rPr lang="en-US" altLang="ko-KR" sz="1200"/>
              <a:t>Parenthesis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76A518-81A5-E002-B16E-DA710A0AECA2}"/>
              </a:ext>
            </a:extLst>
          </p:cNvPr>
          <p:cNvSpPr txBox="1"/>
          <p:nvPr/>
        </p:nvSpPr>
        <p:spPr>
          <a:xfrm>
            <a:off x="2581614" y="4771664"/>
            <a:ext cx="1240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부등호</a:t>
            </a:r>
            <a:r>
              <a:rPr lang="en-US" altLang="ko-KR" sz="1200"/>
              <a:t> (</a:t>
            </a:r>
            <a:r>
              <a:rPr lang="ko-KR" altLang="en-US" sz="1200"/>
              <a:t>크다</a:t>
            </a:r>
            <a:r>
              <a:rPr lang="en-US" altLang="ko-KR" sz="1200"/>
              <a:t>)</a:t>
            </a:r>
          </a:p>
          <a:p>
            <a:pPr algn="ctr"/>
            <a:r>
              <a:rPr lang="en-US" altLang="ko-KR" sz="1200"/>
              <a:t>greater than sign</a:t>
            </a:r>
            <a:endParaRPr lang="ko-KR" altLang="en-US" sz="1200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A4D84AE-FA70-9F05-8B92-C5AC460F8408}"/>
              </a:ext>
            </a:extLst>
          </p:cNvPr>
          <p:cNvCxnSpPr>
            <a:cxnSpLocks/>
            <a:stCxn id="80" idx="2"/>
            <a:endCxn id="61" idx="0"/>
          </p:cNvCxnSpPr>
          <p:nvPr/>
        </p:nvCxnSpPr>
        <p:spPr>
          <a:xfrm>
            <a:off x="3201976" y="5233329"/>
            <a:ext cx="1" cy="5506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932FABB-70FC-4C29-BC8F-B50D17C31DDC}"/>
              </a:ext>
            </a:extLst>
          </p:cNvPr>
          <p:cNvSpPr txBox="1"/>
          <p:nvPr/>
        </p:nvSpPr>
        <p:spPr>
          <a:xfrm>
            <a:off x="3540946" y="545049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물음표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787065-170A-7586-DAC3-0DBC967A681E}"/>
              </a:ext>
            </a:extLst>
          </p:cNvPr>
          <p:cNvSpPr txBox="1"/>
          <p:nvPr/>
        </p:nvSpPr>
        <p:spPr>
          <a:xfrm>
            <a:off x="2289057" y="6439509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콤마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6FB060-E6BA-408A-7764-5670903ECEC9}"/>
              </a:ext>
            </a:extLst>
          </p:cNvPr>
          <p:cNvSpPr txBox="1"/>
          <p:nvPr/>
        </p:nvSpPr>
        <p:spPr>
          <a:xfrm>
            <a:off x="3022251" y="643950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점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E3DF99-ACE1-43CB-C270-D977F329150D}"/>
              </a:ext>
            </a:extLst>
          </p:cNvPr>
          <p:cNvSpPr txBox="1"/>
          <p:nvPr/>
        </p:nvSpPr>
        <p:spPr>
          <a:xfrm>
            <a:off x="3535617" y="643950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슬래시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FBEB061-32C9-8678-4EF4-9606D21306BA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5808356" y="5165909"/>
            <a:ext cx="4465" cy="3202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D81A761-0E42-52BA-4BEC-A636632DCCE6}"/>
              </a:ext>
            </a:extLst>
          </p:cNvPr>
          <p:cNvSpPr/>
          <p:nvPr/>
        </p:nvSpPr>
        <p:spPr>
          <a:xfrm>
            <a:off x="7630854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6CAFCCE-C2F2-F134-48D6-6070409CD73E}"/>
              </a:ext>
            </a:extLst>
          </p:cNvPr>
          <p:cNvSpPr/>
          <p:nvPr/>
        </p:nvSpPr>
        <p:spPr>
          <a:xfrm>
            <a:off x="7630855" y="2343024"/>
            <a:ext cx="565750" cy="25038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C7BDFA-4345-7007-A142-B4E50046303E}"/>
              </a:ext>
            </a:extLst>
          </p:cNvPr>
          <p:cNvSpPr txBox="1"/>
          <p:nvPr/>
        </p:nvSpPr>
        <p:spPr>
          <a:xfrm>
            <a:off x="7590563" y="2668674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대쉬</a:t>
            </a:r>
            <a:endParaRPr lang="en-US" altLang="ko-KR" sz="1200"/>
          </a:p>
          <a:p>
            <a:pPr algn="ctr"/>
            <a:r>
              <a:rPr lang="ko-KR" altLang="en-US" sz="1200"/>
              <a:t>하이픈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9DF9839-AAE4-1721-01CB-0FDD6C2F4172}"/>
              </a:ext>
            </a:extLst>
          </p:cNvPr>
          <p:cNvSpPr/>
          <p:nvPr/>
        </p:nvSpPr>
        <p:spPr>
          <a:xfrm>
            <a:off x="8286174" y="2343024"/>
            <a:ext cx="565750" cy="25038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6A61E9-BF42-D53D-4EC2-AD1F3C0E91BC}"/>
              </a:ext>
            </a:extLst>
          </p:cNvPr>
          <p:cNvSpPr txBox="1"/>
          <p:nvPr/>
        </p:nvSpPr>
        <p:spPr>
          <a:xfrm>
            <a:off x="8161726" y="2668674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는</a:t>
            </a:r>
            <a:endParaRPr lang="en-US" altLang="ko-KR" sz="1200"/>
          </a:p>
          <a:p>
            <a:pPr algn="ctr"/>
            <a:r>
              <a:rPr lang="en-US" altLang="ko-KR" sz="1200"/>
              <a:t>equal sign</a:t>
            </a:r>
            <a:endParaRPr lang="ko-KR" alt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8B268-1C67-2BEF-F7BC-EB361E6D90E4}"/>
              </a:ext>
            </a:extLst>
          </p:cNvPr>
          <p:cNvSpPr txBox="1"/>
          <p:nvPr/>
        </p:nvSpPr>
        <p:spPr>
          <a:xfrm>
            <a:off x="4856832" y="425108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콜론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B499C1-0522-6F3F-5375-9BB33D27A0D9}"/>
              </a:ext>
            </a:extLst>
          </p:cNvPr>
          <p:cNvSpPr/>
          <p:nvPr/>
        </p:nvSpPr>
        <p:spPr>
          <a:xfrm>
            <a:off x="380628" y="2287606"/>
            <a:ext cx="565750" cy="305799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B856B-7B41-278A-F8FF-6B0E65108FDD}"/>
              </a:ext>
            </a:extLst>
          </p:cNvPr>
          <p:cNvSpPr txBox="1"/>
          <p:nvPr/>
        </p:nvSpPr>
        <p:spPr>
          <a:xfrm>
            <a:off x="414663" y="1683503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틸다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C53D7-F87E-E0C7-65CA-3A8C2FC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46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B17C4FE-3FF6-32C6-C8B6-859B6D533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19" y="1843702"/>
            <a:ext cx="8329961" cy="481376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6FDC6-AE60-5E7B-A5A5-037DE4D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62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1442738-7BAC-91F8-1E98-F482443736A6}"/>
              </a:ext>
            </a:extLst>
          </p:cNvPr>
          <p:cNvGrpSpPr/>
          <p:nvPr/>
        </p:nvGrpSpPr>
        <p:grpSpPr>
          <a:xfrm>
            <a:off x="407019" y="1843702"/>
            <a:ext cx="8329961" cy="3679740"/>
            <a:chOff x="407019" y="1843702"/>
            <a:chExt cx="8329961" cy="3679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2AC842F-5F18-DABC-E593-8D5DE738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019" y="1843702"/>
              <a:ext cx="8329961" cy="367974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3A1A18-2C6D-5BBA-2A1D-6B145814558D}"/>
                </a:ext>
              </a:extLst>
            </p:cNvPr>
            <p:cNvSpPr txBox="1"/>
            <p:nvPr/>
          </p:nvSpPr>
          <p:spPr>
            <a:xfrm>
              <a:off x="4545872" y="2629989"/>
              <a:ext cx="1258678" cy="261610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라인복사</a:t>
              </a:r>
              <a:r>
                <a:rPr lang="en-US" altLang="ko-KR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아래로</a:t>
              </a:r>
              <a:r>
                <a:rPr lang="en-US" altLang="ko-KR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3617BE-E76E-D75A-0A66-B840D062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374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E39616-D2C9-547C-2F3C-84E82D6D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03" y="1822279"/>
            <a:ext cx="7961971" cy="50357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317B5-058D-F18E-E449-7EB5A518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676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ED855B-B18C-1AB8-72CA-99FEA546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65" y="1930742"/>
            <a:ext cx="7996760" cy="189567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6474E-1E17-9A1D-EC33-ED8C2495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878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기초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Hello Java Programming</a:t>
            </a: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자료형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변수와 변수의 범위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상수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형 변환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연산자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실행흐름 제어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메소드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클래스 </a:t>
            </a:r>
            <a:r>
              <a:rPr lang="en-US" altLang="ko-KR">
                <a:latin typeface="+mj-ea"/>
                <a:ea typeface="+mj-ea"/>
              </a:rPr>
              <a:t>/ </a:t>
            </a:r>
            <a:r>
              <a:rPr lang="ko-KR" altLang="en-US">
                <a:latin typeface="+mj-ea"/>
                <a:ea typeface="+mj-ea"/>
              </a:rPr>
              <a:t>인스턴스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생성자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68250-69EF-C5A8-F250-3DA5719A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47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1. Hello Java Programming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13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Create a Java project </a:t>
            </a:r>
            <a:r>
              <a:rPr lang="ko-KR" altLang="en-US">
                <a:latin typeface="+mj-ea"/>
                <a:ea typeface="+mj-ea"/>
              </a:rPr>
              <a:t>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89B0F6-38FE-1706-193C-79258C89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1" y="1793877"/>
            <a:ext cx="6535553" cy="49275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BB2F3E-0FD6-8485-2C1D-DA1A7F0C2B98}"/>
              </a:ext>
            </a:extLst>
          </p:cNvPr>
          <p:cNvSpPr/>
          <p:nvPr/>
        </p:nvSpPr>
        <p:spPr>
          <a:xfrm>
            <a:off x="562242" y="3214254"/>
            <a:ext cx="1211140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84B34-9914-648E-D133-11C1FBA4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844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BBB938-1659-CE7C-81F7-A9E30A8C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71" y="1833222"/>
            <a:ext cx="4320238" cy="4805770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Project name: </a:t>
            </a:r>
            <a:r>
              <a:rPr lang="en-US" altLang="ko-KR" err="1">
                <a:latin typeface="+mj-ea"/>
                <a:ea typeface="+mj-ea"/>
              </a:rPr>
              <a:t>hello_java_world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BB2F3E-0FD6-8485-2C1D-DA1A7F0C2B98}"/>
              </a:ext>
            </a:extLst>
          </p:cNvPr>
          <p:cNvSpPr/>
          <p:nvPr/>
        </p:nvSpPr>
        <p:spPr>
          <a:xfrm>
            <a:off x="799495" y="2540000"/>
            <a:ext cx="1211140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4738703" y="1833222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63F586-1F08-2EA1-B56D-32888CE22B43}"/>
              </a:ext>
            </a:extLst>
          </p:cNvPr>
          <p:cNvGrpSpPr/>
          <p:nvPr/>
        </p:nvGrpSpPr>
        <p:grpSpPr>
          <a:xfrm>
            <a:off x="5827977" y="3909616"/>
            <a:ext cx="1901706" cy="2322348"/>
            <a:chOff x="6049650" y="3586343"/>
            <a:chExt cx="1901706" cy="232234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94700D0-0406-4BCC-7E77-81B854E8445F}"/>
                </a:ext>
              </a:extLst>
            </p:cNvPr>
            <p:cNvGrpSpPr/>
            <p:nvPr/>
          </p:nvGrpSpPr>
          <p:grpSpPr>
            <a:xfrm>
              <a:off x="6049650" y="3586343"/>
              <a:ext cx="1901706" cy="1972747"/>
              <a:chOff x="5827977" y="4060527"/>
              <a:chExt cx="1901706" cy="1972747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DD2EA7E-F5AC-CDAB-DCB8-EC4911399565}"/>
                  </a:ext>
                </a:extLst>
              </p:cNvPr>
              <p:cNvSpPr/>
              <p:nvPr/>
            </p:nvSpPr>
            <p:spPr>
              <a:xfrm>
                <a:off x="5827977" y="4123554"/>
                <a:ext cx="1879631" cy="274549"/>
              </a:xfrm>
              <a:custGeom>
                <a:avLst/>
                <a:gdLst>
                  <a:gd name="connsiteX0" fmla="*/ 0 w 2752436"/>
                  <a:gd name="connsiteY0" fmla="*/ 0 h 457556"/>
                  <a:gd name="connsiteX1" fmla="*/ 2752436 w 2752436"/>
                  <a:gd name="connsiteY1" fmla="*/ 0 h 457556"/>
                  <a:gd name="connsiteX2" fmla="*/ 2752436 w 2752436"/>
                  <a:gd name="connsiteY2" fmla="*/ 457556 h 457556"/>
                  <a:gd name="connsiteX3" fmla="*/ 0 w 2752436"/>
                  <a:gd name="connsiteY3" fmla="*/ 457556 h 457556"/>
                  <a:gd name="connsiteX4" fmla="*/ 0 w 2752436"/>
                  <a:gd name="connsiteY4" fmla="*/ 0 h 457556"/>
                  <a:gd name="connsiteX0" fmla="*/ 563419 w 2752436"/>
                  <a:gd name="connsiteY0" fmla="*/ 0 h 457556"/>
                  <a:gd name="connsiteX1" fmla="*/ 2752436 w 2752436"/>
                  <a:gd name="connsiteY1" fmla="*/ 0 h 457556"/>
                  <a:gd name="connsiteX2" fmla="*/ 2752436 w 2752436"/>
                  <a:gd name="connsiteY2" fmla="*/ 457556 h 457556"/>
                  <a:gd name="connsiteX3" fmla="*/ 0 w 2752436"/>
                  <a:gd name="connsiteY3" fmla="*/ 457556 h 457556"/>
                  <a:gd name="connsiteX4" fmla="*/ 563419 w 2752436"/>
                  <a:gd name="connsiteY4" fmla="*/ 0 h 457556"/>
                  <a:gd name="connsiteX0" fmla="*/ 563419 w 3195781"/>
                  <a:gd name="connsiteY0" fmla="*/ 9237 h 466793"/>
                  <a:gd name="connsiteX1" fmla="*/ 3195781 w 3195781"/>
                  <a:gd name="connsiteY1" fmla="*/ 0 h 466793"/>
                  <a:gd name="connsiteX2" fmla="*/ 2752436 w 3195781"/>
                  <a:gd name="connsiteY2" fmla="*/ 466793 h 466793"/>
                  <a:gd name="connsiteX3" fmla="*/ 0 w 3195781"/>
                  <a:gd name="connsiteY3" fmla="*/ 466793 h 466793"/>
                  <a:gd name="connsiteX4" fmla="*/ 563419 w 3195781"/>
                  <a:gd name="connsiteY4" fmla="*/ 9237 h 466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95781" h="466793">
                    <a:moveTo>
                      <a:pt x="563419" y="9237"/>
                    </a:moveTo>
                    <a:lnTo>
                      <a:pt x="3195781" y="0"/>
                    </a:lnTo>
                    <a:lnTo>
                      <a:pt x="2752436" y="466793"/>
                    </a:lnTo>
                    <a:lnTo>
                      <a:pt x="0" y="466793"/>
                    </a:lnTo>
                    <a:lnTo>
                      <a:pt x="563419" y="923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05173D8-A6B6-C172-255D-A6CD7A8289A2}"/>
                  </a:ext>
                </a:extLst>
              </p:cNvPr>
              <p:cNvSpPr/>
              <p:nvPr/>
            </p:nvSpPr>
            <p:spPr>
              <a:xfrm>
                <a:off x="7457714" y="4118123"/>
                <a:ext cx="271969" cy="1887990"/>
              </a:xfrm>
              <a:custGeom>
                <a:avLst/>
                <a:gdLst>
                  <a:gd name="connsiteX0" fmla="*/ 0 w 453170"/>
                  <a:gd name="connsiteY0" fmla="*/ 0 h 3209992"/>
                  <a:gd name="connsiteX1" fmla="*/ 453170 w 453170"/>
                  <a:gd name="connsiteY1" fmla="*/ 0 h 3209992"/>
                  <a:gd name="connsiteX2" fmla="*/ 453170 w 453170"/>
                  <a:gd name="connsiteY2" fmla="*/ 3209992 h 3209992"/>
                  <a:gd name="connsiteX3" fmla="*/ 0 w 453170"/>
                  <a:gd name="connsiteY3" fmla="*/ 3209992 h 3209992"/>
                  <a:gd name="connsiteX4" fmla="*/ 0 w 453170"/>
                  <a:gd name="connsiteY4" fmla="*/ 0 h 3209992"/>
                  <a:gd name="connsiteX0" fmla="*/ 0 w 462407"/>
                  <a:gd name="connsiteY0" fmla="*/ 489527 h 3209992"/>
                  <a:gd name="connsiteX1" fmla="*/ 462407 w 462407"/>
                  <a:gd name="connsiteY1" fmla="*/ 0 h 3209992"/>
                  <a:gd name="connsiteX2" fmla="*/ 462407 w 462407"/>
                  <a:gd name="connsiteY2" fmla="*/ 3209992 h 3209992"/>
                  <a:gd name="connsiteX3" fmla="*/ 9237 w 462407"/>
                  <a:gd name="connsiteY3" fmla="*/ 3209992 h 3209992"/>
                  <a:gd name="connsiteX4" fmla="*/ 0 w 462407"/>
                  <a:gd name="connsiteY4" fmla="*/ 489527 h 3209992"/>
                  <a:gd name="connsiteX0" fmla="*/ 0 w 462407"/>
                  <a:gd name="connsiteY0" fmla="*/ 489527 h 3209992"/>
                  <a:gd name="connsiteX1" fmla="*/ 462407 w 462407"/>
                  <a:gd name="connsiteY1" fmla="*/ 0 h 3209992"/>
                  <a:gd name="connsiteX2" fmla="*/ 443934 w 462407"/>
                  <a:gd name="connsiteY2" fmla="*/ 2683519 h 3209992"/>
                  <a:gd name="connsiteX3" fmla="*/ 9237 w 462407"/>
                  <a:gd name="connsiteY3" fmla="*/ 3209992 h 3209992"/>
                  <a:gd name="connsiteX4" fmla="*/ 0 w 462407"/>
                  <a:gd name="connsiteY4" fmla="*/ 489527 h 320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2407" h="3209992">
                    <a:moveTo>
                      <a:pt x="0" y="489527"/>
                    </a:moveTo>
                    <a:lnTo>
                      <a:pt x="462407" y="0"/>
                    </a:lnTo>
                    <a:lnTo>
                      <a:pt x="443934" y="2683519"/>
                    </a:lnTo>
                    <a:lnTo>
                      <a:pt x="9237" y="3209992"/>
                    </a:lnTo>
                    <a:lnTo>
                      <a:pt x="0" y="489527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ACAB25E-391C-73B6-9EEC-E5F5480FAFF9}"/>
                  </a:ext>
                </a:extLst>
              </p:cNvPr>
              <p:cNvSpPr/>
              <p:nvPr/>
            </p:nvSpPr>
            <p:spPr>
              <a:xfrm>
                <a:off x="6162494" y="4121262"/>
                <a:ext cx="1543286" cy="276496"/>
              </a:xfrm>
              <a:custGeom>
                <a:avLst/>
                <a:gdLst>
                  <a:gd name="connsiteX0" fmla="*/ 0 w 2659482"/>
                  <a:gd name="connsiteY0" fmla="*/ 0 h 833323"/>
                  <a:gd name="connsiteX1" fmla="*/ 2659482 w 2659482"/>
                  <a:gd name="connsiteY1" fmla="*/ 0 h 833323"/>
                  <a:gd name="connsiteX2" fmla="*/ 2659482 w 2659482"/>
                  <a:gd name="connsiteY2" fmla="*/ 833323 h 833323"/>
                  <a:gd name="connsiteX3" fmla="*/ 0 w 2659482"/>
                  <a:gd name="connsiteY3" fmla="*/ 833323 h 833323"/>
                  <a:gd name="connsiteX4" fmla="*/ 0 w 2659482"/>
                  <a:gd name="connsiteY4" fmla="*/ 0 h 833323"/>
                  <a:gd name="connsiteX0" fmla="*/ 0 w 2659482"/>
                  <a:gd name="connsiteY0" fmla="*/ 0 h 833323"/>
                  <a:gd name="connsiteX1" fmla="*/ 2659482 w 2659482"/>
                  <a:gd name="connsiteY1" fmla="*/ 0 h 833323"/>
                  <a:gd name="connsiteX2" fmla="*/ 2179422 w 2659482"/>
                  <a:gd name="connsiteY2" fmla="*/ 480263 h 833323"/>
                  <a:gd name="connsiteX3" fmla="*/ 0 w 2659482"/>
                  <a:gd name="connsiteY3" fmla="*/ 833323 h 833323"/>
                  <a:gd name="connsiteX4" fmla="*/ 0 w 2659482"/>
                  <a:gd name="connsiteY4" fmla="*/ 0 h 833323"/>
                  <a:gd name="connsiteX0" fmla="*/ 5080 w 2664562"/>
                  <a:gd name="connsiteY0" fmla="*/ 0 h 480263"/>
                  <a:gd name="connsiteX1" fmla="*/ 2664562 w 2664562"/>
                  <a:gd name="connsiteY1" fmla="*/ 0 h 480263"/>
                  <a:gd name="connsiteX2" fmla="*/ 2184502 w 2664562"/>
                  <a:gd name="connsiteY2" fmla="*/ 480263 h 480263"/>
                  <a:gd name="connsiteX3" fmla="*/ 0 w 2664562"/>
                  <a:gd name="connsiteY3" fmla="*/ 457403 h 480263"/>
                  <a:gd name="connsiteX4" fmla="*/ 5080 w 2664562"/>
                  <a:gd name="connsiteY4" fmla="*/ 0 h 480263"/>
                  <a:gd name="connsiteX0" fmla="*/ 5080 w 2664562"/>
                  <a:gd name="connsiteY0" fmla="*/ 0 h 457403"/>
                  <a:gd name="connsiteX1" fmla="*/ 2664562 w 2664562"/>
                  <a:gd name="connsiteY1" fmla="*/ 0 h 457403"/>
                  <a:gd name="connsiteX2" fmla="*/ 2164182 w 2664562"/>
                  <a:gd name="connsiteY2" fmla="*/ 386283 h 457403"/>
                  <a:gd name="connsiteX3" fmla="*/ 0 w 2664562"/>
                  <a:gd name="connsiteY3" fmla="*/ 457403 h 457403"/>
                  <a:gd name="connsiteX4" fmla="*/ 5080 w 2664562"/>
                  <a:gd name="connsiteY4" fmla="*/ 0 h 457403"/>
                  <a:gd name="connsiteX0" fmla="*/ 5080 w 2664562"/>
                  <a:gd name="connsiteY0" fmla="*/ 0 h 462483"/>
                  <a:gd name="connsiteX1" fmla="*/ 2664562 w 2664562"/>
                  <a:gd name="connsiteY1" fmla="*/ 0 h 462483"/>
                  <a:gd name="connsiteX2" fmla="*/ 2176882 w 2664562"/>
                  <a:gd name="connsiteY2" fmla="*/ 462483 h 462483"/>
                  <a:gd name="connsiteX3" fmla="*/ 0 w 2664562"/>
                  <a:gd name="connsiteY3" fmla="*/ 457403 h 462483"/>
                  <a:gd name="connsiteX4" fmla="*/ 5080 w 2664562"/>
                  <a:gd name="connsiteY4" fmla="*/ 0 h 462483"/>
                  <a:gd name="connsiteX0" fmla="*/ 5080 w 2352142"/>
                  <a:gd name="connsiteY0" fmla="*/ 27940 h 490423"/>
                  <a:gd name="connsiteX1" fmla="*/ 2352142 w 2352142"/>
                  <a:gd name="connsiteY1" fmla="*/ 0 h 490423"/>
                  <a:gd name="connsiteX2" fmla="*/ 2176882 w 2352142"/>
                  <a:gd name="connsiteY2" fmla="*/ 490423 h 490423"/>
                  <a:gd name="connsiteX3" fmla="*/ 0 w 2352142"/>
                  <a:gd name="connsiteY3" fmla="*/ 485343 h 490423"/>
                  <a:gd name="connsiteX4" fmla="*/ 5080 w 2352142"/>
                  <a:gd name="connsiteY4" fmla="*/ 27940 h 490423"/>
                  <a:gd name="connsiteX0" fmla="*/ 5080 w 2623922"/>
                  <a:gd name="connsiteY0" fmla="*/ 7620 h 470103"/>
                  <a:gd name="connsiteX1" fmla="*/ 2623922 w 2623922"/>
                  <a:gd name="connsiteY1" fmla="*/ 0 h 470103"/>
                  <a:gd name="connsiteX2" fmla="*/ 2176882 w 2623922"/>
                  <a:gd name="connsiteY2" fmla="*/ 470103 h 470103"/>
                  <a:gd name="connsiteX3" fmla="*/ 0 w 2623922"/>
                  <a:gd name="connsiteY3" fmla="*/ 465023 h 470103"/>
                  <a:gd name="connsiteX4" fmla="*/ 5080 w 2623922"/>
                  <a:gd name="connsiteY4" fmla="*/ 7620 h 470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922" h="470103">
                    <a:moveTo>
                      <a:pt x="5080" y="7620"/>
                    </a:moveTo>
                    <a:lnTo>
                      <a:pt x="2623922" y="0"/>
                    </a:lnTo>
                    <a:lnTo>
                      <a:pt x="2176882" y="470103"/>
                    </a:lnTo>
                    <a:lnTo>
                      <a:pt x="0" y="465023"/>
                    </a:lnTo>
                    <a:cubicBezTo>
                      <a:pt x="1693" y="312555"/>
                      <a:pt x="3387" y="160088"/>
                      <a:pt x="5080" y="762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사각형: 잘린 한쪽 모서리 17">
                <a:extLst>
                  <a:ext uri="{FF2B5EF4-FFF2-40B4-BE49-F238E27FC236}">
                    <a16:creationId xmlns:a16="http://schemas.microsoft.com/office/drawing/2014/main" id="{6A4B0BEC-5F4C-6C4A-17F3-D6E1008F8607}"/>
                  </a:ext>
                </a:extLst>
              </p:cNvPr>
              <p:cNvSpPr/>
              <p:nvPr/>
            </p:nvSpPr>
            <p:spPr>
              <a:xfrm flipH="1">
                <a:off x="6179976" y="4060527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사각형: 잘린 한쪽 모서리 18">
                <a:extLst>
                  <a:ext uri="{FF2B5EF4-FFF2-40B4-BE49-F238E27FC236}">
                    <a16:creationId xmlns:a16="http://schemas.microsoft.com/office/drawing/2014/main" id="{5FFAB6F0-B280-38BE-58EC-021F20B443BE}"/>
                  </a:ext>
                </a:extLst>
              </p:cNvPr>
              <p:cNvSpPr/>
              <p:nvPr/>
            </p:nvSpPr>
            <p:spPr>
              <a:xfrm flipH="1">
                <a:off x="6806644" y="4611208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사각형: 잘린 한쪽 모서리 19">
                <a:extLst>
                  <a:ext uri="{FF2B5EF4-FFF2-40B4-BE49-F238E27FC236}">
                    <a16:creationId xmlns:a16="http://schemas.microsoft.com/office/drawing/2014/main" id="{9B8174AB-EE98-D8AC-20E4-AB77DE344112}"/>
                  </a:ext>
                </a:extLst>
              </p:cNvPr>
              <p:cNvSpPr/>
              <p:nvPr/>
            </p:nvSpPr>
            <p:spPr>
              <a:xfrm flipH="1">
                <a:off x="6015235" y="4914650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EC7483E-7374-6465-00FD-93DE48BDFDAC}"/>
                  </a:ext>
                </a:extLst>
              </p:cNvPr>
              <p:cNvSpPr/>
              <p:nvPr/>
            </p:nvSpPr>
            <p:spPr>
              <a:xfrm>
                <a:off x="5827977" y="4414401"/>
                <a:ext cx="1618873" cy="1618873"/>
              </a:xfrm>
              <a:prstGeom prst="rect">
                <a:avLst/>
              </a:prstGeom>
              <a:solidFill>
                <a:schemeClr val="bg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A45870-272A-7C01-EE04-37D28F45E9DA}"/>
                </a:ext>
              </a:extLst>
            </p:cNvPr>
            <p:cNvSpPr txBox="1"/>
            <p:nvPr/>
          </p:nvSpPr>
          <p:spPr>
            <a:xfrm>
              <a:off x="6264437" y="5539359"/>
              <a:ext cx="1294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 project</a:t>
              </a:r>
              <a:endParaRPr lang="ko-KR" altLang="en-US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6BE046-27DA-F596-F7F6-8605873F0DF3}"/>
              </a:ext>
            </a:extLst>
          </p:cNvPr>
          <p:cNvSpPr/>
          <p:nvPr/>
        </p:nvSpPr>
        <p:spPr>
          <a:xfrm>
            <a:off x="3380508" y="6376590"/>
            <a:ext cx="592855" cy="208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C676F7-4CAB-1DCC-C719-791D90CD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0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29F6159-C4E5-13DE-28AC-533AA5DB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422" y="1740128"/>
            <a:ext cx="6781740" cy="511321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Project name: hello_java_world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4ED84E2-FF06-728C-9E49-DF76F67B867B}"/>
              </a:ext>
            </a:extLst>
          </p:cNvPr>
          <p:cNvGrpSpPr/>
          <p:nvPr/>
        </p:nvGrpSpPr>
        <p:grpSpPr>
          <a:xfrm>
            <a:off x="984795" y="2667127"/>
            <a:ext cx="5242875" cy="2411560"/>
            <a:chOff x="984795" y="2667127"/>
            <a:chExt cx="5242875" cy="241156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26BE046-27DA-F596-F7F6-8605873F0DF3}"/>
                </a:ext>
              </a:extLst>
            </p:cNvPr>
            <p:cNvSpPr/>
            <p:nvPr/>
          </p:nvSpPr>
          <p:spPr>
            <a:xfrm>
              <a:off x="1504422" y="2667127"/>
              <a:ext cx="1691265" cy="5427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DE5AFAE-7DBA-38D0-2880-C7704D8F94DC}"/>
                </a:ext>
              </a:extLst>
            </p:cNvPr>
            <p:cNvCxnSpPr/>
            <p:nvPr/>
          </p:nvCxnSpPr>
          <p:spPr>
            <a:xfrm flipH="1">
              <a:off x="996206" y="3209884"/>
              <a:ext cx="508216" cy="18688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BEC00E5-E611-F175-4360-5CB62E9F0C49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87" y="3209884"/>
              <a:ext cx="3031983" cy="18688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25CE118-DB88-F112-EBD8-A8BCA0806CB6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87" y="2667127"/>
              <a:ext cx="3031983" cy="8476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3967417-0724-447D-D674-BD50A282F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795" y="2667127"/>
              <a:ext cx="519627" cy="8476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DC3243B-95CF-22FC-7B5D-4BF3C9F1E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6206" y="3514785"/>
              <a:ext cx="5220053" cy="1563902"/>
            </a:xfrm>
            <a:prstGeom prst="rect">
              <a:avLst/>
            </a:prstGeom>
            <a:ln w="47625">
              <a:solidFill>
                <a:srgbClr val="FF0000"/>
              </a:solidFill>
            </a:ln>
          </p:spPr>
        </p:pic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367638-96D1-18E5-6E3D-74C48F4243D6}"/>
              </a:ext>
            </a:extLst>
          </p:cNvPr>
          <p:cNvSpPr/>
          <p:nvPr/>
        </p:nvSpPr>
        <p:spPr>
          <a:xfrm>
            <a:off x="1027769" y="3553108"/>
            <a:ext cx="377660" cy="39116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718969-9418-018B-2475-F2811477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30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src/module-info.java </a:t>
            </a:r>
            <a:r>
              <a:rPr lang="ko-KR" altLang="en-US">
                <a:latin typeface="+mj-ea"/>
                <a:ea typeface="+mj-ea"/>
              </a:rPr>
              <a:t>파일 삭제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A9C9D10-D064-54C3-7C03-2F990EC43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9" y="1667893"/>
            <a:ext cx="3686808" cy="14900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AB72138-E3E0-A0DF-DEF2-6020F12626F8}"/>
              </a:ext>
            </a:extLst>
          </p:cNvPr>
          <p:cNvSpPr/>
          <p:nvPr/>
        </p:nvSpPr>
        <p:spPr>
          <a:xfrm>
            <a:off x="1240971" y="2783322"/>
            <a:ext cx="2218665" cy="374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FBC16A-221B-F952-ACE9-E0BD18CF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726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src </a:t>
            </a:r>
            <a:r>
              <a:rPr lang="ko-KR" altLang="en-US">
                <a:latin typeface="+mj-ea"/>
                <a:ea typeface="+mj-ea"/>
              </a:rPr>
              <a:t>오른쪽 클릭 </a:t>
            </a:r>
            <a:r>
              <a:rPr lang="en-US" altLang="ko-KR">
                <a:latin typeface="+mj-ea"/>
                <a:ea typeface="+mj-ea"/>
              </a:rPr>
              <a:t>&gt; New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&gt;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Class</a:t>
            </a:r>
            <a:r>
              <a:rPr lang="ko-KR" altLang="en-US">
                <a:latin typeface="+mj-ea"/>
                <a:ea typeface="+mj-ea"/>
              </a:rPr>
              <a:t> 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45FC76C2-45E7-97F6-10E9-1F2EEC27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5" y="1682596"/>
            <a:ext cx="7976536" cy="4774765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3E9227-A569-D367-7456-75D15FAF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406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Name: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HelloJava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3F4082B-52B9-BCA3-E4E9-46C4E64B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10" y="1786544"/>
            <a:ext cx="4330005" cy="493493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B621651-92B0-C239-5A23-8129AAB2AFBA}"/>
              </a:ext>
            </a:extLst>
          </p:cNvPr>
          <p:cNvSpPr/>
          <p:nvPr/>
        </p:nvSpPr>
        <p:spPr>
          <a:xfrm>
            <a:off x="1552056" y="3429000"/>
            <a:ext cx="540696" cy="238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048191-6C01-A4A0-0C13-A275C0C5B889}"/>
              </a:ext>
            </a:extLst>
          </p:cNvPr>
          <p:cNvGrpSpPr/>
          <p:nvPr/>
        </p:nvGrpSpPr>
        <p:grpSpPr>
          <a:xfrm>
            <a:off x="5107995" y="1712244"/>
            <a:ext cx="3927675" cy="1798686"/>
            <a:chOff x="4945408" y="1833222"/>
            <a:chExt cx="3927675" cy="17986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3A5727-0F7C-2C64-73B0-E2E912DB5B70}"/>
                </a:ext>
              </a:extLst>
            </p:cNvPr>
            <p:cNvSpPr txBox="1"/>
            <p:nvPr/>
          </p:nvSpPr>
          <p:spPr>
            <a:xfrm>
              <a:off x="4945408" y="1833222"/>
              <a:ext cx="122341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Class?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630577-F2A7-91CF-051E-E067AF7FE80F}"/>
                </a:ext>
              </a:extLst>
            </p:cNvPr>
            <p:cNvSpPr txBox="1"/>
            <p:nvPr/>
          </p:nvSpPr>
          <p:spPr>
            <a:xfrm>
              <a:off x="5021579" y="2431579"/>
              <a:ext cx="385150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</a:t>
              </a:r>
              <a:r>
                <a:rPr lang="ko-KR" altLang="en-US"/>
                <a:t> </a:t>
              </a:r>
              <a:r>
                <a:rPr lang="en-US" altLang="ko-KR"/>
                <a:t>Program</a:t>
              </a:r>
              <a:r>
                <a:rPr lang="ko-KR" altLang="en-US"/>
                <a:t>에서 하나 이상의 </a:t>
              </a:r>
              <a:endParaRPr lang="en-US" altLang="ko-KR"/>
            </a:p>
            <a:p>
              <a:r>
                <a:rPr lang="ko-KR" altLang="en-US"/>
                <a:t>정보를 표현하는 묶음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r>
                <a:rPr lang="ko-KR" altLang="en-US"/>
                <a:t>보통 </a:t>
              </a:r>
              <a:r>
                <a:rPr lang="en-US" altLang="ko-KR"/>
                <a:t>Java </a:t>
              </a:r>
              <a:r>
                <a:rPr lang="ko-KR" altLang="en-US"/>
                <a:t>파일은 </a:t>
              </a:r>
              <a:r>
                <a:rPr lang="en-US" altLang="ko-KR"/>
                <a:t>Class</a:t>
              </a:r>
              <a:r>
                <a:rPr lang="ko-KR" altLang="en-US"/>
                <a:t>를 의미합니다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DA713DD-B96C-669B-09A6-E442F757447F}"/>
                </a:ext>
              </a:extLst>
            </p:cNvPr>
            <p:cNvSpPr/>
            <p:nvPr/>
          </p:nvSpPr>
          <p:spPr>
            <a:xfrm>
              <a:off x="4998720" y="2417997"/>
              <a:ext cx="61200" cy="121391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A74F9F-5F57-15B2-61F0-18B88D790D1C}"/>
              </a:ext>
            </a:extLst>
          </p:cNvPr>
          <p:cNvSpPr/>
          <p:nvPr/>
        </p:nvSpPr>
        <p:spPr>
          <a:xfrm>
            <a:off x="3504975" y="6372304"/>
            <a:ext cx="727659" cy="275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2BF58-CB67-26BD-726A-7E030391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27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HelloJava.java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클래스의 이름과 파일이름은 동일해야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클래스의 이름과 파일명이 다르면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CD68472-85EF-94AC-2C23-67C6A15B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89" y="2610688"/>
            <a:ext cx="7973832" cy="264458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02F848-49A2-DA05-9F14-1521E41800CA}"/>
              </a:ext>
            </a:extLst>
          </p:cNvPr>
          <p:cNvSpPr/>
          <p:nvPr/>
        </p:nvSpPr>
        <p:spPr>
          <a:xfrm>
            <a:off x="1806579" y="4574005"/>
            <a:ext cx="1370254" cy="313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C4E05B-EBBE-EA68-A0D3-C37E508BBB9E}"/>
              </a:ext>
            </a:extLst>
          </p:cNvPr>
          <p:cNvSpPr/>
          <p:nvPr/>
        </p:nvSpPr>
        <p:spPr>
          <a:xfrm>
            <a:off x="5984225" y="3557482"/>
            <a:ext cx="1180146" cy="313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5DBBF9F-F0BB-9B01-65F6-79401D251B62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3176833" y="3714203"/>
            <a:ext cx="2807392" cy="10165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16A69A-4B25-B50F-559D-726A9DB9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99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노란영역</a:t>
            </a:r>
            <a:r>
              <a:rPr lang="ko-KR" altLang="en-US">
                <a:latin typeface="+mj-ea"/>
                <a:ea typeface="+mj-ea"/>
              </a:rPr>
              <a:t> 작성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BEF8E-8F24-EDB8-4BDA-1EC7A9E94F37}"/>
              </a:ext>
            </a:extLst>
          </p:cNvPr>
          <p:cNvSpPr txBox="1"/>
          <p:nvPr/>
        </p:nvSpPr>
        <p:spPr>
          <a:xfrm>
            <a:off x="155448" y="6209704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중괄호 </a:t>
            </a:r>
            <a:r>
              <a:rPr lang="en-US" altLang="ko-KR" sz="1400">
                <a:solidFill>
                  <a:srgbClr val="FF0000"/>
                </a:solidFill>
              </a:rPr>
              <a:t>{ } </a:t>
            </a:r>
            <a:r>
              <a:rPr lang="ko-KR" altLang="en-US" sz="1400">
                <a:solidFill>
                  <a:srgbClr val="FF0000"/>
                </a:solidFill>
              </a:rPr>
              <a:t>사이는 </a:t>
            </a:r>
            <a:r>
              <a:rPr lang="en-US" altLang="ko-KR" sz="1400">
                <a:solidFill>
                  <a:srgbClr val="FF0000"/>
                </a:solidFill>
              </a:rPr>
              <a:t>Tab</a:t>
            </a:r>
            <a:r>
              <a:rPr lang="ko-KR" altLang="en-US" sz="1400">
                <a:solidFill>
                  <a:srgbClr val="FF0000"/>
                </a:solidFill>
              </a:rPr>
              <a:t>을 한 번 눌러 반드시 들여쓰기를 </a:t>
            </a:r>
            <a:r>
              <a:rPr lang="ko-KR" altLang="en-US" sz="1400" err="1">
                <a:solidFill>
                  <a:srgbClr val="FF0000"/>
                </a:solidFill>
              </a:rPr>
              <a:t>해야합니다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400" err="1">
                <a:solidFill>
                  <a:srgbClr val="FF0000"/>
                </a:solidFill>
              </a:rPr>
              <a:t>들여쓰지</a:t>
            </a:r>
            <a:r>
              <a:rPr lang="ko-KR" altLang="en-US" sz="1400">
                <a:solidFill>
                  <a:srgbClr val="FF0000"/>
                </a:solidFill>
              </a:rPr>
              <a:t> 않으면 가독성이 나빠져 수정하기가 매우 어렵게 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A64C4-9994-AD21-1451-DC253532353A}"/>
              </a:ext>
            </a:extLst>
          </p:cNvPr>
          <p:cNvSpPr txBox="1"/>
          <p:nvPr/>
        </p:nvSpPr>
        <p:spPr>
          <a:xfrm>
            <a:off x="471342" y="1680419"/>
            <a:ext cx="67872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hello_java_world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HelloJava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public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“Hello, Java World!”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365D38-E682-7435-01BC-3C1FC90A4A6C}"/>
              </a:ext>
            </a:extLst>
          </p:cNvPr>
          <p:cNvGrpSpPr/>
          <p:nvPr/>
        </p:nvGrpSpPr>
        <p:grpSpPr>
          <a:xfrm>
            <a:off x="9191135" y="1688228"/>
            <a:ext cx="4341932" cy="1088024"/>
            <a:chOff x="4872974" y="1989886"/>
            <a:chExt cx="4341932" cy="108802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C1A5E7-B739-267A-7F18-DFBEFA7D9A02}"/>
                </a:ext>
              </a:extLst>
            </p:cNvPr>
            <p:cNvSpPr txBox="1"/>
            <p:nvPr/>
          </p:nvSpPr>
          <p:spPr>
            <a:xfrm>
              <a:off x="4872974" y="1989886"/>
              <a:ext cx="1230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AC0758-C99E-E707-AF76-7A88294766B9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341BF4A-55C0-C086-16BD-444DC7CB665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4D30277-A0AD-6A85-9029-791CC7DBBE9B}"/>
              </a:ext>
            </a:extLst>
          </p:cNvPr>
          <p:cNvSpPr txBox="1"/>
          <p:nvPr/>
        </p:nvSpPr>
        <p:spPr>
          <a:xfrm>
            <a:off x="9503014" y="6213461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중괄호 </a:t>
            </a:r>
            <a:r>
              <a:rPr lang="en-US" altLang="ko-KR" sz="1400">
                <a:solidFill>
                  <a:srgbClr val="FF0000"/>
                </a:solidFill>
              </a:rPr>
              <a:t>{ } </a:t>
            </a:r>
            <a:r>
              <a:rPr lang="ko-KR" altLang="en-US" sz="1400">
                <a:solidFill>
                  <a:srgbClr val="FF0000"/>
                </a:solidFill>
              </a:rPr>
              <a:t>사이는 </a:t>
            </a:r>
            <a:r>
              <a:rPr lang="en-US" altLang="ko-KR" sz="1400">
                <a:solidFill>
                  <a:srgbClr val="FF0000"/>
                </a:solidFill>
              </a:rPr>
              <a:t>Tab</a:t>
            </a:r>
            <a:r>
              <a:rPr lang="ko-KR" altLang="en-US" sz="1400">
                <a:solidFill>
                  <a:srgbClr val="FF0000"/>
                </a:solidFill>
              </a:rPr>
              <a:t>을 한 번 눌러 반드시 들여쓰기를 </a:t>
            </a:r>
            <a:r>
              <a:rPr lang="ko-KR" altLang="en-US" sz="1400" err="1">
                <a:solidFill>
                  <a:srgbClr val="FF0000"/>
                </a:solidFill>
              </a:rPr>
              <a:t>해야합니다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400" err="1">
                <a:solidFill>
                  <a:srgbClr val="FF0000"/>
                </a:solidFill>
              </a:rPr>
              <a:t>들여쓰지</a:t>
            </a:r>
            <a:r>
              <a:rPr lang="ko-KR" altLang="en-US" sz="1400">
                <a:solidFill>
                  <a:srgbClr val="FF0000"/>
                </a:solidFill>
              </a:rPr>
              <a:t> 않으면 가독성이 나빠져 수정하기가 매우 어렵게 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598A7-F02A-1601-C903-4F4776013CA1}"/>
              </a:ext>
            </a:extLst>
          </p:cNvPr>
          <p:cNvSpPr txBox="1"/>
          <p:nvPr/>
        </p:nvSpPr>
        <p:spPr>
          <a:xfrm>
            <a:off x="155448" y="5614416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세미콜론은 명령을 </a:t>
            </a:r>
            <a:r>
              <a:rPr lang="ko-KR" altLang="en-US" sz="1400" err="1">
                <a:solidFill>
                  <a:srgbClr val="FF0000"/>
                </a:solidFill>
              </a:rPr>
              <a:t>구분짓습니다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  <a:p>
            <a:r>
              <a:rPr lang="ko-KR" altLang="en-US" sz="1400">
                <a:solidFill>
                  <a:srgbClr val="FF0000"/>
                </a:solidFill>
              </a:rPr>
              <a:t>하나의 명령이 종료되면 반드시 세미콜론을 작성해야 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8A6E3B-70C5-4036-5DB3-C6FC5147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148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HelloJava</a:t>
            </a:r>
            <a:r>
              <a:rPr lang="ko-KR" altLang="en-US">
                <a:latin typeface="+mj-ea"/>
                <a:ea typeface="+mj-ea"/>
              </a:rPr>
              <a:t> 완성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Ctrl + F11</a:t>
            </a:r>
            <a:r>
              <a:rPr lang="ko-KR" altLang="en-US">
                <a:latin typeface="+mj-ea"/>
                <a:ea typeface="+mj-ea"/>
              </a:rPr>
              <a:t>을 눌러 실행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365D38-E682-7435-01BC-3C1FC90A4A6C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C1A5E7-B739-267A-7F18-DFBEFA7D9A02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AC0758-C99E-E707-AF76-7A88294766B9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341BF4A-55C0-C086-16BD-444DC7CB665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C2AB1A6-D4E5-2B12-B43A-0C28B8A2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2" y="2645356"/>
            <a:ext cx="8040497" cy="108826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5CB76D-6189-D885-A109-62D990755AD2}"/>
              </a:ext>
            </a:extLst>
          </p:cNvPr>
          <p:cNvGrpSpPr/>
          <p:nvPr/>
        </p:nvGrpSpPr>
        <p:grpSpPr>
          <a:xfrm>
            <a:off x="471342" y="4086122"/>
            <a:ext cx="6924335" cy="1112711"/>
            <a:chOff x="4898273" y="1965199"/>
            <a:chExt cx="6924335" cy="11127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A814F8-4FA5-9CA6-4954-897AD5D981D3}"/>
                </a:ext>
              </a:extLst>
            </p:cNvPr>
            <p:cNvSpPr txBox="1"/>
            <p:nvPr/>
          </p:nvSpPr>
          <p:spPr>
            <a:xfrm>
              <a:off x="4898273" y="1965199"/>
              <a:ext cx="54411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public</a:t>
              </a:r>
              <a:r>
                <a:rPr lang="ko-KR" altLang="en-US" sz="2400" b="1"/>
                <a:t> </a:t>
              </a:r>
              <a:r>
                <a:rPr lang="en-US" altLang="ko-KR" sz="2400" b="1"/>
                <a:t>static</a:t>
              </a:r>
              <a:r>
                <a:rPr lang="ko-KR" altLang="en-US" sz="2400" b="1"/>
                <a:t> </a:t>
              </a:r>
              <a:r>
                <a:rPr lang="en-US" altLang="ko-KR" sz="2400" b="1"/>
                <a:t>void</a:t>
              </a:r>
              <a:r>
                <a:rPr lang="ko-KR" altLang="en-US" sz="2400" b="1"/>
                <a:t> </a:t>
              </a:r>
              <a:r>
                <a:rPr lang="en-US" altLang="ko-KR" sz="2400" b="1"/>
                <a:t>main(String[]</a:t>
              </a:r>
              <a:r>
                <a:rPr lang="ko-KR" altLang="en-US" sz="2400" b="1"/>
                <a:t> </a:t>
              </a:r>
              <a:r>
                <a:rPr lang="en-US" altLang="ko-KR" sz="2400" b="1"/>
                <a:t>args)</a:t>
              </a:r>
              <a:r>
                <a:rPr lang="ko-KR" altLang="en-US" sz="2400" b="1"/>
                <a:t> </a:t>
              </a:r>
              <a:r>
                <a:rPr lang="en-US" altLang="ko-KR" sz="2400" b="1"/>
                <a:t>{</a:t>
              </a:r>
              <a:r>
                <a:rPr lang="ko-KR" altLang="en-US" sz="2400" b="1"/>
                <a:t> </a:t>
              </a:r>
              <a:r>
                <a:rPr lang="en-US" altLang="ko-KR" sz="2400" b="1"/>
                <a:t>...</a:t>
              </a:r>
              <a:r>
                <a:rPr lang="ko-KR" altLang="en-US" sz="2400" b="1"/>
                <a:t> </a:t>
              </a:r>
              <a:r>
                <a:rPr lang="en-US" altLang="ko-KR" sz="2400" b="1"/>
                <a:t>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E52DA1-E3B4-F72F-5367-B4550C053A8D}"/>
                </a:ext>
              </a:extLst>
            </p:cNvPr>
            <p:cNvSpPr txBox="1"/>
            <p:nvPr/>
          </p:nvSpPr>
          <p:spPr>
            <a:xfrm>
              <a:off x="5021579" y="2431579"/>
              <a:ext cx="68010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err="1"/>
                <a:t>HelloJava</a:t>
              </a:r>
              <a:r>
                <a:rPr lang="en-US" altLang="ko-KR"/>
                <a:t> </a:t>
              </a:r>
              <a:r>
                <a:rPr lang="ko-KR" altLang="en-US"/>
                <a:t>파일을 실행시키는 코드 입니다</a:t>
              </a:r>
              <a:r>
                <a:rPr lang="en-US" altLang="ko-KR"/>
                <a:t>. </a:t>
              </a:r>
            </a:p>
            <a:p>
              <a:r>
                <a:rPr lang="ko-KR" altLang="en-US"/>
                <a:t>이 코드가 없거나 </a:t>
              </a:r>
              <a:r>
                <a:rPr lang="ko-KR" altLang="en-US" err="1"/>
                <a:t>오탈자가</a:t>
              </a:r>
              <a:r>
                <a:rPr lang="ko-KR" altLang="en-US"/>
                <a:t> 있다면 </a:t>
              </a:r>
              <a:r>
                <a:rPr lang="en-US" altLang="ko-KR" err="1"/>
                <a:t>HelloJava</a:t>
              </a:r>
              <a:r>
                <a:rPr lang="ko-KR" altLang="en-US"/>
                <a:t>는 실행되지 않습니다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048F2B7-C923-08C5-DFA3-1245BC14505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E553B0E-856C-B914-4012-D040315F20AA}"/>
              </a:ext>
            </a:extLst>
          </p:cNvPr>
          <p:cNvGrpSpPr/>
          <p:nvPr/>
        </p:nvGrpSpPr>
        <p:grpSpPr>
          <a:xfrm>
            <a:off x="480768" y="5494012"/>
            <a:ext cx="5944321" cy="779151"/>
            <a:chOff x="4907700" y="2021760"/>
            <a:chExt cx="5944321" cy="7791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F6E3C2-149E-E6D7-3505-C6797A65A346}"/>
                </a:ext>
              </a:extLst>
            </p:cNvPr>
            <p:cNvSpPr txBox="1"/>
            <p:nvPr/>
          </p:nvSpPr>
          <p:spPr>
            <a:xfrm>
              <a:off x="4907700" y="2021760"/>
              <a:ext cx="3302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System.out.println(“...”);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BB6FC8-559A-13DE-2303-817AA4AB78A6}"/>
                </a:ext>
              </a:extLst>
            </p:cNvPr>
            <p:cNvSpPr txBox="1"/>
            <p:nvPr/>
          </p:nvSpPr>
          <p:spPr>
            <a:xfrm>
              <a:off x="5021579" y="2431579"/>
              <a:ext cx="5830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큰 따옴표 안의 내용을 </a:t>
              </a:r>
              <a:r>
                <a:rPr lang="en-US" altLang="ko-KR"/>
                <a:t>“</a:t>
              </a:r>
              <a:r>
                <a:rPr lang="ko-KR" altLang="en-US"/>
                <a:t>콘솔</a:t>
              </a:r>
              <a:r>
                <a:rPr lang="en-US" altLang="ko-KR"/>
                <a:t>”</a:t>
              </a:r>
              <a:r>
                <a:rPr lang="ko-KR" altLang="en-US"/>
                <a:t>에 출력시키는 코드입니다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B60BB0-34EC-1498-73E7-E7A3DB16E865}"/>
                </a:ext>
              </a:extLst>
            </p:cNvPr>
            <p:cNvSpPr/>
            <p:nvPr/>
          </p:nvSpPr>
          <p:spPr>
            <a:xfrm>
              <a:off x="4998720" y="2417998"/>
              <a:ext cx="6096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CC6E0-AF62-52B0-8A7A-1C536C42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338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A2AED-D48C-C3CF-5B96-3CBDCD70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B9DFEF-0B54-1E39-2FD6-3A8ED514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https://www.acmicpc.net/problem/2557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https://www.acmicpc.net/problem/10171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https://www.acmicpc.net/problem/10172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B0FFE10-5079-5758-6786-F83EEC7A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8609124-8116-E8AC-00B2-071AA3CEE1E2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EF77A1-A1F8-5C90-6FC0-0DFFA2A88EED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B28F4C-665B-F721-169C-EE3897B36603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FE49453-5DC4-375E-982F-273318E0C3A8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620EF6-B39F-2926-A45A-6605A916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68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2. </a:t>
            </a:r>
            <a:r>
              <a:rPr lang="ko-KR" altLang="en-US" sz="4000" b="1">
                <a:latin typeface="+mj-ea"/>
              </a:rPr>
              <a:t>자료형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C42BCED-AE2E-BEA3-51C5-7D6E3163E405}"/>
              </a:ext>
            </a:extLst>
          </p:cNvPr>
          <p:cNvSpPr txBox="1">
            <a:spLocks/>
          </p:cNvSpPr>
          <p:nvPr/>
        </p:nvSpPr>
        <p:spPr>
          <a:xfrm>
            <a:off x="203200" y="3374627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숫자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,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문자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,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불린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441C6-4995-3926-B917-EA060085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0287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자료형이란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메모리</a:t>
            </a:r>
            <a:r>
              <a:rPr lang="en-US" altLang="ko-KR">
                <a:latin typeface="+mj-ea"/>
                <a:ea typeface="+mj-ea"/>
              </a:rPr>
              <a:t>(Ram)</a:t>
            </a:r>
            <a:r>
              <a:rPr lang="ko-KR" altLang="en-US">
                <a:latin typeface="+mj-ea"/>
                <a:ea typeface="+mj-ea"/>
              </a:rPr>
              <a:t>에 데이터를 할당하기 위한 타입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자료형은 크게 두 가지로 분류됩니다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자료형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F5352996-0CEC-1B0B-949F-3CE19D8AF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4" y="2921322"/>
            <a:ext cx="5261559" cy="179001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4C5652A-C4E0-C236-4021-41186830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22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의 구분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자료형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400593" y="4896015"/>
            <a:ext cx="7823940" cy="1389710"/>
            <a:chOff x="4898273" y="1965199"/>
            <a:chExt cx="7823940" cy="13897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3161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숫자 타입의 지정 방법</a:t>
              </a:r>
              <a:endParaRPr lang="en-US" altLang="ko-KR" sz="24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770063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byte, short </a:t>
              </a:r>
              <a:r>
                <a:rPr lang="ko-KR" altLang="en-US"/>
                <a:t>타입은 잘 사용되지 않습니다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일반적으로 </a:t>
              </a:r>
              <a:r>
                <a:rPr lang="en-US" altLang="ko-KR"/>
                <a:t>10</a:t>
              </a:r>
              <a:r>
                <a:rPr lang="ko-KR" altLang="en-US"/>
                <a:t>억 미만의 수는 </a:t>
              </a:r>
              <a:r>
                <a:rPr lang="en-US" altLang="ko-KR"/>
                <a:t>int</a:t>
              </a:r>
              <a:r>
                <a:rPr lang="ko-KR" altLang="en-US"/>
                <a:t>를</a:t>
              </a:r>
              <a:r>
                <a:rPr lang="en-US" altLang="ko-KR"/>
                <a:t>, 10</a:t>
              </a:r>
              <a:r>
                <a:rPr lang="ko-KR" altLang="en-US"/>
                <a:t>억 이상의 수는 </a:t>
              </a:r>
              <a:r>
                <a:rPr lang="en-US" altLang="ko-KR"/>
                <a:t>long</a:t>
              </a:r>
              <a:r>
                <a:rPr lang="ko-KR" altLang="en-US"/>
                <a:t>을 사용합니다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부동소수점 </a:t>
              </a:r>
              <a:r>
                <a:rPr lang="en-US" altLang="ko-KR"/>
                <a:t>float, double</a:t>
              </a:r>
              <a:r>
                <a:rPr lang="ko-KR" altLang="en-US"/>
                <a:t>의 차이는 소수점이하의 길이의 차이만 존재합니다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19" y="2417997"/>
              <a:ext cx="61200" cy="9233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C268A37C-3DF2-D331-EBE1-F06B79CD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93" y="1705667"/>
            <a:ext cx="8226320" cy="290433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1748DC71-DD29-5706-531A-5403AE764EFA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EB4944-066F-FBDC-F668-67D8FF1A9A59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DDE76E-58C9-F47E-EF10-F673630CA01D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83EC1C1-BD4B-6C3E-EE50-B0C0EC2D08D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0057183-4966-77FA-53E5-93CE8A10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4079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3. </a:t>
            </a:r>
            <a:r>
              <a:rPr lang="ko-KR" altLang="en-US" sz="4000" b="1" dirty="0">
                <a:latin typeface="+mj-ea"/>
              </a:rPr>
              <a:t>변수와 변수의 범위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0FC0A4-5539-372D-E4C9-F3DFA47A68F1}"/>
              </a:ext>
            </a:extLst>
          </p:cNvPr>
          <p:cNvSpPr txBox="1">
            <a:spLocks/>
          </p:cNvSpPr>
          <p:nvPr/>
        </p:nvSpPr>
        <p:spPr>
          <a:xfrm>
            <a:off x="203200" y="3429000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메모리 주소의 별칭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(Alias)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ACBB3-62A9-17E5-EDC5-274B3F80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544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데이터가 할당된 메모리 주소의 별칭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변수의 이름으로 메모리 주소에 접근이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변수는 정의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값 할당 부분으로 구성됩니다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8D2D00A-BFA5-E1B1-5D53-7EDB26A050CD}"/>
              </a:ext>
            </a:extLst>
          </p:cNvPr>
          <p:cNvGrpSpPr/>
          <p:nvPr/>
        </p:nvGrpSpPr>
        <p:grpSpPr>
          <a:xfrm>
            <a:off x="824039" y="2828088"/>
            <a:ext cx="7965517" cy="1389710"/>
            <a:chOff x="4898273" y="1965199"/>
            <a:chExt cx="7965517" cy="138971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F5895E-B6BA-00FF-E749-C6D548DF7AB7}"/>
                </a:ext>
              </a:extLst>
            </p:cNvPr>
            <p:cNvSpPr txBox="1"/>
            <p:nvPr/>
          </p:nvSpPr>
          <p:spPr>
            <a:xfrm>
              <a:off x="4898273" y="1965199"/>
              <a:ext cx="17924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변수의 정의</a:t>
              </a:r>
              <a:endParaRPr lang="en-US" altLang="ko-KR" sz="2400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885BF4-2CAD-C28B-E2DB-327B6B3660CC}"/>
                </a:ext>
              </a:extLst>
            </p:cNvPr>
            <p:cNvSpPr txBox="1"/>
            <p:nvPr/>
          </p:nvSpPr>
          <p:spPr>
            <a:xfrm>
              <a:off x="5021579" y="2431579"/>
              <a:ext cx="784221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아래와 같은 </a:t>
              </a:r>
              <a:r>
                <a:rPr lang="ko-KR" altLang="en-US" err="1"/>
                <a:t>포멧으로</a:t>
              </a:r>
              <a:r>
                <a:rPr lang="ko-KR" altLang="en-US"/>
                <a:t> 정의합니다</a:t>
              </a:r>
              <a:r>
                <a:rPr lang="en-US" altLang="ko-KR"/>
                <a:t>. </a:t>
              </a:r>
              <a:r>
                <a:rPr lang="en-US" altLang="ko-KR">
                  <a:solidFill>
                    <a:srgbClr val="FF0000"/>
                  </a:solidFill>
                </a:rPr>
                <a:t>(</a:t>
              </a:r>
              <a:r>
                <a:rPr lang="ko-KR" altLang="en-US">
                  <a:solidFill>
                    <a:srgbClr val="FF0000"/>
                  </a:solidFill>
                </a:rPr>
                <a:t>같은 이름의 변수는 정의할 수 없습니다</a:t>
              </a:r>
              <a:r>
                <a:rPr lang="en-US" altLang="ko-KR">
                  <a:solidFill>
                    <a:srgbClr val="FF0000"/>
                  </a:solidFill>
                </a:rPr>
                <a:t>.)</a:t>
              </a:r>
            </a:p>
            <a:p>
              <a:r>
                <a:rPr lang="ko-KR" altLang="en-US" b="1">
                  <a:highlight>
                    <a:srgbClr val="FFFF00"/>
                  </a:highlight>
                </a:rPr>
                <a:t>자료형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</a:t>
              </a:r>
              <a:r>
                <a:rPr lang="en-US" altLang="ko-KR" b="1"/>
                <a:t>int</a:t>
              </a:r>
              <a:r>
                <a:rPr lang="en-US" altLang="ko-KR"/>
                <a:t> number;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483CB5-5C2D-BC6B-5E12-5099CB6ED0C4}"/>
                </a:ext>
              </a:extLst>
            </p:cNvPr>
            <p:cNvSpPr/>
            <p:nvPr/>
          </p:nvSpPr>
          <p:spPr>
            <a:xfrm>
              <a:off x="4998720" y="2417997"/>
              <a:ext cx="61200" cy="9233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7D25C12-AED8-B18F-5105-FAA58FC571C6}"/>
              </a:ext>
            </a:extLst>
          </p:cNvPr>
          <p:cNvGrpSpPr/>
          <p:nvPr/>
        </p:nvGrpSpPr>
        <p:grpSpPr>
          <a:xfrm>
            <a:off x="824039" y="4402770"/>
            <a:ext cx="6098019" cy="2359206"/>
            <a:chOff x="4898273" y="1965199"/>
            <a:chExt cx="6098019" cy="23592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89328D-088A-3225-62D0-C984631FB3A3}"/>
                </a:ext>
              </a:extLst>
            </p:cNvPr>
            <p:cNvSpPr txBox="1"/>
            <p:nvPr/>
          </p:nvSpPr>
          <p:spPr>
            <a:xfrm>
              <a:off x="4898273" y="1965199"/>
              <a:ext cx="18614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변수 값 할당</a:t>
              </a:r>
              <a:endParaRPr lang="en-US" altLang="ko-KR" sz="2400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04F81B-4C56-BAC0-AF24-306F5D397E72}"/>
                </a:ext>
              </a:extLst>
            </p:cNvPr>
            <p:cNvSpPr txBox="1"/>
            <p:nvPr/>
          </p:nvSpPr>
          <p:spPr>
            <a:xfrm>
              <a:off x="5021579" y="2431579"/>
              <a:ext cx="5974713" cy="1892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이미 정의된 변수에 값을 할당할 때에 아래와 같이 합니다</a:t>
              </a:r>
              <a:r>
                <a:rPr lang="en-US" altLang="ko-KR"/>
                <a:t>.</a:t>
              </a:r>
            </a:p>
            <a:p>
              <a:r>
                <a:rPr lang="ko-KR" altLang="en-US" b="1" err="1">
                  <a:highlight>
                    <a:srgbClr val="FFFF00"/>
                  </a:highlight>
                </a:rPr>
                <a:t>변수명</a:t>
              </a:r>
              <a:r>
                <a:rPr lang="ko-KR" altLang="en-US" b="1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</a:t>
              </a:r>
              <a:r>
                <a:rPr lang="ko-KR" altLang="en-US">
                  <a:highlight>
                    <a:srgbClr val="FFFF00"/>
                  </a:highlight>
                </a:rPr>
                <a:t>값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</a:t>
              </a:r>
              <a:r>
                <a:rPr lang="en-US" altLang="ko-KR" b="1"/>
                <a:t>number</a:t>
              </a:r>
              <a:r>
                <a:rPr lang="ko-KR" altLang="en-US"/>
                <a:t> </a:t>
              </a:r>
              <a:r>
                <a:rPr lang="en-US" altLang="ko-KR"/>
                <a:t>=</a:t>
              </a:r>
              <a:r>
                <a:rPr lang="ko-KR" altLang="en-US"/>
                <a:t> </a:t>
              </a:r>
              <a:r>
                <a:rPr lang="en-US" altLang="ko-KR"/>
                <a:t>10;</a:t>
              </a:r>
            </a:p>
            <a:p>
              <a:pPr>
                <a:lnSpc>
                  <a:spcPct val="150000"/>
                </a:lnSpc>
              </a:pPr>
              <a:r>
                <a:rPr lang="ko-KR" altLang="en-US"/>
                <a:t>변수의 정의와 할당을 동시에 할 수도 있습니다</a:t>
              </a:r>
              <a:r>
                <a:rPr lang="en-US" altLang="ko-KR"/>
                <a:t>.</a:t>
              </a:r>
            </a:p>
            <a:p>
              <a:r>
                <a:rPr lang="ko-KR" altLang="en-US">
                  <a:highlight>
                    <a:srgbClr val="FFFF00"/>
                  </a:highlight>
                </a:rPr>
                <a:t>자료형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</a:t>
              </a:r>
              <a:r>
                <a:rPr lang="ko-KR" altLang="en-US">
                  <a:highlight>
                    <a:srgbClr val="FFFF00"/>
                  </a:highlight>
                </a:rPr>
                <a:t>값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int number = 5;</a:t>
              </a:r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06429BA-FF28-6B60-5C5E-58AD0A7AB9BE}"/>
                </a:ext>
              </a:extLst>
            </p:cNvPr>
            <p:cNvSpPr/>
            <p:nvPr/>
          </p:nvSpPr>
          <p:spPr>
            <a:xfrm>
              <a:off x="4998720" y="2417996"/>
              <a:ext cx="61200" cy="189282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1E90CD6-A434-EEAD-CC2E-C4695177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097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 변수의 선언과 할당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10;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20;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30L;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350189-5426-6E6E-770A-3A7332AD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3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임의의 메모리에 바이트 확보 후 값 할당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10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20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30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1217342-5748-66FD-317C-17CBFB4D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99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각 메모리 주소에 </a:t>
            </a:r>
            <a:r>
              <a:rPr lang="ko-KR" altLang="en-US" err="1">
                <a:latin typeface="+mj-ea"/>
                <a:ea typeface="+mj-ea"/>
              </a:rPr>
              <a:t>변수명</a:t>
            </a:r>
            <a:r>
              <a:rPr lang="ko-KR" altLang="en-US">
                <a:latin typeface="+mj-ea"/>
                <a:ea typeface="+mj-ea"/>
              </a:rPr>
              <a:t> 매칭</a:t>
            </a:r>
            <a:r>
              <a:rPr lang="en-US" altLang="ko-KR">
                <a:latin typeface="+mj-ea"/>
                <a:ea typeface="+mj-ea"/>
              </a:rPr>
              <a:t>. (</a:t>
            </a:r>
            <a:r>
              <a:rPr lang="ko-KR" altLang="en-US">
                <a:latin typeface="+mj-ea"/>
                <a:ea typeface="+mj-ea"/>
              </a:rPr>
              <a:t>별칭 부여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10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20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30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6ADF4-DCFB-681B-E4E9-3ADA6A341C83}"/>
              </a:ext>
            </a:extLst>
          </p:cNvPr>
          <p:cNvSpPr txBox="1"/>
          <p:nvPr/>
        </p:nvSpPr>
        <p:spPr>
          <a:xfrm>
            <a:off x="906307" y="2923603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1;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0B7C8-976E-D13D-CFA6-C4361984751D}"/>
              </a:ext>
            </a:extLst>
          </p:cNvPr>
          <p:cNvSpPr txBox="1"/>
          <p:nvPr/>
        </p:nvSpPr>
        <p:spPr>
          <a:xfrm>
            <a:off x="5477168" y="3593097"/>
            <a:ext cx="3475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4BBE0-7DA7-45B2-AE79-2721ED80023D}"/>
              </a:ext>
            </a:extLst>
          </p:cNvPr>
          <p:cNvSpPr txBox="1"/>
          <p:nvPr/>
        </p:nvSpPr>
        <p:spPr>
          <a:xfrm>
            <a:off x="4882549" y="2293282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AC264-A13F-DCE9-1F60-B6238D22237B}"/>
              </a:ext>
            </a:extLst>
          </p:cNvPr>
          <p:cNvSpPr txBox="1"/>
          <p:nvPr/>
        </p:nvSpPr>
        <p:spPr>
          <a:xfrm>
            <a:off x="3050798" y="4764201"/>
            <a:ext cx="3271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30L;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3CF606-0578-895D-CF66-BD72B116B606}"/>
              </a:ext>
            </a:extLst>
          </p:cNvPr>
          <p:cNvCxnSpPr>
            <a:cxnSpLocks/>
            <a:stCxn id="26" idx="2"/>
            <a:endCxn id="23" idx="0"/>
          </p:cNvCxnSpPr>
          <p:nvPr/>
        </p:nvCxnSpPr>
        <p:spPr>
          <a:xfrm>
            <a:off x="2376347" y="3292935"/>
            <a:ext cx="523609" cy="4527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BF75219-BCE5-B8A0-2DB0-EEB508BFF146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flipH="1">
            <a:off x="5939251" y="2662614"/>
            <a:ext cx="413338" cy="294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5F26E9D-021D-05E1-7D28-0C7D8223D5E3}"/>
              </a:ext>
            </a:extLst>
          </p:cNvPr>
          <p:cNvCxnSpPr>
            <a:cxnSpLocks/>
            <a:stCxn id="22" idx="0"/>
            <a:endCxn id="28" idx="1"/>
          </p:cNvCxnSpPr>
          <p:nvPr/>
        </p:nvCxnSpPr>
        <p:spPr>
          <a:xfrm flipV="1">
            <a:off x="4577546" y="3777763"/>
            <a:ext cx="899622" cy="2873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123CC07-2FFE-EE4B-16F2-8CC7A347E096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 flipH="1">
            <a:off x="4577546" y="5133533"/>
            <a:ext cx="108759" cy="1774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51A8F4-ADD1-B546-E6AE-D807B5AFF2A8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73FB20-4D4C-5F21-8ABB-F799B4F0CCEC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9FA37E-B67C-6D73-5D00-3B92FFA02052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191E7-E5B1-422F-D208-0F3D65096D98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0F06C79-A3F3-CF24-4896-ED10F3F2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83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1898471" y="5293826"/>
              <a:ext cx="55038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0000000        0000000        0000000        0000000        0000000      00000000      00000000       00011110</a:t>
              </a:r>
              <a:endParaRPr lang="ko-KR" altLang="en-US" sz="1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571626" y="3618957"/>
              <a:ext cx="73609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/>
                <a:t>00000001</a:t>
              </a:r>
              <a:endParaRPr lang="ko-KR" altLang="en-US" sz="1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599633" y="2970252"/>
              <a:ext cx="27783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/>
                <a:t>00000000      00000000     00000000      00010100</a:t>
              </a:r>
              <a:endParaRPr lang="ko-KR" altLang="en-US" sz="10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3846386" y="3967446"/>
              <a:ext cx="1465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00000000     00001010</a:t>
              </a:r>
              <a:endParaRPr lang="ko-KR" altLang="en-US" sz="1000"/>
            </a:p>
          </p:txBody>
        </p: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D8CB809-5B29-9967-43EE-82F045D57C32}"/>
              </a:ext>
            </a:extLst>
          </p:cNvPr>
          <p:cNvCxnSpPr>
            <a:cxnSpLocks/>
            <a:stCxn id="67" idx="0"/>
            <a:endCxn id="71" idx="1"/>
          </p:cNvCxnSpPr>
          <p:nvPr/>
        </p:nvCxnSpPr>
        <p:spPr>
          <a:xfrm flipV="1">
            <a:off x="4577546" y="3777763"/>
            <a:ext cx="899622" cy="3396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실제로는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진수가 저장된다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546C441-F76E-F765-AB7B-4E3AE8FD2FEF}"/>
              </a:ext>
            </a:extLst>
          </p:cNvPr>
          <p:cNvSpPr txBox="1"/>
          <p:nvPr/>
        </p:nvSpPr>
        <p:spPr>
          <a:xfrm>
            <a:off x="5434144" y="3053025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6216D6-A8AE-859D-413A-09709252D7AE}"/>
              </a:ext>
            </a:extLst>
          </p:cNvPr>
          <p:cNvSpPr txBox="1"/>
          <p:nvPr/>
        </p:nvSpPr>
        <p:spPr>
          <a:xfrm>
            <a:off x="4002708" y="4117408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023A49-5403-B1C5-5340-8C0E0FBAAAEB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14649E-5B3F-54CE-CEA7-13AA27D24BE6}"/>
              </a:ext>
            </a:extLst>
          </p:cNvPr>
          <p:cNvSpPr txBox="1"/>
          <p:nvPr/>
        </p:nvSpPr>
        <p:spPr>
          <a:xfrm>
            <a:off x="4025952" y="5485160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9B4609-F1AE-AE80-4659-CFF5BCFD0E86}"/>
              </a:ext>
            </a:extLst>
          </p:cNvPr>
          <p:cNvSpPr txBox="1"/>
          <p:nvPr/>
        </p:nvSpPr>
        <p:spPr>
          <a:xfrm>
            <a:off x="906307" y="2923603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1;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A35F22-D440-DC59-BEF1-21DCF0F69563}"/>
              </a:ext>
            </a:extLst>
          </p:cNvPr>
          <p:cNvSpPr txBox="1"/>
          <p:nvPr/>
        </p:nvSpPr>
        <p:spPr>
          <a:xfrm>
            <a:off x="5477168" y="3593097"/>
            <a:ext cx="3475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183AD1-483A-B3A2-07E0-4504EE1E1FC5}"/>
              </a:ext>
            </a:extLst>
          </p:cNvPr>
          <p:cNvSpPr txBox="1"/>
          <p:nvPr/>
        </p:nvSpPr>
        <p:spPr>
          <a:xfrm>
            <a:off x="4882549" y="2293282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308F5-AFC3-0E95-4D6F-59D59A10D948}"/>
              </a:ext>
            </a:extLst>
          </p:cNvPr>
          <p:cNvSpPr txBox="1"/>
          <p:nvPr/>
        </p:nvSpPr>
        <p:spPr>
          <a:xfrm>
            <a:off x="3050798" y="4764201"/>
            <a:ext cx="3271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30L;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066E7D3-E1EC-82B3-92E0-65E8D19296AB}"/>
              </a:ext>
            </a:extLst>
          </p:cNvPr>
          <p:cNvCxnSpPr>
            <a:cxnSpLocks/>
            <a:stCxn id="70" idx="2"/>
            <a:endCxn id="68" idx="0"/>
          </p:cNvCxnSpPr>
          <p:nvPr/>
        </p:nvCxnSpPr>
        <p:spPr>
          <a:xfrm>
            <a:off x="2376347" y="3292935"/>
            <a:ext cx="523609" cy="4527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6182A76-0B1C-0C80-82D3-1077FE9F5AC1}"/>
              </a:ext>
            </a:extLst>
          </p:cNvPr>
          <p:cNvCxnSpPr>
            <a:cxnSpLocks/>
            <a:stCxn id="72" idx="2"/>
            <a:endCxn id="66" idx="0"/>
          </p:cNvCxnSpPr>
          <p:nvPr/>
        </p:nvCxnSpPr>
        <p:spPr>
          <a:xfrm flipH="1">
            <a:off x="5939251" y="2662614"/>
            <a:ext cx="413338" cy="390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D0A6948-17A0-9DB7-5B09-B1F2E068EDC7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 flipH="1">
            <a:off x="4577546" y="5133533"/>
            <a:ext cx="108759" cy="3516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117FAFC-7F81-0375-3716-C5D1B94F40A6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363F56-1B4D-9067-8A8D-B1B0699EE431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D39B64-934C-83C6-A120-F478BB77FC5C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9C8EB3-CA06-20A7-250F-6F2E0D8651A6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E1218DF-F0FD-BA9B-38E8-09D40ED9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433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 변수의 재할당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값 수정</a:t>
            </a:r>
            <a:r>
              <a:rPr lang="en-US" altLang="ko-KR">
                <a:latin typeface="+mj-ea"/>
                <a:ea typeface="+mj-ea"/>
              </a:rPr>
              <a:t>).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byte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1;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short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10;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20;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30L;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31L;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DD301CA-E7FC-9394-2504-4EFFA2B7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470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변수가 가리키고 있는 메모리 주소의 데이터가 변경된다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11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21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31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6ADF4-DCFB-681B-E4E9-3ADA6A341C83}"/>
              </a:ext>
            </a:extLst>
          </p:cNvPr>
          <p:cNvSpPr txBox="1"/>
          <p:nvPr/>
        </p:nvSpPr>
        <p:spPr>
          <a:xfrm>
            <a:off x="906307" y="2923603"/>
            <a:ext cx="21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2;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0B7C8-976E-D13D-CFA6-C4361984751D}"/>
              </a:ext>
            </a:extLst>
          </p:cNvPr>
          <p:cNvSpPr txBox="1"/>
          <p:nvPr/>
        </p:nvSpPr>
        <p:spPr>
          <a:xfrm>
            <a:off x="5477169" y="3593097"/>
            <a:ext cx="241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4BBE0-7DA7-45B2-AE79-2721ED80023D}"/>
              </a:ext>
            </a:extLst>
          </p:cNvPr>
          <p:cNvSpPr txBox="1"/>
          <p:nvPr/>
        </p:nvSpPr>
        <p:spPr>
          <a:xfrm>
            <a:off x="4882550" y="2293282"/>
            <a:ext cx="2145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AC264-A13F-DCE9-1F60-B6238D22237B}"/>
              </a:ext>
            </a:extLst>
          </p:cNvPr>
          <p:cNvSpPr txBox="1"/>
          <p:nvPr/>
        </p:nvSpPr>
        <p:spPr>
          <a:xfrm>
            <a:off x="3050798" y="4764201"/>
            <a:ext cx="242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31L;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3CF606-0578-895D-CF66-BD72B116B606}"/>
              </a:ext>
            </a:extLst>
          </p:cNvPr>
          <p:cNvCxnSpPr>
            <a:cxnSpLocks/>
            <a:stCxn id="26" idx="2"/>
            <a:endCxn id="23" idx="0"/>
          </p:cNvCxnSpPr>
          <p:nvPr/>
        </p:nvCxnSpPr>
        <p:spPr>
          <a:xfrm>
            <a:off x="1978553" y="3292935"/>
            <a:ext cx="921403" cy="4527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BF75219-BCE5-B8A0-2DB0-EEB508BFF146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flipH="1">
            <a:off x="5939251" y="2662614"/>
            <a:ext cx="15933" cy="294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5F26E9D-021D-05E1-7D28-0C7D8223D5E3}"/>
              </a:ext>
            </a:extLst>
          </p:cNvPr>
          <p:cNvCxnSpPr>
            <a:cxnSpLocks/>
            <a:stCxn id="22" idx="0"/>
            <a:endCxn id="28" idx="1"/>
          </p:cNvCxnSpPr>
          <p:nvPr/>
        </p:nvCxnSpPr>
        <p:spPr>
          <a:xfrm flipV="1">
            <a:off x="4577546" y="3777763"/>
            <a:ext cx="899623" cy="2873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123CC07-2FFE-EE4B-16F2-8CC7A347E096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>
            <a:off x="4263984" y="5133533"/>
            <a:ext cx="313562" cy="1774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51A8F4-ADD1-B546-E6AE-D807B5AFF2A8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73FB20-4D4C-5F21-8ABB-F799B4F0CCEC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9FA37E-B67C-6D73-5D00-3B92FFA02052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191E7-E5B1-422F-D208-0F3D65096D98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548E8B-4E56-59EF-5C77-A03A65B4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30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4680372D-C57E-A3F7-CB1E-0D0CAD09C31E}"/>
              </a:ext>
            </a:extLst>
          </p:cNvPr>
          <p:cNvGrpSpPr/>
          <p:nvPr/>
        </p:nvGrpSpPr>
        <p:grpSpPr>
          <a:xfrm>
            <a:off x="1090125" y="2478999"/>
            <a:ext cx="6963747" cy="3096057"/>
            <a:chOff x="1090126" y="2518359"/>
            <a:chExt cx="6963747" cy="309605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E182CD5-567C-E67C-FD3F-0CC06908B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82DDA-B767-33C3-3DEA-8DF667AA7E11}"/>
                </a:ext>
              </a:extLst>
            </p:cNvPr>
            <p:cNvSpPr txBox="1"/>
            <p:nvPr/>
          </p:nvSpPr>
          <p:spPr>
            <a:xfrm>
              <a:off x="1898471" y="5293826"/>
              <a:ext cx="55038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0000000        0000000        0000000        0000000        0000000      00000000      00000000       00011111</a:t>
              </a:r>
              <a:endParaRPr lang="ko-KR" altLang="en-US" sz="1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233353-243B-A57D-3632-758718C67375}"/>
                </a:ext>
              </a:extLst>
            </p:cNvPr>
            <p:cNvSpPr txBox="1"/>
            <p:nvPr/>
          </p:nvSpPr>
          <p:spPr>
            <a:xfrm>
              <a:off x="2571626" y="3609432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/>
                <a:t>00000010</a:t>
              </a:r>
              <a:endParaRPr lang="ko-KR" altLang="en-US" sz="1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DDBF00-F6B1-EF0A-59FD-39957EEDFD4F}"/>
                </a:ext>
              </a:extLst>
            </p:cNvPr>
            <p:cNvSpPr txBox="1"/>
            <p:nvPr/>
          </p:nvSpPr>
          <p:spPr>
            <a:xfrm>
              <a:off x="4599633" y="2960727"/>
              <a:ext cx="27783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/>
                <a:t>00000000      00000000     00000000      00010101</a:t>
              </a:r>
              <a:endParaRPr lang="ko-KR" altLang="en-US" sz="1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5B01A1-8D0C-2809-49D2-A4A6EA0C96F1}"/>
                </a:ext>
              </a:extLst>
            </p:cNvPr>
            <p:cNvSpPr txBox="1"/>
            <p:nvPr/>
          </p:nvSpPr>
          <p:spPr>
            <a:xfrm>
              <a:off x="3846386" y="3967446"/>
              <a:ext cx="1465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00000000     00001011</a:t>
              </a:r>
              <a:endParaRPr lang="ko-KR" altLang="en-US" sz="1000"/>
            </a:p>
          </p:txBody>
        </p:sp>
      </p:grp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실제로는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진수가 저장된다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D8CB809-5B29-9967-43EE-82F045D57C32}"/>
              </a:ext>
            </a:extLst>
          </p:cNvPr>
          <p:cNvCxnSpPr>
            <a:cxnSpLocks/>
            <a:stCxn id="67" idx="0"/>
            <a:endCxn id="71" idx="1"/>
          </p:cNvCxnSpPr>
          <p:nvPr/>
        </p:nvCxnSpPr>
        <p:spPr>
          <a:xfrm flipV="1">
            <a:off x="4577546" y="3777763"/>
            <a:ext cx="899622" cy="3396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546C441-F76E-F765-AB7B-4E3AE8FD2FEF}"/>
              </a:ext>
            </a:extLst>
          </p:cNvPr>
          <p:cNvSpPr txBox="1"/>
          <p:nvPr/>
        </p:nvSpPr>
        <p:spPr>
          <a:xfrm>
            <a:off x="5434144" y="3053025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6216D6-A8AE-859D-413A-09709252D7AE}"/>
              </a:ext>
            </a:extLst>
          </p:cNvPr>
          <p:cNvSpPr txBox="1"/>
          <p:nvPr/>
        </p:nvSpPr>
        <p:spPr>
          <a:xfrm>
            <a:off x="4002708" y="4117408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023A49-5403-B1C5-5340-8C0E0FBAAAEB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14649E-5B3F-54CE-CEA7-13AA27D24BE6}"/>
              </a:ext>
            </a:extLst>
          </p:cNvPr>
          <p:cNvSpPr txBox="1"/>
          <p:nvPr/>
        </p:nvSpPr>
        <p:spPr>
          <a:xfrm>
            <a:off x="4025952" y="5485160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9B4609-F1AE-AE80-4659-CFF5BCFD0E86}"/>
              </a:ext>
            </a:extLst>
          </p:cNvPr>
          <p:cNvSpPr txBox="1"/>
          <p:nvPr/>
        </p:nvSpPr>
        <p:spPr>
          <a:xfrm>
            <a:off x="906307" y="2923603"/>
            <a:ext cx="21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2;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A35F22-D440-DC59-BEF1-21DCF0F69563}"/>
              </a:ext>
            </a:extLst>
          </p:cNvPr>
          <p:cNvSpPr txBox="1"/>
          <p:nvPr/>
        </p:nvSpPr>
        <p:spPr>
          <a:xfrm>
            <a:off x="5477168" y="3593097"/>
            <a:ext cx="2488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183AD1-483A-B3A2-07E0-4504EE1E1FC5}"/>
              </a:ext>
            </a:extLst>
          </p:cNvPr>
          <p:cNvSpPr txBox="1"/>
          <p:nvPr/>
        </p:nvSpPr>
        <p:spPr>
          <a:xfrm>
            <a:off x="4882549" y="2293282"/>
            <a:ext cx="216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308F5-AFC3-0E95-4D6F-59D59A10D948}"/>
              </a:ext>
            </a:extLst>
          </p:cNvPr>
          <p:cNvSpPr txBox="1"/>
          <p:nvPr/>
        </p:nvSpPr>
        <p:spPr>
          <a:xfrm>
            <a:off x="3050798" y="4764201"/>
            <a:ext cx="2426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31L;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066E7D3-E1EC-82B3-92E0-65E8D19296AB}"/>
              </a:ext>
            </a:extLst>
          </p:cNvPr>
          <p:cNvCxnSpPr>
            <a:cxnSpLocks/>
            <a:stCxn id="70" idx="2"/>
            <a:endCxn id="68" idx="0"/>
          </p:cNvCxnSpPr>
          <p:nvPr/>
        </p:nvCxnSpPr>
        <p:spPr>
          <a:xfrm>
            <a:off x="1978553" y="3292935"/>
            <a:ext cx="921403" cy="4527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6182A76-0B1C-0C80-82D3-1077FE9F5AC1}"/>
              </a:ext>
            </a:extLst>
          </p:cNvPr>
          <p:cNvCxnSpPr>
            <a:cxnSpLocks/>
            <a:stCxn id="72" idx="2"/>
            <a:endCxn id="66" idx="0"/>
          </p:cNvCxnSpPr>
          <p:nvPr/>
        </p:nvCxnSpPr>
        <p:spPr>
          <a:xfrm flipH="1">
            <a:off x="5939251" y="2662614"/>
            <a:ext cx="24641" cy="390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D0A6948-17A0-9DB7-5B09-B1F2E068EDC7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>
            <a:off x="4263983" y="5133533"/>
            <a:ext cx="313563" cy="3516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117FAFC-7F81-0375-3716-C5D1B94F40A6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363F56-1B4D-9067-8A8D-B1B0699EE431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D39B64-934C-83C6-A120-F478BB77FC5C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9C8EB3-CA06-20A7-250F-6F2E0D8651A6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E93926-C8B9-5774-FC50-325974E6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660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 계산기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계산기 프로그램을 실행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9F18963-E168-48C3-3988-473537BBF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36" y="2028281"/>
            <a:ext cx="2312039" cy="249065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5CC37B5-78C7-9068-B3C6-6A7BEEAC6E5C}"/>
              </a:ext>
            </a:extLst>
          </p:cNvPr>
          <p:cNvSpPr/>
          <p:nvPr/>
        </p:nvSpPr>
        <p:spPr>
          <a:xfrm>
            <a:off x="208073" y="2222488"/>
            <a:ext cx="209384" cy="18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5297BB9-D6A9-7966-03DC-5311926E8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22" y="2028281"/>
            <a:ext cx="2312039" cy="249065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CEFDFE-6E7A-51B1-A8DC-9E0C85DAF1AC}"/>
              </a:ext>
            </a:extLst>
          </p:cNvPr>
          <p:cNvSpPr/>
          <p:nvPr/>
        </p:nvSpPr>
        <p:spPr>
          <a:xfrm>
            <a:off x="2605522" y="3178661"/>
            <a:ext cx="1263749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F40F059-28AF-1D25-207B-B935E41E2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267" y="2028281"/>
            <a:ext cx="2312039" cy="249065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07533E-CD21-9136-FE91-4C3871C28D30}"/>
              </a:ext>
            </a:extLst>
          </p:cNvPr>
          <p:cNvSpPr/>
          <p:nvPr/>
        </p:nvSpPr>
        <p:spPr>
          <a:xfrm>
            <a:off x="5424922" y="3114675"/>
            <a:ext cx="359871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EF5B90F-C375-1700-E204-B70BAA06A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230825"/>
            <a:ext cx="2312039" cy="249065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6CDABF-7473-5F48-3F5F-7B4F8328801C}"/>
              </a:ext>
            </a:extLst>
          </p:cNvPr>
          <p:cNvSpPr/>
          <p:nvPr/>
        </p:nvSpPr>
        <p:spPr>
          <a:xfrm>
            <a:off x="7813994" y="6411275"/>
            <a:ext cx="1072831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E11FB9-E15F-BF9A-9666-27C7F4686731}"/>
              </a:ext>
            </a:extLst>
          </p:cNvPr>
          <p:cNvSpPr txBox="1"/>
          <p:nvPr/>
        </p:nvSpPr>
        <p:spPr>
          <a:xfrm>
            <a:off x="7953375" y="6048375"/>
            <a:ext cx="7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highlight>
                  <a:srgbClr val="FFFF00"/>
                </a:highlight>
              </a:rPr>
              <a:t>1</a:t>
            </a:r>
            <a:r>
              <a:rPr lang="ko-KR" altLang="en-US">
                <a:highlight>
                  <a:srgbClr val="FFFF00"/>
                </a:highlight>
              </a:rPr>
              <a:t> </a:t>
            </a:r>
            <a:r>
              <a:rPr lang="en-US" altLang="ko-KR">
                <a:highlight>
                  <a:srgbClr val="FFFF00"/>
                </a:highlight>
              </a:rPr>
              <a:t>byte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3268D46-A0A4-7328-A776-03259B1C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48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부동소수점형 변수의 선언과 할당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부동소수점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float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10.55f;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double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11.556;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022B0F6-2BCE-722E-6A3B-98CC5877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15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DA03BC7-9A72-D10C-55DD-C71E9D5F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9" y="2505121"/>
            <a:ext cx="6935168" cy="306747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임의의 메모리에 바이트 확보 후 값 할당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후 </a:t>
            </a:r>
            <a:r>
              <a:rPr lang="ko-KR" altLang="en-US" err="1">
                <a:latin typeface="+mj-ea"/>
                <a:ea typeface="+mj-ea"/>
              </a:rPr>
              <a:t>변수명</a:t>
            </a:r>
            <a:r>
              <a:rPr lang="ko-KR" altLang="en-US">
                <a:latin typeface="+mj-ea"/>
                <a:ea typeface="+mj-ea"/>
              </a:rPr>
              <a:t> 매칭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부동소수점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2624269" y="2985804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float 4byte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623836" y="4647427"/>
            <a:ext cx="12554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double 8byte </a:t>
            </a:r>
            <a:r>
              <a:rPr lang="ko-KR" altLang="en-US" sz="1100"/>
              <a:t>할당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EB867-FA33-0F32-0753-AFABADEF4682}"/>
              </a:ext>
            </a:extLst>
          </p:cNvPr>
          <p:cNvSpPr txBox="1"/>
          <p:nvPr/>
        </p:nvSpPr>
        <p:spPr>
          <a:xfrm>
            <a:off x="1851264" y="285828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10.55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9FC9A-9C0B-96CE-9C55-F787D895159F}"/>
              </a:ext>
            </a:extLst>
          </p:cNvPr>
          <p:cNvSpPr txBox="1"/>
          <p:nvPr/>
        </p:nvSpPr>
        <p:spPr>
          <a:xfrm>
            <a:off x="2551680" y="454225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11.556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41EFF-383A-D6E7-1394-E7F5C689D7CF}"/>
              </a:ext>
            </a:extLst>
          </p:cNvPr>
          <p:cNvSpPr txBox="1"/>
          <p:nvPr/>
        </p:nvSpPr>
        <p:spPr>
          <a:xfrm>
            <a:off x="1282491" y="2345491"/>
            <a:ext cx="385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float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10.55f; 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F3324D7-C3B9-EE43-27B3-A2D3BC77227F}"/>
              </a:ext>
            </a:extLst>
          </p:cNvPr>
          <p:cNvCxnSpPr>
            <a:cxnSpLocks/>
            <a:stCxn id="28" idx="2"/>
            <a:endCxn id="21" idx="0"/>
          </p:cNvCxnSpPr>
          <p:nvPr/>
        </p:nvCxnSpPr>
        <p:spPr>
          <a:xfrm flipH="1">
            <a:off x="3184679" y="2714823"/>
            <a:ext cx="23554" cy="2709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4F42A7-3C8A-7608-F5A2-32562E07CD77}"/>
              </a:ext>
            </a:extLst>
          </p:cNvPr>
          <p:cNvSpPr txBox="1"/>
          <p:nvPr/>
        </p:nvSpPr>
        <p:spPr>
          <a:xfrm>
            <a:off x="1352157" y="2108045"/>
            <a:ext cx="255570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floatNumber</a:t>
            </a: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CD1B1C-B967-0B8F-7B9F-51BB284115CC}"/>
              </a:ext>
            </a:extLst>
          </p:cNvPr>
          <p:cNvSpPr txBox="1"/>
          <p:nvPr/>
        </p:nvSpPr>
        <p:spPr>
          <a:xfrm>
            <a:off x="3303967" y="3893798"/>
            <a:ext cx="4239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solidFill>
                  <a:srgbClr val="7F0055"/>
                </a:solidFill>
                <a:highlight>
                  <a:srgbClr val="C0C0C0"/>
                </a:highlight>
                <a:latin typeface="Monaco" panose="020B0509030404040204" pitchFamily="49" charset="0"/>
              </a:rPr>
              <a:t>double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11.556; 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C6B15CD-23E4-AD5E-48CB-75F84BA75CF7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5251572" y="4263130"/>
            <a:ext cx="172312" cy="3842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818340-5941-5118-BE10-ECAAFBCB6B55}"/>
              </a:ext>
            </a:extLst>
          </p:cNvPr>
          <p:cNvSpPr txBox="1"/>
          <p:nvPr/>
        </p:nvSpPr>
        <p:spPr>
          <a:xfrm>
            <a:off x="3373633" y="3656352"/>
            <a:ext cx="27029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63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doubleNumber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257F21-4278-1DEB-F9B7-60041F85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07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문자형 변수의 선언과 할당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문자형은 작은 따옴표로 표현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작은 따옴표 안의 숫자는 문자로 처리됩니다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문자형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636805" y="5544754"/>
            <a:ext cx="6970052" cy="1112711"/>
            <a:chOff x="4898273" y="1965199"/>
            <a:chExt cx="6970052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char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8467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한 글자를 표현하는 </a:t>
              </a:r>
              <a:r>
                <a:rPr lang="en-US" altLang="ko-KR"/>
                <a:t>char </a:t>
              </a:r>
              <a:r>
                <a:rPr lang="ko-KR" altLang="en-US"/>
                <a:t>타입의 값은 작은따옴표로 감싸야 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작은 따옴표에는 한 글자만 적을 수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51870D4-18C5-BEF8-FCB6-5EBB1F9EB6C4}"/>
              </a:ext>
            </a:extLst>
          </p:cNvPr>
          <p:cNvSpPr txBox="1"/>
          <p:nvPr/>
        </p:nvSpPr>
        <p:spPr>
          <a:xfrm>
            <a:off x="1006457" y="2243521"/>
            <a:ext cx="58812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char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'A'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'B'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'1'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EDDB0AA-E14C-5E90-95A0-D7C88955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9869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boolean(</a:t>
            </a:r>
            <a:r>
              <a:rPr lang="ko-KR" altLang="en-US">
                <a:latin typeface="+mj-ea"/>
                <a:ea typeface="+mj-ea"/>
              </a:rPr>
              <a:t>불린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불리언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boolean</a:t>
            </a:r>
            <a:r>
              <a:rPr lang="ko-KR" altLang="en-US">
                <a:latin typeface="+mj-ea"/>
                <a:ea typeface="+mj-ea"/>
              </a:rPr>
              <a:t>형은 </a:t>
            </a:r>
            <a:r>
              <a:rPr lang="en-US" altLang="ko-KR">
                <a:latin typeface="+mj-ea"/>
                <a:ea typeface="+mj-ea"/>
              </a:rPr>
              <a:t>true </a:t>
            </a: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만 존재하는 타입입니다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연산자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제어문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등에서 많이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불린형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01DCA-C36A-8D61-B6D7-A2BA7238D131}"/>
              </a:ext>
            </a:extLst>
          </p:cNvPr>
          <p:cNvSpPr txBox="1"/>
          <p:nvPr/>
        </p:nvSpPr>
        <p:spPr>
          <a:xfrm>
            <a:off x="819716" y="1825719"/>
            <a:ext cx="62507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boolean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areYouStudent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areYouStudent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boolean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areYouDesigner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areYouDesigner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5EF54-DAE2-C23D-D3CA-0888E128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965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변수는 선언된 위치에 따라 사용할 수 있는 범위가 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변수는 중괄호 </a:t>
            </a:r>
            <a:r>
              <a:rPr lang="en-US" altLang="ko-KR">
                <a:latin typeface="+mj-ea"/>
                <a:ea typeface="+mj-ea"/>
              </a:rPr>
              <a:t>– { } </a:t>
            </a:r>
            <a:r>
              <a:rPr lang="ko-KR" altLang="en-US">
                <a:latin typeface="+mj-ea"/>
                <a:ea typeface="+mj-ea"/>
              </a:rPr>
              <a:t>의 범위를 가집니다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변수의 범위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5EF54-DAE2-C23D-D3CA-0888E128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C218E-3D79-0BE8-9490-6427D8CDAA83}"/>
              </a:ext>
            </a:extLst>
          </p:cNvPr>
          <p:cNvSpPr txBox="1"/>
          <p:nvPr/>
        </p:nvSpPr>
        <p:spPr>
          <a:xfrm>
            <a:off x="376646" y="2250052"/>
            <a:ext cx="59022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47A514-9257-8FF5-CD73-A72958C89723}"/>
              </a:ext>
            </a:extLst>
          </p:cNvPr>
          <p:cNvSpPr/>
          <p:nvPr/>
        </p:nvSpPr>
        <p:spPr>
          <a:xfrm>
            <a:off x="1367246" y="2830286"/>
            <a:ext cx="3640183" cy="59871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FCDC5-D052-49E8-C850-B0DE38691BAC}"/>
              </a:ext>
            </a:extLst>
          </p:cNvPr>
          <p:cNvSpPr txBox="1"/>
          <p:nvPr/>
        </p:nvSpPr>
        <p:spPr>
          <a:xfrm>
            <a:off x="5305030" y="2942549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E66EC9F-B64E-C4FD-905D-256425D7942F}"/>
              </a:ext>
            </a:extLst>
          </p:cNvPr>
          <p:cNvCxnSpPr>
            <a:endCxn id="7" idx="3"/>
          </p:cNvCxnSpPr>
          <p:nvPr/>
        </p:nvCxnSpPr>
        <p:spPr>
          <a:xfrm flipH="1">
            <a:off x="5007429" y="3127215"/>
            <a:ext cx="297601" cy="24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729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4. </a:t>
            </a:r>
            <a:r>
              <a:rPr lang="ko-KR" altLang="en-US" sz="4000" b="1" dirty="0">
                <a:latin typeface="+mj-ea"/>
              </a:rPr>
              <a:t>상수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3A71E1-2CB3-44A6-3380-C9F997EADB84}"/>
              </a:ext>
            </a:extLst>
          </p:cNvPr>
          <p:cNvSpPr txBox="1">
            <a:spLocks/>
          </p:cNvSpPr>
          <p:nvPr/>
        </p:nvSpPr>
        <p:spPr>
          <a:xfrm>
            <a:off x="203200" y="3429000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절대 변하지 않을 빛의 속도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= 299,792,458m/s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2A062A-42B6-1C59-A694-63F32751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0149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변수가 정의되고 최초 한번 값이 할당되고나면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다시는 재할당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수정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업데이트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할 수 없는 변수를 상수라고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상수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C187059-8B9D-81CB-2001-9A89261E1C5A}"/>
              </a:ext>
            </a:extLst>
          </p:cNvPr>
          <p:cNvGrpSpPr/>
          <p:nvPr/>
        </p:nvGrpSpPr>
        <p:grpSpPr>
          <a:xfrm>
            <a:off x="368950" y="2412999"/>
            <a:ext cx="8424068" cy="1112711"/>
            <a:chOff x="4898273" y="1965199"/>
            <a:chExt cx="8424068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053145-0A8C-5F14-6324-825C2D52FEB1}"/>
                </a:ext>
              </a:extLst>
            </p:cNvPr>
            <p:cNvSpPr txBox="1"/>
            <p:nvPr/>
          </p:nvSpPr>
          <p:spPr>
            <a:xfrm>
              <a:off x="4898273" y="1965199"/>
              <a:ext cx="278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상수의 정의와 할당</a:t>
              </a:r>
              <a:endParaRPr lang="en-US" altLang="ko-KR" sz="24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193AF4-DDC5-C7AF-EC96-94F1837D98F1}"/>
                </a:ext>
              </a:extLst>
            </p:cNvPr>
            <p:cNvSpPr txBox="1"/>
            <p:nvPr/>
          </p:nvSpPr>
          <p:spPr>
            <a:xfrm>
              <a:off x="5021579" y="2431579"/>
              <a:ext cx="8300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변수의 정의와 할당과 동일합니다</a:t>
              </a:r>
              <a:r>
                <a:rPr lang="en-US" altLang="ko-KR"/>
                <a:t>. </a:t>
              </a:r>
            </a:p>
            <a:p>
              <a:r>
                <a:rPr lang="ko-KR" altLang="en-US"/>
                <a:t>어떤 변수의 타입 앞에 </a:t>
              </a:r>
              <a:r>
                <a:rPr lang="en-US" altLang="ko-KR" b="1"/>
                <a:t>final</a:t>
              </a:r>
              <a:r>
                <a:rPr lang="ko-KR" altLang="en-US"/>
                <a:t>만 붙이면 상수가 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A318E2-6399-E98F-79E0-7C585C9924A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0D7BFA-8994-1200-172C-06446ACD9898}"/>
              </a:ext>
            </a:extLst>
          </p:cNvPr>
          <p:cNvSpPr txBox="1"/>
          <p:nvPr/>
        </p:nvSpPr>
        <p:spPr>
          <a:xfrm>
            <a:off x="368950" y="3859154"/>
            <a:ext cx="8619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299_792_458;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에러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!</a:t>
            </a: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928AF62-6726-F64F-5C61-FD097504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0955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상수를 정의하고 값을 나중에 할당할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할당이 되고나면 이 값은 변경할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상수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D7BFA-8994-1200-172C-06446ACD9898}"/>
              </a:ext>
            </a:extLst>
          </p:cNvPr>
          <p:cNvSpPr txBox="1"/>
          <p:nvPr/>
        </p:nvSpPr>
        <p:spPr>
          <a:xfrm>
            <a:off x="368950" y="2279736"/>
            <a:ext cx="8619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final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299792458;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5F3FC61-CA18-D35E-284A-F77D2A9BA1E6}"/>
              </a:ext>
            </a:extLst>
          </p:cNvPr>
          <p:cNvGrpSpPr/>
          <p:nvPr/>
        </p:nvGrpSpPr>
        <p:grpSpPr>
          <a:xfrm>
            <a:off x="368950" y="4157384"/>
            <a:ext cx="8424068" cy="1389710"/>
            <a:chOff x="4898273" y="1965199"/>
            <a:chExt cx="8424068" cy="13897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D2A75F-F96D-F64C-C77D-99BF081CCDA8}"/>
                </a:ext>
              </a:extLst>
            </p:cNvPr>
            <p:cNvSpPr txBox="1"/>
            <p:nvPr/>
          </p:nvSpPr>
          <p:spPr>
            <a:xfrm>
              <a:off x="4898273" y="1965199"/>
              <a:ext cx="66952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Java</a:t>
              </a:r>
              <a:r>
                <a:rPr lang="ko-KR" altLang="en-US" sz="2400" b="1"/>
                <a:t>에는 여러 상수들이 이미 정의되어 있습니다</a:t>
              </a:r>
              <a:r>
                <a:rPr lang="en-US" altLang="ko-KR" sz="2400" b="1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C1E595-1002-46BD-C23A-35ED403066E1}"/>
                </a:ext>
              </a:extLst>
            </p:cNvPr>
            <p:cNvSpPr txBox="1"/>
            <p:nvPr/>
          </p:nvSpPr>
          <p:spPr>
            <a:xfrm>
              <a:off x="5021579" y="2431579"/>
              <a:ext cx="830076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원주율</a:t>
              </a:r>
              <a:r>
                <a:rPr lang="en-US" altLang="ko-KR"/>
                <a:t>: Math.PI</a:t>
              </a:r>
            </a:p>
            <a:p>
              <a:r>
                <a:rPr lang="ko-KR" altLang="en-US"/>
                <a:t>자연상수</a:t>
              </a:r>
              <a:r>
                <a:rPr lang="en-US" altLang="ko-KR"/>
                <a:t>: Math.E</a:t>
              </a:r>
            </a:p>
            <a:p>
              <a:r>
                <a:rPr lang="en-US" altLang="ko-KR"/>
                <a:t>int</a:t>
              </a:r>
              <a:r>
                <a:rPr lang="ko-KR" altLang="en-US"/>
                <a:t> 변수의 최대 값</a:t>
              </a:r>
              <a:r>
                <a:rPr lang="en-US" altLang="ko-KR"/>
                <a:t>: Integer.MAX_VALUE</a:t>
              </a:r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3FE6329-0EDA-52FC-DA60-EECCCEAC2C58}"/>
                </a:ext>
              </a:extLst>
            </p:cNvPr>
            <p:cNvSpPr/>
            <p:nvPr/>
          </p:nvSpPr>
          <p:spPr>
            <a:xfrm>
              <a:off x="4998720" y="2417998"/>
              <a:ext cx="61200" cy="923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3FD98-5423-8899-74B5-9278F607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2662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5. </a:t>
            </a:r>
            <a:r>
              <a:rPr lang="ko-KR" altLang="en-US" sz="4000" b="1">
                <a:latin typeface="+mj-ea"/>
              </a:rPr>
              <a:t>형 변환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2781B9-F570-DF19-6CD1-0E2593F8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71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Primitive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Type</a:t>
            </a:r>
            <a:r>
              <a:rPr lang="ko-KR" altLang="en-US">
                <a:latin typeface="+mj-ea"/>
                <a:ea typeface="+mj-ea"/>
              </a:rPr>
              <a:t>을 다시 볼까요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자바에서 지원하는 기본 자료형은 각각 고유한 바이트 크기를 가지고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2F0295-AE45-A57F-7804-62F7C7BC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0" y="1622077"/>
            <a:ext cx="8226320" cy="290433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E02526-BA5D-106C-058F-6E10472A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509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4 byte </a:t>
            </a:r>
            <a:r>
              <a:rPr lang="ko-KR" altLang="en-US">
                <a:latin typeface="+mj-ea"/>
                <a:ea typeface="+mj-ea"/>
              </a:rPr>
              <a:t>크기의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변수 값을 </a:t>
            </a:r>
            <a:r>
              <a:rPr lang="en-US" altLang="ko-KR">
                <a:latin typeface="+mj-ea"/>
                <a:ea typeface="+mj-ea"/>
              </a:rPr>
              <a:t>8 byte</a:t>
            </a:r>
            <a:r>
              <a:rPr lang="ko-KR" altLang="en-US">
                <a:latin typeface="+mj-ea"/>
                <a:ea typeface="+mj-ea"/>
              </a:rPr>
              <a:t> 크기의 </a:t>
            </a:r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변수에 할당하면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어떤 일이 일어날까요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에러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없이 잘 동작합니다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잘 동작하는 것은 메모리 크기 때문인데요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2103E-7ED4-4658-DB22-B4277D2B797A}"/>
              </a:ext>
            </a:extLst>
          </p:cNvPr>
          <p:cNvSpPr txBox="1"/>
          <p:nvPr/>
        </p:nvSpPr>
        <p:spPr>
          <a:xfrm>
            <a:off x="411479" y="1890883"/>
            <a:ext cx="75807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7B7CBD-5F3B-4604-9DD7-B3C12EB6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83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형과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형의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 범위를 보면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형이 </a:t>
            </a:r>
            <a:r>
              <a:rPr lang="en-US" altLang="ko-KR">
                <a:latin typeface="+mj-ea"/>
                <a:ea typeface="+mj-ea"/>
              </a:rPr>
              <a:t>int</a:t>
            </a:r>
            <a:r>
              <a:rPr lang="ko-KR" altLang="en-US">
                <a:latin typeface="+mj-ea"/>
                <a:ea typeface="+mj-ea"/>
              </a:rPr>
              <a:t>형보다 두 배 많은 정보를 담을 수 </a:t>
            </a:r>
            <a:r>
              <a:rPr lang="ko-KR" altLang="en-US" err="1">
                <a:latin typeface="+mj-ea"/>
                <a:ea typeface="+mj-ea"/>
              </a:rPr>
              <a:t>있게되어있습니다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ko-KR" altLang="en-US">
                <a:latin typeface="+mj-ea"/>
                <a:ea typeface="+mj-ea"/>
              </a:rPr>
              <a:t> 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9C447E-F8A4-98CF-48A0-9E894FE1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94" y="2974131"/>
            <a:ext cx="3715268" cy="2991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13645D-127A-30FD-5768-F84878F9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0" y="2974131"/>
            <a:ext cx="3724795" cy="2972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A56D8C-EDDB-2690-379D-6AF0C86F38E6}"/>
              </a:ext>
            </a:extLst>
          </p:cNvPr>
          <p:cNvSpPr txBox="1"/>
          <p:nvPr/>
        </p:nvSpPr>
        <p:spPr>
          <a:xfrm>
            <a:off x="1992192" y="2390713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long</a:t>
            </a:r>
            <a:endParaRPr lang="ko-KR" altLang="en-US" sz="2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99CBA-038B-2BCD-84D1-D5E70DAAF7D5}"/>
              </a:ext>
            </a:extLst>
          </p:cNvPr>
          <p:cNvSpPr txBox="1"/>
          <p:nvPr/>
        </p:nvSpPr>
        <p:spPr>
          <a:xfrm>
            <a:off x="6449391" y="2390713"/>
            <a:ext cx="58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int</a:t>
            </a:r>
            <a:endParaRPr lang="ko-KR" altLang="en-US" sz="2800" b="1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A6A846-2DFA-FB10-2320-7B28E2B074C7}"/>
              </a:ext>
            </a:extLst>
          </p:cNvPr>
          <p:cNvSpPr/>
          <p:nvPr/>
        </p:nvSpPr>
        <p:spPr>
          <a:xfrm>
            <a:off x="4880440" y="2974131"/>
            <a:ext cx="3715266" cy="1496269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/>
              <a:t>입력불가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BCF5B-6492-D722-9CB3-639546E1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771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long</a:t>
            </a:r>
            <a:r>
              <a:rPr lang="ko-KR" altLang="en-US">
                <a:latin typeface="+mj-ea"/>
                <a:ea typeface="+mj-ea"/>
              </a:rPr>
              <a:t>의 범위가 </a:t>
            </a:r>
            <a:r>
              <a:rPr lang="ko-KR" altLang="en-US" err="1">
                <a:latin typeface="+mj-ea"/>
                <a:ea typeface="+mj-ea"/>
              </a:rPr>
              <a:t>훨신</a:t>
            </a:r>
            <a:r>
              <a:rPr lang="ko-KR" altLang="en-US">
                <a:latin typeface="+mj-ea"/>
                <a:ea typeface="+mj-ea"/>
              </a:rPr>
              <a:t> 크기때문에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값을 할당하는데 문제가 없습니다</a:t>
            </a:r>
            <a:r>
              <a:rPr lang="en-US" altLang="ko-KR">
                <a:latin typeface="+mj-ea"/>
                <a:ea typeface="+mj-ea"/>
              </a:rPr>
              <a:t>.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이런 특징을 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“</a:t>
            </a:r>
            <a:r>
              <a:rPr lang="ko-KR" altLang="en-US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묵시적 </a:t>
            </a:r>
            <a:r>
              <a:rPr lang="ko-KR" altLang="en-US" b="1" err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형변환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이라고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58B33B-4CDB-A4C3-BF77-2F37CEF2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60" y="2752376"/>
            <a:ext cx="2391502" cy="3733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DD5DB-5A43-45F6-9B2B-B01243B473CB}"/>
              </a:ext>
            </a:extLst>
          </p:cNvPr>
          <p:cNvSpPr txBox="1"/>
          <p:nvPr/>
        </p:nvSpPr>
        <p:spPr>
          <a:xfrm>
            <a:off x="905030" y="2229156"/>
            <a:ext cx="2545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</a:t>
            </a:r>
            <a:r>
              <a:rPr lang="ko-KR" altLang="en-US" sz="2800" b="1"/>
              <a:t>의 최대 범위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70D109-FEF9-5DAA-638A-3EA1AF136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40" y="2752376"/>
            <a:ext cx="2399597" cy="3733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1B110B-AD79-9A21-3B4B-4FBA3B466076}"/>
              </a:ext>
            </a:extLst>
          </p:cNvPr>
          <p:cNvSpPr txBox="1"/>
          <p:nvPr/>
        </p:nvSpPr>
        <p:spPr>
          <a:xfrm>
            <a:off x="5576968" y="2271311"/>
            <a:ext cx="2786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long</a:t>
            </a:r>
            <a:r>
              <a:rPr lang="ko-KR" altLang="en-US" sz="2800" b="1"/>
              <a:t>의 최대 범위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3FA319-DB73-0896-0029-0974B5EC3C61}"/>
              </a:ext>
            </a:extLst>
          </p:cNvPr>
          <p:cNvSpPr txBox="1"/>
          <p:nvPr/>
        </p:nvSpPr>
        <p:spPr>
          <a:xfrm>
            <a:off x="4095843" y="2968009"/>
            <a:ext cx="34174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/>
              <a:t>&lt;</a:t>
            </a:r>
            <a:endParaRPr lang="ko-KR" altLang="en-US" sz="13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CBF890-FDAB-8D10-9514-6F088571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0612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87393F8-047A-E247-2C10-7E4FD305B963}"/>
              </a:ext>
            </a:extLst>
          </p:cNvPr>
          <p:cNvSpPr/>
          <p:nvPr/>
        </p:nvSpPr>
        <p:spPr>
          <a:xfrm>
            <a:off x="262118" y="1971032"/>
            <a:ext cx="8726432" cy="484632"/>
          </a:xfrm>
          <a:prstGeom prst="rightArrow">
            <a:avLst>
              <a:gd name="adj1" fmla="val 72870"/>
              <a:gd name="adj2" fmla="val 7477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묵시적 형변환 가능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byte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short  int  long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은 모두 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sym typeface="Wingdings" panose="05000000000000000000" pitchFamily="2" charset="2"/>
              </a:rPr>
              <a:t>“</a:t>
            </a:r>
            <a:r>
              <a:rPr lang="ko-KR" altLang="en-US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sym typeface="Wingdings" panose="05000000000000000000" pitchFamily="2" charset="2"/>
              </a:rPr>
              <a:t>묵시적 형변환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＂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을 합니다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.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00FF68-669A-2B33-F365-79361103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8" y="2580632"/>
            <a:ext cx="1808244" cy="28133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7E4D83-BB54-0526-02DD-48FEB885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141" y="2580632"/>
            <a:ext cx="1808244" cy="28133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49E8D11-D1B7-6B6C-D9EB-BD2F860B5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164" y="2580632"/>
            <a:ext cx="1808244" cy="2822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B15BA12-032D-D505-130E-080F67B38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187" y="2571107"/>
            <a:ext cx="1814365" cy="2822845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5C784D17-C14F-4EF8-2978-F9F19E8ABEF3}"/>
              </a:ext>
            </a:extLst>
          </p:cNvPr>
          <p:cNvSpPr/>
          <p:nvPr/>
        </p:nvSpPr>
        <p:spPr>
          <a:xfrm rot="10800000">
            <a:off x="262118" y="5495928"/>
            <a:ext cx="8726432" cy="484632"/>
          </a:xfrm>
          <a:prstGeom prst="rightArrow">
            <a:avLst>
              <a:gd name="adj1" fmla="val 72870"/>
              <a:gd name="adj2" fmla="val 7477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BC84B-AFB8-F7BD-7A39-A1BB8E723D84}"/>
              </a:ext>
            </a:extLst>
          </p:cNvPr>
          <p:cNvSpPr txBox="1"/>
          <p:nvPr/>
        </p:nvSpPr>
        <p:spPr>
          <a:xfrm>
            <a:off x="3388022" y="5561273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묵시적 형변환 불가능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06055-1A84-4B75-0464-E63BC981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593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반면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크기가 큰 </a:t>
            </a:r>
            <a:r>
              <a:rPr lang="en-US" altLang="ko-KR" dirty="0">
                <a:latin typeface="+mj-ea"/>
                <a:ea typeface="+mj-ea"/>
              </a:rPr>
              <a:t>long </a:t>
            </a:r>
            <a:r>
              <a:rPr lang="ko-KR" altLang="en-US" dirty="0">
                <a:latin typeface="+mj-ea"/>
                <a:ea typeface="+mj-ea"/>
              </a:rPr>
              <a:t>형의 값을 비교적 작은 </a:t>
            </a:r>
            <a:r>
              <a:rPr lang="en-US" altLang="ko-KR" dirty="0">
                <a:latin typeface="+mj-ea"/>
                <a:ea typeface="+mj-ea"/>
              </a:rPr>
              <a:t>int</a:t>
            </a:r>
            <a:r>
              <a:rPr lang="ko-KR" altLang="en-US" dirty="0">
                <a:latin typeface="+mj-ea"/>
                <a:ea typeface="+mj-ea"/>
              </a:rPr>
              <a:t>형으로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자연스러운 변환은 불가능합니다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위 코드에서 에러를 제거하려면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명시적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  <a:ea typeface="+mj-ea"/>
              </a:rPr>
              <a:t>형변환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을 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명시적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  <a:ea typeface="+mj-ea"/>
              </a:rPr>
              <a:t>형변환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＂ </a:t>
            </a:r>
            <a:r>
              <a:rPr lang="ko-KR" altLang="en-US" dirty="0">
                <a:latin typeface="+mj-ea"/>
                <a:ea typeface="+mj-ea"/>
              </a:rPr>
              <a:t>이란 강제로 형을 변경하는 것을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90B3E-8881-C176-2380-CA8B377DFA6D}"/>
              </a:ext>
            </a:extLst>
          </p:cNvPr>
          <p:cNvSpPr txBox="1"/>
          <p:nvPr/>
        </p:nvSpPr>
        <p:spPr>
          <a:xfrm>
            <a:off x="436417" y="1828812"/>
            <a:ext cx="73128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u="sng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ko-KR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에러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!</a:t>
            </a: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CC4EB-7C69-1B1C-828D-456BD25C1B56}"/>
              </a:ext>
            </a:extLst>
          </p:cNvPr>
          <p:cNvSpPr txBox="1"/>
          <p:nvPr/>
        </p:nvSpPr>
        <p:spPr>
          <a:xfrm>
            <a:off x="436417" y="4737253"/>
            <a:ext cx="75345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long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+ 1L;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9FD36-47F2-3E82-9543-2C983D52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9076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범위를 벗어난 수를 넣었을 때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할당 값이 이상해지는 경우가 종종 발생할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할당할 수 있는 범위를 초과하는 버그가 발생하기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아래의 코드를 생각해봅니다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F5BC8-0E2F-5FB0-5074-342764F34B6C}"/>
              </a:ext>
            </a:extLst>
          </p:cNvPr>
          <p:cNvSpPr txBox="1"/>
          <p:nvPr/>
        </p:nvSpPr>
        <p:spPr>
          <a:xfrm>
            <a:off x="441432" y="2996460"/>
            <a:ext cx="71558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+ 1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FCA94-B2B6-DFFC-2CD9-EE4BAF6D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637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074" y="1243584"/>
            <a:ext cx="5820478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진계산법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0 + 1 = 1</a:t>
            </a:r>
          </a:p>
          <a:p>
            <a:r>
              <a:rPr lang="en-US" altLang="ko-KR">
                <a:latin typeface="+mj-ea"/>
                <a:ea typeface="+mj-ea"/>
              </a:rPr>
              <a:t>1 + 1 = 10</a:t>
            </a:r>
          </a:p>
          <a:p>
            <a:r>
              <a:rPr lang="en-US" altLang="ko-KR">
                <a:latin typeface="+mj-ea"/>
                <a:ea typeface="+mj-ea"/>
              </a:rPr>
              <a:t>10 + 1 = 11</a:t>
            </a:r>
          </a:p>
          <a:p>
            <a:r>
              <a:rPr lang="en-US" altLang="ko-KR">
                <a:latin typeface="+mj-ea"/>
                <a:ea typeface="+mj-ea"/>
              </a:rPr>
              <a:t>11 + 1 = 100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최대값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01111111_11111111_11111111_11111111 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더하면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10000000_00000000_00000000_00000000 </a:t>
            </a:r>
            <a:r>
              <a:rPr lang="ko-KR" altLang="en-US">
                <a:latin typeface="+mj-ea"/>
                <a:ea typeface="+mj-ea"/>
              </a:rPr>
              <a:t>이 되어 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진수 </a:t>
            </a:r>
            <a:r>
              <a:rPr lang="en-US" altLang="ko-KR">
                <a:latin typeface="+mj-ea"/>
                <a:ea typeface="+mj-ea"/>
              </a:rPr>
              <a:t>-2,147,483,648 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이런 현상을 </a:t>
            </a:r>
            <a:r>
              <a:rPr lang="ko-KR" altLang="en-US" err="1">
                <a:highlight>
                  <a:srgbClr val="FFFF00"/>
                </a:highlight>
                <a:latin typeface="+mj-ea"/>
                <a:ea typeface="+mj-ea"/>
              </a:rPr>
              <a:t>정수오버플로우</a:t>
            </a:r>
            <a:r>
              <a:rPr lang="ko-KR" altLang="en-US" err="1">
                <a:latin typeface="+mj-ea"/>
                <a:ea typeface="+mj-ea"/>
              </a:rPr>
              <a:t>라고</a:t>
            </a:r>
            <a:r>
              <a:rPr lang="ko-KR" altLang="en-US">
                <a:latin typeface="+mj-ea"/>
                <a:ea typeface="+mj-ea"/>
              </a:rPr>
              <a:t>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C8361-D26B-E33C-D387-0A061C65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9" y="1724137"/>
            <a:ext cx="2961767" cy="462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23717-6933-3F6A-CA98-2D170212B393}"/>
              </a:ext>
            </a:extLst>
          </p:cNvPr>
          <p:cNvSpPr txBox="1"/>
          <p:nvPr/>
        </p:nvSpPr>
        <p:spPr>
          <a:xfrm>
            <a:off x="0" y="1243584"/>
            <a:ext cx="3183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Integer.MAX_VALUE</a:t>
            </a:r>
            <a:endParaRPr lang="ko-KR" altLang="en-US" sz="2800" b="1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5FDFDC-7C83-AA35-A213-3B42023ED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13" y="1335948"/>
            <a:ext cx="2435547" cy="1980912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00CFE-922F-E304-AE56-1546A140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751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672" y="1243584"/>
            <a:ext cx="521087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만약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최대값 에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를 더하면 어떤 일이 일어날까요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C8361-D26B-E33C-D387-0A061C65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77" y="1724137"/>
            <a:ext cx="2961767" cy="462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23717-6933-3F6A-CA98-2D170212B393}"/>
              </a:ext>
            </a:extLst>
          </p:cNvPr>
          <p:cNvSpPr txBox="1"/>
          <p:nvPr/>
        </p:nvSpPr>
        <p:spPr>
          <a:xfrm>
            <a:off x="429178" y="1243584"/>
            <a:ext cx="3183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Integer.MAX_VALUE</a:t>
            </a:r>
            <a:endParaRPr lang="ko-KR" altLang="en-US" sz="2800" b="1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B0858A-3F30-A1F4-0827-CE361FEDF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62" y="3003186"/>
            <a:ext cx="2146269" cy="33445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C7EFD-0C46-D4A5-D76C-285F0E6FC736}"/>
              </a:ext>
            </a:extLst>
          </p:cNvPr>
          <p:cNvSpPr txBox="1"/>
          <p:nvPr/>
        </p:nvSpPr>
        <p:spPr>
          <a:xfrm>
            <a:off x="4756188" y="2418411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+ 1</a:t>
            </a:r>
            <a:endParaRPr lang="ko-KR" altLang="en-US" sz="3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911740-A7A0-9243-9F06-940040BC5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294" y="3003186"/>
            <a:ext cx="2146269" cy="3344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6C9D22-E2F9-E985-1D7E-4F604133D364}"/>
              </a:ext>
            </a:extLst>
          </p:cNvPr>
          <p:cNvSpPr txBox="1"/>
          <p:nvPr/>
        </p:nvSpPr>
        <p:spPr>
          <a:xfrm>
            <a:off x="7313820" y="2418411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+ 1</a:t>
            </a:r>
            <a:endParaRPr lang="ko-KR" altLang="en-US" sz="32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A9C7F-E5D9-893E-3747-5885F284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2275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따라서 아래 코드에서 </a:t>
            </a:r>
            <a:r>
              <a:rPr lang="en-US" altLang="ko-KR" dirty="0" err="1">
                <a:latin typeface="+mj-ea"/>
                <a:ea typeface="+mj-ea"/>
              </a:rPr>
              <a:t>normalNumber</a:t>
            </a:r>
            <a:r>
              <a:rPr lang="ko-KR" altLang="en-US" dirty="0">
                <a:latin typeface="+mj-ea"/>
                <a:ea typeface="+mj-ea"/>
              </a:rPr>
              <a:t>의 값은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-2,147,483,647</a:t>
            </a:r>
            <a:r>
              <a:rPr lang="ko-KR" altLang="en-US" dirty="0">
                <a:latin typeface="+mj-ea"/>
                <a:ea typeface="+mj-ea"/>
              </a:rPr>
              <a:t>이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163BDB-AA24-DC86-7E61-E4806489D787}"/>
              </a:ext>
            </a:extLst>
          </p:cNvPr>
          <p:cNvSpPr txBox="1"/>
          <p:nvPr/>
        </p:nvSpPr>
        <p:spPr>
          <a:xfrm>
            <a:off x="515941" y="2100581"/>
            <a:ext cx="82166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2147483649L;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int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최대 값보다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큽니다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.</a:t>
            </a: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911740-A7A0-9243-9F06-940040BC5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288" y="3276469"/>
            <a:ext cx="2146269" cy="334455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91AB70E-2B19-BE23-B9DD-385B7F3CAD4A}"/>
              </a:ext>
            </a:extLst>
          </p:cNvPr>
          <p:cNvGrpSpPr/>
          <p:nvPr/>
        </p:nvGrpSpPr>
        <p:grpSpPr>
          <a:xfrm>
            <a:off x="515941" y="4681611"/>
            <a:ext cx="5995694" cy="1112711"/>
            <a:chOff x="4898273" y="1965199"/>
            <a:chExt cx="5068890" cy="111271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F4A8C2-15A4-6557-65B2-5799B265CE3D}"/>
                </a:ext>
              </a:extLst>
            </p:cNvPr>
            <p:cNvSpPr txBox="1"/>
            <p:nvPr/>
          </p:nvSpPr>
          <p:spPr>
            <a:xfrm>
              <a:off x="4898273" y="1965199"/>
              <a:ext cx="3400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명시적 형변환의 주의점</a:t>
              </a:r>
              <a:endParaRPr lang="en-US" altLang="ko-KR" sz="2400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2A3A77-449D-0DF8-3CAB-C1746073E140}"/>
                </a:ext>
              </a:extLst>
            </p:cNvPr>
            <p:cNvSpPr txBox="1"/>
            <p:nvPr/>
          </p:nvSpPr>
          <p:spPr>
            <a:xfrm>
              <a:off x="5021578" y="2431579"/>
              <a:ext cx="49455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명시적 형변환을 할 때</a:t>
              </a:r>
              <a:r>
                <a:rPr lang="en-US" altLang="ko-KR" dirty="0"/>
                <a:t>, </a:t>
              </a:r>
              <a:r>
                <a:rPr lang="ko-KR" altLang="en-US" dirty="0"/>
                <a:t>항상 정수 </a:t>
              </a:r>
              <a:r>
                <a:rPr lang="ko-KR" altLang="en-US" dirty="0" err="1"/>
                <a:t>오버플로우가</a:t>
              </a:r>
              <a:endParaRPr lang="en-US" altLang="ko-KR" dirty="0"/>
            </a:p>
            <a:p>
              <a:r>
                <a:rPr lang="ko-KR" altLang="en-US" dirty="0"/>
                <a:t>발생하지 않도록 주의를 기울어야 합니다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412982-9E7C-1B76-1A12-434A90367E5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A53D5-FC6F-F6CB-592C-8B19472A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0049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 </a:t>
            </a:r>
            <a:r>
              <a:rPr lang="en-US" altLang="ko-KR">
                <a:latin typeface="+mj-ea"/>
                <a:ea typeface="+mj-ea"/>
              </a:rPr>
              <a:t>&lt;-&gt; </a:t>
            </a:r>
            <a:r>
              <a:rPr lang="ko-KR" altLang="en-US">
                <a:latin typeface="+mj-ea"/>
                <a:ea typeface="+mj-ea"/>
              </a:rPr>
              <a:t>부동소수점의 변환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정수를 부동소수점으로 변환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묵시적 </a:t>
            </a:r>
            <a:r>
              <a:rPr lang="ko-KR" altLang="en-US" err="1">
                <a:latin typeface="+mj-ea"/>
                <a:ea typeface="+mj-ea"/>
              </a:rPr>
              <a:t>형변환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541010" y="4713137"/>
            <a:ext cx="8270793" cy="1112711"/>
            <a:chOff x="4898273" y="1965199"/>
            <a:chExt cx="8270793" cy="111271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7882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정수 </a:t>
              </a:r>
              <a:r>
                <a:rPr lang="en-US" altLang="ko-KR" sz="2400" b="1">
                  <a:sym typeface="Wingdings" panose="05000000000000000000" pitchFamily="2" charset="2"/>
                </a:rPr>
                <a:t> </a:t>
              </a:r>
              <a:r>
                <a:rPr lang="ko-KR" altLang="en-US" sz="2400" b="1">
                  <a:sym typeface="Wingdings" panose="05000000000000000000" pitchFamily="2" charset="2"/>
                </a:rPr>
                <a:t>부동소수점 변환에서 묵시적 변환이 가능한 이유</a:t>
              </a:r>
              <a:r>
                <a:rPr lang="en-US" altLang="ko-KR" sz="2400" b="1">
                  <a:sym typeface="Wingdings" panose="05000000000000000000" pitchFamily="2" charset="2"/>
                </a:rPr>
                <a:t>?</a:t>
              </a:r>
              <a:endParaRPr lang="en-US" altLang="ko-KR" sz="24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1474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부동소수점은 정수보다 표현하는 범위가 더 큽니다</a:t>
              </a:r>
              <a:r>
                <a:rPr lang="en-US" altLang="ko-KR"/>
                <a:t>. (</a:t>
              </a:r>
              <a:r>
                <a:rPr lang="ko-KR" altLang="en-US"/>
                <a:t>같은 </a:t>
              </a:r>
              <a:r>
                <a:rPr lang="en-US" altLang="ko-KR"/>
                <a:t>byte</a:t>
              </a:r>
              <a:r>
                <a:rPr lang="ko-KR" altLang="en-US"/>
                <a:t>를 사용하더라도</a:t>
              </a:r>
              <a:r>
                <a:rPr lang="en-US" altLang="ko-KR"/>
                <a:t>)</a:t>
              </a:r>
            </a:p>
            <a:p>
              <a:r>
                <a:rPr lang="ko-KR" altLang="en-US"/>
                <a:t>부동소수점 </a:t>
              </a:r>
              <a:r>
                <a:rPr lang="en-US" altLang="ko-KR"/>
                <a:t>= </a:t>
              </a:r>
              <a:r>
                <a:rPr lang="ko-KR" altLang="en-US"/>
                <a:t>정수 </a:t>
              </a:r>
              <a:r>
                <a:rPr lang="en-US" altLang="ko-KR"/>
                <a:t>+ </a:t>
              </a:r>
              <a:r>
                <a:rPr lang="ko-KR" altLang="en-US"/>
                <a:t>소수점</a:t>
              </a:r>
              <a:endParaRPr lang="en-US" altLang="ko-KR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D68214-ECB7-90FC-BF7F-13D65ED1D929}"/>
              </a:ext>
            </a:extLst>
          </p:cNvPr>
          <p:cNvSpPr txBox="1"/>
          <p:nvPr/>
        </p:nvSpPr>
        <p:spPr>
          <a:xfrm>
            <a:off x="994953" y="2023740"/>
            <a:ext cx="59719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08BC0D-AF8F-232A-BF07-4742FD37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9494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 </a:t>
            </a:r>
            <a:r>
              <a:rPr lang="en-US" altLang="ko-KR">
                <a:latin typeface="+mj-ea"/>
                <a:ea typeface="+mj-ea"/>
              </a:rPr>
              <a:t>&lt;-&gt; </a:t>
            </a:r>
            <a:r>
              <a:rPr lang="ko-KR" altLang="en-US">
                <a:latin typeface="+mj-ea"/>
                <a:ea typeface="+mj-ea"/>
              </a:rPr>
              <a:t>부동소수점의 변환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부동소수점을 정수로 변환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명시적 </a:t>
            </a:r>
            <a:r>
              <a:rPr lang="ko-KR" altLang="en-US" err="1">
                <a:latin typeface="+mj-ea"/>
                <a:ea typeface="+mj-ea"/>
              </a:rPr>
              <a:t>형변환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D68214-ECB7-90FC-BF7F-13D65ED1D929}"/>
              </a:ext>
            </a:extLst>
          </p:cNvPr>
          <p:cNvSpPr txBox="1"/>
          <p:nvPr/>
        </p:nvSpPr>
        <p:spPr>
          <a:xfrm>
            <a:off x="983673" y="2023740"/>
            <a:ext cx="59719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10.9f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11.15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B736F06-728E-45B9-6E57-0C39638531CB}"/>
              </a:ext>
            </a:extLst>
          </p:cNvPr>
          <p:cNvGrpSpPr/>
          <p:nvPr/>
        </p:nvGrpSpPr>
        <p:grpSpPr>
          <a:xfrm>
            <a:off x="541010" y="5267565"/>
            <a:ext cx="8424101" cy="1112711"/>
            <a:chOff x="4898273" y="1965199"/>
            <a:chExt cx="8424101" cy="111271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E5E5D-D505-E377-68A1-1C25A360E0A6}"/>
                </a:ext>
              </a:extLst>
            </p:cNvPr>
            <p:cNvSpPr txBox="1"/>
            <p:nvPr/>
          </p:nvSpPr>
          <p:spPr>
            <a:xfrm>
              <a:off x="4898273" y="1965199"/>
              <a:ext cx="8424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부동소수점 </a:t>
              </a:r>
              <a:r>
                <a:rPr lang="en-US" altLang="ko-KR" sz="2400" b="1">
                  <a:sym typeface="Wingdings" panose="05000000000000000000" pitchFamily="2" charset="2"/>
                </a:rPr>
                <a:t> </a:t>
              </a:r>
              <a:r>
                <a:rPr lang="ko-KR" altLang="en-US" sz="2400" b="1">
                  <a:sym typeface="Wingdings" panose="05000000000000000000" pitchFamily="2" charset="2"/>
                </a:rPr>
                <a:t>정수 </a:t>
              </a:r>
              <a:r>
                <a:rPr lang="ko-KR" altLang="en-US" sz="2400" b="1" err="1">
                  <a:sym typeface="Wingdings" panose="05000000000000000000" pitchFamily="2" charset="2"/>
                </a:rPr>
                <a:t>변환시</a:t>
              </a:r>
              <a:r>
                <a:rPr lang="ko-KR" altLang="en-US" sz="2400" b="1">
                  <a:sym typeface="Wingdings" panose="05000000000000000000" pitchFamily="2" charset="2"/>
                </a:rPr>
                <a:t> 소수점 밑 데이터가 사라지는 이유</a:t>
              </a:r>
              <a:endParaRPr lang="en-US" altLang="ko-KR" sz="2400"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61F593-D40B-6807-95B2-5B65C304568B}"/>
                </a:ext>
              </a:extLst>
            </p:cNvPr>
            <p:cNvSpPr txBox="1"/>
            <p:nvPr/>
          </p:nvSpPr>
          <p:spPr>
            <a:xfrm>
              <a:off x="5021579" y="2431579"/>
              <a:ext cx="5585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정수는 소수점 이하의 자릿수들을 표현하지 못합니다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즉</a:t>
              </a:r>
              <a:r>
                <a:rPr lang="en-US" altLang="ko-KR"/>
                <a:t>, </a:t>
              </a:r>
              <a:r>
                <a:rPr lang="ko-KR" altLang="en-US"/>
                <a:t>소수점 이하 자릿수는 모두 버려집니다</a:t>
              </a:r>
              <a:r>
                <a:rPr lang="en-US" altLang="ko-KR"/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9B6B588-0313-4832-5341-BFB7B85D050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28F5D8-8FFB-5196-6188-7E8C8BA6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52190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 소수점 처리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D71FFD-B96E-11EF-8163-23111688647C}"/>
              </a:ext>
            </a:extLst>
          </p:cNvPr>
          <p:cNvSpPr txBox="1"/>
          <p:nvPr/>
        </p:nvSpPr>
        <p:spPr>
          <a:xfrm>
            <a:off x="507273" y="1643163"/>
            <a:ext cx="716497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올림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ceil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버림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반올림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15.18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15.0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10.56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FD2E19-FC52-9B6B-1A4D-309DFDE6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5712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 소수점 처리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507273" y="5053335"/>
            <a:ext cx="8442378" cy="1121419"/>
            <a:chOff x="4898273" y="1956491"/>
            <a:chExt cx="8442378" cy="11214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56491"/>
              <a:ext cx="6387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Java</a:t>
              </a:r>
              <a:r>
                <a:rPr lang="ko-KR" altLang="en-US" sz="2400" b="1"/>
                <a:t>는 소수점 자리 처리가 유연하지 못합니다</a:t>
              </a:r>
              <a:r>
                <a:rPr lang="en-US" altLang="ko-KR" sz="2400" b="1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3190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</a:t>
              </a:r>
              <a:r>
                <a:rPr lang="ko-KR" altLang="en-US"/>
                <a:t>에서 소수점 자리 처리를 하려면 원하는 자릿수만큼 곱한 후 처리해야 합니다</a:t>
              </a:r>
              <a:r>
                <a:rPr lang="en-US" altLang="ko-KR"/>
                <a:t>.</a:t>
              </a:r>
            </a:p>
            <a:p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19" y="2417998"/>
              <a:ext cx="61200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D71FFD-B96E-11EF-8163-23111688647C}"/>
              </a:ext>
            </a:extLst>
          </p:cNvPr>
          <p:cNvSpPr txBox="1"/>
          <p:nvPr/>
        </p:nvSpPr>
        <p:spPr>
          <a:xfrm>
            <a:off x="507273" y="1643163"/>
            <a:ext cx="71649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29.37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29.4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로 올림 처리하기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29.37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293.7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294.0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29.4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835D2-EC32-5CFE-9F14-CB860C48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589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en-US" altLang="ko-KR">
                <a:latin typeface="+mj-ea"/>
                <a:ea typeface="+mj-ea"/>
              </a:rPr>
              <a:t>byte, short,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int,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long,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float, double, boolean</a:t>
            </a:r>
            <a:r>
              <a:rPr lang="ko-KR" altLang="en-US">
                <a:latin typeface="+mj-ea"/>
                <a:ea typeface="+mj-ea"/>
              </a:rPr>
              <a:t>으로 변환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문자열을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으로 변경이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D3259EA-D3E8-007A-7489-26F44E10177C}"/>
              </a:ext>
            </a:extLst>
          </p:cNvPr>
          <p:cNvGrpSpPr/>
          <p:nvPr/>
        </p:nvGrpSpPr>
        <p:grpSpPr>
          <a:xfrm>
            <a:off x="502878" y="2665329"/>
            <a:ext cx="7811629" cy="1666709"/>
            <a:chOff x="4898273" y="1965199"/>
            <a:chExt cx="7811629" cy="16667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3DB1DE-A488-6BB0-4E95-82B0B27C5E19}"/>
                </a:ext>
              </a:extLst>
            </p:cNvPr>
            <p:cNvSpPr txBox="1"/>
            <p:nvPr/>
          </p:nvSpPr>
          <p:spPr>
            <a:xfrm>
              <a:off x="4898273" y="196519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문자열</a:t>
              </a:r>
              <a:endParaRPr lang="en-US" altLang="ko-KR" sz="2400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6C9882-ECFA-BD4B-6037-7261FF305000}"/>
                </a:ext>
              </a:extLst>
            </p:cNvPr>
            <p:cNvSpPr txBox="1"/>
            <p:nvPr/>
          </p:nvSpPr>
          <p:spPr>
            <a:xfrm>
              <a:off x="5021579" y="2431579"/>
              <a:ext cx="768832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문자열은 여러 개의 글자들을 나열한 것을 말합니다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문자열 변수의 타입은 </a:t>
              </a:r>
              <a:r>
                <a:rPr lang="en-US" altLang="ko-KR" b="1"/>
                <a:t>String</a:t>
              </a:r>
              <a:r>
                <a:rPr lang="ko-KR" altLang="en-US"/>
                <a:t>으로 사용하고 값은 </a:t>
              </a:r>
              <a:r>
                <a:rPr lang="ko-KR" altLang="en-US" b="1"/>
                <a:t>큰 따옴표</a:t>
              </a:r>
              <a:r>
                <a:rPr lang="ko-KR" altLang="en-US"/>
                <a:t>로 </a:t>
              </a:r>
              <a:r>
                <a:rPr lang="ko-KR" altLang="en-US" err="1"/>
                <a:t>감싸야합니다</a:t>
              </a:r>
              <a:r>
                <a:rPr lang="en-US" altLang="ko-KR"/>
                <a:t>.</a:t>
              </a:r>
            </a:p>
            <a:p>
              <a:r>
                <a:rPr lang="en-US" altLang="ko-KR">
                  <a:highlight>
                    <a:srgbClr val="FFFF00"/>
                  </a:highlight>
                </a:rPr>
                <a:t>String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“Hello, World!”;</a:t>
              </a:r>
            </a:p>
            <a:p>
              <a:r>
                <a:rPr lang="ko-KR" altLang="en-US"/>
                <a:t>형식으로 사용합니다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9D2429B-82D6-0855-F80E-711E8DB8B34B}"/>
                </a:ext>
              </a:extLst>
            </p:cNvPr>
            <p:cNvSpPr/>
            <p:nvPr/>
          </p:nvSpPr>
          <p:spPr>
            <a:xfrm>
              <a:off x="4998719" y="2417997"/>
              <a:ext cx="61200" cy="115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87A7D-50A3-EC3B-2A12-1E9E270B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6631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정수로 변환하려면 타입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en-US" altLang="ko-KR" err="1">
                <a:latin typeface="+mj-ea"/>
                <a:ea typeface="+mj-ea"/>
              </a:rPr>
              <a:t>parseType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문자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67D045-3357-0C84-4049-7166A5020D96}"/>
              </a:ext>
            </a:extLst>
          </p:cNvPr>
          <p:cNvSpPr txBox="1"/>
          <p:nvPr/>
        </p:nvSpPr>
        <p:spPr>
          <a:xfrm>
            <a:off x="524690" y="1705871"/>
            <a:ext cx="73521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parseShort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"1000000000"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parseLong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B79D2-D92C-94B6-686A-808ACA68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40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정수형이 아닌 문자열을 변환하려고 하면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부동소수점을 정수형으로 변환하려고 해도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67D045-3357-0C84-4049-7166A5020D96}"/>
              </a:ext>
            </a:extLst>
          </p:cNvPr>
          <p:cNvSpPr txBox="1"/>
          <p:nvPr/>
        </p:nvSpPr>
        <p:spPr>
          <a:xfrm>
            <a:off x="524690" y="1705871"/>
            <a:ext cx="7352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"A"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9FC73-1203-93FD-C5B7-B3AD0295954C}"/>
              </a:ext>
            </a:extLst>
          </p:cNvPr>
          <p:cNvSpPr txBox="1"/>
          <p:nvPr/>
        </p:nvSpPr>
        <p:spPr>
          <a:xfrm>
            <a:off x="524690" y="3189067"/>
            <a:ext cx="7973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/>
              <a:t>Exception</a:t>
            </a:r>
            <a:r>
              <a:rPr lang="ko-KR" altLang="en-US"/>
              <a:t> </a:t>
            </a:r>
            <a:r>
              <a:rPr lang="ko-KR" altLang="en-US" err="1"/>
              <a:t>in</a:t>
            </a:r>
            <a:r>
              <a:rPr lang="ko-KR" altLang="en-US"/>
              <a:t> </a:t>
            </a:r>
            <a:r>
              <a:rPr lang="ko-KR" altLang="en-US" err="1"/>
              <a:t>thread</a:t>
            </a:r>
            <a:r>
              <a:rPr lang="ko-KR" altLang="en-US"/>
              <a:t> "</a:t>
            </a:r>
            <a:r>
              <a:rPr lang="ko-KR" altLang="en-US" err="1"/>
              <a:t>main</a:t>
            </a:r>
            <a:r>
              <a:rPr lang="ko-KR" altLang="en-US"/>
              <a:t>" </a:t>
            </a:r>
            <a:r>
              <a:rPr lang="ko-KR" altLang="en-US" err="1"/>
              <a:t>java.lang.</a:t>
            </a:r>
            <a:r>
              <a:rPr lang="ko-KR" altLang="en-US" err="1">
                <a:highlight>
                  <a:srgbClr val="FFFF00"/>
                </a:highlight>
              </a:rPr>
              <a:t>NumberFormatException</a:t>
            </a:r>
            <a:r>
              <a:rPr lang="ko-KR" altLang="en-US"/>
              <a:t>: </a:t>
            </a:r>
            <a:r>
              <a:rPr lang="ko-KR" altLang="en-US" err="1"/>
              <a:t>For</a:t>
            </a:r>
            <a:r>
              <a:rPr lang="ko-KR" altLang="en-US"/>
              <a:t> </a:t>
            </a:r>
            <a:r>
              <a:rPr lang="ko-KR" altLang="en-US" err="1"/>
              <a:t>input</a:t>
            </a:r>
            <a:r>
              <a:rPr lang="ko-KR" altLang="en-US"/>
              <a:t> </a:t>
            </a:r>
            <a:r>
              <a:rPr lang="ko-KR" altLang="en-US" err="1"/>
              <a:t>string</a:t>
            </a:r>
            <a:r>
              <a:rPr lang="ko-KR" altLang="en-US"/>
              <a:t>: </a:t>
            </a:r>
            <a:r>
              <a:rPr lang="ko-KR" altLang="en-US">
                <a:highlight>
                  <a:srgbClr val="FFFF00"/>
                </a:highlight>
              </a:rPr>
              <a:t>"</a:t>
            </a:r>
            <a:r>
              <a:rPr lang="ko-KR" altLang="en-US" err="1">
                <a:highlight>
                  <a:srgbClr val="FFFF00"/>
                </a:highlight>
              </a:rPr>
              <a:t>A</a:t>
            </a:r>
            <a:r>
              <a:rPr lang="ko-KR" altLang="en-US">
                <a:highlight>
                  <a:srgbClr val="FFFF00"/>
                </a:highlight>
              </a:rPr>
              <a:t>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3F0A-F229-DD2D-6A59-64352E3A1F24}"/>
              </a:ext>
            </a:extLst>
          </p:cNvPr>
          <p:cNvSpPr txBox="1"/>
          <p:nvPr/>
        </p:nvSpPr>
        <p:spPr>
          <a:xfrm>
            <a:off x="524690" y="4226898"/>
            <a:ext cx="7539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"10.5"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3A5A1-69ED-09B9-A611-500C8872E43C}"/>
              </a:ext>
            </a:extLst>
          </p:cNvPr>
          <p:cNvSpPr txBox="1"/>
          <p:nvPr/>
        </p:nvSpPr>
        <p:spPr>
          <a:xfrm>
            <a:off x="518621" y="5773805"/>
            <a:ext cx="8366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/>
              <a:t>Exception</a:t>
            </a:r>
            <a:r>
              <a:rPr lang="ko-KR" altLang="en-US"/>
              <a:t> </a:t>
            </a:r>
            <a:r>
              <a:rPr lang="ko-KR" altLang="en-US" err="1"/>
              <a:t>in</a:t>
            </a:r>
            <a:r>
              <a:rPr lang="ko-KR" altLang="en-US"/>
              <a:t> </a:t>
            </a:r>
            <a:r>
              <a:rPr lang="ko-KR" altLang="en-US" err="1"/>
              <a:t>thread</a:t>
            </a:r>
            <a:r>
              <a:rPr lang="ko-KR" altLang="en-US"/>
              <a:t> "</a:t>
            </a:r>
            <a:r>
              <a:rPr lang="ko-KR" altLang="en-US" err="1"/>
              <a:t>main</a:t>
            </a:r>
            <a:r>
              <a:rPr lang="ko-KR" altLang="en-US"/>
              <a:t>" </a:t>
            </a:r>
            <a:r>
              <a:rPr lang="ko-KR" altLang="en-US" err="1"/>
              <a:t>java.lang.</a:t>
            </a:r>
            <a:r>
              <a:rPr lang="ko-KR" altLang="en-US" err="1">
                <a:highlight>
                  <a:srgbClr val="FFFF00"/>
                </a:highlight>
              </a:rPr>
              <a:t>NumberFormatException</a:t>
            </a:r>
            <a:r>
              <a:rPr lang="ko-KR" altLang="en-US"/>
              <a:t>: </a:t>
            </a:r>
            <a:r>
              <a:rPr lang="ko-KR" altLang="en-US" err="1"/>
              <a:t>For</a:t>
            </a:r>
            <a:r>
              <a:rPr lang="ko-KR" altLang="en-US"/>
              <a:t> </a:t>
            </a:r>
            <a:r>
              <a:rPr lang="ko-KR" altLang="en-US" err="1"/>
              <a:t>input</a:t>
            </a:r>
            <a:r>
              <a:rPr lang="ko-KR" altLang="en-US"/>
              <a:t> </a:t>
            </a:r>
            <a:r>
              <a:rPr lang="ko-KR" altLang="en-US" err="1"/>
              <a:t>string</a:t>
            </a:r>
            <a:r>
              <a:rPr lang="ko-KR" altLang="en-US"/>
              <a:t>: </a:t>
            </a:r>
            <a:r>
              <a:rPr lang="ko-KR" altLang="en-US">
                <a:highlight>
                  <a:srgbClr val="FFFF00"/>
                </a:highlight>
              </a:rPr>
              <a:t>"10.5"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7841DC-2CCA-BE58-F031-5BD82367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7703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부동소수점으로 변환하려면 </a:t>
            </a:r>
            <a:r>
              <a:rPr lang="ko-KR" altLang="en-US" b="1">
                <a:latin typeface="+mj-ea"/>
                <a:ea typeface="+mj-ea"/>
              </a:rPr>
              <a:t>타입</a:t>
            </a:r>
            <a:r>
              <a:rPr lang="en-US" altLang="ko-KR" b="1">
                <a:latin typeface="+mj-ea"/>
                <a:ea typeface="+mj-ea"/>
              </a:rPr>
              <a:t>.</a:t>
            </a:r>
            <a:r>
              <a:rPr lang="en-US" altLang="ko-KR" b="1" err="1">
                <a:latin typeface="+mj-ea"/>
                <a:ea typeface="+mj-ea"/>
              </a:rPr>
              <a:t>parseType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1798549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"10.5"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"11.577777777"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4BD6B-0456-D89A-DFCF-673ED33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6384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ko-KR" altLang="en-US" err="1">
                <a:latin typeface="+mj-ea"/>
                <a:ea typeface="+mj-ea"/>
              </a:rPr>
              <a:t>불린으로</a:t>
            </a:r>
            <a:r>
              <a:rPr lang="ko-KR" altLang="en-US">
                <a:latin typeface="+mj-ea"/>
                <a:ea typeface="+mj-ea"/>
              </a:rPr>
              <a:t> 변환하려면 </a:t>
            </a:r>
            <a:r>
              <a:rPr lang="en-US" altLang="ko-KR" b="1" err="1">
                <a:latin typeface="+mj-ea"/>
                <a:ea typeface="+mj-ea"/>
              </a:rPr>
              <a:t>Boolean.parseBoolean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2135870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3B984-69A4-22B4-2870-78C7F624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1790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ko-KR" altLang="en-US" err="1">
                <a:latin typeface="+mj-ea"/>
                <a:ea typeface="+mj-ea"/>
              </a:rPr>
              <a:t>불린으로</a:t>
            </a:r>
            <a:r>
              <a:rPr lang="ko-KR" altLang="en-US">
                <a:latin typeface="+mj-ea"/>
                <a:ea typeface="+mj-ea"/>
              </a:rPr>
              <a:t> 변환하려면 </a:t>
            </a:r>
            <a:r>
              <a:rPr lang="en-US" altLang="ko-KR" b="1" err="1">
                <a:latin typeface="+mj-ea"/>
                <a:ea typeface="+mj-ea"/>
              </a:rPr>
              <a:t>Boolean.parseBoolean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2135870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"false"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anystring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1E980-2C26-0A31-9678-F0B6E68D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4464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6. </a:t>
            </a:r>
            <a:r>
              <a:rPr lang="ko-KR" altLang="en-US" sz="4000" b="1" dirty="0">
                <a:latin typeface="+mj-ea"/>
              </a:rPr>
              <a:t>연산자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404FD6-DAF7-72D5-F24D-DA514AFB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573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할당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산술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84898047-5E62-200F-D1BA-5968E2758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54" y="2044857"/>
            <a:ext cx="6943556" cy="8640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32D2C0-5529-25C9-55F6-C30D812D0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36" y="3547101"/>
            <a:ext cx="6960974" cy="182430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CD37A-8B22-07B4-823C-41A1FC40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670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400" y="1674674"/>
            <a:ext cx="61983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subtractedNumber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subtractedNumber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multipliedNumber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multipliedNumber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devideRemainNumber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devideRemainNumber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00D37-3EE8-F403-7EDD-9E8E7C38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01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복합 산술연산자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74674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A95F2-AF93-37D6-DB22-3A222106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4821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연산 우선 순위 </a:t>
            </a:r>
            <a:r>
              <a:rPr lang="en-US" altLang="ko-KR">
                <a:latin typeface="+mj-ea"/>
                <a:ea typeface="+mj-ea"/>
              </a:rPr>
              <a:t>(PEMDAS)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2A34712-CA1F-F0D8-3777-EE11A9D6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9" y="1676729"/>
            <a:ext cx="3445465" cy="241630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1F10A9B-8D5D-2E18-CA33-95099B79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7230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596294"/>
            <a:ext cx="792262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8A4A3-093D-F507-D3EC-1C738E51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6482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짧은 연산자 및 단항 연산자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24DF2-4A25-93FA-2515-2615A641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22" y="2028801"/>
            <a:ext cx="6537502" cy="295654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59E749-8115-287B-EA63-C7435B7D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463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위의 코드는 아래 코드와 완전하게 일치하는 코드입니다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02AF8-8BEB-E837-638A-B6FB791F4A70}"/>
              </a:ext>
            </a:extLst>
          </p:cNvPr>
          <p:cNvSpPr txBox="1"/>
          <p:nvPr/>
        </p:nvSpPr>
        <p:spPr>
          <a:xfrm>
            <a:off x="533398" y="4050297"/>
            <a:ext cx="70256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1010E5-F056-BB3C-0F20-4AC74E7F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2122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연산하기를 짧은 연산자로 하기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+ 2;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- 2;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*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/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%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B76B54-296E-0594-F9CA-49DCF51C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645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더하거나 뺄 때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아래처럼 줄일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단 </a:t>
            </a:r>
            <a:r>
              <a:rPr lang="en-US" altLang="ko-KR">
                <a:latin typeface="+mj-ea"/>
                <a:ea typeface="+mj-ea"/>
              </a:rPr>
              <a:t>++, -- </a:t>
            </a:r>
            <a:r>
              <a:rPr lang="ko-KR" altLang="en-US">
                <a:latin typeface="+mj-ea"/>
                <a:ea typeface="+mj-ea"/>
              </a:rPr>
              <a:t>연산자는 위치에 따라 선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후 수행 처리를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3E35C-8963-D153-B646-9214ABB47804}"/>
              </a:ext>
            </a:extLst>
          </p:cNvPr>
          <p:cNvSpPr txBox="1"/>
          <p:nvPr/>
        </p:nvSpPr>
        <p:spPr>
          <a:xfrm>
            <a:off x="533399" y="3697292"/>
            <a:ext cx="64160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955A22-D12D-4A95-9477-D29A0A59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1427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++, -- </a:t>
            </a:r>
            <a:r>
              <a:rPr lang="ko-KR" altLang="en-US">
                <a:latin typeface="+mj-ea"/>
                <a:ea typeface="+mj-ea"/>
              </a:rPr>
              <a:t>는 위치에 따라 증감을 먼저 하거나 나중에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출력한 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더하기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더한 다음 출력하기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28B93-17C7-87FC-057B-1B2CA6470D60}"/>
              </a:ext>
            </a:extLst>
          </p:cNvPr>
          <p:cNvSpPr txBox="1"/>
          <p:nvPr/>
        </p:nvSpPr>
        <p:spPr>
          <a:xfrm>
            <a:off x="533399" y="4177420"/>
            <a:ext cx="7478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출력한 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빼기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뺀 다음 출력하기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(--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3F9D994-6DD0-FBDA-56B9-F4C99916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98632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산술연산자를 이용해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초로 변환해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7C207-DB20-9BB9-A244-B38613A1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9371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 연산자를 이용해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분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(Minute),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(Second)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구한다음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minutes, seconds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2A6E3-D0F5-7D53-CC34-1542A024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383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나타내는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변수와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화씨온도를 나타내는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변수가 있습니다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변수에는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할당되어 있습니다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도를 화씨온도로 변경하면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도가 됩니다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화씨온도로 변경해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변경공식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섭씨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× 9/5) + 32 =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화씨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3C199-B06E-D662-6FF9-89F46276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31878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DA55-0B1C-A90D-F447-2EA6629B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9CCFAE-6CAC-2F55-E39B-F2C0C8A49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https://www.acmicpc.net/problem/1000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https://www.acmicpc.net/problem/1001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https://www.acmicpc.net/problem/1008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https://www.acmicpc.net/problem/10998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https://www.acmicpc.net/problem/10869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7"/>
              </a:rPr>
              <a:t>https://www.acmicpc.net/problem/18108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8"/>
              </a:rPr>
              <a:t>https://school.programmers.co.kr/learn/courses/30/lessons/120804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https://school.programmers.co.kr/learn/courses/30/lessons/120820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https://school.programmers.co.kr/learn/courses/30/lessons/120803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1"/>
              </a:rPr>
              <a:t>https://school.programmers.co.kr/learn/courses/30/lessons/120810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2"/>
              </a:rPr>
              <a:t>https://school.programmers.co.kr/learn/courses/30/lessons/120805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ACDF3C-3C5B-1589-C969-83C204FB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2E68543-396F-AE94-315D-91E4C362A375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4A49BC-CF4F-734F-BF84-DFDB824D6783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6B82CE-03E7-750C-F6AF-2EFBDB1617C8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561E7E-73E2-6BF4-4346-81BF8062FFC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92CC9-0441-0B73-B2B1-CFB17782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353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비교 연산자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3BBC8D4-5A66-008E-C631-DBBF774F1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46" y="1964783"/>
            <a:ext cx="6965018" cy="23720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43530F-B974-C0E7-67D7-4A13B21B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411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비교연산자는 값과 값을 비교할 때 사용되며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그 결과는 항상 불린</a:t>
            </a:r>
            <a:r>
              <a:rPr lang="en-US" altLang="ko-KR">
                <a:latin typeface="+mj-ea"/>
                <a:ea typeface="+mj-ea"/>
              </a:rPr>
              <a:t>(boolean)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89E9413-4736-E8A4-5272-E413C90DA69A}"/>
              </a:ext>
            </a:extLst>
          </p:cNvPr>
          <p:cNvSpPr txBox="1"/>
          <p:nvPr/>
        </p:nvSpPr>
        <p:spPr>
          <a:xfrm>
            <a:off x="479541" y="2056686"/>
            <a:ext cx="84886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isNotEquals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isNotEquals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4E2E52-17C8-8B87-A82F-E13FD983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61809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아래와 같은 비교는 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008762-5F90-D782-E155-B6F6EA55F1F5}"/>
              </a:ext>
            </a:extLst>
          </p:cNvPr>
          <p:cNvSpPr txBox="1"/>
          <p:nvPr/>
        </p:nvSpPr>
        <p:spPr>
          <a:xfrm>
            <a:off x="542107" y="1653884"/>
            <a:ext cx="6912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59629-D7CA-4D02-2CA9-07871CF5948A}"/>
              </a:ext>
            </a:extLst>
          </p:cNvPr>
          <p:cNvSpPr/>
          <p:nvPr/>
        </p:nvSpPr>
        <p:spPr>
          <a:xfrm>
            <a:off x="4484914" y="3039291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7E9A21-B498-A776-5CCA-3CE954863A17}"/>
              </a:ext>
            </a:extLst>
          </p:cNvPr>
          <p:cNvSpPr/>
          <p:nvPr/>
        </p:nvSpPr>
        <p:spPr>
          <a:xfrm>
            <a:off x="6226515" y="3043645"/>
            <a:ext cx="574880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512EA9-7FCF-13EB-6AC7-1BC45CADA076}"/>
              </a:ext>
            </a:extLst>
          </p:cNvPr>
          <p:cNvSpPr/>
          <p:nvPr/>
        </p:nvSpPr>
        <p:spPr>
          <a:xfrm>
            <a:off x="4894215" y="36513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5FC4EA6-2AD8-EC7A-1F4C-EFB64484EC4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5220788" y="3352800"/>
            <a:ext cx="1" cy="29856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763A82-6C38-0A72-6C7A-7FCD36F3E1CF}"/>
              </a:ext>
            </a:extLst>
          </p:cNvPr>
          <p:cNvSpPr/>
          <p:nvPr/>
        </p:nvSpPr>
        <p:spPr>
          <a:xfrm>
            <a:off x="6187382" y="36513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D1F18-7AE1-E0DF-E24A-DE700896EE02}"/>
              </a:ext>
            </a:extLst>
          </p:cNvPr>
          <p:cNvSpPr txBox="1"/>
          <p:nvPr/>
        </p:nvSpPr>
        <p:spPr>
          <a:xfrm>
            <a:off x="5798793" y="359554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&gt;</a:t>
            </a:r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87418E-0C77-F1A3-8CD3-D0EF487D4C40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6513955" y="3357154"/>
            <a:ext cx="0" cy="2942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DFAE12DA-1F19-5CDA-BB95-1A2BC495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3865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논리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논리 연산자의 피연산자는 항상 </a:t>
            </a:r>
            <a:r>
              <a:rPr lang="ko-KR" altLang="en-US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불린이며</a:t>
            </a:r>
            <a:endParaRPr lang="en-US" altLang="ko-KR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논리 연산의 결과도 불린 입니다</a:t>
            </a:r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C4546EB6-6F1A-3AE8-9AEE-96057924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4" y="2815460"/>
            <a:ext cx="6965018" cy="14360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B86A4-5905-696E-588F-06A226B9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58053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아래와 같은 연산은 비교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논리연산이 함께 사용되어야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008762-5F90-D782-E155-B6F6EA55F1F5}"/>
              </a:ext>
            </a:extLst>
          </p:cNvPr>
          <p:cNvSpPr txBox="1"/>
          <p:nvPr/>
        </p:nvSpPr>
        <p:spPr>
          <a:xfrm>
            <a:off x="542107" y="1814784"/>
            <a:ext cx="6912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59629-D7CA-4D02-2CA9-07871CF5948A}"/>
              </a:ext>
            </a:extLst>
          </p:cNvPr>
          <p:cNvSpPr/>
          <p:nvPr/>
        </p:nvSpPr>
        <p:spPr>
          <a:xfrm>
            <a:off x="4484914" y="3200191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7E9A21-B498-A776-5CCA-3CE954863A17}"/>
              </a:ext>
            </a:extLst>
          </p:cNvPr>
          <p:cNvSpPr/>
          <p:nvPr/>
        </p:nvSpPr>
        <p:spPr>
          <a:xfrm>
            <a:off x="6226515" y="3204545"/>
            <a:ext cx="574880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512EA9-7FCF-13EB-6AC7-1BC45CADA076}"/>
              </a:ext>
            </a:extLst>
          </p:cNvPr>
          <p:cNvSpPr/>
          <p:nvPr/>
        </p:nvSpPr>
        <p:spPr>
          <a:xfrm>
            <a:off x="4894215" y="38122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5FC4EA6-2AD8-EC7A-1F4C-EFB64484EC4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5220788" y="3513700"/>
            <a:ext cx="1" cy="29856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763A82-6C38-0A72-6C7A-7FCD36F3E1CF}"/>
              </a:ext>
            </a:extLst>
          </p:cNvPr>
          <p:cNvSpPr/>
          <p:nvPr/>
        </p:nvSpPr>
        <p:spPr>
          <a:xfrm>
            <a:off x="6187382" y="38122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D1F18-7AE1-E0DF-E24A-DE700896EE02}"/>
              </a:ext>
            </a:extLst>
          </p:cNvPr>
          <p:cNvSpPr txBox="1"/>
          <p:nvPr/>
        </p:nvSpPr>
        <p:spPr>
          <a:xfrm>
            <a:off x="5798793" y="375644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&gt;</a:t>
            </a:r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87418E-0C77-F1A3-8CD3-D0EF487D4C40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6513955" y="3518054"/>
            <a:ext cx="0" cy="2942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4A8CB5-A644-CF73-4467-3946C2AC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760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num1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num2 </a:t>
            </a:r>
            <a:r>
              <a:rPr lang="ko-KR" altLang="en-US">
                <a:latin typeface="+mj-ea"/>
                <a:ea typeface="+mj-ea"/>
              </a:rPr>
              <a:t>보다 크다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그리고 </a:t>
            </a:r>
            <a:r>
              <a:rPr lang="en-US" altLang="ko-KR">
                <a:latin typeface="+mj-ea"/>
                <a:ea typeface="+mj-ea"/>
              </a:rPr>
              <a:t>num3</a:t>
            </a:r>
            <a:r>
              <a:rPr lang="ko-KR" altLang="en-US">
                <a:latin typeface="+mj-ea"/>
                <a:ea typeface="+mj-ea"/>
              </a:rPr>
              <a:t>보다 커야 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ED3364-9EB6-48C7-3962-B7512F51AE62}"/>
              </a:ext>
            </a:extLst>
          </p:cNvPr>
          <p:cNvSpPr txBox="1"/>
          <p:nvPr/>
        </p:nvSpPr>
        <p:spPr>
          <a:xfrm>
            <a:off x="514226" y="1674206"/>
            <a:ext cx="8218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683A5A-0F65-015D-5E46-1F9E6BB9E801}"/>
              </a:ext>
            </a:extLst>
          </p:cNvPr>
          <p:cNvSpPr/>
          <p:nvPr/>
        </p:nvSpPr>
        <p:spPr>
          <a:xfrm>
            <a:off x="4450079" y="3074126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50C860-8C05-961B-2FB9-A7375D67C263}"/>
              </a:ext>
            </a:extLst>
          </p:cNvPr>
          <p:cNvSpPr/>
          <p:nvPr/>
        </p:nvSpPr>
        <p:spPr>
          <a:xfrm>
            <a:off x="6305005" y="3074126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C7BD18-1B22-8ADD-9CA0-0E88F6AF460F}"/>
              </a:ext>
            </a:extLst>
          </p:cNvPr>
          <p:cNvSpPr/>
          <p:nvPr/>
        </p:nvSpPr>
        <p:spPr>
          <a:xfrm>
            <a:off x="5199019" y="2628072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DA0E1F-F8FB-0459-B091-54C058CC973D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 flipH="1">
            <a:off x="5185954" y="2941581"/>
            <a:ext cx="339638" cy="13254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2C35BE-82CF-9837-B772-ED214D5E12AD}"/>
              </a:ext>
            </a:extLst>
          </p:cNvPr>
          <p:cNvSpPr/>
          <p:nvPr/>
        </p:nvSpPr>
        <p:spPr>
          <a:xfrm>
            <a:off x="6428215" y="2628072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CD4D9A0-5953-E764-AF80-716DBB1E2A04}"/>
              </a:ext>
            </a:extLst>
          </p:cNvPr>
          <p:cNvCxnSpPr>
            <a:cxnSpLocks/>
            <a:stCxn id="24" idx="2"/>
            <a:endCxn id="16" idx="0"/>
          </p:cNvCxnSpPr>
          <p:nvPr/>
        </p:nvCxnSpPr>
        <p:spPr>
          <a:xfrm>
            <a:off x="6754788" y="2941581"/>
            <a:ext cx="286092" cy="13254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779560-898F-5979-034C-5773E5E7E3B9}"/>
              </a:ext>
            </a:extLst>
          </p:cNvPr>
          <p:cNvSpPr txBox="1"/>
          <p:nvPr/>
        </p:nvSpPr>
        <p:spPr>
          <a:xfrm>
            <a:off x="5886993" y="2607084"/>
            <a:ext cx="52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&amp;&amp;</a:t>
            </a:r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DA2EA6-8929-683B-8F69-E161C44DCC01}"/>
              </a:ext>
            </a:extLst>
          </p:cNvPr>
          <p:cNvSpPr/>
          <p:nvPr/>
        </p:nvSpPr>
        <p:spPr>
          <a:xfrm>
            <a:off x="5798365" y="223069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BC8715E-8DF2-6750-2CA0-FE6ED92C52C4}"/>
              </a:ext>
            </a:extLst>
          </p:cNvPr>
          <p:cNvCxnSpPr>
            <a:cxnSpLocks/>
            <a:stCxn id="20" idx="0"/>
            <a:endCxn id="28" idx="1"/>
          </p:cNvCxnSpPr>
          <p:nvPr/>
        </p:nvCxnSpPr>
        <p:spPr>
          <a:xfrm rot="5400000" flipH="1" flipV="1">
            <a:off x="5541669" y="2371377"/>
            <a:ext cx="240618" cy="272773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C9AACB6-E76B-E3A4-C544-BD906AFF9283}"/>
              </a:ext>
            </a:extLst>
          </p:cNvPr>
          <p:cNvCxnSpPr>
            <a:cxnSpLocks/>
            <a:stCxn id="24" idx="0"/>
            <a:endCxn id="28" idx="3"/>
          </p:cNvCxnSpPr>
          <p:nvPr/>
        </p:nvCxnSpPr>
        <p:spPr>
          <a:xfrm rot="16200000" flipV="1">
            <a:off x="6482841" y="2356124"/>
            <a:ext cx="240618" cy="303277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81A0CBC2-BA11-E23E-87D7-C7C218F9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0033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논리 연산자 상세 비교</a:t>
            </a:r>
            <a:endParaRPr lang="en-US" altLang="ko-KR" strike="sngStrike">
              <a:solidFill>
                <a:srgbClr val="FF0000"/>
              </a:solidFill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58345ED-9045-7341-FEF9-533EE0647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12" y="1608587"/>
            <a:ext cx="3712438" cy="5213732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14054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and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831931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dead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code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실행되지 않는 무의미한 코드를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아래의 노란 </a:t>
            </a:r>
            <a:r>
              <a:rPr lang="ko-KR" altLang="en-US" err="1">
                <a:latin typeface="+mj-ea"/>
                <a:ea typeface="+mj-ea"/>
              </a:rPr>
              <a:t>블럭이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dead code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117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4227E-194D-32F8-9E1B-EBDB949C2E6F}"/>
              </a:ext>
            </a:extLst>
          </p:cNvPr>
          <p:cNvSpPr txBox="1"/>
          <p:nvPr/>
        </p:nvSpPr>
        <p:spPr>
          <a:xfrm>
            <a:off x="981363" y="2349596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29515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and</a:t>
            </a:r>
            <a:r>
              <a:rPr lang="ko-KR" altLang="en-US">
                <a:latin typeface="+mj-ea"/>
                <a:ea typeface="+mj-ea"/>
              </a:rPr>
              <a:t>연산에서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발생되는 원인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and</a:t>
            </a:r>
            <a:r>
              <a:rPr lang="ko-KR" altLang="en-US">
                <a:latin typeface="+mj-ea"/>
                <a:ea typeface="+mj-ea"/>
              </a:rPr>
              <a:t>는 피연산자 모두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일 때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를 반환합니다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피연산자 중 하나라도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면 결과는 무조건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Case1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 이기 때문에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인지 검증이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Case2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false </a:t>
            </a:r>
            <a:r>
              <a:rPr lang="ko-KR" altLang="en-US">
                <a:latin typeface="+mj-ea"/>
                <a:ea typeface="+mj-ea"/>
              </a:rPr>
              <a:t>이기 때문에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피연산자를 검증하지 않아도 결과는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로 확정이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두 번째 피연산자는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F5898-B93C-8AA2-E140-DAE3F1134378}"/>
              </a:ext>
            </a:extLst>
          </p:cNvPr>
          <p:cNvSpPr txBox="1"/>
          <p:nvPr/>
        </p:nvSpPr>
        <p:spPr>
          <a:xfrm>
            <a:off x="1441198" y="2507364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5FCE9-8DFD-D562-FE5A-9FF8C9E36B7F}"/>
              </a:ext>
            </a:extLst>
          </p:cNvPr>
          <p:cNvSpPr txBox="1"/>
          <p:nvPr/>
        </p:nvSpPr>
        <p:spPr>
          <a:xfrm>
            <a:off x="1441198" y="3829706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25632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20137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연산에서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발생되는 원인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는 피연산자 중 하나라도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면 결과는 무조건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Case1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 이기 때문에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피연산자를 검증하지 않아도 결과는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로 확정이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두 번째 피연산자는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Case2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false </a:t>
            </a:r>
            <a:r>
              <a:rPr lang="ko-KR" altLang="en-US">
                <a:latin typeface="+mj-ea"/>
                <a:ea typeface="+mj-ea"/>
              </a:rPr>
              <a:t>이기 때문에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인지 검증이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F5898-B93C-8AA2-E140-DAE3F1134378}"/>
              </a:ext>
            </a:extLst>
          </p:cNvPr>
          <p:cNvSpPr txBox="1"/>
          <p:nvPr/>
        </p:nvSpPr>
        <p:spPr>
          <a:xfrm>
            <a:off x="1510869" y="2292177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5FCE9-8DFD-D562-FE5A-9FF8C9E36B7F}"/>
              </a:ext>
            </a:extLst>
          </p:cNvPr>
          <p:cNvSpPr txBox="1"/>
          <p:nvPr/>
        </p:nvSpPr>
        <p:spPr>
          <a:xfrm>
            <a:off x="1510869" y="3971208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779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!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! </a:t>
            </a:r>
            <a:r>
              <a:rPr lang="ko-KR" altLang="en-US">
                <a:latin typeface="+mj-ea"/>
                <a:ea typeface="+mj-ea"/>
              </a:rPr>
              <a:t>연산자는 </a:t>
            </a:r>
            <a:r>
              <a:rPr lang="ko-KR" altLang="en-US" err="1">
                <a:latin typeface="+mj-ea"/>
                <a:ea typeface="+mj-ea"/>
              </a:rPr>
              <a:t>불린의</a:t>
            </a:r>
            <a:r>
              <a:rPr lang="ko-KR" altLang="en-US">
                <a:latin typeface="+mj-ea"/>
                <a:ea typeface="+mj-ea"/>
              </a:rPr>
              <a:t> 결과를 부정하는 연산자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나중에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배울 </a:t>
            </a:r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연산에서 자주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 = !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System.out.println(not);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not = !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System.out.println(not);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77511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논리연산자만 이용해서 비교하는 경우는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연산의 결과가 </a:t>
            </a:r>
            <a:r>
              <a:rPr lang="ko-KR" altLang="en-US" err="1">
                <a:latin typeface="+mj-ea"/>
                <a:ea typeface="+mj-ea"/>
              </a:rPr>
              <a:t>불린인</a:t>
            </a:r>
            <a:r>
              <a:rPr lang="ko-KR" altLang="en-US">
                <a:latin typeface="+mj-ea"/>
                <a:ea typeface="+mj-ea"/>
              </a:rPr>
              <a:t> 경우는 모두 논리연산이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1030578" y="2241143"/>
            <a:ext cx="67279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값이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크고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작은가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is11To19 = a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a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System.out.println(is11To19);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345795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짝수인가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-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345796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큰 짝수인가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isEven2 = c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c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System.out.println(isEven2);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38811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513342" y="1636295"/>
            <a:ext cx="8094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배수인가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isMultiple2Or5 = d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d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System.out.println(isMultiple2Or5);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son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parent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son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은 부모님과 함께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 이상 관람과의 영화를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볼수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있나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isAvailable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son &gt;=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parent &gt;=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isAvailable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52681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513342" y="1636295"/>
            <a:ext cx="80949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배수가 아닌가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isNotMultiple3 = e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System.out.println(isNotMultiple3);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isNotMultiple3 = !(e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System.out.println(isNotMultiple3);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763067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실행흐름 제어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125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3D299A4-0FD2-B443-F41F-E3CE7CDBE926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if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– else if – else :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경우의 수 중 하나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switch :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실행 흐름의 분리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while : ~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동안 반복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for : ~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까지 반복</a:t>
            </a:r>
          </a:p>
        </p:txBody>
      </p:sp>
    </p:spTree>
    <p:extLst>
      <p:ext uri="{BB962C8B-B14F-4D97-AF65-F5344CB8AC3E}">
        <p14:creationId xmlns:p14="http://schemas.microsoft.com/office/powerpoint/2010/main" val="214887635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if – else if – else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81232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값에 따라 실행의 흐름을 바꾸어야 </a:t>
            </a:r>
            <a:r>
              <a:rPr lang="ko-KR" altLang="en-US" err="1">
                <a:latin typeface="+mj-ea"/>
                <a:ea typeface="+mj-ea"/>
              </a:rPr>
              <a:t>할때</a:t>
            </a:r>
            <a:r>
              <a:rPr lang="ko-KR" altLang="en-US">
                <a:latin typeface="+mj-ea"/>
                <a:ea typeface="+mj-ea"/>
              </a:rPr>
              <a:t> 사용할 수 있는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if - else if – else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경우의 수 중 단 하나의 경우만 실행합니다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316347" y="2740215"/>
            <a:ext cx="91167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첫 번째 비교연산 또는 논리연산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두 번째 비교연산 또는 논리연산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86682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값에 따라 실행의 흐름을 바꾸어야 </a:t>
            </a:r>
            <a:r>
              <a:rPr lang="ko-KR" altLang="en-US" err="1">
                <a:latin typeface="+mj-ea"/>
                <a:ea typeface="+mj-ea"/>
              </a:rPr>
              <a:t>할때</a:t>
            </a:r>
            <a:r>
              <a:rPr lang="ko-KR" altLang="en-US">
                <a:latin typeface="+mj-ea"/>
                <a:ea typeface="+mj-ea"/>
              </a:rPr>
              <a:t> 사용할 수 있는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if - else if – else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경우의 수 중 단 하나의 경우만 실행합니다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482600" y="2573962"/>
            <a:ext cx="65878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27402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어떤 문장이 출력될까요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47253" y="1687271"/>
            <a:ext cx="690649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와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가 아닙니다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77398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범위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482599" y="1608587"/>
            <a:ext cx="720706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(number2);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415A2B-92EF-BC0E-D8F9-F5938E9DD6F4}"/>
              </a:ext>
            </a:extLst>
          </p:cNvPr>
          <p:cNvSpPr/>
          <p:nvPr/>
        </p:nvSpPr>
        <p:spPr>
          <a:xfrm>
            <a:off x="1504466" y="1914110"/>
            <a:ext cx="4164814" cy="418189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2F08D-66A2-47E8-CA2C-F5DFFD9D2239}"/>
              </a:ext>
            </a:extLst>
          </p:cNvPr>
          <p:cNvSpPr txBox="1"/>
          <p:nvPr/>
        </p:nvSpPr>
        <p:spPr>
          <a:xfrm>
            <a:off x="5876683" y="3820389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29B20C-B42B-BDD9-8F9F-B1FE3F6A2A39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5669280" y="4005055"/>
            <a:ext cx="20740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343C08-B39F-1EA1-B7F9-56AE8C3547B5}"/>
              </a:ext>
            </a:extLst>
          </p:cNvPr>
          <p:cNvSpPr/>
          <p:nvPr/>
        </p:nvSpPr>
        <p:spPr>
          <a:xfrm>
            <a:off x="2025116" y="2743999"/>
            <a:ext cx="3565787" cy="8787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73028C-E655-ED68-FD73-8956FA0DE662}"/>
              </a:ext>
            </a:extLst>
          </p:cNvPr>
          <p:cNvSpPr/>
          <p:nvPr/>
        </p:nvSpPr>
        <p:spPr>
          <a:xfrm>
            <a:off x="2025116" y="4128662"/>
            <a:ext cx="3565787" cy="8787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27B1C-4F29-8DB0-8993-DB85C610D994}"/>
              </a:ext>
            </a:extLst>
          </p:cNvPr>
          <p:cNvSpPr txBox="1"/>
          <p:nvPr/>
        </p:nvSpPr>
        <p:spPr>
          <a:xfrm>
            <a:off x="5876683" y="2999057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number2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88CB31F-329C-F065-4ABB-32787CD9A307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flipH="1" flipV="1">
            <a:off x="5590903" y="3183383"/>
            <a:ext cx="285780" cy="34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E1756D-DF53-2A7B-F3E2-A4B945936F97}"/>
              </a:ext>
            </a:extLst>
          </p:cNvPr>
          <p:cNvSpPr txBox="1"/>
          <p:nvPr/>
        </p:nvSpPr>
        <p:spPr>
          <a:xfrm>
            <a:off x="5876683" y="4383137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number2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B527E7C-AE00-D5E4-0F15-04909B92AFC1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flipH="1">
            <a:off x="5590903" y="4567803"/>
            <a:ext cx="285780" cy="2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37063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여러 조건을 사용할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어떤 문장이 출력될까요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47253" y="2153719"/>
            <a:ext cx="690649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와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과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5, 7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5, 7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 아닙니다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649883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난수를 이용해 간단한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 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38016" y="1660746"/>
            <a:ext cx="764540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난수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Math.random(); 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double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난수를 정수로 변환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 ~ 99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answer = 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==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정답입니다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&gt;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"UP!"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&lt;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"DOWN!"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answer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28856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1608587"/>
            <a:ext cx="86983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korScore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국어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영어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수학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프로그래밍의 합계와 평균을 각각 계산해 할당하고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아래 기준에 따라 성적을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A+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B+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C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미만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F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10160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실행흐름 제어</a:t>
            </a:r>
            <a:r>
              <a:rPr lang="en-US" altLang="ko-KR" dirty="0"/>
              <a:t>: if – else if – else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1645531"/>
            <a:ext cx="869834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money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1_000_000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father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mother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daughter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adultOneWayFlightFare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kidOneWayFlightFare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만원으로 비행기를 타고 편도 여행을 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가려합니다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부모님의 나이는 각각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40, 36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딸의 나이는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세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성인의 비행요금은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아동의 비행요금은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 판단 기준은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 이상입니다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가족은 여행을 떠날 수 있을까요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있다면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여행가자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없다면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다음에가자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출력해보세요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6614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8543-ADDF-35B8-40E0-B78018AC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D49FBCD-7BA2-A6B8-1643-4796A2AFC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https://www.acmicpc.net/problem/1330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https://www.acmicpc.net/problem/9498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https://www.acmicpc.net/problem/2753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https://www.acmicpc.net/problem/14681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https://www.acmicpc.net/problem/2884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7"/>
              </a:rPr>
              <a:t>https://www.acmicpc.net/problem/2525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8"/>
              </a:rPr>
              <a:t>https://www.acmicpc.net/problem/2480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https://school.programmers.co.kr/learn/courses/30/lessons/120829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https://school.programmers.co.kr/learn/courses/30/lessons/120830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F72B7B-3D43-B351-F087-1B697125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3A2D467-4639-98C7-BD13-09FCD13F81D7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AF8B33-6810-9718-8F46-2143C2BDF27E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74E2CB-D09B-CC8C-CE8C-99D40CA0582D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AE37A3-02BE-4822-D2C0-428073451681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4D9EF9-D2B2-3482-CABC-8E458083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96752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switch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967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 값에 따라 코드 제어가 가능한 </a:t>
            </a:r>
            <a:r>
              <a:rPr lang="en-US" altLang="ko-KR">
                <a:latin typeface="+mj-ea"/>
                <a:ea typeface="+mj-ea"/>
              </a:rPr>
              <a:t>switch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코드의 시작 위치 종료 위치 등을 제어할 수 있고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보통 상태를 제어할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case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break</a:t>
            </a:r>
            <a:r>
              <a:rPr lang="ko-KR" altLang="en-US">
                <a:latin typeface="+mj-ea"/>
                <a:ea typeface="+mj-ea"/>
              </a:rPr>
              <a:t>를 실행하면 흐름이 끊어지면서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가 종료됩니다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B645F-C63B-418A-780C-BBB641F5EB88}"/>
              </a:ext>
            </a:extLst>
          </p:cNvPr>
          <p:cNvSpPr txBox="1"/>
          <p:nvPr/>
        </p:nvSpPr>
        <p:spPr>
          <a:xfrm>
            <a:off x="993618" y="2740938"/>
            <a:ext cx="79949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+ case 1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실행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switch</a:t>
            </a:r>
            <a:r>
              <a:rPr lang="ko-KR" altLang="en-US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종료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default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 실행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위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조건이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모두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맞지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않거나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가장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마지막에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코드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83067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vs. switch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9A8E6C-F5AC-D1EA-A5F9-BCB791C1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4" y="1729067"/>
            <a:ext cx="551574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5661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5188970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준비가 완료됐습니다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요청을 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진행중입니다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할 수 없습니다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2827105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성공했습니다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완료했습니다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실패했습니다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완료했습니다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마지막 업데이트 상태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291907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1.7 switch </a:t>
            </a:r>
            <a:r>
              <a:rPr lang="ko-KR" altLang="en-US">
                <a:latin typeface="+mj-ea"/>
                <a:ea typeface="+mj-ea"/>
              </a:rPr>
              <a:t>기능 추가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 1.6</a:t>
            </a:r>
            <a:r>
              <a:rPr lang="ko-KR" altLang="en-US">
                <a:latin typeface="+mj-ea"/>
                <a:ea typeface="+mj-ea"/>
              </a:rPr>
              <a:t> 에서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에 사용가능한 타입은 정수가 유일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1.7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사용 가능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450757"/>
            <a:ext cx="91116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"ready"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"request"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"processing"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"success"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"failure"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"complete"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166351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13 switch </a:t>
            </a:r>
            <a:r>
              <a:rPr lang="ko-KR" altLang="en-US">
                <a:latin typeface="+mj-ea"/>
                <a:ea typeface="+mj-ea"/>
              </a:rPr>
              <a:t>리턴을 위한 </a:t>
            </a:r>
            <a:r>
              <a:rPr lang="en-US" altLang="ko-KR">
                <a:latin typeface="+mj-ea"/>
                <a:ea typeface="+mj-ea"/>
              </a:rPr>
              <a:t>yield </a:t>
            </a:r>
            <a:r>
              <a:rPr lang="ko-KR" altLang="en-US">
                <a:latin typeface="+mj-ea"/>
                <a:ea typeface="+mj-ea"/>
              </a:rPr>
              <a:t>기능 추가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if</a:t>
            </a:r>
            <a:r>
              <a:rPr lang="ko-KR" altLang="en-US">
                <a:latin typeface="+mj-ea"/>
                <a:ea typeface="+mj-ea"/>
              </a:rPr>
              <a:t>와 유사한 기능을 지원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086938"/>
            <a:ext cx="68303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sysopr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810404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14 switch </a:t>
            </a:r>
            <a:r>
              <a:rPr lang="ko-KR" altLang="en-US">
                <a:latin typeface="+mj-ea"/>
                <a:ea typeface="+mj-ea"/>
              </a:rPr>
              <a:t>표현식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기능 추가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에서 반환 가능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if</a:t>
            </a:r>
            <a:r>
              <a:rPr lang="ko-KR" altLang="en-US">
                <a:latin typeface="+mj-ea"/>
                <a:ea typeface="+mj-ea"/>
              </a:rPr>
              <a:t>와 유사한 기능을 지원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476884"/>
            <a:ext cx="68303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sysopr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947535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while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033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while </a:t>
            </a:r>
            <a:r>
              <a:rPr lang="ko-KR" altLang="en-US" dirty="0" err="1">
                <a:latin typeface="+mj-ea"/>
                <a:ea typeface="+mj-ea"/>
              </a:rPr>
              <a:t>반복문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조건이 </a:t>
            </a:r>
            <a:r>
              <a:rPr lang="en-US" altLang="ko-KR" dirty="0">
                <a:latin typeface="+mj-ea"/>
                <a:ea typeface="+mj-ea"/>
              </a:rPr>
              <a:t>false</a:t>
            </a:r>
            <a:r>
              <a:rPr lang="ko-KR" altLang="en-US" dirty="0">
                <a:latin typeface="+mj-ea"/>
                <a:ea typeface="+mj-ea"/>
              </a:rPr>
              <a:t>가 될 때까지 반복을 수행하는 키워드 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0959D-F106-4ED8-1A69-7B96572FF134}"/>
              </a:ext>
            </a:extLst>
          </p:cNvPr>
          <p:cNvSpPr txBox="1"/>
          <p:nvPr/>
        </p:nvSpPr>
        <p:spPr>
          <a:xfrm>
            <a:off x="968828" y="2028801"/>
            <a:ext cx="5159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반복될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블럭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96021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1937048"/>
            <a:ext cx="62418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12747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단항 연산자 이용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1937048"/>
            <a:ext cx="62418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28875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 </a:t>
            </a:r>
            <a:r>
              <a:rPr lang="en-US" altLang="ko-KR">
                <a:latin typeface="+mj-ea"/>
                <a:ea typeface="+mj-ea"/>
              </a:rPr>
              <a:t>(while</a:t>
            </a:r>
            <a:r>
              <a:rPr lang="ko-KR" altLang="en-US">
                <a:latin typeface="+mj-ea"/>
                <a:ea typeface="+mj-ea"/>
              </a:rPr>
              <a:t> 이용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028801"/>
            <a:ext cx="6241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445602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반복문은 종료조건이 없는 무한반복을 위해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무한반복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028801"/>
            <a:ext cx="7225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 조건이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이므로 무한히 반복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8111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무한 반복으로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만들어보기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151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69FC73-4FB7-DB15-BA56-F4C9C24E6B70}"/>
              </a:ext>
            </a:extLst>
          </p:cNvPr>
          <p:cNvGrpSpPr/>
          <p:nvPr/>
        </p:nvGrpSpPr>
        <p:grpSpPr>
          <a:xfrm>
            <a:off x="501823" y="1592661"/>
            <a:ext cx="5905784" cy="1112711"/>
            <a:chOff x="4898273" y="1965199"/>
            <a:chExt cx="5905784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4E91D5-FBEC-4F97-EB7C-180179288A0B}"/>
                </a:ext>
              </a:extLst>
            </p:cNvPr>
            <p:cNvSpPr txBox="1"/>
            <p:nvPr/>
          </p:nvSpPr>
          <p:spPr>
            <a:xfrm>
              <a:off x="4898273" y="1965199"/>
              <a:ext cx="59057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Scanner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keyboard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=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new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Scanner(System.in);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6909BD-042E-DBC3-7D8F-EC7668F5FAA4}"/>
                </a:ext>
              </a:extLst>
            </p:cNvPr>
            <p:cNvSpPr txBox="1"/>
            <p:nvPr/>
          </p:nvSpPr>
          <p:spPr>
            <a:xfrm>
              <a:off x="5021579" y="2431579"/>
              <a:ext cx="36856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이 코드는 콘솔에 입력한 값을 </a:t>
              </a:r>
              <a:endParaRPr lang="en-US" altLang="ko-KR"/>
            </a:p>
            <a:p>
              <a:r>
                <a:rPr lang="ko-KR" altLang="en-US"/>
                <a:t>변수로 사용할 수 있도록 해줍니다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9233281-9BFF-F48E-CB09-9238E920C6DB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80197A3-08FA-D119-40CF-F22892623AF5}"/>
              </a:ext>
            </a:extLst>
          </p:cNvPr>
          <p:cNvSpPr txBox="1"/>
          <p:nvPr/>
        </p:nvSpPr>
        <p:spPr>
          <a:xfrm>
            <a:off x="603358" y="3025175"/>
            <a:ext cx="9083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keyboard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9379807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무한 반복으로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만들어보기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152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197A3-08FA-D119-40CF-F22892623AF5}"/>
              </a:ext>
            </a:extLst>
          </p:cNvPr>
          <p:cNvSpPr txBox="1"/>
          <p:nvPr/>
        </p:nvSpPr>
        <p:spPr>
          <a:xfrm>
            <a:off x="603358" y="1694593"/>
            <a:ext cx="90830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숫자를 입력하세요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keyboard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정답일 경우 무한 반복 종료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"Up!"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"Down!"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364199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01A2-5956-04D9-5FFE-4A200DE2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3DC6058-F76C-B114-EAE7-4B998D2A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https://www.acmicpc.net/problem/2739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hlinkClick r:id="rId3"/>
              </a:rPr>
              <a:t>https://www.acmicpc.net/problem/8393</a:t>
            </a:r>
            <a:endParaRPr lang="en-US" altLang="ko-KR">
              <a:latin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https://www.acmicpc.net/problem/25314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https://www.acmicpc.net/problem/2438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https://www.acmicpc.net/problem/2439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6EDC44A-4F03-7B3B-A8FA-3F461EF8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A4AD834-8498-9CCA-832A-C5326F8A7564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FAE553-180F-626E-4FFC-E77ABB7775FD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D416E4-0E80-3707-73F6-E87B40250DC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8B8164-4545-40FF-12B1-2EF3EE46321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0B723-DBAB-F3D3-1A73-90D32618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0210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for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2760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for </a:t>
            </a:r>
            <a:r>
              <a:rPr lang="ko-KR" altLang="en-US" dirty="0" err="1">
                <a:latin typeface="+mj-ea"/>
                <a:ea typeface="+mj-ea"/>
              </a:rPr>
              <a:t>반복문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지정한 </a:t>
            </a:r>
            <a:r>
              <a:rPr lang="ko-KR" altLang="en-US" dirty="0" err="1">
                <a:latin typeface="+mj-ea"/>
                <a:ea typeface="+mj-ea"/>
              </a:rPr>
              <a:t>범위까지만</a:t>
            </a:r>
            <a:r>
              <a:rPr lang="ko-KR" altLang="en-US" dirty="0">
                <a:latin typeface="+mj-ea"/>
                <a:ea typeface="+mj-ea"/>
              </a:rPr>
              <a:t> 반복을 수행하는 반복문입니다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나중에 학습할 </a:t>
            </a:r>
            <a:r>
              <a:rPr lang="en-US" altLang="ko-KR" dirty="0">
                <a:latin typeface="+mj-ea"/>
                <a:ea typeface="+mj-ea"/>
              </a:rPr>
              <a:t>Array</a:t>
            </a:r>
            <a:r>
              <a:rPr lang="ko-KR" altLang="en-US" dirty="0">
                <a:latin typeface="+mj-ea"/>
                <a:ea typeface="+mj-ea"/>
              </a:rPr>
              <a:t> 또는 </a:t>
            </a:r>
            <a:r>
              <a:rPr lang="en-US" altLang="ko-KR" dirty="0">
                <a:latin typeface="+mj-ea"/>
                <a:ea typeface="+mj-ea"/>
              </a:rPr>
              <a:t>List </a:t>
            </a:r>
            <a:r>
              <a:rPr lang="ko-KR" altLang="en-US" dirty="0">
                <a:latin typeface="+mj-ea"/>
                <a:ea typeface="+mj-ea"/>
              </a:rPr>
              <a:t>에서 사용합니다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5842F-508D-75AE-BB3F-973D39B335B1}"/>
              </a:ext>
            </a:extLst>
          </p:cNvPr>
          <p:cNvSpPr txBox="1"/>
          <p:nvPr/>
        </p:nvSpPr>
        <p:spPr>
          <a:xfrm>
            <a:off x="916577" y="2505670"/>
            <a:ext cx="5159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초기값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반복조건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증감식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반복할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141704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42103" y="2903606"/>
            <a:ext cx="62418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164908-7C56-3578-C7D2-73BDB89D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7" y="3322463"/>
            <a:ext cx="2816277" cy="296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8427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0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짝수만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101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(i)</a:t>
            </a:r>
            <a:r>
              <a:rPr lang="ko-KR" altLang="en-US">
                <a:latin typeface="+mj-ea"/>
                <a:ea typeface="+mj-ea"/>
              </a:rPr>
              <a:t>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990685"/>
            <a:ext cx="6241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040420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짝수만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101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3156152"/>
            <a:ext cx="6241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372904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90" y="1701820"/>
            <a:ext cx="77571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6578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90" y="1701820"/>
            <a:ext cx="77571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632521-B710-6C9D-AC03-13A462CE2161}"/>
              </a:ext>
            </a:extLst>
          </p:cNvPr>
          <p:cNvSpPr/>
          <p:nvPr/>
        </p:nvSpPr>
        <p:spPr>
          <a:xfrm>
            <a:off x="5434149" y="2230885"/>
            <a:ext cx="261257" cy="258495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634C52-D795-A19B-CB7F-E1D47DD100FD}"/>
              </a:ext>
            </a:extLst>
          </p:cNvPr>
          <p:cNvSpPr/>
          <p:nvPr/>
        </p:nvSpPr>
        <p:spPr>
          <a:xfrm>
            <a:off x="7445829" y="2230885"/>
            <a:ext cx="261257" cy="258495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DBE47-412C-2639-C6E2-F110108E987A}"/>
              </a:ext>
            </a:extLst>
          </p:cNvPr>
          <p:cNvSpPr txBox="1"/>
          <p:nvPr/>
        </p:nvSpPr>
        <p:spPr>
          <a:xfrm>
            <a:off x="3197415" y="5395139"/>
            <a:ext cx="5921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같은 출력내용에 숫자만 </a:t>
            </a:r>
            <a:r>
              <a:rPr lang="en-US" altLang="ko-KR"/>
              <a:t>1</a:t>
            </a:r>
            <a:r>
              <a:rPr lang="ko-KR" altLang="en-US"/>
              <a:t>씩 증가하고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이런 코드들은 반복문을 이용해 간단히 줄일 수 있습니다</a:t>
            </a:r>
            <a:r>
              <a:rPr lang="en-US" altLang="ko-KR"/>
              <a:t>.</a:t>
            </a:r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BA6E7E9-3F5D-0C0B-2CF7-36FBAACABF5D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5564778" y="4815841"/>
            <a:ext cx="593544" cy="57929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0D40093-6967-7954-C3F3-96160DAE2F6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6158322" y="4815841"/>
            <a:ext cx="1418136" cy="57929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7773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이중 </a:t>
            </a:r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(i, j)</a:t>
            </a:r>
            <a:r>
              <a:rPr lang="ko-KR" altLang="en-US">
                <a:latin typeface="+mj-ea"/>
                <a:ea typeface="+mj-ea"/>
              </a:rPr>
              <a:t>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89" y="1689166"/>
            <a:ext cx="81403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79731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까지의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홀수의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3. 1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</a:t>
            </a:r>
            <a:r>
              <a:rPr lang="en-US" altLang="ko-KR">
                <a:latin typeface="+mj-ea"/>
                <a:ea typeface="+mj-ea"/>
              </a:rPr>
              <a:t>3, 5, 6</a:t>
            </a:r>
            <a:r>
              <a:rPr lang="ko-KR" altLang="en-US">
                <a:latin typeface="+mj-ea"/>
                <a:ea typeface="+mj-ea"/>
              </a:rPr>
              <a:t>의 배수만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아래 결과가 나오게 반복문을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6301-A262-1FF0-1C6C-04C6834DE838}"/>
              </a:ext>
            </a:extLst>
          </p:cNvPr>
          <p:cNvSpPr txBox="1"/>
          <p:nvPr/>
        </p:nvSpPr>
        <p:spPr>
          <a:xfrm>
            <a:off x="1251674" y="2906544"/>
            <a:ext cx="908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*</a:t>
            </a:r>
          </a:p>
          <a:p>
            <a:r>
              <a:rPr lang="ko-KR" altLang="en-US"/>
              <a:t>**</a:t>
            </a:r>
          </a:p>
          <a:p>
            <a:r>
              <a:rPr lang="ko-KR" altLang="en-US"/>
              <a:t>***</a:t>
            </a:r>
          </a:p>
          <a:p>
            <a:r>
              <a:rPr lang="ko-KR" altLang="en-US"/>
              <a:t>****</a:t>
            </a:r>
          </a:p>
          <a:p>
            <a:r>
              <a:rPr lang="ko-KR" altLang="en-US"/>
              <a:t>*****</a:t>
            </a:r>
          </a:p>
        </p:txBody>
      </p:sp>
    </p:spTree>
    <p:extLst>
      <p:ext uri="{BB962C8B-B14F-4D97-AF65-F5344CB8AC3E}">
        <p14:creationId xmlns:p14="http://schemas.microsoft.com/office/powerpoint/2010/main" val="396213102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C85B-B8B5-886D-DB08-91A0B5F9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315931-FD04-A621-A332-9A39E8FCE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https://www.acmicpc.net/problem/2739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https://www.acmicpc.net/problem/8393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https://www.acmicpc.net/problem/25314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https://www.acmicpc.net/problem/2438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https://www.acmicpc.net/problem/2439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D92B6B-1BC6-5CE9-7B6F-05792A9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C1E5F2E-68DE-2724-5C15-3CAC34341B5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EEB1D9-60DB-8827-7EBF-05F266E57EEB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578E62-9702-57F0-25EC-CF5D7FED5D1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080865-B130-D934-D866-FB18FC5ED30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2CD94-3C28-55C0-9D41-6A94124D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0408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8. </a:t>
            </a:r>
            <a:r>
              <a:rPr lang="ko-KR" altLang="en-US" sz="4000" b="1">
                <a:latin typeface="+mj-ea"/>
              </a:rPr>
              <a:t>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FDDC78-2454-B595-1E2A-CF58187E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4493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메소드란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하나의 기능을 하는 코드의 </a:t>
            </a:r>
            <a:r>
              <a:rPr lang="ko-KR" altLang="en-US" err="1">
                <a:latin typeface="+mj-ea"/>
                <a:ea typeface="+mj-ea"/>
              </a:rPr>
              <a:t>묶음단위입니다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메소드가 하는 일에 따라 파라미터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인자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필요할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처리 결과를 반환 하거나 하지 않을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 코드 처럼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을 더해 출력하는 코드가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숫자를 더하는 코드가 여러 번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D48F7-9FE0-9281-1173-2B8AF537B78D}"/>
              </a:ext>
            </a:extLst>
          </p:cNvPr>
          <p:cNvSpPr txBox="1"/>
          <p:nvPr/>
        </p:nvSpPr>
        <p:spPr>
          <a:xfrm>
            <a:off x="533399" y="3021870"/>
            <a:ext cx="585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3182D-6B0B-32FB-DBE8-75A4262BEF15}"/>
              </a:ext>
            </a:extLst>
          </p:cNvPr>
          <p:cNvSpPr txBox="1"/>
          <p:nvPr/>
        </p:nvSpPr>
        <p:spPr>
          <a:xfrm>
            <a:off x="533399" y="4683593"/>
            <a:ext cx="63463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827077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동일한 기능의 코드가 여러 번 중복되어 있을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r>
              <a:rPr lang="ko-KR" altLang="en-US">
                <a:latin typeface="+mj-ea"/>
                <a:ea typeface="+mj-ea"/>
              </a:rPr>
              <a:t>해당 코드를 수행하는 기능을 한 번만 </a:t>
            </a:r>
            <a:r>
              <a:rPr lang="ko-KR" altLang="en-US" err="1">
                <a:latin typeface="+mj-ea"/>
                <a:ea typeface="+mj-ea"/>
              </a:rPr>
              <a:t>만들어두면</a:t>
            </a:r>
            <a:r>
              <a:rPr lang="ko-KR" altLang="en-US">
                <a:latin typeface="+mj-ea"/>
                <a:ea typeface="+mj-ea"/>
              </a:rPr>
              <a:t> 편리합니다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DD7EC-4F2B-8338-8B5D-22319A4D0A55}"/>
              </a:ext>
            </a:extLst>
          </p:cNvPr>
          <p:cNvSpPr txBox="1"/>
          <p:nvPr/>
        </p:nvSpPr>
        <p:spPr>
          <a:xfrm>
            <a:off x="550817" y="2153719"/>
            <a:ext cx="62679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//System.out.println( 1 + 3 );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26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조금 전 </a:t>
            </a:r>
            <a:r>
              <a:rPr lang="en-US" altLang="ko-KR">
                <a:latin typeface="+mj-ea"/>
                <a:ea typeface="+mj-ea"/>
              </a:rPr>
              <a:t>“add” </a:t>
            </a:r>
            <a:r>
              <a:rPr lang="ko-KR" altLang="en-US">
                <a:latin typeface="+mj-ea"/>
                <a:ea typeface="+mj-ea"/>
              </a:rPr>
              <a:t>라는 코드를 만들어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)“ </a:t>
            </a:r>
            <a:r>
              <a:rPr lang="ko-KR" altLang="en-US">
                <a:latin typeface="+mj-ea"/>
                <a:ea typeface="+mj-ea"/>
              </a:rPr>
              <a:t>하는 프로그램을 만들었습니다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이렇게 기능단위로 코드를 분리해 두는 것을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3DC38-30EE-D7AB-ECF1-356F3F44028F}"/>
              </a:ext>
            </a:extLst>
          </p:cNvPr>
          <p:cNvSpPr txBox="1"/>
          <p:nvPr/>
        </p:nvSpPr>
        <p:spPr>
          <a:xfrm>
            <a:off x="507274" y="2650399"/>
            <a:ext cx="51598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하는 일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8B373-40C2-F03C-CF69-CD7AAF7E306F}"/>
              </a:ext>
            </a:extLst>
          </p:cNvPr>
          <p:cNvSpPr txBox="1"/>
          <p:nvPr/>
        </p:nvSpPr>
        <p:spPr>
          <a:xfrm>
            <a:off x="507273" y="4349141"/>
            <a:ext cx="53623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//System.out.println( 1 + 3 );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62189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정의 규칙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B7C7A-227E-0A72-399B-F88C417B0783}"/>
              </a:ext>
            </a:extLst>
          </p:cNvPr>
          <p:cNvSpPr txBox="1"/>
          <p:nvPr/>
        </p:nvSpPr>
        <p:spPr>
          <a:xfrm>
            <a:off x="1746766" y="2202581"/>
            <a:ext cx="1281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생략가능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public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private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protected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B8AA6-20A3-FA8E-DD0C-60B0ECC1698A}"/>
              </a:ext>
            </a:extLst>
          </p:cNvPr>
          <p:cNvSpPr txBox="1"/>
          <p:nvPr/>
        </p:nvSpPr>
        <p:spPr>
          <a:xfrm>
            <a:off x="1805780" y="3693306"/>
            <a:ext cx="73045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접근제한자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예약어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반환타입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1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메소드명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파라미터타입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파라미터명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, ...) {</a:t>
            </a:r>
          </a:p>
          <a:p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메소드 호출 시 수행할 코드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   return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값</a:t>
            </a:r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;</a:t>
            </a:r>
            <a:endParaRPr lang="ko-KR" altLang="en-US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D66FC-274E-7FE4-AEDE-2AF58947DEB9}"/>
              </a:ext>
            </a:extLst>
          </p:cNvPr>
          <p:cNvSpPr txBox="1"/>
          <p:nvPr/>
        </p:nvSpPr>
        <p:spPr>
          <a:xfrm>
            <a:off x="2557039" y="4868979"/>
            <a:ext cx="15371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생략가능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static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abstract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synchronized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final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3E7275-487D-BFD5-2393-6D3E97ACA998}"/>
              </a:ext>
            </a:extLst>
          </p:cNvPr>
          <p:cNvSpPr txBox="1"/>
          <p:nvPr/>
        </p:nvSpPr>
        <p:spPr>
          <a:xfrm>
            <a:off x="3272829" y="2202581"/>
            <a:ext cx="1762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필수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void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Primitive Type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Reference 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8906CA-3BA1-6719-2747-A158A204D074}"/>
              </a:ext>
            </a:extLst>
          </p:cNvPr>
          <p:cNvSpPr/>
          <p:nvPr/>
        </p:nvSpPr>
        <p:spPr>
          <a:xfrm>
            <a:off x="1882240" y="3710724"/>
            <a:ext cx="1010194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F9F1259-3E05-0855-D543-461B0ACF869A}"/>
              </a:ext>
            </a:extLst>
          </p:cNvPr>
          <p:cNvCxnSpPr>
            <a:cxnSpLocks/>
            <a:stCxn id="16" idx="0"/>
            <a:endCxn id="5" idx="2"/>
          </p:cNvCxnSpPr>
          <p:nvPr/>
        </p:nvCxnSpPr>
        <p:spPr>
          <a:xfrm flipV="1">
            <a:off x="2387337" y="3279799"/>
            <a:ext cx="1" cy="43092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F7FF50-2BE9-6C8B-18CB-2CF5D886E8B0}"/>
              </a:ext>
            </a:extLst>
          </p:cNvPr>
          <p:cNvSpPr/>
          <p:nvPr/>
        </p:nvSpPr>
        <p:spPr>
          <a:xfrm>
            <a:off x="3019200" y="3710724"/>
            <a:ext cx="642490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24C7589-5F7F-E863-A44B-A699D1B422B3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 flipH="1">
            <a:off x="3325630" y="3980723"/>
            <a:ext cx="14815" cy="888256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B817DF6-778C-F099-9A69-81D2ACBA3FE7}"/>
              </a:ext>
            </a:extLst>
          </p:cNvPr>
          <p:cNvSpPr/>
          <p:nvPr/>
        </p:nvSpPr>
        <p:spPr>
          <a:xfrm>
            <a:off x="3734050" y="3710724"/>
            <a:ext cx="839806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B2841E-125E-AD39-BA82-E83D989E2644}"/>
              </a:ext>
            </a:extLst>
          </p:cNvPr>
          <p:cNvCxnSpPr>
            <a:cxnSpLocks/>
            <a:stCxn id="27" idx="0"/>
            <a:endCxn id="11" idx="2"/>
          </p:cNvCxnSpPr>
          <p:nvPr/>
        </p:nvCxnSpPr>
        <p:spPr>
          <a:xfrm flipV="1">
            <a:off x="4153953" y="3279799"/>
            <a:ext cx="0" cy="43092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593CCB-8853-3F02-09D9-738151C0EFF0}"/>
              </a:ext>
            </a:extLst>
          </p:cNvPr>
          <p:cNvSpPr/>
          <p:nvPr/>
        </p:nvSpPr>
        <p:spPr>
          <a:xfrm>
            <a:off x="5574893" y="3710724"/>
            <a:ext cx="1236397" cy="269999"/>
          </a:xfrm>
          <a:prstGeom prst="rect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C6E17C-B7B0-5CCC-C657-01921C76942D}"/>
              </a:ext>
            </a:extLst>
          </p:cNvPr>
          <p:cNvSpPr txBox="1"/>
          <p:nvPr/>
        </p:nvSpPr>
        <p:spPr>
          <a:xfrm>
            <a:off x="5314833" y="4890067"/>
            <a:ext cx="1762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Primitive Type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Reference Type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5726ACC-3923-A37C-6859-2D9750B166C2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6193092" y="3980723"/>
            <a:ext cx="2865" cy="909344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E630A6-9075-6AD5-2B34-E6C9004EC33B}"/>
              </a:ext>
            </a:extLst>
          </p:cNvPr>
          <p:cNvSpPr/>
          <p:nvPr/>
        </p:nvSpPr>
        <p:spPr>
          <a:xfrm>
            <a:off x="5542502" y="3673806"/>
            <a:ext cx="2972270" cy="3417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EAD8F4-BD17-447F-CF6D-471C88D8AC11}"/>
              </a:ext>
            </a:extLst>
          </p:cNvPr>
          <p:cNvSpPr txBox="1"/>
          <p:nvPr/>
        </p:nvSpPr>
        <p:spPr>
          <a:xfrm>
            <a:off x="5149164" y="2681144"/>
            <a:ext cx="3758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메소드가 요구하는 파라미터가 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없을 때 생략가능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7F551A7-44B0-17D1-FA43-35C62F33ECF2}"/>
              </a:ext>
            </a:extLst>
          </p:cNvPr>
          <p:cNvCxnSpPr>
            <a:cxnSpLocks/>
            <a:stCxn id="52" idx="2"/>
            <a:endCxn id="51" idx="0"/>
          </p:cNvCxnSpPr>
          <p:nvPr/>
        </p:nvCxnSpPr>
        <p:spPr>
          <a:xfrm>
            <a:off x="7028637" y="3265919"/>
            <a:ext cx="0" cy="4078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382C837-19CE-ACCB-0C67-827E4454F14B}"/>
              </a:ext>
            </a:extLst>
          </p:cNvPr>
          <p:cNvSpPr/>
          <p:nvPr/>
        </p:nvSpPr>
        <p:spPr>
          <a:xfrm>
            <a:off x="2289161" y="4213308"/>
            <a:ext cx="1192059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D9A0D2-2FC8-7BE6-9825-52700B05160F}"/>
              </a:ext>
            </a:extLst>
          </p:cNvPr>
          <p:cNvSpPr txBox="1"/>
          <p:nvPr/>
        </p:nvSpPr>
        <p:spPr>
          <a:xfrm>
            <a:off x="197718" y="3932808"/>
            <a:ext cx="14655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반환타입이 </a:t>
            </a:r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일 때만 생략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C7C6F0E-2EFE-9B37-A627-F56DF0AA2EC5}"/>
              </a:ext>
            </a:extLst>
          </p:cNvPr>
          <p:cNvCxnSpPr>
            <a:cxnSpLocks/>
            <a:stCxn id="61" idx="1"/>
            <a:endCxn id="62" idx="3"/>
          </p:cNvCxnSpPr>
          <p:nvPr/>
        </p:nvCxnSpPr>
        <p:spPr>
          <a:xfrm flipH="1" flipV="1">
            <a:off x="1663264" y="4348307"/>
            <a:ext cx="625897" cy="1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6930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?” </a:t>
            </a:r>
            <a:r>
              <a:rPr lang="ko-KR" altLang="en-US">
                <a:latin typeface="+mj-ea"/>
                <a:ea typeface="+mj-ea"/>
              </a:rPr>
              <a:t>만 출력하는 메소드 만들고 여러 번 호출해보기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6B352-3ECA-C3AF-270A-06A200FD7C3C}"/>
              </a:ext>
            </a:extLst>
          </p:cNvPr>
          <p:cNvSpPr txBox="1"/>
          <p:nvPr/>
        </p:nvSpPr>
        <p:spPr>
          <a:xfrm>
            <a:off x="664028" y="1839420"/>
            <a:ext cx="60676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711338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 + 1</a:t>
            </a:r>
            <a:r>
              <a:rPr lang="ko-KR" altLang="en-US">
                <a:latin typeface="+mj-ea"/>
                <a:ea typeface="+mj-ea"/>
              </a:rPr>
              <a:t>만 계산하는 메소드를 만들고 여러 번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6B352-3ECA-C3AF-270A-06A200FD7C3C}"/>
              </a:ext>
            </a:extLst>
          </p:cNvPr>
          <p:cNvSpPr txBox="1"/>
          <p:nvPr/>
        </p:nvSpPr>
        <p:spPr>
          <a:xfrm>
            <a:off x="664028" y="1839420"/>
            <a:ext cx="60676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26005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실행에 필요한 데이터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파라미터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있을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r>
              <a:rPr lang="ko-KR" altLang="en-US">
                <a:latin typeface="+mj-ea"/>
                <a:ea typeface="+mj-ea"/>
              </a:rPr>
              <a:t>메소드를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할 때 데이터를 반드시 전달해야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이름을 전달받아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이름씨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?” </a:t>
            </a:r>
            <a:r>
              <a:rPr lang="ko-KR" altLang="en-US">
                <a:latin typeface="+mj-ea"/>
                <a:ea typeface="+mj-ea"/>
              </a:rPr>
              <a:t>라고 출력하는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메소드를 만들어야 한다면 아래 코드처럼 작성해야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String name </a:t>
            </a:r>
            <a:r>
              <a:rPr lang="ko-KR" altLang="en-US">
                <a:latin typeface="+mj-ea"/>
                <a:ea typeface="+mj-ea"/>
              </a:rPr>
              <a:t>이라는 부분이 메소드 실행에 필요한 파라미터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4D0AA-2E28-EC69-293C-96B3219E47E6}"/>
              </a:ext>
            </a:extLst>
          </p:cNvPr>
          <p:cNvSpPr txBox="1"/>
          <p:nvPr/>
        </p:nvSpPr>
        <p:spPr>
          <a:xfrm>
            <a:off x="542107" y="3157852"/>
            <a:ext cx="6955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17749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주어진 문자와 안녕하세요</a:t>
            </a:r>
            <a:r>
              <a:rPr lang="en-US" altLang="ko-KR">
                <a:latin typeface="+mj-ea"/>
                <a:ea typeface="+mj-ea"/>
              </a:rPr>
              <a:t>? </a:t>
            </a:r>
            <a:r>
              <a:rPr lang="ko-KR" altLang="en-US">
                <a:latin typeface="+mj-ea"/>
                <a:ea typeface="+mj-ea"/>
              </a:rPr>
              <a:t>를 함께 출력하는 메소드를 만들고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여러 번 호출해보기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주어진 문자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스타크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출력결과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 err="1">
                <a:latin typeface="+mj-ea"/>
                <a:ea typeface="+mj-ea"/>
              </a:rPr>
              <a:t>스타크씨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 </a:t>
            </a:r>
            <a:r>
              <a:rPr lang="ko-KR" altLang="en-US">
                <a:latin typeface="+mj-ea"/>
                <a:ea typeface="+mj-ea"/>
              </a:rPr>
              <a:t>변수의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6F2EE-1D76-7243-0407-B479AAAAF31F}"/>
              </a:ext>
            </a:extLst>
          </p:cNvPr>
          <p:cNvSpPr txBox="1"/>
          <p:nvPr/>
        </p:nvSpPr>
        <p:spPr>
          <a:xfrm>
            <a:off x="550816" y="2544179"/>
            <a:ext cx="82274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스타크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스타크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헐크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헐크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그루트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그루트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449514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 문제를 각 메소드로 만들고 호출하는 코드를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까지의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홀수의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3. 1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</a:t>
            </a:r>
            <a:r>
              <a:rPr lang="en-US" altLang="ko-KR">
                <a:latin typeface="+mj-ea"/>
                <a:ea typeface="+mj-ea"/>
              </a:rPr>
              <a:t>3, 5, 6</a:t>
            </a:r>
            <a:r>
              <a:rPr lang="ko-KR" altLang="en-US">
                <a:latin typeface="+mj-ea"/>
                <a:ea typeface="+mj-ea"/>
              </a:rPr>
              <a:t>의 배수만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아래 결과가 나오게 반복문을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6301-A262-1FF0-1C6C-04C6834DE838}"/>
              </a:ext>
            </a:extLst>
          </p:cNvPr>
          <p:cNvSpPr txBox="1"/>
          <p:nvPr/>
        </p:nvSpPr>
        <p:spPr>
          <a:xfrm>
            <a:off x="1286509" y="3705973"/>
            <a:ext cx="908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*</a:t>
            </a:r>
          </a:p>
          <a:p>
            <a:r>
              <a:rPr lang="ko-KR" altLang="en-US"/>
              <a:t>**</a:t>
            </a:r>
          </a:p>
          <a:p>
            <a:r>
              <a:rPr lang="ko-KR" altLang="en-US"/>
              <a:t>***</a:t>
            </a:r>
          </a:p>
          <a:p>
            <a:r>
              <a:rPr lang="ko-KR" altLang="en-US"/>
              <a:t>****</a:t>
            </a:r>
          </a:p>
          <a:p>
            <a:r>
              <a:rPr lang="ko-KR" altLang="en-US"/>
              <a:t>*****</a:t>
            </a:r>
          </a:p>
        </p:txBody>
      </p:sp>
    </p:spTree>
    <p:extLst>
      <p:ext uri="{BB962C8B-B14F-4D97-AF65-F5344CB8AC3E}">
        <p14:creationId xmlns:p14="http://schemas.microsoft.com/office/powerpoint/2010/main" val="289402591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BAFD-EA70-218C-3A45-12734691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A2E655-CF78-8411-D5D5-CC5A3CEF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그동안 풀었던 모든 알고리즘 연습문제들을 메소드로 변환해 풀어본다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BB53EE-DA12-E641-1C8E-18FC85BF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5CE396C-2555-2396-E27A-B9592FC3417E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F5896D-78AB-1706-A14E-ABEB3B9267C5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986187-00AB-0A11-C5E1-930AC4E6BB29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D012AEE-3B51-F6B7-3970-EA02F5A17B3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A20B0-F326-4C35-5331-9EEAC70E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13126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메소드의 반환타입이 </a:t>
            </a:r>
            <a:r>
              <a:rPr lang="en-US" altLang="ko-KR">
                <a:latin typeface="+mj-ea"/>
                <a:ea typeface="+mj-ea"/>
              </a:rPr>
              <a:t>void </a:t>
            </a:r>
            <a:r>
              <a:rPr lang="ko-KR" altLang="en-US">
                <a:latin typeface="+mj-ea"/>
                <a:ea typeface="+mj-ea"/>
              </a:rPr>
              <a:t>일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아무것도 반환하지 않는 메소드가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int</a:t>
            </a:r>
            <a:r>
              <a:rPr lang="ko-KR" altLang="en-US">
                <a:latin typeface="+mj-ea"/>
                <a:ea typeface="+mj-ea"/>
              </a:rPr>
              <a:t>인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정수형</a:t>
            </a:r>
            <a:r>
              <a:rPr lang="en-US" altLang="ko-KR">
                <a:latin typeface="+mj-ea"/>
                <a:ea typeface="+mj-ea"/>
              </a:rPr>
              <a:t>(int)</a:t>
            </a:r>
            <a:r>
              <a:rPr lang="ko-KR" altLang="en-US">
                <a:latin typeface="+mj-ea"/>
                <a:ea typeface="+mj-ea"/>
              </a:rPr>
              <a:t>을 반환하는 메소드가 되며</a:t>
            </a:r>
            <a:r>
              <a:rPr lang="en-US" altLang="ko-KR">
                <a:latin typeface="+mj-ea"/>
                <a:ea typeface="+mj-ea"/>
              </a:rPr>
              <a:t>, return </a:t>
            </a:r>
            <a:r>
              <a:rPr lang="ko-KR" altLang="en-US">
                <a:latin typeface="+mj-ea"/>
                <a:ea typeface="+mj-ea"/>
              </a:rPr>
              <a:t>이라는 키워드가 메소드 가장 마지막에 작성되어야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double</a:t>
            </a:r>
            <a:r>
              <a:rPr lang="ko-KR" altLang="en-US">
                <a:latin typeface="+mj-ea"/>
                <a:ea typeface="+mj-ea"/>
              </a:rPr>
              <a:t>인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부동소수점형</a:t>
            </a:r>
            <a:r>
              <a:rPr lang="en-US" altLang="ko-KR">
                <a:latin typeface="+mj-ea"/>
                <a:ea typeface="+mj-ea"/>
              </a:rPr>
              <a:t>(double)</a:t>
            </a:r>
            <a:r>
              <a:rPr lang="ko-KR" altLang="en-US">
                <a:latin typeface="+mj-ea"/>
                <a:ea typeface="+mj-ea"/>
              </a:rPr>
              <a:t>을 반환하는 메소드가 되며</a:t>
            </a:r>
            <a:r>
              <a:rPr lang="en-US" altLang="ko-KR">
                <a:latin typeface="+mj-ea"/>
                <a:ea typeface="+mj-ea"/>
              </a:rPr>
              <a:t>, return</a:t>
            </a:r>
            <a:r>
              <a:rPr lang="ko-KR" altLang="en-US">
                <a:latin typeface="+mj-ea"/>
                <a:ea typeface="+mj-ea"/>
              </a:rPr>
              <a:t>이라는 키워드가 메소드 가장 마지막에 작성되어야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void</a:t>
            </a:r>
            <a:r>
              <a:rPr lang="ko-KR" altLang="en-US">
                <a:latin typeface="+mj-ea"/>
                <a:ea typeface="+mj-ea"/>
              </a:rPr>
              <a:t>가 아닌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항상 작성된 자료형으로 반환하는 메소드가 되며 반드시 </a:t>
            </a:r>
            <a:r>
              <a:rPr lang="en-US" altLang="ko-KR">
                <a:latin typeface="+mj-ea"/>
                <a:ea typeface="+mj-ea"/>
              </a:rPr>
              <a:t>return </a:t>
            </a:r>
            <a:r>
              <a:rPr lang="ko-KR" altLang="en-US">
                <a:latin typeface="+mj-ea"/>
                <a:ea typeface="+mj-ea"/>
              </a:rPr>
              <a:t>키워드가 메소드 가장 마지막에 작성 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3610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반환은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한 라인에 결과를 돌려준다는 의미입니다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 코드에서 노란색으로 표시된 영역이 메소드를 호출하므로 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하늘색으로 표시된 영역에서 반환하는 값은 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노란색 영역으로 </a:t>
            </a:r>
            <a:r>
              <a:rPr lang="en-US" altLang="ko-KR">
                <a:latin typeface="+mj-ea"/>
                <a:ea typeface="+mj-ea"/>
              </a:rPr>
              <a:t>40</a:t>
            </a:r>
            <a:r>
              <a:rPr lang="ko-KR" altLang="en-US">
                <a:latin typeface="+mj-ea"/>
                <a:ea typeface="+mj-ea"/>
              </a:rPr>
              <a:t>이라는 데이터를 반환하게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7854D-311F-EFD6-0497-F303D2451463}"/>
              </a:ext>
            </a:extLst>
          </p:cNvPr>
          <p:cNvSpPr txBox="1"/>
          <p:nvPr/>
        </p:nvSpPr>
        <p:spPr>
          <a:xfrm>
            <a:off x="559680" y="1571119"/>
            <a:ext cx="75394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045646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getMultiply</a:t>
            </a:r>
            <a:r>
              <a:rPr lang="en-US" altLang="ko-KR">
                <a:latin typeface="+mj-ea"/>
                <a:ea typeface="+mj-ea"/>
              </a:rPr>
              <a:t>(10, 4)</a:t>
            </a:r>
            <a:r>
              <a:rPr lang="ko-KR" altLang="en-US">
                <a:latin typeface="+mj-ea"/>
                <a:ea typeface="+mj-ea"/>
              </a:rPr>
              <a:t>의 값을 알고 싶다면 노란색 영역처럼 값을 할당 받는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코드가 반드시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7854D-311F-EFD6-0497-F303D2451463}"/>
              </a:ext>
            </a:extLst>
          </p:cNvPr>
          <p:cNvSpPr txBox="1"/>
          <p:nvPr/>
        </p:nvSpPr>
        <p:spPr>
          <a:xfrm>
            <a:off x="559680" y="2028801"/>
            <a:ext cx="753944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02218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분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초를 파라미터로 받으면 초를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948221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산술연산자를 이용해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초로 변환해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7C207-DB20-9BB9-A244-B38613A1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9194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</a:t>
            </a:r>
            <a:r>
              <a:rPr lang="en-US" altLang="ko-KR" err="1">
                <a:latin typeface="+mj-ea"/>
                <a:ea typeface="+mj-ea"/>
              </a:rPr>
              <a:t>processTime</a:t>
            </a:r>
            <a:r>
              <a:rPr lang="ko-KR" altLang="en-US">
                <a:latin typeface="+mj-ea"/>
                <a:ea typeface="+mj-ea"/>
              </a:rPr>
              <a:t>을 파라미터로 받아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분을 반환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processTime</a:t>
            </a:r>
            <a:r>
              <a:rPr lang="ko-KR" altLang="en-US">
                <a:latin typeface="+mj-ea"/>
                <a:ea typeface="+mj-ea"/>
              </a:rPr>
              <a:t>을 파라미터로 받아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초를 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2303008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 연산자를 이용해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분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(Minute),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(Second)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구한다음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minutes, seconds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2A6E3-D0F5-7D53-CC34-1542A024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5184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섭씨를 파라미터로 받아 화씨를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904678"/>
            <a:ext cx="83256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나타내는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변수와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화씨온도를 나타내는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변수가 있습니다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할당되어 있습니다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도를 화씨온도로 변경하면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도가 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화씨온도로 변경해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변경공식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섭씨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× 9/5) + 32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화씨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3C199-B06E-D662-6FF9-89F46276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7860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문제에서 아래 메소드 만들고 호출 실습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과목별 점수를 파라미터로 받아 합계를 구해 반환하는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합계와 </a:t>
            </a:r>
            <a:r>
              <a:rPr lang="en-US" altLang="ko-KR">
                <a:latin typeface="+mj-ea"/>
                <a:ea typeface="+mj-ea"/>
              </a:rPr>
              <a:t>4</a:t>
            </a:r>
            <a:r>
              <a:rPr lang="ko-KR" altLang="en-US">
                <a:latin typeface="+mj-ea"/>
                <a:ea typeface="+mj-ea"/>
              </a:rPr>
              <a:t>를 파라미터로 받아 평균을 구해 반환하는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평균을 파라미터로 받아 등급을 반환하는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2608997"/>
            <a:ext cx="86983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korScore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A+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B+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C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미만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F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337799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문제에서 아래 메소드 만들고 호출 실습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나이를 파라미터로 받아 편도 비행요금을 계산해 반환하는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2135089"/>
            <a:ext cx="86983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money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1_000_000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father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mother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daughter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adultOneWayFlightFare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kidOneWayFlightFare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만원으로 비행기를 타고 편도 여행을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가려합니다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부모님의 나이는 각각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40, 36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세이며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딸의 나이는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ko-KR" altLang="en-US" sz="1600">
                <a:solidFill>
                  <a:srgbClr val="008000"/>
                </a:solidFill>
                <a:latin typeface="Consolas" panose="020B0609020204030204" pitchFamily="49" charset="0"/>
              </a:rPr>
              <a:t>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성인의 비행요금은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아동의 비행요금은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만원입니다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가족은 여행을 떠날 수 있을까요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있다면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여행가자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없다면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다음에가자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출력해보세요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616655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71CF-AEF9-8736-7707-66830637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A96094-5024-4621-9E31-C7788021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그동안 풀었던 모든 알고리즘 연습문제들을 메소드로 변환해 풀어본다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FA53360-4D6C-F7D8-F0CB-72CC71C2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B5879E5-AFE5-0976-EB91-EC2D4D7DA85B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F56E91-A145-C180-89EE-C38C6265DAE2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3246A9-4143-5CB6-936F-1F0DF0C996A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AB0136-505F-B52D-7AE1-AB5B4689312C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4A977-EF60-B404-BF24-20ACDBD6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5749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클래스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인스턴스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생성자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337695-05E5-4F83-918F-7166C0BC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2814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클래스와 인스턴스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99880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클래스는 객체지향프로그래밍에서 가장 중요한 개념입니다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객체지향프로그래밍 </a:t>
            </a:r>
            <a:r>
              <a:rPr lang="en-US" altLang="ko-KR" dirty="0">
                <a:latin typeface="+mj-ea"/>
                <a:ea typeface="+mj-ea"/>
              </a:rPr>
              <a:t>(OOP)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수행 과제나 문제를 실세계의 객체로 표현해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사람이 알기 쉽게 풀어나갈 수 있는 방법을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클래스란</a:t>
            </a:r>
            <a:r>
              <a:rPr lang="en-US" altLang="ko-KR" dirty="0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존재할 수 있는 사물을 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추상화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시켜놓은</a:t>
            </a:r>
            <a:r>
              <a:rPr lang="ko-KR" altLang="en-US" dirty="0">
                <a:latin typeface="+mj-ea"/>
                <a:ea typeface="+mj-ea"/>
              </a:rPr>
              <a:t> 개념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에서는 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Reference Type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의 자료형</a:t>
            </a:r>
            <a:r>
              <a:rPr lang="ko-KR" altLang="en-US" dirty="0">
                <a:latin typeface="+mj-ea"/>
                <a:ea typeface="+mj-ea"/>
              </a:rPr>
              <a:t>에 해당합니다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객체란</a:t>
            </a:r>
            <a:r>
              <a:rPr lang="en-US" altLang="ko-KR" dirty="0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클래스를 변수로 만든 것을 의미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일반적으로 객체는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” </a:t>
            </a:r>
            <a:r>
              <a:rPr lang="ko-KR" altLang="en-US" dirty="0">
                <a:latin typeface="+mj-ea"/>
                <a:ea typeface="+mj-ea"/>
              </a:rPr>
              <a:t>라고 부릅니다</a:t>
            </a:r>
            <a:r>
              <a:rPr lang="en-US" altLang="ko-KR" dirty="0">
                <a:latin typeface="+mj-ea"/>
                <a:ea typeface="+mj-ea"/>
              </a:rPr>
              <a:t>.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클래스를 인스턴스로 만드는 과정을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인스턴스화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한다 라고 표현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클래스를 인스턴스로 만드는 인스턴스화의 과정은 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생성자 메소드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를 호출하는 것과 동일합니다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6043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실세계에 존재하는 모든 질량이 있는 사물들은 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아래 두 가지로 표현이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속성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기능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행동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endParaRPr lang="en-US" altLang="ko-KR" sz="180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속성이란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사물이 가지는 여러 특성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특징 들을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&gt; </a:t>
            </a:r>
            <a:r>
              <a:rPr lang="ko-KR" altLang="en-US" dirty="0">
                <a:latin typeface="+mj-ea"/>
                <a:ea typeface="+mj-ea"/>
              </a:rPr>
              <a:t>자동차의 속성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시동 여부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속도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2046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기능이란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객체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할 수 있는 기능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행동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자동차의 기능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시동버튼을 눌러 시동을 건다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엔진에 기본 동력이 제공되며 자동차가 출발할 준비를 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가속 페달을 밟는다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가속 페달을 밟는 만큼 엔진에 동력이 제공된다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브레이크 페달을 밟는다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브레이크 페달을 밟으면 바퀴가 서서히 멈춘다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시동버튼을 눌러 시동을 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엔진에 필요한 기본 동력을 제공하지 않아 자동차가 완전히 멈춘다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14837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Autofit/>
          </a:bodyPr>
          <a:lstStyle/>
          <a:p>
            <a:r>
              <a:rPr lang="ko-KR" altLang="en-US">
                <a:latin typeface="+mj-ea"/>
                <a:ea typeface="+mj-ea"/>
              </a:rPr>
              <a:t>클래스의 속성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인스턴스 필드</a:t>
            </a:r>
            <a:r>
              <a:rPr lang="en-US" altLang="ko-KR">
                <a:latin typeface="+mj-ea"/>
                <a:ea typeface="+mj-ea"/>
              </a:rPr>
              <a:t>＂ 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클래스의 기능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＂</a:t>
            </a:r>
            <a:r>
              <a:rPr lang="ko-KR" altLang="en-US">
                <a:latin typeface="+mj-ea"/>
                <a:ea typeface="+mj-ea"/>
              </a:rPr>
              <a:t>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인스턴스 메소드</a:t>
            </a:r>
            <a:r>
              <a:rPr lang="en-US" altLang="ko-KR">
                <a:latin typeface="+mj-ea"/>
                <a:ea typeface="+mj-ea"/>
              </a:rPr>
              <a:t>＂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멤버변수의 대상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인스턴스 메소드의 영향을 받는 변수들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영향을 받지 않는 변수는 제거하거나 상수로 변경해야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일부 멤버변수는 메소드의 실행상태를 제어하기도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시동이 꺼져 있을 때 가속페달을 누르면 아무 일도 일어나지 않아야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37104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6701872-C381-48C9-96C6-7D188F63CB24}"/>
              </a:ext>
            </a:extLst>
          </p:cNvPr>
          <p:cNvGrpSpPr/>
          <p:nvPr/>
        </p:nvGrpSpPr>
        <p:grpSpPr>
          <a:xfrm>
            <a:off x="57338" y="5652818"/>
            <a:ext cx="8781445" cy="1112711"/>
            <a:chOff x="4898273" y="1965199"/>
            <a:chExt cx="8781445" cy="11127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1FD95B-414E-BC4E-F7CA-24993B94B75F}"/>
                </a:ext>
              </a:extLst>
            </p:cNvPr>
            <p:cNvSpPr txBox="1"/>
            <p:nvPr/>
          </p:nvSpPr>
          <p:spPr>
            <a:xfrm>
              <a:off x="4898273" y="1965199"/>
              <a:ext cx="3881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멤버변수에 값을 할당하지 않았어요</a:t>
              </a:r>
              <a:r>
                <a:rPr lang="en-US" altLang="ko-KR" b="1"/>
                <a:t>!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0010E4-4E67-B22C-5D8F-189C9025986D}"/>
                </a:ext>
              </a:extLst>
            </p:cNvPr>
            <p:cNvSpPr txBox="1"/>
            <p:nvPr/>
          </p:nvSpPr>
          <p:spPr>
            <a:xfrm>
              <a:off x="5021579" y="2431579"/>
              <a:ext cx="865813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일반적인 지역변수는 반드시 값을 할당을 해야만 합니다</a:t>
              </a:r>
              <a:r>
                <a:rPr lang="en-US" altLang="ko-KR" dirty="0"/>
                <a:t>.</a:t>
              </a:r>
            </a:p>
            <a:p>
              <a:r>
                <a:rPr lang="ko-KR" altLang="en-US" dirty="0"/>
                <a:t>하지만</a:t>
              </a:r>
              <a:r>
                <a:rPr lang="en-US" altLang="ko-KR" dirty="0"/>
                <a:t>, </a:t>
              </a:r>
              <a:r>
                <a:rPr lang="ko-KR" altLang="en-US" dirty="0"/>
                <a:t>멤버변수는 값을 미리 할당하지 않아야 합니다</a:t>
              </a:r>
              <a:r>
                <a:rPr lang="en-US" altLang="ko-KR" dirty="0"/>
                <a:t>.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인스턴스마다 다른 값을 가지기 때문</a:t>
              </a:r>
              <a:r>
                <a:rPr lang="en-US" altLang="ko-KR" sz="1400" dirty="0"/>
                <a:t>)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D654F09-0A6C-86AB-8093-E74B4FCAC32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036711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82057203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148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main</a:t>
            </a:r>
            <a:r>
              <a:rPr lang="ko-KR" altLang="en-US" dirty="0">
                <a:latin typeface="+mj-ea"/>
                <a:ea typeface="+mj-ea"/>
              </a:rPr>
              <a:t> 메소드 다시 보기 </a:t>
            </a:r>
            <a:r>
              <a:rPr lang="en-US" altLang="ko-KR" dirty="0">
                <a:latin typeface="+mj-ea"/>
                <a:ea typeface="+mj-ea"/>
              </a:rPr>
              <a:t>_ 1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클래스를 변수로 사용하려면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인스턴스로 만들어야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인스턴스가 만들어지면 변수에 할당해야 사용할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Reference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Type</a:t>
            </a:r>
            <a:r>
              <a:rPr lang="ko-KR" altLang="en-US" dirty="0">
                <a:latin typeface="+mj-ea"/>
                <a:ea typeface="+mj-ea"/>
              </a:rPr>
              <a:t>의 변수는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라고 부르는데</a:t>
            </a:r>
            <a:r>
              <a:rPr lang="en-US" altLang="ko-KR" dirty="0">
                <a:latin typeface="+mj-ea"/>
                <a:ea typeface="+mj-ea"/>
              </a:rPr>
              <a:t>,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Car </a:t>
            </a:r>
            <a:r>
              <a:rPr lang="ko-KR" altLang="en-US" dirty="0">
                <a:latin typeface="+mj-ea"/>
                <a:ea typeface="+mj-ea"/>
              </a:rPr>
              <a:t>클래스는 </a:t>
            </a:r>
            <a:r>
              <a:rPr lang="en-US" altLang="ko-KR" dirty="0">
                <a:latin typeface="+mj-ea"/>
                <a:ea typeface="+mj-ea"/>
              </a:rPr>
              <a:t>Reference Type</a:t>
            </a:r>
            <a:r>
              <a:rPr lang="ko-KR" altLang="en-US" dirty="0">
                <a:latin typeface="+mj-ea"/>
                <a:ea typeface="+mj-ea"/>
              </a:rPr>
              <a:t>이므로 </a:t>
            </a:r>
            <a:r>
              <a:rPr lang="en-US" altLang="ko-KR" dirty="0">
                <a:latin typeface="+mj-ea"/>
                <a:ea typeface="+mj-ea"/>
              </a:rPr>
              <a:t>car </a:t>
            </a:r>
            <a:r>
              <a:rPr lang="ko-KR" altLang="en-US" dirty="0">
                <a:latin typeface="+mj-ea"/>
                <a:ea typeface="+mj-ea"/>
              </a:rPr>
              <a:t>변수는 인스턴스입니다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ACEB9-B335-6714-6C07-9B095144646D}"/>
              </a:ext>
            </a:extLst>
          </p:cNvPr>
          <p:cNvSpPr txBox="1"/>
          <p:nvPr/>
        </p:nvSpPr>
        <p:spPr>
          <a:xfrm>
            <a:off x="528386" y="3999783"/>
            <a:ext cx="7065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Car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클래스를 인스턴스로 생성합니다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56948-CFB0-B9BB-7FE8-5D1470C3C4D9}"/>
              </a:ext>
            </a:extLst>
          </p:cNvPr>
          <p:cNvSpPr txBox="1"/>
          <p:nvPr/>
        </p:nvSpPr>
        <p:spPr>
          <a:xfrm>
            <a:off x="528385" y="4819085"/>
            <a:ext cx="83551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인스턴스를 만들어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8913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main</a:t>
            </a:r>
            <a:r>
              <a:rPr lang="ko-KR" altLang="en-US">
                <a:latin typeface="+mj-ea"/>
                <a:ea typeface="+mj-ea"/>
              </a:rPr>
              <a:t> 메소드 다시 보기 </a:t>
            </a:r>
            <a:r>
              <a:rPr lang="en-US" altLang="ko-KR">
                <a:latin typeface="+mj-ea"/>
                <a:ea typeface="+mj-ea"/>
              </a:rPr>
              <a:t>_ 2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의 인스턴스는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에는 없는 특별한  점 연산자 </a:t>
            </a:r>
            <a:r>
              <a:rPr lang="en-US" altLang="ko-KR">
                <a:latin typeface="+mj-ea"/>
                <a:ea typeface="+mj-ea"/>
              </a:rPr>
              <a:t>(“ . ” )</a:t>
            </a:r>
            <a:r>
              <a:rPr lang="ko-KR" altLang="en-US">
                <a:latin typeface="+mj-ea"/>
                <a:ea typeface="+mj-ea"/>
              </a:rPr>
              <a:t>를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 코드는 </a:t>
            </a:r>
            <a:r>
              <a:rPr lang="en-US" altLang="ko-KR">
                <a:latin typeface="+mj-ea"/>
                <a:ea typeface="+mj-ea"/>
              </a:rPr>
              <a:t>car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 err="1">
                <a:latin typeface="+mj-ea"/>
                <a:ea typeface="+mj-ea"/>
              </a:rPr>
              <a:t>pressEngineStartButton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실행해라 라고 하는 명령입니다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8CA17-0774-89DC-D555-74FBC7CB523D}"/>
              </a:ext>
            </a:extLst>
          </p:cNvPr>
          <p:cNvSpPr txBox="1"/>
          <p:nvPr/>
        </p:nvSpPr>
        <p:spPr>
          <a:xfrm>
            <a:off x="528387" y="4376153"/>
            <a:ext cx="5159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774231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메모리 참조타입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변수들의 메모리 공간을 종류별로 묶어 그 주소를 참조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Primitive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Type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의 차이점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Primitive Type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정해진 </a:t>
            </a:r>
            <a:r>
              <a:rPr lang="en-US" altLang="ko-KR">
                <a:latin typeface="+mj-ea"/>
                <a:ea typeface="+mj-ea"/>
              </a:rPr>
              <a:t>Byte</a:t>
            </a:r>
            <a:r>
              <a:rPr lang="ko-KR" altLang="en-US">
                <a:latin typeface="+mj-ea"/>
                <a:ea typeface="+mj-ea"/>
              </a:rPr>
              <a:t>크기 만큼 메모리를 할당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항상 값을 참조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Reference Type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여러 개의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과 여러 개의 </a:t>
            </a:r>
            <a:r>
              <a:rPr lang="en-US" altLang="ko-KR">
                <a:latin typeface="+mj-ea"/>
                <a:ea typeface="+mj-ea"/>
              </a:rPr>
              <a:t>Reference Type, 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여러 개의 메소드를 사용하므로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하나의 메모리로 사용할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항상 메모리 주소를 참조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24308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car </a:t>
            </a:r>
            <a:r>
              <a:rPr lang="ko-KR" altLang="en-US">
                <a:latin typeface="+mj-ea"/>
                <a:ea typeface="+mj-ea"/>
              </a:rPr>
              <a:t>인스턴스의 메모리 주소는 </a:t>
            </a:r>
            <a:r>
              <a:rPr lang="en-US" altLang="ko-KR">
                <a:latin typeface="+mj-ea"/>
                <a:ea typeface="+mj-ea"/>
              </a:rPr>
              <a:t>32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CDE60B-C5B4-FA15-B38F-1E137B382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7" y="3429000"/>
            <a:ext cx="5555915" cy="2437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A881A0-0F2A-D99F-5629-6E3D6393FFBA}"/>
              </a:ext>
            </a:extLst>
          </p:cNvPr>
          <p:cNvSpPr txBox="1"/>
          <p:nvPr/>
        </p:nvSpPr>
        <p:spPr>
          <a:xfrm>
            <a:off x="482697" y="1730262"/>
            <a:ext cx="4690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1062447" y="4241780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896983" y="3736163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1132625" y="4105495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4170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64F494F-1CA0-0BF6-01B0-F9E56E1E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538" y="2462370"/>
            <a:ext cx="5507106" cy="2372059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197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5719897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554433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790075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1F110D-2291-8918-FD8C-08EC5800FBE2}"/>
              </a:ext>
            </a:extLst>
          </p:cNvPr>
          <p:cNvSpPr txBox="1"/>
          <p:nvPr/>
        </p:nvSpPr>
        <p:spPr>
          <a:xfrm>
            <a:off x="482697" y="1736413"/>
            <a:ext cx="4690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6E7F88-EC24-6CDC-40EC-BAF4150DAA55}"/>
              </a:ext>
            </a:extLst>
          </p:cNvPr>
          <p:cNvSpPr txBox="1"/>
          <p:nvPr/>
        </p:nvSpPr>
        <p:spPr>
          <a:xfrm>
            <a:off x="504214" y="2890334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872637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76364A-15F3-C49C-789B-AC592E5D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53" y="2462370"/>
            <a:ext cx="5507106" cy="2352623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198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6146621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981157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6216799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583F53-5A9D-8A81-EF5F-BC396E9E191E}"/>
              </a:ext>
            </a:extLst>
          </p:cNvPr>
          <p:cNvSpPr txBox="1"/>
          <p:nvPr/>
        </p:nvSpPr>
        <p:spPr>
          <a:xfrm>
            <a:off x="482697" y="1730262"/>
            <a:ext cx="4690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50BC-0D52-60CA-EE59-E092C17A534D}"/>
              </a:ext>
            </a:extLst>
          </p:cNvPr>
          <p:cNvSpPr txBox="1"/>
          <p:nvPr/>
        </p:nvSpPr>
        <p:spPr>
          <a:xfrm>
            <a:off x="476844" y="2958903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288012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64F494F-1CA0-0BF6-01B0-F9E56E1E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672" y="2462370"/>
            <a:ext cx="5507106" cy="2372059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199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6185031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6019567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6255209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1E9BC6-4444-6584-6B33-4AE1BC9CC896}"/>
              </a:ext>
            </a:extLst>
          </p:cNvPr>
          <p:cNvSpPr txBox="1"/>
          <p:nvPr/>
        </p:nvSpPr>
        <p:spPr>
          <a:xfrm>
            <a:off x="482697" y="1730262"/>
            <a:ext cx="46901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06790-CC6B-376C-F409-DFFEBAEAE834}"/>
              </a:ext>
            </a:extLst>
          </p:cNvPr>
          <p:cNvSpPr txBox="1"/>
          <p:nvPr/>
        </p:nvSpPr>
        <p:spPr>
          <a:xfrm>
            <a:off x="476844" y="3257227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961355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9745510-54B1-D35F-2E52-C3F47B66B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30" y="2446493"/>
            <a:ext cx="5504608" cy="23870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200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5719897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554433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790075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37D387-C8D8-2199-C2B6-D39F54EF9CAB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800A8-C776-BB56-D7DB-B835D1225B97}"/>
              </a:ext>
            </a:extLst>
          </p:cNvPr>
          <p:cNvSpPr txBox="1"/>
          <p:nvPr/>
        </p:nvSpPr>
        <p:spPr>
          <a:xfrm>
            <a:off x="476844" y="3391850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256640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메소드가 종료되면 지역변수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인스턴스 포함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는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1DECC-0E86-42B4-8B8D-7AACB99C2F81}"/>
              </a:ext>
            </a:extLst>
          </p:cNvPr>
          <p:cNvSpPr txBox="1"/>
          <p:nvPr/>
        </p:nvSpPr>
        <p:spPr>
          <a:xfrm>
            <a:off x="482697" y="159310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B2AB14-F055-EF21-7B55-73A4DA4E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7" y="3757848"/>
            <a:ext cx="4955812" cy="21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7989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JVM(Java Virtual Machine)</a:t>
            </a:r>
            <a:r>
              <a:rPr lang="ko-KR" altLang="en-US">
                <a:latin typeface="+mj-ea"/>
                <a:ea typeface="+mj-ea"/>
              </a:rPr>
              <a:t>의 메모리 구조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202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070EB5-2908-2003-39F0-9AB9FF19C494}"/>
              </a:ext>
            </a:extLst>
          </p:cNvPr>
          <p:cNvSpPr/>
          <p:nvPr/>
        </p:nvSpPr>
        <p:spPr>
          <a:xfrm>
            <a:off x="609599" y="2213467"/>
            <a:ext cx="8245406" cy="1398416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상수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(final)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명과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멤버변수 명과 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 생성자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인스턴스 메소드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</a:t>
            </a:r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변수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(static)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명과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메소드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(static),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또는 인터페이스의 여부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이름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),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슈퍼클래스의 이름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805AB-FC95-10AB-7655-D7942C71819C}"/>
              </a:ext>
            </a:extLst>
          </p:cNvPr>
          <p:cNvSpPr txBox="1"/>
          <p:nvPr/>
        </p:nvSpPr>
        <p:spPr>
          <a:xfrm>
            <a:off x="856520" y="2005988"/>
            <a:ext cx="16791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Method</a:t>
            </a:r>
            <a:r>
              <a:rPr lang="ko-KR" altLang="en-US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(Static)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80AF10-76C1-204C-D80D-89C125395670}"/>
              </a:ext>
            </a:extLst>
          </p:cNvPr>
          <p:cNvSpPr/>
          <p:nvPr/>
        </p:nvSpPr>
        <p:spPr>
          <a:xfrm>
            <a:off x="609599" y="4239377"/>
            <a:ext cx="3962401" cy="1100835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파라미터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지역변수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반환 값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연산에 사용된 임시 변수 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BE26A-2DDF-B5E4-79A4-6105C9D564FF}"/>
              </a:ext>
            </a:extLst>
          </p:cNvPr>
          <p:cNvSpPr txBox="1"/>
          <p:nvPr/>
        </p:nvSpPr>
        <p:spPr>
          <a:xfrm>
            <a:off x="856520" y="4054711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AC817C-5133-5B2E-DB32-49C5C4E33FF1}"/>
              </a:ext>
            </a:extLst>
          </p:cNvPr>
          <p:cNvSpPr/>
          <p:nvPr/>
        </p:nvSpPr>
        <p:spPr>
          <a:xfrm>
            <a:off x="4892604" y="4239377"/>
            <a:ext cx="3962401" cy="1100835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new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키워드로 생성된 </a:t>
            </a:r>
            <a:endParaRPr lang="en-US" altLang="ko-KR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객체 또는 배열 등의 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Reference Type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객체 </a:t>
            </a:r>
            <a:endParaRPr lang="en-US" altLang="ko-KR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(Method </a:t>
            </a:r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영역에 적재된 클래스만 생성이 가능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E2CD2-AEB1-8500-9D05-7895AE9F8867}"/>
              </a:ext>
            </a:extLst>
          </p:cNvPr>
          <p:cNvSpPr txBox="1"/>
          <p:nvPr/>
        </p:nvSpPr>
        <p:spPr>
          <a:xfrm>
            <a:off x="5139525" y="4054711"/>
            <a:ext cx="6767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74D107F-00B4-0B06-5E15-719E1C206D2E}"/>
              </a:ext>
            </a:extLst>
          </p:cNvPr>
          <p:cNvSpPr/>
          <p:nvPr/>
        </p:nvSpPr>
        <p:spPr>
          <a:xfrm rot="16200000">
            <a:off x="1637064" y="3733016"/>
            <a:ext cx="444269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362EA-BA71-8CEE-8B44-A8318FE7C39A}"/>
              </a:ext>
            </a:extLst>
          </p:cNvPr>
          <p:cNvSpPr txBox="1"/>
          <p:nvPr/>
        </p:nvSpPr>
        <p:spPr>
          <a:xfrm>
            <a:off x="1441455" y="383690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가능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D219FC0B-3FF8-4B07-FC2A-4939DDE466E1}"/>
              </a:ext>
            </a:extLst>
          </p:cNvPr>
          <p:cNvSpPr/>
          <p:nvPr/>
        </p:nvSpPr>
        <p:spPr>
          <a:xfrm rot="16200000">
            <a:off x="6161704" y="3733017"/>
            <a:ext cx="444269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B74C4-F5E8-C892-8A4E-35804E412FD5}"/>
              </a:ext>
            </a:extLst>
          </p:cNvPr>
          <p:cNvSpPr txBox="1"/>
          <p:nvPr/>
        </p:nvSpPr>
        <p:spPr>
          <a:xfrm>
            <a:off x="5966095" y="3836904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가능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3D896E2-FC61-1F7B-66B2-51B80AB0E347}"/>
              </a:ext>
            </a:extLst>
          </p:cNvPr>
          <p:cNvSpPr/>
          <p:nvPr/>
        </p:nvSpPr>
        <p:spPr>
          <a:xfrm rot="5400000">
            <a:off x="3000229" y="3733016"/>
            <a:ext cx="444269" cy="3693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D04760-CA49-A6A8-B296-929CAA895BC5}"/>
              </a:ext>
            </a:extLst>
          </p:cNvPr>
          <p:cNvSpPr txBox="1"/>
          <p:nvPr/>
        </p:nvSpPr>
        <p:spPr>
          <a:xfrm>
            <a:off x="2718815" y="3836903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불가능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ABCF603E-9B5D-A7CE-62A0-D33CEF703919}"/>
              </a:ext>
            </a:extLst>
          </p:cNvPr>
          <p:cNvSpPr/>
          <p:nvPr/>
        </p:nvSpPr>
        <p:spPr>
          <a:xfrm rot="5400000">
            <a:off x="7210376" y="3733017"/>
            <a:ext cx="444269" cy="3693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3AAE12-874B-9508-A0E4-9EAB7A1F2A45}"/>
              </a:ext>
            </a:extLst>
          </p:cNvPr>
          <p:cNvSpPr txBox="1"/>
          <p:nvPr/>
        </p:nvSpPr>
        <p:spPr>
          <a:xfrm>
            <a:off x="6928962" y="3836904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불가능</a:t>
            </a:r>
          </a:p>
        </p:txBody>
      </p:sp>
    </p:spTree>
    <p:extLst>
      <p:ext uri="{BB962C8B-B14F-4D97-AF65-F5344CB8AC3E}">
        <p14:creationId xmlns:p14="http://schemas.microsoft.com/office/powerpoint/2010/main" val="304499615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DF1E34-C61B-7A95-0BC0-074CA63C3687}"/>
              </a:ext>
            </a:extLst>
          </p:cNvPr>
          <p:cNvSpPr/>
          <p:nvPr/>
        </p:nvSpPr>
        <p:spPr>
          <a:xfrm>
            <a:off x="609599" y="1901563"/>
            <a:ext cx="8245406" cy="3093669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CA965-89DE-828F-5B3A-8EEC7C4994CA}"/>
              </a:ext>
            </a:extLst>
          </p:cNvPr>
          <p:cNvSpPr txBox="1"/>
          <p:nvPr/>
        </p:nvSpPr>
        <p:spPr>
          <a:xfrm>
            <a:off x="856520" y="1694085"/>
            <a:ext cx="16791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Method</a:t>
            </a:r>
            <a:r>
              <a:rPr lang="ko-KR" altLang="en-US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(Static)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0E7CAB-DF0B-FDCB-429A-4B75C4367D95}"/>
              </a:ext>
            </a:extLst>
          </p:cNvPr>
          <p:cNvSpPr/>
          <p:nvPr/>
        </p:nvSpPr>
        <p:spPr>
          <a:xfrm>
            <a:off x="821683" y="2229355"/>
            <a:ext cx="7834635" cy="2647444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75AF0A-5AC3-2786-63AF-4F1B674B51B5}"/>
              </a:ext>
            </a:extLst>
          </p:cNvPr>
          <p:cNvSpPr txBox="1"/>
          <p:nvPr/>
        </p:nvSpPr>
        <p:spPr>
          <a:xfrm>
            <a:off x="906002" y="2054660"/>
            <a:ext cx="60785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Class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01F3A-04EC-6290-5F60-F9ED9153E03D}"/>
              </a:ext>
            </a:extLst>
          </p:cNvPr>
          <p:cNvSpPr txBox="1"/>
          <p:nvPr/>
        </p:nvSpPr>
        <p:spPr>
          <a:xfrm>
            <a:off x="906002" y="2358534"/>
            <a:ext cx="7521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Car,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Class,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Super class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Object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F337466-2C97-B3BC-F2E7-153ECCBD32D9}"/>
              </a:ext>
            </a:extLst>
          </p:cNvPr>
          <p:cNvSpPr/>
          <p:nvPr/>
        </p:nvSpPr>
        <p:spPr>
          <a:xfrm>
            <a:off x="978437" y="2748392"/>
            <a:ext cx="7521128" cy="663190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9AC8CC-FDBE-7BD3-29B9-07F32A0C39DE}"/>
              </a:ext>
            </a:extLst>
          </p:cNvPr>
          <p:cNvSpPr txBox="1"/>
          <p:nvPr/>
        </p:nvSpPr>
        <p:spPr>
          <a:xfrm>
            <a:off x="1062756" y="2573697"/>
            <a:ext cx="60785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Field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7784EC-E2FF-FDA5-8D36-090B638E42CF}"/>
              </a:ext>
            </a:extLst>
          </p:cNvPr>
          <p:cNvSpPr txBox="1"/>
          <p:nvPr/>
        </p:nvSpPr>
        <p:spPr>
          <a:xfrm>
            <a:off x="1056523" y="2826426"/>
            <a:ext cx="733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isEngineStart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boolean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speed,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FA69017-D0E0-FF75-7B23-97C8EE79CA75}"/>
              </a:ext>
            </a:extLst>
          </p:cNvPr>
          <p:cNvSpPr/>
          <p:nvPr/>
        </p:nvSpPr>
        <p:spPr>
          <a:xfrm>
            <a:off x="978437" y="3619124"/>
            <a:ext cx="7521127" cy="1118337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7DC0E9-5A00-25F5-2498-99F5889B748B}"/>
              </a:ext>
            </a:extLst>
          </p:cNvPr>
          <p:cNvSpPr txBox="1"/>
          <p:nvPr/>
        </p:nvSpPr>
        <p:spPr>
          <a:xfrm>
            <a:off x="1062756" y="3444430"/>
            <a:ext cx="94627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Method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4BB47-AC8D-6266-8637-A026A41D865E}"/>
              </a:ext>
            </a:extLst>
          </p:cNvPr>
          <p:cNvSpPr txBox="1"/>
          <p:nvPr/>
        </p:nvSpPr>
        <p:spPr>
          <a:xfrm>
            <a:off x="1056524" y="3704730"/>
            <a:ext cx="7338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pressEngineStart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pressGasolinPedal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pressBrakePedal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main,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String[],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static</a:t>
            </a:r>
          </a:p>
        </p:txBody>
      </p:sp>
    </p:spTree>
    <p:extLst>
      <p:ext uri="{BB962C8B-B14F-4D97-AF65-F5344CB8AC3E}">
        <p14:creationId xmlns:p14="http://schemas.microsoft.com/office/powerpoint/2010/main" val="145613030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  <a:endParaRPr lang="ko-KR" altLang="en-US"/>
          </a:p>
          <a:p>
            <a:r>
              <a:rPr lang="en-US" altLang="ko-KR"/>
              <a:t>Name: car, Type: Car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58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false</a:t>
            </a:r>
          </a:p>
          <a:p>
            <a:r>
              <a:rPr lang="en-US" altLang="ko-KR"/>
              <a:t>speed: 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83139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2684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false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true</a:t>
            </a:r>
            <a:endParaRPr lang="en-US" altLang="ko-KR">
              <a:highlight>
                <a:srgbClr val="FFFF00"/>
              </a:highlight>
            </a:endParaRPr>
          </a:p>
          <a:p>
            <a:r>
              <a:rPr lang="en-US" altLang="ko-KR"/>
              <a:t>speed: 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10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F6BEF-C4BB-4A4B-A471-8F2C2B130CCF}"/>
              </a:ext>
            </a:extLst>
          </p:cNvPr>
          <p:cNvSpPr txBox="1"/>
          <p:nvPr/>
        </p:nvSpPr>
        <p:spPr>
          <a:xfrm>
            <a:off x="476844" y="2884183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834214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3240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</a:p>
          <a:p>
            <a:r>
              <a:rPr lang="en-US" altLang="ko-KR"/>
              <a:t>Name: press, Type: int, value: 10</a:t>
            </a:r>
          </a:p>
          <a:p>
            <a:r>
              <a:rPr lang="en-US" altLang="ko-KR"/>
              <a:t>Name: temp: Type: int, value: 20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17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</a:t>
            </a:r>
          </a:p>
          <a:p>
            <a:r>
              <a:rPr lang="en-US" altLang="ko-KR"/>
              <a:t>speed: 10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20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64518-0961-52A2-166B-BBF9D549DFC1}"/>
              </a:ext>
            </a:extLst>
          </p:cNvPr>
          <p:cNvSpPr txBox="1"/>
          <p:nvPr/>
        </p:nvSpPr>
        <p:spPr>
          <a:xfrm>
            <a:off x="476844" y="2958903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443941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207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3240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</a:p>
          <a:p>
            <a:r>
              <a:rPr lang="en-US" altLang="ko-KR"/>
              <a:t>Name: press, Type: int, value: 10</a:t>
            </a:r>
          </a:p>
          <a:p>
            <a:r>
              <a:rPr lang="en-US" altLang="ko-KR"/>
              <a:t>Name: temp: Type: int, value: 10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17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</a:t>
            </a:r>
          </a:p>
          <a:p>
            <a:r>
              <a:rPr lang="en-US" altLang="ko-KR"/>
              <a:t>speed: 20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10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1D03F-0867-36F7-FB97-23A5127CCE45}"/>
              </a:ext>
            </a:extLst>
          </p:cNvPr>
          <p:cNvSpPr txBox="1"/>
          <p:nvPr/>
        </p:nvSpPr>
        <p:spPr>
          <a:xfrm>
            <a:off x="476844" y="3257227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144502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2684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false</a:t>
            </a:r>
            <a:endParaRPr lang="en-US" altLang="ko-KR">
              <a:highlight>
                <a:srgbClr val="FFFF00"/>
              </a:highlight>
            </a:endParaRPr>
          </a:p>
          <a:p>
            <a:r>
              <a:rPr lang="en-US" altLang="ko-KR"/>
              <a:t>speed: 10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C202D-06F2-3696-116B-35385E3BF172}"/>
              </a:ext>
            </a:extLst>
          </p:cNvPr>
          <p:cNvSpPr txBox="1"/>
          <p:nvPr/>
        </p:nvSpPr>
        <p:spPr>
          <a:xfrm>
            <a:off x="476844" y="3391850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259531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60065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학생 평균 및 학점 구하기 실습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6F7360-3F3B-DA3C-E36A-95CFF788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0" y="1608587"/>
            <a:ext cx="3648584" cy="3057952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E9E80C78-696E-E762-E9D2-3ACF90183D0D}"/>
              </a:ext>
            </a:extLst>
          </p:cNvPr>
          <p:cNvSpPr txBox="1">
            <a:spLocks/>
          </p:cNvSpPr>
          <p:nvPr/>
        </p:nvSpPr>
        <p:spPr>
          <a:xfrm>
            <a:off x="4184314" y="1733005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err="1">
                <a:latin typeface="+mj-ea"/>
                <a:ea typeface="+mj-ea"/>
              </a:rPr>
              <a:t>getSumAllScores</a:t>
            </a:r>
            <a:r>
              <a:rPr lang="en-US" altLang="ko-KR" sz="1400">
                <a:latin typeface="+mj-ea"/>
                <a:ea typeface="+mj-ea"/>
              </a:rPr>
              <a:t>(): int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멤버변수를 모두 더해 </a:t>
            </a:r>
            <a:r>
              <a:rPr lang="en-US" altLang="ko-KR" sz="1400">
                <a:latin typeface="+mj-ea"/>
                <a:ea typeface="+mj-ea"/>
              </a:rPr>
              <a:t>int </a:t>
            </a:r>
            <a:r>
              <a:rPr lang="ko-KR" altLang="en-US" sz="1400">
                <a:latin typeface="+mj-ea"/>
                <a:ea typeface="+mj-ea"/>
              </a:rPr>
              <a:t>타입으로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getAverage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합계점수 </a:t>
            </a:r>
            <a:r>
              <a:rPr lang="en-US" altLang="ko-KR" sz="1400">
                <a:latin typeface="+mj-ea"/>
                <a:ea typeface="+mj-ea"/>
              </a:rPr>
              <a:t>/ 4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r>
              <a:rPr lang="en-US" altLang="ko-KR" sz="1400">
                <a:latin typeface="+mj-ea"/>
                <a:ea typeface="+mj-ea"/>
              </a:rPr>
              <a:t>.</a:t>
            </a:r>
          </a:p>
          <a:p>
            <a:r>
              <a:rPr lang="en-US" altLang="ko-KR" sz="1400" err="1">
                <a:latin typeface="+mj-ea"/>
                <a:ea typeface="+mj-ea"/>
              </a:rPr>
              <a:t>getCourseCredit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en-US" altLang="ko-KR" sz="1400">
                <a:latin typeface="+mj-ea"/>
                <a:ea typeface="+mj-ea"/>
              </a:rPr>
              <a:t>(</a:t>
            </a:r>
            <a:r>
              <a:rPr lang="ko-KR" altLang="en-US" sz="1400">
                <a:latin typeface="+mj-ea"/>
                <a:ea typeface="+mj-ea"/>
              </a:rPr>
              <a:t>평균점수 </a:t>
            </a:r>
            <a:r>
              <a:rPr lang="en-US" altLang="ko-KR" sz="1400">
                <a:latin typeface="+mj-ea"/>
                <a:ea typeface="+mj-ea"/>
              </a:rPr>
              <a:t>– 55) / 10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getABCDE</a:t>
            </a:r>
            <a:r>
              <a:rPr lang="en-US" altLang="ko-KR" sz="1400">
                <a:latin typeface="+mj-ea"/>
                <a:ea typeface="+mj-ea"/>
              </a:rPr>
              <a:t>(): String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학점을 아래 기준에 맞춰 반환</a:t>
            </a:r>
            <a:endParaRPr lang="en-US" altLang="ko-KR" sz="1400">
              <a:latin typeface="+mj-ea"/>
              <a:ea typeface="+mj-ea"/>
            </a:endParaRPr>
          </a:p>
          <a:p>
            <a:pPr lvl="2"/>
            <a:r>
              <a:rPr lang="en-US" altLang="ko-KR" sz="1400">
                <a:latin typeface="+mj-ea"/>
                <a:ea typeface="+mj-ea"/>
              </a:rPr>
              <a:t>4.1 ~ 4.5: A+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3.6 ~ 4.0: A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3.1 ~ 3.5: B+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2.6 ~ 3.0: B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1.6 ~ 2.5: C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0.6 ~ 1.5: D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0.1 ~ 0.5: F</a:t>
            </a:r>
          </a:p>
        </p:txBody>
      </p:sp>
    </p:spTree>
    <p:extLst>
      <p:ext uri="{BB962C8B-B14F-4D97-AF65-F5344CB8AC3E}">
        <p14:creationId xmlns:p14="http://schemas.microsoft.com/office/powerpoint/2010/main" val="4258701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학생 평균 및 학점 구하기 실습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다 풀어본 후 다음 슬라이드를 보세요</a:t>
            </a:r>
            <a:r>
              <a:rPr lang="en-US" altLang="ko-KR">
                <a:latin typeface="+mj-ea"/>
                <a:ea typeface="+mj-ea"/>
              </a:rPr>
              <a:t>.)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호출 코드 및 결과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908023" y="2256260"/>
            <a:ext cx="76265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합계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//377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평균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95.25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학점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3.92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850676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((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30383464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"A+"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"B+"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01932886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합계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//377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평균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95.25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학점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3.92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80182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다 풀어본 후 다음 슬라이드를 보세요</a:t>
            </a:r>
            <a:r>
              <a:rPr lang="en-US" altLang="ko-KR">
                <a:latin typeface="+mj-ea"/>
                <a:ea typeface="+mj-ea"/>
              </a:rPr>
              <a:t>.)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215</a:t>
            </a:fld>
            <a:endParaRPr lang="ko-KR" altLang="en-US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C50B3616-52DC-FC02-7D51-BECD6F582885}"/>
              </a:ext>
            </a:extLst>
          </p:cNvPr>
          <p:cNvSpPr txBox="1">
            <a:spLocks/>
          </p:cNvSpPr>
          <p:nvPr/>
        </p:nvSpPr>
        <p:spPr>
          <a:xfrm>
            <a:off x="4184314" y="2185849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latin typeface="+mj-ea"/>
                <a:ea typeface="+mj-ea"/>
              </a:rPr>
              <a:t>insertCoin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</a:p>
          <a:p>
            <a:pPr lvl="1"/>
            <a:r>
              <a:rPr lang="ko-KR" altLang="en-US" sz="1400" dirty="0" err="1">
                <a:latin typeface="+mj-ea"/>
                <a:ea typeface="+mj-ea"/>
              </a:rPr>
              <a:t>인형뽑기</a:t>
            </a:r>
            <a:r>
              <a:rPr lang="ko-KR" altLang="en-US" sz="1400" dirty="0">
                <a:latin typeface="+mj-ea"/>
                <a:ea typeface="+mj-ea"/>
              </a:rPr>
              <a:t> 기계에 동전을 넣습니다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동전을 넣지 않으면 </a:t>
            </a:r>
            <a:r>
              <a:rPr lang="en-US" altLang="ko-KR" sz="1400" dirty="0" err="1">
                <a:latin typeface="+mj-ea"/>
                <a:ea typeface="+mj-ea"/>
              </a:rPr>
              <a:t>doGame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  <a:r>
              <a:rPr lang="ko-KR" altLang="en-US" sz="1400" dirty="0">
                <a:latin typeface="+mj-ea"/>
                <a:ea typeface="+mj-ea"/>
              </a:rPr>
              <a:t>은 실행되지 않아야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동전을 넣으면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변수는 </a:t>
            </a:r>
            <a:r>
              <a:rPr lang="en-US" altLang="ko-KR" sz="1400" dirty="0">
                <a:latin typeface="+mj-ea"/>
                <a:ea typeface="+mj-ea"/>
              </a:rPr>
              <a:t>true</a:t>
            </a:r>
            <a:r>
              <a:rPr lang="ko-KR" altLang="en-US" sz="1400" dirty="0">
                <a:latin typeface="+mj-ea"/>
                <a:ea typeface="+mj-ea"/>
              </a:rPr>
              <a:t>가 되어야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sz="1400" dirty="0">
                <a:latin typeface="+mj-ea"/>
                <a:ea typeface="+mj-ea"/>
              </a:rPr>
              <a:t>dolls</a:t>
            </a:r>
            <a:r>
              <a:rPr lang="ko-KR" altLang="en-US" sz="1400" dirty="0">
                <a:latin typeface="+mj-ea"/>
                <a:ea typeface="+mj-ea"/>
              </a:rPr>
              <a:t>의 값이 </a:t>
            </a:r>
            <a:r>
              <a:rPr lang="en-US" altLang="ko-KR" sz="1400" dirty="0">
                <a:latin typeface="+mj-ea"/>
                <a:ea typeface="+mj-ea"/>
              </a:rPr>
              <a:t>0</a:t>
            </a:r>
            <a:r>
              <a:rPr lang="ko-KR" altLang="en-US" sz="1400" dirty="0">
                <a:latin typeface="+mj-ea"/>
                <a:ea typeface="+mj-ea"/>
              </a:rPr>
              <a:t>보다 작거나 같을 경우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은 </a:t>
            </a:r>
            <a:r>
              <a:rPr lang="en-US" altLang="ko-KR" sz="1400" dirty="0">
                <a:latin typeface="+mj-ea"/>
                <a:ea typeface="+mj-ea"/>
              </a:rPr>
              <a:t>true</a:t>
            </a:r>
            <a:r>
              <a:rPr lang="ko-KR" altLang="en-US" sz="1400" dirty="0">
                <a:latin typeface="+mj-ea"/>
                <a:ea typeface="+mj-ea"/>
              </a:rPr>
              <a:t>로 변하지 않습니다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err="1">
                <a:latin typeface="+mj-ea"/>
                <a:ea typeface="+mj-ea"/>
              </a:rPr>
              <a:t>doGame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</a:p>
          <a:p>
            <a:pPr lvl="1"/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이 </a:t>
            </a:r>
            <a:r>
              <a:rPr lang="en-US" altLang="ko-KR" sz="1400" dirty="0">
                <a:latin typeface="+mj-ea"/>
                <a:ea typeface="+mj-ea"/>
              </a:rPr>
              <a:t>true </a:t>
            </a:r>
            <a:r>
              <a:rPr lang="ko-KR" altLang="en-US" sz="1400" dirty="0">
                <a:latin typeface="+mj-ea"/>
                <a:ea typeface="+mj-ea"/>
              </a:rPr>
              <a:t>일 때 만 게임을 진행합니다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만약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인형을 뽑았다면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반환하고</a:t>
            </a:r>
            <a:endParaRPr lang="en-US" altLang="ko-KR" sz="1400" dirty="0">
              <a:latin typeface="+mj-ea"/>
              <a:ea typeface="+mj-ea"/>
            </a:endParaRP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뽑지 못했다면 </a:t>
            </a:r>
            <a:r>
              <a:rPr lang="en-US" altLang="ko-KR" sz="1400" dirty="0">
                <a:latin typeface="+mj-ea"/>
                <a:ea typeface="+mj-ea"/>
              </a:rPr>
              <a:t>0</a:t>
            </a:r>
            <a:r>
              <a:rPr lang="ko-KR" altLang="en-US" sz="1400" dirty="0">
                <a:latin typeface="+mj-ea"/>
                <a:ea typeface="+mj-ea"/>
              </a:rPr>
              <a:t>을 반환합니다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반환하는 숫자는 랜덤하게 선정합니다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반환했을 경우</a:t>
            </a:r>
            <a:r>
              <a:rPr lang="en-US" altLang="ko-KR" sz="1400" dirty="0">
                <a:latin typeface="+mj-ea"/>
                <a:ea typeface="+mj-ea"/>
              </a:rPr>
              <a:t>, dolls </a:t>
            </a:r>
            <a:r>
              <a:rPr lang="ko-KR" altLang="en-US" sz="1400" dirty="0">
                <a:latin typeface="+mj-ea"/>
                <a:ea typeface="+mj-ea"/>
              </a:rPr>
              <a:t>변수에서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빼야 하합니다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값을 반환하기 직전에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을 </a:t>
            </a:r>
            <a:r>
              <a:rPr lang="en-US" altLang="ko-KR" sz="1400" dirty="0">
                <a:latin typeface="+mj-ea"/>
                <a:ea typeface="+mj-ea"/>
              </a:rPr>
              <a:t>false</a:t>
            </a:r>
            <a:r>
              <a:rPr lang="ko-KR" altLang="en-US" sz="1400" dirty="0">
                <a:latin typeface="+mj-ea"/>
                <a:ea typeface="+mj-ea"/>
              </a:rPr>
              <a:t>로 변경해야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1400" dirty="0"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47C2E6-23C3-06D1-9BD4-4D44FC07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40" y="2257271"/>
            <a:ext cx="371526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682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11162972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doGame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 ~ 1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 하나가 랜덤하게 추출됩니다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83554949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doGame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남은 인형개수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뽑은 인형개수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8861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생성자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9411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클래스를 인스턴스로 만들어주는 특별한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메소드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new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라는 키워드로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 이름은 인스턴스로 </a:t>
            </a:r>
            <a:r>
              <a:rPr lang="ko-KR" altLang="en-US" err="1">
                <a:latin typeface="+mj-ea"/>
                <a:ea typeface="+mj-ea"/>
              </a:rPr>
              <a:t>만드려는</a:t>
            </a:r>
            <a:r>
              <a:rPr lang="ko-KR" altLang="en-US">
                <a:latin typeface="+mj-ea"/>
                <a:ea typeface="+mj-ea"/>
              </a:rPr>
              <a:t> 클래스의 이름과 동일해야 함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 코드 모두 생성자를 호출 해 인스턴스를 생성합니다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0054A-3A50-431F-F127-8DD709CA2750}"/>
              </a:ext>
            </a:extLst>
          </p:cNvPr>
          <p:cNvSpPr txBox="1"/>
          <p:nvPr/>
        </p:nvSpPr>
        <p:spPr>
          <a:xfrm>
            <a:off x="524846" y="4202441"/>
            <a:ext cx="7574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CraneGameMachine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E8618-34B8-055F-2493-FF4D534F1378}"/>
              </a:ext>
            </a:extLst>
          </p:cNvPr>
          <p:cNvSpPr txBox="1"/>
          <p:nvPr/>
        </p:nvSpPr>
        <p:spPr>
          <a:xfrm>
            <a:off x="1865797" y="3713500"/>
            <a:ext cx="1301959" cy="30777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인스턴스 생성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10F0EFF-9E8A-EE20-1E5C-3EF4B68C7A3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516777" y="4021277"/>
            <a:ext cx="0" cy="25462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73EB8262-00D1-C90E-ED27-8073067C8D6F}"/>
              </a:ext>
            </a:extLst>
          </p:cNvPr>
          <p:cNvCxnSpPr>
            <a:cxnSpLocks/>
            <a:stCxn id="4" idx="1"/>
            <a:endCxn id="16" idx="0"/>
          </p:cNvCxnSpPr>
          <p:nvPr/>
        </p:nvCxnSpPr>
        <p:spPr>
          <a:xfrm rot="10800000" flipV="1">
            <a:off x="1301931" y="3867388"/>
            <a:ext cx="563866" cy="432563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708072-13D0-DCD2-2E7D-EE5C435D4FFF}"/>
              </a:ext>
            </a:extLst>
          </p:cNvPr>
          <p:cNvSpPr/>
          <p:nvPr/>
        </p:nvSpPr>
        <p:spPr>
          <a:xfrm>
            <a:off x="1045029" y="4299952"/>
            <a:ext cx="513803" cy="254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183C82-2BB4-D674-BD6A-E5470449142A}"/>
              </a:ext>
            </a:extLst>
          </p:cNvPr>
          <p:cNvSpPr txBox="1"/>
          <p:nvPr/>
        </p:nvSpPr>
        <p:spPr>
          <a:xfrm>
            <a:off x="1214817" y="362880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할당</a:t>
            </a:r>
          </a:p>
        </p:txBody>
      </p:sp>
    </p:spTree>
    <p:extLst>
      <p:ext uri="{BB962C8B-B14F-4D97-AF65-F5344CB8AC3E}">
        <p14:creationId xmlns:p14="http://schemas.microsoft.com/office/powerpoint/2010/main" val="109036713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생성자는 인스턴스를 생성하는 메소드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생성자를 정의하지 않았는데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호출이 가능하다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생성자가 없는 클래스를 작성하면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기본생성자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가 자동 추가됩니다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ConstructorTest.java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ConstructorTest.class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BD41A-E9EC-5490-0E39-F0C919580880}"/>
              </a:ext>
            </a:extLst>
          </p:cNvPr>
          <p:cNvSpPr txBox="1"/>
          <p:nvPr/>
        </p:nvSpPr>
        <p:spPr>
          <a:xfrm>
            <a:off x="495082" y="2976755"/>
            <a:ext cx="5159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B71AC-2D1F-3546-A92C-778A3556B406}"/>
              </a:ext>
            </a:extLst>
          </p:cNvPr>
          <p:cNvSpPr txBox="1"/>
          <p:nvPr/>
        </p:nvSpPr>
        <p:spPr>
          <a:xfrm>
            <a:off x="503627" y="4260792"/>
            <a:ext cx="89723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5362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파일이 실행되는 과정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파일을 실행하려면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바이트코드로 변환이 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바이트코드로 변환 할 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 정의가 안되어 있다면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기본생성자를 자동으로 생성해 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9CC87F-3F2B-87D7-D637-BF8F2E06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58" y="1938682"/>
            <a:ext cx="666843" cy="838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B42DBB-3326-198E-1E94-1F8D03CD2573}"/>
              </a:ext>
            </a:extLst>
          </p:cNvPr>
          <p:cNvSpPr txBox="1"/>
          <p:nvPr/>
        </p:nvSpPr>
        <p:spPr>
          <a:xfrm>
            <a:off x="1054056" y="2227035"/>
            <a:ext cx="6814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Java File</a:t>
            </a:r>
            <a:endParaRPr lang="ko-KR" altLang="en-US" sz="1100" b="1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5528F4-2084-E4A1-565B-5536E68A07E6}"/>
              </a:ext>
            </a:extLst>
          </p:cNvPr>
          <p:cNvSpPr/>
          <p:nvPr/>
        </p:nvSpPr>
        <p:spPr>
          <a:xfrm>
            <a:off x="2529091" y="2116414"/>
            <a:ext cx="551494" cy="3431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err="1"/>
              <a:t>javac</a:t>
            </a:r>
            <a:endParaRPr lang="ko-KR" altLang="en-US" sz="1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C21988-9D91-B762-BB4C-8C53A7E8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66" y="1938682"/>
            <a:ext cx="666843" cy="838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F62F33-8782-23A9-282A-7832DD76B2EC}"/>
              </a:ext>
            </a:extLst>
          </p:cNvPr>
          <p:cNvSpPr txBox="1"/>
          <p:nvPr/>
        </p:nvSpPr>
        <p:spPr>
          <a:xfrm>
            <a:off x="3925255" y="2227035"/>
            <a:ext cx="742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Class File</a:t>
            </a:r>
            <a:endParaRPr lang="ko-KR" altLang="en-US" sz="11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8C11D-5190-3344-CFD1-93E24403FDDD}"/>
              </a:ext>
            </a:extLst>
          </p:cNvPr>
          <p:cNvSpPr txBox="1"/>
          <p:nvPr/>
        </p:nvSpPr>
        <p:spPr>
          <a:xfrm>
            <a:off x="840535" y="2761891"/>
            <a:ext cx="112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Java source file</a:t>
            </a:r>
            <a:endParaRPr lang="ko-KR" alt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B8A41-3F31-A7EE-1592-328363703E9B}"/>
              </a:ext>
            </a:extLst>
          </p:cNvPr>
          <p:cNvSpPr txBox="1"/>
          <p:nvPr/>
        </p:nvSpPr>
        <p:spPr>
          <a:xfrm>
            <a:off x="3559493" y="2761891"/>
            <a:ext cx="147406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Java bytecode file</a:t>
            </a:r>
          </a:p>
          <a:p>
            <a:pPr algn="ctr"/>
            <a:r>
              <a:rPr lang="ko-KR" altLang="en-US" sz="900"/>
              <a:t>생성자가 없을 경우</a:t>
            </a:r>
            <a:r>
              <a:rPr lang="en-US" altLang="ko-KR" sz="900"/>
              <a:t>, </a:t>
            </a:r>
            <a:r>
              <a:rPr lang="ko-KR" altLang="en-US" sz="900"/>
              <a:t>생성자 추가해줍니다</a:t>
            </a:r>
            <a:r>
              <a:rPr lang="en-US" altLang="ko-KR" sz="900"/>
              <a:t>.</a:t>
            </a:r>
            <a:endParaRPr lang="ko-KR" altLang="en-US" sz="9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D03177-E960-3084-3FFE-D2DF985FCFF6}"/>
              </a:ext>
            </a:extLst>
          </p:cNvPr>
          <p:cNvCxnSpPr/>
          <p:nvPr/>
        </p:nvCxnSpPr>
        <p:spPr>
          <a:xfrm>
            <a:off x="1735501" y="2488645"/>
            <a:ext cx="2189754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E85B21-96E3-E4F2-ADD8-817728C9A1D8}"/>
              </a:ext>
            </a:extLst>
          </p:cNvPr>
          <p:cNvSpPr txBox="1"/>
          <p:nvPr/>
        </p:nvSpPr>
        <p:spPr>
          <a:xfrm>
            <a:off x="2093347" y="2500281"/>
            <a:ext cx="1474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Compile</a:t>
            </a:r>
            <a:endParaRPr lang="ko-KR" altLang="en-US" sz="110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A2C28FC-035A-4C28-58E3-7CD08E400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33" y="2032807"/>
            <a:ext cx="1249419" cy="702288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1E92FC9-EB35-FD50-55A5-2199C0EC8846}"/>
              </a:ext>
            </a:extLst>
          </p:cNvPr>
          <p:cNvCxnSpPr/>
          <p:nvPr/>
        </p:nvCxnSpPr>
        <p:spPr>
          <a:xfrm>
            <a:off x="4615409" y="2488645"/>
            <a:ext cx="2189754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874A472-3D37-9CB8-6EA3-EC4F86A83938}"/>
              </a:ext>
            </a:extLst>
          </p:cNvPr>
          <p:cNvSpPr/>
          <p:nvPr/>
        </p:nvSpPr>
        <p:spPr>
          <a:xfrm>
            <a:off x="5460731" y="2116414"/>
            <a:ext cx="551494" cy="3431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java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99267-F637-C10C-1CBB-79C3E2C5B31E}"/>
              </a:ext>
            </a:extLst>
          </p:cNvPr>
          <p:cNvSpPr txBox="1"/>
          <p:nvPr/>
        </p:nvSpPr>
        <p:spPr>
          <a:xfrm>
            <a:off x="5016930" y="2500281"/>
            <a:ext cx="1474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Execute</a:t>
            </a:r>
            <a:endParaRPr lang="ko-KR" altLang="en-US" sz="11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804F2DE-373B-063C-196C-479E74093295}"/>
              </a:ext>
            </a:extLst>
          </p:cNvPr>
          <p:cNvGrpSpPr/>
          <p:nvPr/>
        </p:nvGrpSpPr>
        <p:grpSpPr>
          <a:xfrm>
            <a:off x="536657" y="5506547"/>
            <a:ext cx="7676143" cy="1112711"/>
            <a:chOff x="4898273" y="1965199"/>
            <a:chExt cx="7676143" cy="111271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809C7FC-3327-15F6-27E5-9EEEF373817B}"/>
                </a:ext>
              </a:extLst>
            </p:cNvPr>
            <p:cNvSpPr txBox="1"/>
            <p:nvPr/>
          </p:nvSpPr>
          <p:spPr>
            <a:xfrm>
              <a:off x="4898273" y="196519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바이트코드</a:t>
              </a:r>
              <a:endParaRPr lang="en-US" altLang="ko-KR" b="1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0CA62C-5D06-144C-A373-DF57872E6E42}"/>
                </a:ext>
              </a:extLst>
            </p:cNvPr>
            <p:cNvSpPr txBox="1"/>
            <p:nvPr/>
          </p:nvSpPr>
          <p:spPr>
            <a:xfrm>
              <a:off x="5021579" y="2431579"/>
              <a:ext cx="75528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 </a:t>
              </a:r>
              <a:r>
                <a:rPr lang="ko-KR" altLang="en-US"/>
                <a:t>파일을 바이트코드로 변경 한 후 변경된 파일을 </a:t>
              </a:r>
              <a:r>
                <a:rPr lang="en-US" altLang="ko-KR"/>
                <a:t>JVM</a:t>
              </a:r>
              <a:r>
                <a:rPr lang="ko-KR" altLang="en-US"/>
                <a:t>에서 실행합니다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java </a:t>
              </a:r>
              <a:r>
                <a:rPr lang="ko-KR" altLang="en-US"/>
                <a:t>파일을 바이트코드로 변경하는 과정을 컴파일 이라고 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D659853-B15F-9F62-4AD6-0A507A6136E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194757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 만들어 호출해보기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223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B4F0A2-314F-17AB-3D1B-19B4145928D1}"/>
              </a:ext>
            </a:extLst>
          </p:cNvPr>
          <p:cNvSpPr txBox="1"/>
          <p:nvPr/>
        </p:nvSpPr>
        <p:spPr>
          <a:xfrm>
            <a:off x="533400" y="1700243"/>
            <a:ext cx="70836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생성자 호출되었습니다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4E7041-2013-AE18-59E6-7BB5AB60E28B}"/>
              </a:ext>
            </a:extLst>
          </p:cNvPr>
          <p:cNvGrpSpPr/>
          <p:nvPr/>
        </p:nvGrpSpPr>
        <p:grpSpPr>
          <a:xfrm>
            <a:off x="534495" y="5289947"/>
            <a:ext cx="7736288" cy="1112711"/>
            <a:chOff x="4898273" y="1965199"/>
            <a:chExt cx="7736288" cy="11127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CB9DE5-B7FE-A94B-D49A-D40C5C01606C}"/>
                </a:ext>
              </a:extLst>
            </p:cNvPr>
            <p:cNvSpPr txBox="1"/>
            <p:nvPr/>
          </p:nvSpPr>
          <p:spPr>
            <a:xfrm>
              <a:off x="4898273" y="1965199"/>
              <a:ext cx="3352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생성자는 반환타입이 없습니다</a:t>
              </a:r>
              <a:r>
                <a:rPr lang="en-US" altLang="ko-KR" b="1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748DC7-74F0-149F-F3DF-C440E0DB20E2}"/>
                </a:ext>
              </a:extLst>
            </p:cNvPr>
            <p:cNvSpPr txBox="1"/>
            <p:nvPr/>
          </p:nvSpPr>
          <p:spPr>
            <a:xfrm>
              <a:off x="5021579" y="2431579"/>
              <a:ext cx="7612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생성자는 </a:t>
              </a:r>
              <a:r>
                <a:rPr lang="en-US" altLang="ko-KR"/>
                <a:t>public </a:t>
              </a:r>
              <a:r>
                <a:rPr lang="ko-KR" altLang="en-US"/>
                <a:t>클래스명</a:t>
              </a:r>
              <a:r>
                <a:rPr lang="en-US" altLang="ko-KR"/>
                <a:t>() </a:t>
              </a:r>
              <a:r>
                <a:rPr lang="ko-KR" altLang="en-US"/>
                <a:t>으로 선언하며</a:t>
              </a:r>
              <a:r>
                <a:rPr lang="en-US" altLang="ko-KR"/>
                <a:t>, </a:t>
              </a:r>
              <a:r>
                <a:rPr lang="ko-KR" altLang="en-US"/>
                <a:t>반환타입이 없는 메소드입니다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때문에</a:t>
              </a:r>
              <a:r>
                <a:rPr lang="en-US" altLang="ko-KR"/>
                <a:t>, return </a:t>
              </a:r>
              <a:r>
                <a:rPr lang="ko-KR" altLang="en-US"/>
                <a:t>키워드도 사용하지 못합니다</a:t>
              </a:r>
              <a:r>
                <a:rPr lang="en-US" altLang="ko-KR"/>
                <a:t>.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B9D4076-B5FA-6AE0-33D0-4C6BBD51CEFC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3A27C521-5023-4B92-EA9A-62877DC77AC3}"/>
              </a:ext>
            </a:extLst>
          </p:cNvPr>
          <p:cNvCxnSpPr>
            <a:cxnSpLocks/>
            <a:stCxn id="42" idx="3"/>
            <a:endCxn id="46" idx="0"/>
          </p:cNvCxnSpPr>
          <p:nvPr/>
        </p:nvCxnSpPr>
        <p:spPr>
          <a:xfrm flipH="1" flipV="1">
            <a:off x="2618838" y="2286948"/>
            <a:ext cx="4365434" cy="1531169"/>
          </a:xfrm>
          <a:prstGeom prst="bentConnector4">
            <a:avLst>
              <a:gd name="adj1" fmla="val -5237"/>
              <a:gd name="adj2" fmla="val 11493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1EAAFF-79FB-B458-4939-EAD0E11563EB}"/>
              </a:ext>
            </a:extLst>
          </p:cNvPr>
          <p:cNvSpPr/>
          <p:nvPr/>
        </p:nvSpPr>
        <p:spPr>
          <a:xfrm>
            <a:off x="4207390" y="3664228"/>
            <a:ext cx="2776882" cy="30777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8F1700-F045-0FA6-EBC6-2DDC69469ECD}"/>
              </a:ext>
            </a:extLst>
          </p:cNvPr>
          <p:cNvSpPr txBox="1"/>
          <p:nvPr/>
        </p:nvSpPr>
        <p:spPr>
          <a:xfrm>
            <a:off x="7227333" y="278498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생성자 메소드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호출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C04BB5-3ED5-8620-ADFD-E6D8897B68BC}"/>
              </a:ext>
            </a:extLst>
          </p:cNvPr>
          <p:cNvSpPr/>
          <p:nvPr/>
        </p:nvSpPr>
        <p:spPr>
          <a:xfrm>
            <a:off x="1109813" y="2286948"/>
            <a:ext cx="3018050" cy="311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8217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직접 정의해 사용하는 두 가지 이유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b="1">
                <a:latin typeface="+mj-ea"/>
                <a:ea typeface="+mj-ea"/>
              </a:rPr>
              <a:t>1. </a:t>
            </a:r>
            <a:r>
              <a:rPr lang="ko-KR" altLang="en-US" b="1">
                <a:latin typeface="+mj-ea"/>
                <a:ea typeface="+mj-ea"/>
              </a:rPr>
              <a:t>멤버변수의 초기화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초기 값 할당</a:t>
            </a:r>
            <a:r>
              <a:rPr lang="en-US" altLang="ko-KR" b="1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인스턴스 생성과 동시에 다른 메소드를 호출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224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6563745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이용한 멤버변수 초기화 예제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225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B742F-1342-31A8-898C-D6E84335C24E}"/>
              </a:ext>
            </a:extLst>
          </p:cNvPr>
          <p:cNvSpPr txBox="1"/>
          <p:nvPr/>
        </p:nvSpPr>
        <p:spPr>
          <a:xfrm>
            <a:off x="507273" y="1747087"/>
            <a:ext cx="85335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50931359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이용한 멤버변수 초기화 예제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226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B742F-1342-31A8-898C-D6E84335C24E}"/>
              </a:ext>
            </a:extLst>
          </p:cNvPr>
          <p:cNvSpPr txBox="1"/>
          <p:nvPr/>
        </p:nvSpPr>
        <p:spPr>
          <a:xfrm>
            <a:off x="507273" y="1747087"/>
            <a:ext cx="85335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164189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파라미터가 있는 생성자 만들고 호출해보기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커피 가격을 커피숍 인스턴스마다 다르게 할당하고 싶다면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227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C7A5FC-4195-9554-A566-54BE5F7CA5AE}"/>
              </a:ext>
            </a:extLst>
          </p:cNvPr>
          <p:cNvSpPr txBox="1"/>
          <p:nvPr/>
        </p:nvSpPr>
        <p:spPr>
          <a:xfrm>
            <a:off x="524690" y="2028801"/>
            <a:ext cx="86193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생성자에 파라미터를 추가합니다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812069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기본 생성자가 없으면 자동으로 생성되는 것 </a:t>
            </a:r>
            <a:r>
              <a:rPr lang="ko-KR" altLang="en-US" err="1">
                <a:latin typeface="+mj-ea"/>
                <a:ea typeface="+mj-ea"/>
              </a:rPr>
              <a:t>아니였나요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생성자가 하나라도 존재한다면 기본생성자를 만들어주지 않습니다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ko-KR" altLang="en-US">
                <a:latin typeface="+mj-ea"/>
                <a:ea typeface="+mj-ea"/>
              </a:rPr>
              <a:t>에는 생성자가 이미 있기 때문에 기본 생성자는 호출할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생성자를 호출하는 코드에 파라미터를 추가해 주어야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228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EB65E1-7E42-5845-1B6B-1B692C85B3B2}"/>
              </a:ext>
            </a:extLst>
          </p:cNvPr>
          <p:cNvSpPr txBox="1"/>
          <p:nvPr/>
        </p:nvSpPr>
        <p:spPr>
          <a:xfrm>
            <a:off x="446313" y="2629546"/>
            <a:ext cx="74871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파라미터 추가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4000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476575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생성자에 파라미터를 전달한 후 실행을 해보면</a:t>
            </a:r>
            <a:r>
              <a:rPr lang="en-US" altLang="ko-KR">
                <a:latin typeface="+mj-ea"/>
                <a:ea typeface="+mj-ea"/>
              </a:rPr>
              <a:t> </a:t>
            </a:r>
          </a:p>
          <a:p>
            <a:r>
              <a:rPr lang="ko-KR" altLang="en-US">
                <a:latin typeface="+mj-ea"/>
                <a:ea typeface="+mj-ea"/>
              </a:rPr>
              <a:t>예상 결과는 </a:t>
            </a:r>
            <a:r>
              <a:rPr lang="en-US" altLang="ko-KR">
                <a:latin typeface="+mj-ea"/>
                <a:ea typeface="+mj-ea"/>
              </a:rPr>
              <a:t>20000</a:t>
            </a:r>
            <a:r>
              <a:rPr lang="ko-KR" altLang="en-US">
                <a:latin typeface="+mj-ea"/>
                <a:ea typeface="+mj-ea"/>
              </a:rPr>
              <a:t>이지만 실제 결과는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이 나옵니다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그 이유는 생성자에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229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AC821E-5334-64DC-32A5-F55BFC039877}"/>
              </a:ext>
            </a:extLst>
          </p:cNvPr>
          <p:cNvSpPr txBox="1"/>
          <p:nvPr/>
        </p:nvSpPr>
        <p:spPr>
          <a:xfrm>
            <a:off x="219890" y="2594538"/>
            <a:ext cx="78616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342FAA-A13C-234F-7AC5-B12B57796511}"/>
              </a:ext>
            </a:extLst>
          </p:cNvPr>
          <p:cNvSpPr/>
          <p:nvPr/>
        </p:nvSpPr>
        <p:spPr>
          <a:xfrm>
            <a:off x="3075275" y="3992891"/>
            <a:ext cx="4257341" cy="30777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252601-35C2-D7EF-46D8-77A59A2DFE60}"/>
              </a:ext>
            </a:extLst>
          </p:cNvPr>
          <p:cNvSpPr/>
          <p:nvPr/>
        </p:nvSpPr>
        <p:spPr>
          <a:xfrm>
            <a:off x="719606" y="3161261"/>
            <a:ext cx="2232599" cy="618258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FA6AB3F-177A-C4EA-E79E-E6D4AEEBD85E}"/>
              </a:ext>
            </a:extLst>
          </p:cNvPr>
          <p:cNvCxnSpPr>
            <a:stCxn id="7" idx="0"/>
            <a:endCxn id="8" idx="3"/>
          </p:cNvCxnSpPr>
          <p:nvPr/>
        </p:nvCxnSpPr>
        <p:spPr>
          <a:xfrm rot="16200000" flipV="1">
            <a:off x="3816826" y="2605770"/>
            <a:ext cx="522501" cy="2251741"/>
          </a:xfrm>
          <a:prstGeom prst="bentConnector2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B5890B-8859-B0E3-6B4F-9FE42FD74DD4}"/>
              </a:ext>
            </a:extLst>
          </p:cNvPr>
          <p:cNvSpPr txBox="1"/>
          <p:nvPr/>
        </p:nvSpPr>
        <p:spPr>
          <a:xfrm>
            <a:off x="4372821" y="322586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할당필요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0333AD-72DB-279A-F9E8-9B58DE76C94D}"/>
              </a:ext>
            </a:extLst>
          </p:cNvPr>
          <p:cNvSpPr/>
          <p:nvPr/>
        </p:nvSpPr>
        <p:spPr>
          <a:xfrm>
            <a:off x="1262742" y="4309377"/>
            <a:ext cx="5399315" cy="49637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B95B7-3D6B-3B01-EF05-9B0A2FD172ED}"/>
              </a:ext>
            </a:extLst>
          </p:cNvPr>
          <p:cNvSpPr txBox="1"/>
          <p:nvPr/>
        </p:nvSpPr>
        <p:spPr>
          <a:xfrm>
            <a:off x="3006236" y="4825533"/>
            <a:ext cx="3681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 </a:t>
            </a:r>
            <a:r>
              <a:rPr lang="en-US" altLang="ko-KR" sz="1400" err="1">
                <a:solidFill>
                  <a:schemeClr val="tx1">
                    <a:lumMod val="85000"/>
                    <a:lumOff val="15000"/>
                  </a:schemeClr>
                </a:solidFill>
              </a:rPr>
              <a:t>iceAmericano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altLang="ko-KR" sz="140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hotAmericano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의 범위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DBE10-4B29-7DA3-6A43-9F5DF7F19D3D}"/>
              </a:ext>
            </a:extLst>
          </p:cNvPr>
          <p:cNvSpPr txBox="1"/>
          <p:nvPr/>
        </p:nvSpPr>
        <p:spPr>
          <a:xfrm>
            <a:off x="7282636" y="4374165"/>
            <a:ext cx="17059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파라미터가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파라미터에게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할당하고 있습니다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12CD54-BBD2-36E8-34A4-4EE985B5B704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 flipV="1">
            <a:off x="6662057" y="4557565"/>
            <a:ext cx="620579" cy="1859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0638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파라미터로 전달된 값들은 멤버변수에게 할당되어야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이제 </a:t>
            </a:r>
            <a:r>
              <a:rPr lang="en-US" altLang="ko-KR">
                <a:latin typeface="+mj-ea"/>
                <a:ea typeface="+mj-ea"/>
              </a:rPr>
              <a:t>20000</a:t>
            </a:r>
            <a:r>
              <a:rPr lang="ko-KR" altLang="en-US">
                <a:latin typeface="+mj-ea"/>
                <a:ea typeface="+mj-ea"/>
              </a:rPr>
              <a:t>이 출력됩니다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230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AC821E-5334-64DC-32A5-F55BFC039877}"/>
              </a:ext>
            </a:extLst>
          </p:cNvPr>
          <p:cNvSpPr txBox="1"/>
          <p:nvPr/>
        </p:nvSpPr>
        <p:spPr>
          <a:xfrm>
            <a:off x="562730" y="1630441"/>
            <a:ext cx="8425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멤버변수에 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멤버변수에 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... </a:t>
            </a:r>
            <a:r>
              <a:rPr lang="ko-KR" altLang="en-US">
                <a:solidFill>
                  <a:srgbClr val="00000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D98543B-11E3-0550-D3BD-294AB1061F13}"/>
              </a:ext>
            </a:extLst>
          </p:cNvPr>
          <p:cNvGrpSpPr/>
          <p:nvPr/>
        </p:nvGrpSpPr>
        <p:grpSpPr>
          <a:xfrm>
            <a:off x="576857" y="5386615"/>
            <a:ext cx="7252181" cy="1112711"/>
            <a:chOff x="4898273" y="1965199"/>
            <a:chExt cx="7252181" cy="11127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63C9D7-F48D-D578-A65B-283D45C7E591}"/>
                </a:ext>
              </a:extLst>
            </p:cNvPr>
            <p:cNvSpPr txBox="1"/>
            <p:nvPr/>
          </p:nvSpPr>
          <p:spPr>
            <a:xfrm>
              <a:off x="4898273" y="196519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this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521006-F050-C3D4-88E0-97164DE9A44B}"/>
                </a:ext>
              </a:extLst>
            </p:cNvPr>
            <p:cNvSpPr txBox="1"/>
            <p:nvPr/>
          </p:nvSpPr>
          <p:spPr>
            <a:xfrm>
              <a:off x="5021579" y="2431579"/>
              <a:ext cx="71288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this</a:t>
              </a:r>
              <a:r>
                <a:rPr lang="ko-KR" altLang="en-US"/>
                <a:t>란</a:t>
              </a:r>
              <a:r>
                <a:rPr lang="en-US" altLang="ko-KR"/>
                <a:t>, </a:t>
              </a:r>
              <a:r>
                <a:rPr lang="ko-KR" altLang="en-US"/>
                <a:t>현재 호출되고 있는 인스턴스를 가리킵니다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특히 생성자 내부에서의 </a:t>
              </a:r>
              <a:r>
                <a:rPr lang="en-US" altLang="ko-KR"/>
                <a:t>this</a:t>
              </a:r>
              <a:r>
                <a:rPr lang="ko-KR" altLang="en-US"/>
                <a:t>는 생성자가 만든 인스턴스를 가리킵니다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C16BF5-3D75-DABB-7713-848140E92F4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6195496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this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231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74D3798-7AF3-B258-D228-8927BC3A8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0" y="1691226"/>
            <a:ext cx="3006204" cy="924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A8A2CE-4784-0433-4E44-4B70ADC84D52}"/>
              </a:ext>
            </a:extLst>
          </p:cNvPr>
          <p:cNvSpPr txBox="1"/>
          <p:nvPr/>
        </p:nvSpPr>
        <p:spPr>
          <a:xfrm>
            <a:off x="477223" y="2737732"/>
            <a:ext cx="8377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DFD62-34A3-0F16-D494-B787B1269B82}"/>
              </a:ext>
            </a:extLst>
          </p:cNvPr>
          <p:cNvSpPr txBox="1"/>
          <p:nvPr/>
        </p:nvSpPr>
        <p:spPr>
          <a:xfrm>
            <a:off x="503350" y="4612847"/>
            <a:ext cx="7726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A4CA4C-C148-E450-9552-92289630D34D}"/>
              </a:ext>
            </a:extLst>
          </p:cNvPr>
          <p:cNvSpPr txBox="1"/>
          <p:nvPr/>
        </p:nvSpPr>
        <p:spPr>
          <a:xfrm>
            <a:off x="503350" y="6137761"/>
            <a:ext cx="5159828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947C0E-7E75-D818-3A18-CE700EB6B89C}"/>
              </a:ext>
            </a:extLst>
          </p:cNvPr>
          <p:cNvSpPr/>
          <p:nvPr/>
        </p:nvSpPr>
        <p:spPr>
          <a:xfrm>
            <a:off x="2076125" y="6189255"/>
            <a:ext cx="301316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519DDF-0EA5-95A0-2BCE-DA53AFE4ABAC}"/>
              </a:ext>
            </a:extLst>
          </p:cNvPr>
          <p:cNvSpPr/>
          <p:nvPr/>
        </p:nvSpPr>
        <p:spPr>
          <a:xfrm>
            <a:off x="1792226" y="5598908"/>
            <a:ext cx="515545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DC6C95-CC0B-B977-8DF6-09DD608B5434}"/>
              </a:ext>
            </a:extLst>
          </p:cNvPr>
          <p:cNvSpPr/>
          <p:nvPr/>
        </p:nvSpPr>
        <p:spPr>
          <a:xfrm>
            <a:off x="2235492" y="5120759"/>
            <a:ext cx="515545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8D85B98-D0A7-41B5-5DF4-53AFA269B465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2049999" y="5899328"/>
            <a:ext cx="176784" cy="289927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7C725AB-F7EB-C8FB-1C64-40AC80D9A68B}"/>
              </a:ext>
            </a:extLst>
          </p:cNvPr>
          <p:cNvCxnSpPr>
            <a:cxnSpLocks/>
            <a:stCxn id="18" idx="0"/>
            <a:endCxn id="20" idx="2"/>
          </p:cNvCxnSpPr>
          <p:nvPr/>
        </p:nvCxnSpPr>
        <p:spPr>
          <a:xfrm flipV="1">
            <a:off x="2226783" y="5421179"/>
            <a:ext cx="266482" cy="768076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1FAB5E-F3A5-4DFA-41A9-BE9A72FD68BC}"/>
              </a:ext>
            </a:extLst>
          </p:cNvPr>
          <p:cNvSpPr txBox="1"/>
          <p:nvPr/>
        </p:nvSpPr>
        <p:spPr>
          <a:xfrm>
            <a:off x="477222" y="3783276"/>
            <a:ext cx="6811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3DBA08-092C-3DC2-778A-BC8040ED46DF}"/>
              </a:ext>
            </a:extLst>
          </p:cNvPr>
          <p:cNvSpPr/>
          <p:nvPr/>
        </p:nvSpPr>
        <p:spPr>
          <a:xfrm>
            <a:off x="1925467" y="3835427"/>
            <a:ext cx="301316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B464C5-28A5-B349-585E-E7E133DCDA6D}"/>
              </a:ext>
            </a:extLst>
          </p:cNvPr>
          <p:cNvSpPr/>
          <p:nvPr/>
        </p:nvSpPr>
        <p:spPr>
          <a:xfrm>
            <a:off x="980587" y="3000028"/>
            <a:ext cx="473744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C2298E-C7BB-D06E-79F1-FD4CF9C1C0DA}"/>
              </a:ext>
            </a:extLst>
          </p:cNvPr>
          <p:cNvSpPr/>
          <p:nvPr/>
        </p:nvSpPr>
        <p:spPr>
          <a:xfrm>
            <a:off x="980587" y="3251893"/>
            <a:ext cx="473744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BB0AA77-8228-7E49-0F82-6EB2AB888BE7}"/>
              </a:ext>
            </a:extLst>
          </p:cNvPr>
          <p:cNvCxnSpPr>
            <a:cxnSpLocks/>
            <a:stCxn id="29" idx="0"/>
            <a:endCxn id="30" idx="3"/>
          </p:cNvCxnSpPr>
          <p:nvPr/>
        </p:nvCxnSpPr>
        <p:spPr>
          <a:xfrm flipH="1" flipV="1">
            <a:off x="1454331" y="3150238"/>
            <a:ext cx="621794" cy="685189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1784816-915E-B2E7-D305-F979C1396D70}"/>
              </a:ext>
            </a:extLst>
          </p:cNvPr>
          <p:cNvCxnSpPr>
            <a:cxnSpLocks/>
            <a:stCxn id="29" idx="0"/>
            <a:endCxn id="31" idx="3"/>
          </p:cNvCxnSpPr>
          <p:nvPr/>
        </p:nvCxnSpPr>
        <p:spPr>
          <a:xfrm flipH="1" flipV="1">
            <a:off x="1454331" y="3402103"/>
            <a:ext cx="621794" cy="43332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754630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데이터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39562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인스턴스 메소드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이 없는 클래스도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책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커피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음식 등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속성은 있지만 기능이 없는 것 또한 클래스의 한 종류입니다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이런 클래스들은 데이터클래스</a:t>
            </a:r>
            <a:r>
              <a:rPr lang="en-US" altLang="ko-KR">
                <a:latin typeface="+mj-ea"/>
                <a:ea typeface="+mj-ea"/>
              </a:rPr>
              <a:t>(Data Class) 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일반적으로 </a:t>
            </a:r>
            <a:r>
              <a:rPr lang="en-US" altLang="ko-KR">
                <a:latin typeface="+mj-ea"/>
                <a:ea typeface="+mj-ea"/>
              </a:rPr>
              <a:t>VO(Value Object) </a:t>
            </a:r>
            <a:r>
              <a:rPr lang="ko-KR" altLang="en-US">
                <a:latin typeface="+mj-ea"/>
                <a:ea typeface="+mj-ea"/>
              </a:rPr>
              <a:t>클래스로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Java14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Data Class</a:t>
            </a:r>
            <a:r>
              <a:rPr lang="ko-KR" altLang="en-US">
                <a:latin typeface="+mj-ea"/>
                <a:ea typeface="+mj-ea"/>
              </a:rPr>
              <a:t>를 쉽게 정의할 수 있게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69822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 14 </a:t>
            </a:r>
            <a:r>
              <a:rPr lang="ko-KR" altLang="en-US">
                <a:latin typeface="+mj-ea"/>
                <a:ea typeface="+mj-ea"/>
              </a:rPr>
              <a:t>버전 미만의 데이터 클래스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595A0-3342-3466-DCB0-0F847D19BD5D}"/>
              </a:ext>
            </a:extLst>
          </p:cNvPr>
          <p:cNvSpPr txBox="1"/>
          <p:nvPr/>
        </p:nvSpPr>
        <p:spPr>
          <a:xfrm>
            <a:off x="497906" y="1591169"/>
            <a:ext cx="6059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3718263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 14 </a:t>
            </a:r>
            <a:r>
              <a:rPr lang="ko-KR" altLang="en-US">
                <a:latin typeface="+mj-ea"/>
                <a:ea typeface="+mj-ea"/>
              </a:rPr>
              <a:t>버전 이후의 데이터 클래스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r>
              <a:rPr lang="en-US" altLang="ko-KR" sz="1800">
                <a:latin typeface="+mj-ea"/>
                <a:ea typeface="+mj-ea"/>
              </a:rPr>
              <a:t>record Coffee </a:t>
            </a:r>
            <a:r>
              <a:rPr lang="ko-KR" altLang="en-US" sz="1800">
                <a:latin typeface="+mj-ea"/>
                <a:ea typeface="+mj-ea"/>
              </a:rPr>
              <a:t>의 구조 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>
                <a:latin typeface="+mj-ea"/>
                <a:ea typeface="+mj-ea"/>
              </a:rPr>
              <a:t>멤버변수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생성자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메소드 자동생성</a:t>
            </a:r>
            <a:r>
              <a:rPr lang="en-US" altLang="ko-KR" sz="1800">
                <a:latin typeface="+mj-ea"/>
                <a:ea typeface="+mj-ea"/>
              </a:rPr>
              <a:t>)</a:t>
            </a:r>
          </a:p>
          <a:p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595A0-3342-3466-DCB0-0F847D19BD5D}"/>
              </a:ext>
            </a:extLst>
          </p:cNvPr>
          <p:cNvSpPr txBox="1"/>
          <p:nvPr/>
        </p:nvSpPr>
        <p:spPr>
          <a:xfrm>
            <a:off x="497906" y="1617296"/>
            <a:ext cx="6059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1D4A1C-1A8E-A252-B6F1-A43E60AE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6" y="3265634"/>
            <a:ext cx="292458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3993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sz="1800" err="1">
                <a:latin typeface="+mj-ea"/>
                <a:ea typeface="+mj-ea"/>
              </a:rPr>
              <a:t>DataClass</a:t>
            </a:r>
            <a:r>
              <a:rPr lang="ko-KR" altLang="en-US" sz="1800">
                <a:latin typeface="+mj-ea"/>
                <a:ea typeface="+mj-ea"/>
              </a:rPr>
              <a:t>와 </a:t>
            </a:r>
            <a:r>
              <a:rPr lang="en-US" altLang="ko-KR" sz="1800">
                <a:latin typeface="+mj-ea"/>
                <a:ea typeface="+mj-ea"/>
              </a:rPr>
              <a:t>record</a:t>
            </a:r>
            <a:r>
              <a:rPr lang="ko-KR" altLang="en-US" sz="1800">
                <a:latin typeface="+mj-ea"/>
                <a:ea typeface="+mj-ea"/>
              </a:rPr>
              <a:t>의 차이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956BF-4FA7-CEC9-D177-A5448C22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6" y="1614367"/>
            <a:ext cx="4255096" cy="203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6621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07832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76511451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아이스아메리카노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2500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따뜻한아메리카노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2000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2466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F4AFC078-465C-8B51-11F9-2F5BF740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86" y="2550274"/>
            <a:ext cx="4404910" cy="1436174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내에 클래스가 포함된 관계를 </a:t>
            </a:r>
            <a:r>
              <a:rPr lang="en-US" altLang="ko-KR">
                <a:latin typeface="+mj-ea"/>
                <a:ea typeface="+mj-ea"/>
              </a:rPr>
              <a:t>Has A </a:t>
            </a:r>
            <a:r>
              <a:rPr lang="ko-KR" altLang="en-US">
                <a:latin typeface="+mj-ea"/>
                <a:ea typeface="+mj-ea"/>
              </a:rPr>
              <a:t>관계라고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b="1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has a </a:t>
            </a:r>
            <a:r>
              <a:rPr lang="en-US" altLang="ko-KR" b="1">
                <a:latin typeface="+mj-ea"/>
                <a:ea typeface="+mj-ea"/>
              </a:rPr>
              <a:t>Coffee</a:t>
            </a: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00B5A6-38D3-1941-B252-6AB9E403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986" y="4563214"/>
            <a:ext cx="3134162" cy="106694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822440F-9807-0CDC-3ADB-54B63857A1BB}"/>
              </a:ext>
            </a:extLst>
          </p:cNvPr>
          <p:cNvSpPr/>
          <p:nvPr/>
        </p:nvSpPr>
        <p:spPr>
          <a:xfrm flipH="1">
            <a:off x="2279033" y="2971553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26CD64-8D87-120F-629C-9C4EA58A7B3B}"/>
              </a:ext>
            </a:extLst>
          </p:cNvPr>
          <p:cNvSpPr/>
          <p:nvPr/>
        </p:nvSpPr>
        <p:spPr>
          <a:xfrm flipH="1">
            <a:off x="2279033" y="3285608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E64ADD8-579E-8136-ED60-3BF57AE2D495}"/>
              </a:ext>
            </a:extLst>
          </p:cNvPr>
          <p:cNvCxnSpPr>
            <a:cxnSpLocks/>
            <a:stCxn id="26" idx="3"/>
            <a:endCxn id="10" idx="3"/>
          </p:cNvCxnSpPr>
          <p:nvPr/>
        </p:nvCxnSpPr>
        <p:spPr>
          <a:xfrm rot="10800000" flipH="1">
            <a:off x="2252905" y="3121763"/>
            <a:ext cx="26127" cy="1648516"/>
          </a:xfrm>
          <a:prstGeom prst="bentConnector3">
            <a:avLst>
              <a:gd name="adj1" fmla="val -1841574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18AAC70-D431-F67F-EED9-F7BE9990E193}"/>
              </a:ext>
            </a:extLst>
          </p:cNvPr>
          <p:cNvCxnSpPr>
            <a:cxnSpLocks/>
            <a:stCxn id="26" idx="3"/>
            <a:endCxn id="11" idx="3"/>
          </p:cNvCxnSpPr>
          <p:nvPr/>
        </p:nvCxnSpPr>
        <p:spPr>
          <a:xfrm rot="10800000" flipH="1">
            <a:off x="2252905" y="3435819"/>
            <a:ext cx="26127" cy="1334461"/>
          </a:xfrm>
          <a:prstGeom prst="bentConnector3">
            <a:avLst>
              <a:gd name="adj1" fmla="val -1841578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8982BD-5B2D-32C3-F5A3-2AA329D604A8}"/>
              </a:ext>
            </a:extLst>
          </p:cNvPr>
          <p:cNvSpPr/>
          <p:nvPr/>
        </p:nvSpPr>
        <p:spPr>
          <a:xfrm flipH="1">
            <a:off x="2252906" y="4620069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08016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클래스 </a:t>
            </a:r>
            <a:r>
              <a:rPr lang="en-US" altLang="ko-KR" dirty="0">
                <a:latin typeface="+mj-ea"/>
                <a:ea typeface="+mj-ea"/>
              </a:rPr>
              <a:t>has a </a:t>
            </a:r>
            <a:r>
              <a:rPr lang="ko-KR" altLang="en-US" dirty="0">
                <a:latin typeface="+mj-ea"/>
                <a:ea typeface="+mj-ea"/>
              </a:rPr>
              <a:t>클래스 실습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음료수 자판기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상품</a:t>
            </a:r>
            <a:r>
              <a:rPr lang="en-US" altLang="ko-KR" dirty="0">
                <a:latin typeface="+mj-ea"/>
                <a:ea typeface="+mj-ea"/>
              </a:rPr>
              <a:t>[ ] – Data class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박카스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박카스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</a:t>
            </a:r>
            <a:r>
              <a:rPr lang="en-US" altLang="ko-KR" dirty="0">
                <a:latin typeface="+mj-ea"/>
                <a:ea typeface="+mj-ea"/>
              </a:rPr>
              <a:t>: 900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15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몬스터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몬스터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</a:t>
            </a:r>
            <a:r>
              <a:rPr lang="en-US" altLang="ko-KR" dirty="0">
                <a:latin typeface="+mj-ea"/>
                <a:ea typeface="+mj-ea"/>
              </a:rPr>
              <a:t>: 1500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20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 err="1">
                <a:latin typeface="+mj-ea"/>
                <a:ea typeface="+mj-ea"/>
              </a:rPr>
              <a:t>핫식스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j-ea"/>
                <a:ea typeface="+mj-ea"/>
              </a:rPr>
              <a:t>핫식스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 </a:t>
            </a:r>
            <a:r>
              <a:rPr lang="en-US" altLang="ko-KR" dirty="0">
                <a:latin typeface="+mj-ea"/>
                <a:ea typeface="+mj-ea"/>
              </a:rPr>
              <a:t>1300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10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 </a:t>
            </a:r>
            <a:r>
              <a:rPr lang="en-US" altLang="ko-KR" dirty="0">
                <a:latin typeface="+mj-ea"/>
                <a:ea typeface="+mj-ea"/>
              </a:rPr>
              <a:t>1400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5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음료수 자판기의 기능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주문하기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제품 번호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주문수량</a:t>
            </a:r>
            <a:r>
              <a:rPr lang="en-US" altLang="ko-KR" dirty="0">
                <a:latin typeface="+mj-ea"/>
                <a:ea typeface="+mj-ea"/>
              </a:rPr>
              <a:t>): </a:t>
            </a:r>
            <a:r>
              <a:rPr lang="ko-KR" altLang="en-US" dirty="0">
                <a:latin typeface="+mj-ea"/>
                <a:ea typeface="+mj-ea"/>
              </a:rPr>
              <a:t>구매금액</a:t>
            </a:r>
            <a:r>
              <a:rPr lang="en-US" altLang="ko-KR" dirty="0">
                <a:latin typeface="+mj-ea"/>
                <a:ea typeface="+mj-ea"/>
              </a:rPr>
              <a:t>(int)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몬스터를 </a:t>
            </a:r>
            <a:r>
              <a:rPr lang="en-US" altLang="ko-KR" dirty="0">
                <a:latin typeface="+mj-ea"/>
                <a:ea typeface="+mj-ea"/>
              </a:rPr>
              <a:t>5</a:t>
            </a:r>
            <a:r>
              <a:rPr lang="ko-KR" altLang="en-US" dirty="0">
                <a:latin typeface="+mj-ea"/>
                <a:ea typeface="+mj-ea"/>
              </a:rPr>
              <a:t>개 주문한다면</a:t>
            </a:r>
            <a:r>
              <a:rPr lang="en-US" altLang="ko-KR" dirty="0">
                <a:latin typeface="+mj-ea"/>
                <a:ea typeface="+mj-ea"/>
              </a:rPr>
              <a:t> 7500</a:t>
            </a:r>
            <a:r>
              <a:rPr lang="ko-KR" altLang="en-US" dirty="0">
                <a:latin typeface="+mj-ea"/>
                <a:ea typeface="+mj-ea"/>
              </a:rPr>
              <a:t>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반환한다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주문을 하면 주문 수량만큼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자판기 음료수의 재고가 감소된다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재고가 없다면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상품이 품절되었습니다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 err="1">
                <a:latin typeface="+mj-ea"/>
                <a:ea typeface="+mj-ea"/>
              </a:rPr>
              <a:t>를</a:t>
            </a:r>
            <a:r>
              <a:rPr lang="ko-KR" altLang="en-US" dirty="0">
                <a:latin typeface="+mj-ea"/>
                <a:ea typeface="+mj-ea"/>
              </a:rPr>
              <a:t> 출력하고 </a:t>
            </a:r>
            <a:r>
              <a:rPr lang="en-US" altLang="ko-KR" dirty="0">
                <a:latin typeface="+mj-ea"/>
                <a:ea typeface="+mj-ea"/>
              </a:rPr>
              <a:t>0</a:t>
            </a:r>
            <a:r>
              <a:rPr lang="ko-KR" altLang="en-US" dirty="0">
                <a:latin typeface="+mj-ea"/>
                <a:ea typeface="+mj-ea"/>
              </a:rPr>
              <a:t>을 반환한다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입고하기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제품 번호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입고수량</a:t>
            </a:r>
            <a:r>
              <a:rPr lang="en-US" altLang="ko-KR" dirty="0">
                <a:latin typeface="+mj-ea"/>
                <a:ea typeface="+mj-ea"/>
              </a:rPr>
              <a:t>): void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입고를 하면 입고 수량만큼 재고가 증가된다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개를 입고하면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 밀키스의 재고가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개 증가된다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4"/>
            <a:r>
              <a:rPr lang="ko-KR" altLang="en-US" dirty="0">
                <a:latin typeface="+mj-ea"/>
                <a:ea typeface="+mj-ea"/>
              </a:rPr>
              <a:t>자판기에 없는 음료수는 입고할 수 없다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 err="1">
                <a:latin typeface="+mj-ea"/>
                <a:ea typeface="+mj-ea"/>
              </a:rPr>
              <a:t>제로콜라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3)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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 아무 변화가 없다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!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모든 상품 재고 출력</a:t>
            </a:r>
            <a:r>
              <a:rPr lang="en-US" altLang="ko-KR" dirty="0">
                <a:latin typeface="+mj-ea"/>
                <a:ea typeface="+mj-ea"/>
              </a:rPr>
              <a:t>() : void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출력형식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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“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박카스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15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개 남았습니다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.”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81678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유틸리티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6335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이 없는 클래스 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 err="1">
                <a:latin typeface="+mj-ea"/>
                <a:ea typeface="+mj-ea"/>
              </a:rPr>
              <a:t>클래스메소드</a:t>
            </a:r>
            <a:r>
              <a:rPr lang="ko-KR" altLang="en-US" sz="1800">
                <a:latin typeface="+mj-ea"/>
                <a:ea typeface="+mj-ea"/>
              </a:rPr>
              <a:t> 파트에서 실습합니다</a:t>
            </a:r>
            <a:r>
              <a:rPr lang="en-US" altLang="ko-KR" sz="1800">
                <a:latin typeface="+mj-ea"/>
                <a:ea typeface="+mj-ea"/>
              </a:rPr>
              <a:t>.)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기능만 존재하며 속성이 없는 클래스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물리적으로 존재할 수 없는 형태이지만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OOP</a:t>
            </a:r>
            <a:r>
              <a:rPr lang="ko-KR" altLang="en-US">
                <a:latin typeface="+mj-ea"/>
                <a:ea typeface="+mj-ea"/>
              </a:rPr>
              <a:t>에서는 흔하게 사용하는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일반적으로 </a:t>
            </a:r>
            <a:r>
              <a:rPr lang="en-US" altLang="ko-KR">
                <a:latin typeface="+mj-ea"/>
                <a:ea typeface="+mj-ea"/>
              </a:rPr>
              <a:t>“Utility” </a:t>
            </a:r>
            <a:r>
              <a:rPr lang="ko-KR" altLang="en-US">
                <a:latin typeface="+mj-ea"/>
                <a:ea typeface="+mj-ea"/>
              </a:rPr>
              <a:t>클래스를 만들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문자를 숫자로 변경하기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문자가 숫자인지 검증하기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문자에서 원하는 문자가 있는지 검사하기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문자가 </a:t>
            </a:r>
            <a:r>
              <a:rPr lang="en-US" altLang="ko-KR">
                <a:latin typeface="+mj-ea"/>
                <a:ea typeface="+mj-ea"/>
              </a:rPr>
              <a:t>Null</a:t>
            </a:r>
            <a:r>
              <a:rPr lang="ko-KR" altLang="en-US">
                <a:latin typeface="+mj-ea"/>
                <a:ea typeface="+mj-ea"/>
              </a:rPr>
              <a:t>인지 검사하기 등등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유틸리티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61818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심화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349" y="2449100"/>
            <a:ext cx="8383451" cy="4049142"/>
          </a:xfrm>
        </p:spPr>
        <p:txBody>
          <a:bodyPr>
            <a:noAutofit/>
          </a:bodyPr>
          <a:lstStyle/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패키지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접근제어지시자</a:t>
            </a:r>
            <a:r>
              <a:rPr lang="en-US" altLang="ko-KR" dirty="0">
                <a:latin typeface="+mj-ea"/>
                <a:ea typeface="+mj-ea"/>
              </a:rPr>
              <a:t> / </a:t>
            </a:r>
            <a:r>
              <a:rPr lang="ko-KR" altLang="en-US" dirty="0">
                <a:latin typeface="+mj-ea"/>
                <a:ea typeface="+mj-ea"/>
              </a:rPr>
              <a:t>정보은닉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캡슐화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클래스 변수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클래스 메소드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메소드 오버로딩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en-US" altLang="ko-KR" dirty="0">
                <a:latin typeface="+mj-ea"/>
                <a:ea typeface="+mj-ea"/>
              </a:rPr>
              <a:t>String</a:t>
            </a: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배열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상속</a:t>
            </a:r>
            <a:r>
              <a:rPr lang="en-US" altLang="ko-KR" dirty="0">
                <a:latin typeface="+mj-ea"/>
                <a:ea typeface="+mj-ea"/>
              </a:rPr>
              <a:t>(Inheritance)</a:t>
            </a:r>
            <a:r>
              <a:rPr lang="ko-KR" altLang="en-US" dirty="0">
                <a:latin typeface="+mj-ea"/>
                <a:ea typeface="+mj-ea"/>
              </a:rPr>
              <a:t>과 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r>
              <a:rPr lang="en-US" altLang="ko-KR" dirty="0">
                <a:latin typeface="+mj-ea"/>
                <a:ea typeface="+mj-ea"/>
              </a:rPr>
              <a:t>(Polymorphism)</a:t>
            </a: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메소드 </a:t>
            </a:r>
            <a:r>
              <a:rPr lang="ko-KR" altLang="en-US" dirty="0" err="1">
                <a:latin typeface="+mj-ea"/>
                <a:ea typeface="+mj-ea"/>
              </a:rPr>
              <a:t>오버라이딩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상속의 목적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0142A1-283D-6535-4E99-84799505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7152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패키지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접근제어지시자 </a:t>
            </a:r>
            <a:r>
              <a:rPr lang="en-US" altLang="ko-KR" sz="4000" b="1">
                <a:latin typeface="+mj-ea"/>
              </a:rPr>
              <a:t>/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>
                <a:latin typeface="+mj-ea"/>
              </a:rPr>
              <a:t>정보은닉과</a:t>
            </a:r>
            <a:r>
              <a:rPr lang="en-US" altLang="ko-KR" sz="4000" b="1">
                <a:latin typeface="+mj-ea"/>
              </a:rPr>
              <a:t> </a:t>
            </a:r>
            <a:r>
              <a:rPr lang="ko-KR" altLang="en-US" sz="4000" b="1">
                <a:latin typeface="+mj-ea"/>
              </a:rPr>
              <a:t>캡슐화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DFF30F-32E6-3232-2806-C3C3BD43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910950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패키지 </a:t>
            </a:r>
            <a:r>
              <a:rPr lang="en-US" altLang="ko-KR" sz="4000" b="1">
                <a:latin typeface="+mj-ea"/>
              </a:rPr>
              <a:t>/ Import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1898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</a:t>
            </a:r>
            <a:r>
              <a:rPr lang="en-US" altLang="ko-KR">
                <a:latin typeface="+mj-ea"/>
                <a:ea typeface="+mj-ea"/>
              </a:rPr>
              <a:t>(Package)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중 관련된 파일들만 정리하여 모아둔 폴더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한 패키지 내에서 같은 이름의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파일은 만들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같은 이름의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파일은 서로 다른 패키지에 만들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247</a:t>
            </a:fld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58AD55-E1EC-7A19-D348-9CC3D4E408F9}"/>
              </a:ext>
            </a:extLst>
          </p:cNvPr>
          <p:cNvGrpSpPr/>
          <p:nvPr/>
        </p:nvGrpSpPr>
        <p:grpSpPr>
          <a:xfrm>
            <a:off x="420089" y="3043732"/>
            <a:ext cx="3477411" cy="2338283"/>
            <a:chOff x="598200" y="2213467"/>
            <a:chExt cx="3477411" cy="233828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A05D046-ED76-AD10-76D5-AAA9FBFB8475}"/>
                </a:ext>
              </a:extLst>
            </p:cNvPr>
            <p:cNvSpPr/>
            <p:nvPr/>
          </p:nvSpPr>
          <p:spPr>
            <a:xfrm>
              <a:off x="598200" y="2213467"/>
              <a:ext cx="3477411" cy="2018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6DD78D-D659-BB2A-B6EE-9BF921E22807}"/>
                </a:ext>
              </a:extLst>
            </p:cNvPr>
            <p:cNvSpPr/>
            <p:nvPr/>
          </p:nvSpPr>
          <p:spPr>
            <a:xfrm>
              <a:off x="776725" y="2331033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D8F04A-B216-603F-06B2-76C43AC0F4BF}"/>
                </a:ext>
              </a:extLst>
            </p:cNvPr>
            <p:cNvSpPr/>
            <p:nvPr/>
          </p:nvSpPr>
          <p:spPr>
            <a:xfrm>
              <a:off x="2732981" y="3669373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회원등급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F76559E-D6E8-9998-5D47-41A9ECFFB08D}"/>
                </a:ext>
              </a:extLst>
            </p:cNvPr>
            <p:cNvSpPr/>
            <p:nvPr/>
          </p:nvSpPr>
          <p:spPr>
            <a:xfrm>
              <a:off x="1047425" y="2804447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328C7A-70CA-9F34-C908-F036A3A3C876}"/>
                </a:ext>
              </a:extLst>
            </p:cNvPr>
            <p:cNvSpPr/>
            <p:nvPr/>
          </p:nvSpPr>
          <p:spPr>
            <a:xfrm>
              <a:off x="2807789" y="2956396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게시글수정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1F27157-9AEE-6960-A7BF-73A94BDF28E1}"/>
                </a:ext>
              </a:extLst>
            </p:cNvPr>
            <p:cNvSpPr/>
            <p:nvPr/>
          </p:nvSpPr>
          <p:spPr>
            <a:xfrm>
              <a:off x="1478940" y="3231480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게시글삭제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C94F9D-4B73-F120-E7C1-C6AD58FD65CF}"/>
                </a:ext>
              </a:extLst>
            </p:cNvPr>
            <p:cNvSpPr/>
            <p:nvPr/>
          </p:nvSpPr>
          <p:spPr>
            <a:xfrm>
              <a:off x="2952720" y="2337964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로그인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AA39E32-33A5-7FC1-A921-CB66B8B7E93D}"/>
                </a:ext>
              </a:extLst>
            </p:cNvPr>
            <p:cNvSpPr/>
            <p:nvPr/>
          </p:nvSpPr>
          <p:spPr>
            <a:xfrm>
              <a:off x="777459" y="376665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댓글작성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90C601-BAEC-08F0-F240-70D4A40127F8}"/>
                </a:ext>
              </a:extLst>
            </p:cNvPr>
            <p:cNvSpPr/>
            <p:nvPr/>
          </p:nvSpPr>
          <p:spPr>
            <a:xfrm>
              <a:off x="1859279" y="2337964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게시글조회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32479E-B3CE-A0AE-4DF9-7A4AFE2E3E09}"/>
                </a:ext>
              </a:extLst>
            </p:cNvPr>
            <p:cNvSpPr txBox="1"/>
            <p:nvPr/>
          </p:nvSpPr>
          <p:spPr>
            <a:xfrm>
              <a:off x="1429990" y="4274751"/>
              <a:ext cx="18138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/>
                <a:t>회원제게시판</a:t>
              </a:r>
              <a:r>
                <a:rPr lang="en-US" altLang="ko-KR" sz="1200"/>
                <a:t>Application</a:t>
              </a:r>
              <a:endParaRPr lang="ko-KR" altLang="en-US" sz="120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D82AFA5-BC9D-10AD-FC75-C83B29375420}"/>
              </a:ext>
            </a:extLst>
          </p:cNvPr>
          <p:cNvGrpSpPr/>
          <p:nvPr/>
        </p:nvGrpSpPr>
        <p:grpSpPr>
          <a:xfrm>
            <a:off x="5106922" y="3043732"/>
            <a:ext cx="3617870" cy="2338283"/>
            <a:chOff x="4748671" y="2213467"/>
            <a:chExt cx="3617870" cy="233828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EF813EE-AA61-6B98-5E77-D39DD6025ADD}"/>
                </a:ext>
              </a:extLst>
            </p:cNvPr>
            <p:cNvSpPr/>
            <p:nvPr/>
          </p:nvSpPr>
          <p:spPr>
            <a:xfrm>
              <a:off x="4748671" y="2213467"/>
              <a:ext cx="3617870" cy="2018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ED66BD-D330-B57A-E43E-52CE6D09E8AD}"/>
                </a:ext>
              </a:extLst>
            </p:cNvPr>
            <p:cNvSpPr txBox="1"/>
            <p:nvPr/>
          </p:nvSpPr>
          <p:spPr>
            <a:xfrm>
              <a:off x="5720040" y="4274751"/>
              <a:ext cx="18138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/>
                <a:t>회원제게시판</a:t>
              </a:r>
              <a:r>
                <a:rPr lang="en-US" altLang="ko-KR" sz="1200"/>
                <a:t>Application</a:t>
              </a:r>
              <a:endParaRPr lang="ko-KR" altLang="en-US" sz="120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80D939A-26BC-F202-BD8B-C6D98D4863B9}"/>
                </a:ext>
              </a:extLst>
            </p:cNvPr>
            <p:cNvSpPr/>
            <p:nvPr/>
          </p:nvSpPr>
          <p:spPr>
            <a:xfrm>
              <a:off x="4840409" y="2331033"/>
              <a:ext cx="1020077" cy="17868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55F87F1-C018-F46D-25BF-EC6DB1185663}"/>
                </a:ext>
              </a:extLst>
            </p:cNvPr>
            <p:cNvSpPr/>
            <p:nvPr/>
          </p:nvSpPr>
          <p:spPr>
            <a:xfrm>
              <a:off x="5928490" y="2331033"/>
              <a:ext cx="1159375" cy="17868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0EB709A-5A53-420E-9903-9768CD0E8D2E}"/>
                </a:ext>
              </a:extLst>
            </p:cNvPr>
            <p:cNvSpPr/>
            <p:nvPr/>
          </p:nvSpPr>
          <p:spPr>
            <a:xfrm>
              <a:off x="4886896" y="2453240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A04236B-42DE-BB4B-C7FE-07B26CE74892}"/>
                </a:ext>
              </a:extLst>
            </p:cNvPr>
            <p:cNvSpPr/>
            <p:nvPr/>
          </p:nvSpPr>
          <p:spPr>
            <a:xfrm>
              <a:off x="4886682" y="2896068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회원등급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C2108AA-1216-1BB4-C7AF-44EB71BABC66}"/>
                </a:ext>
              </a:extLst>
            </p:cNvPr>
            <p:cNvSpPr/>
            <p:nvPr/>
          </p:nvSpPr>
          <p:spPr>
            <a:xfrm>
              <a:off x="6028958" y="245323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3E30A21-43F9-45DE-028C-18BC27AC388A}"/>
                </a:ext>
              </a:extLst>
            </p:cNvPr>
            <p:cNvSpPr/>
            <p:nvPr/>
          </p:nvSpPr>
          <p:spPr>
            <a:xfrm>
              <a:off x="6028957" y="3240423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게시글수정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21FD102-CF83-83EB-5CDB-FAFCD270CBD0}"/>
                </a:ext>
              </a:extLst>
            </p:cNvPr>
            <p:cNvSpPr/>
            <p:nvPr/>
          </p:nvSpPr>
          <p:spPr>
            <a:xfrm>
              <a:off x="6020665" y="3636713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게시글삭제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1BB3375-27C0-B9D9-75FE-CF9CFB15C1BD}"/>
                </a:ext>
              </a:extLst>
            </p:cNvPr>
            <p:cNvSpPr/>
            <p:nvPr/>
          </p:nvSpPr>
          <p:spPr>
            <a:xfrm>
              <a:off x="4893281" y="3338896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로그인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35D482F-41C2-8CDB-C9B7-E8D0E7272395}"/>
                </a:ext>
              </a:extLst>
            </p:cNvPr>
            <p:cNvSpPr/>
            <p:nvPr/>
          </p:nvSpPr>
          <p:spPr>
            <a:xfrm>
              <a:off x="6028957" y="2846831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게시글조회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E4E832E-8E4B-B36E-8DEA-1F7B1408342B}"/>
                </a:ext>
              </a:extLst>
            </p:cNvPr>
            <p:cNvSpPr/>
            <p:nvPr/>
          </p:nvSpPr>
          <p:spPr>
            <a:xfrm>
              <a:off x="7167106" y="2331033"/>
              <a:ext cx="1103139" cy="17868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B56A8CC-B9FF-40A7-C0D2-85B08F652235}"/>
                </a:ext>
              </a:extLst>
            </p:cNvPr>
            <p:cNvSpPr/>
            <p:nvPr/>
          </p:nvSpPr>
          <p:spPr>
            <a:xfrm>
              <a:off x="7219835" y="245323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댓글작성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711490E5-80AB-578E-5003-11A5B035A99D}"/>
              </a:ext>
            </a:extLst>
          </p:cNvPr>
          <p:cNvSpPr/>
          <p:nvPr/>
        </p:nvSpPr>
        <p:spPr>
          <a:xfrm>
            <a:off x="4099654" y="3692995"/>
            <a:ext cx="805113" cy="68104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78186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만들기</a:t>
            </a:r>
            <a:r>
              <a:rPr lang="en-US" altLang="ko-KR">
                <a:latin typeface="+mj-ea"/>
                <a:ea typeface="+mj-ea"/>
              </a:rPr>
              <a:t>	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src</a:t>
            </a:r>
            <a:r>
              <a:rPr lang="en-US" altLang="ko-KR">
                <a:latin typeface="+mj-ea"/>
                <a:ea typeface="+mj-ea"/>
              </a:rPr>
              <a:t> &gt; </a:t>
            </a:r>
            <a:r>
              <a:rPr lang="ko-KR" altLang="en-US">
                <a:latin typeface="+mj-ea"/>
                <a:ea typeface="+mj-ea"/>
              </a:rPr>
              <a:t>오른쪽 클릭 </a:t>
            </a:r>
            <a:r>
              <a:rPr lang="en-US" altLang="ko-KR">
                <a:latin typeface="+mj-ea"/>
                <a:ea typeface="+mj-ea"/>
              </a:rPr>
              <a:t>&gt; New &gt; Package</a:t>
            </a: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CD97B67-2EF5-727A-937C-8E7F1234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20" y="2030586"/>
            <a:ext cx="2238687" cy="533474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248</a:t>
            </a:fld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724C470-C897-F3B9-A7AE-DD0B1150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041" y="2486894"/>
            <a:ext cx="2927189" cy="524488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AE227D1-9768-C7D5-F010-03E06939B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709" y="2489597"/>
            <a:ext cx="1549353" cy="26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9056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만들기</a:t>
            </a:r>
            <a:r>
              <a:rPr lang="en-US" altLang="ko-KR">
                <a:latin typeface="+mj-ea"/>
                <a:ea typeface="+mj-ea"/>
              </a:rPr>
              <a:t>	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Name </a:t>
            </a:r>
            <a:r>
              <a:rPr lang="ko-KR" altLang="en-US">
                <a:latin typeface="+mj-ea"/>
                <a:ea typeface="+mj-ea"/>
              </a:rPr>
              <a:t>값은 모두 삭제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Create package-info.java </a:t>
            </a:r>
            <a:r>
              <a:rPr lang="ko-KR" altLang="en-US">
                <a:latin typeface="+mj-ea"/>
                <a:ea typeface="+mj-ea"/>
              </a:rPr>
              <a:t>체크 해제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FC7473-849A-50B3-FC58-A6BB7D749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05" y="2398793"/>
            <a:ext cx="3593395" cy="30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35832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이름 정하기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패키지 명은 애플리케이션을 개발하는 회사의 도메인을 역순으로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 </a:t>
            </a:r>
            <a:r>
              <a:rPr lang="en-US" altLang="ko-KR">
                <a:latin typeface="+mj-ea"/>
                <a:ea typeface="+mj-ea"/>
              </a:rPr>
              <a:t>naver.com 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 err="1">
                <a:latin typeface="+mj-ea"/>
                <a:ea typeface="+mj-ea"/>
              </a:rPr>
              <a:t>package_exam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애플리케이션을 개발한다면 </a:t>
            </a:r>
            <a:r>
              <a:rPr lang="en-US" altLang="ko-KR" err="1">
                <a:latin typeface="+mj-ea"/>
                <a:ea typeface="+mj-ea"/>
              </a:rPr>
              <a:t>com.naver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기본 패키지명이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기본 패키지명이 작성된 후에는 업무명을 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을 붙여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업무명이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회원관리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라고 한다면 업무명은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member.management</a:t>
            </a:r>
            <a:r>
              <a:rPr lang="en-US" altLang="ko-KR">
                <a:latin typeface="+mj-ea"/>
                <a:ea typeface="+mj-ea"/>
              </a:rPr>
              <a:t>”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management.member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라고 작성할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이렇게 완성된 패키지 명은 아래와 같습니다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com.naver.member.management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809108" y="5626265"/>
            <a:ext cx="7715449" cy="1008207"/>
            <a:chOff x="4898273" y="2069703"/>
            <a:chExt cx="7715449" cy="10082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9703"/>
              <a:ext cx="19191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패키지명 짓는 규칙</a:t>
              </a:r>
              <a:endParaRPr lang="en-US" altLang="ko-KR" sz="16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75921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패키지명을 지을 때</a:t>
              </a:r>
              <a:r>
                <a:rPr lang="en-US" altLang="ko-KR"/>
                <a:t>, </a:t>
              </a:r>
              <a:r>
                <a:rPr lang="ko-KR" altLang="en-US"/>
                <a:t>소문자와 점</a:t>
              </a:r>
              <a:r>
                <a:rPr lang="en-US" altLang="ko-KR"/>
                <a:t>(“.”)</a:t>
              </a:r>
              <a:r>
                <a:rPr lang="ko-KR" altLang="en-US"/>
                <a:t>을 제외한 다른 문자는 쓰지 않습니다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모두 소문자로만 작성해야 하며 단어와 단어는 되도록 붙여 씁니다</a:t>
              </a:r>
              <a:r>
                <a:rPr lang="en-US" altLang="ko-KR"/>
                <a:t>. 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36972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패키지명 입력하기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완성된 패키지명을 입력하고 </a:t>
            </a:r>
            <a:r>
              <a:rPr lang="en-US" altLang="ko-KR">
                <a:latin typeface="+mj-ea"/>
                <a:ea typeface="+mj-ea"/>
              </a:rPr>
              <a:t>“Finish” </a:t>
            </a:r>
            <a:r>
              <a:rPr lang="ko-KR" altLang="en-US">
                <a:latin typeface="+mj-ea"/>
                <a:ea typeface="+mj-ea"/>
              </a:rPr>
              <a:t>버튼을 클릭합니다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9B4199-5E1F-B94F-F358-457AC141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41" y="2143858"/>
            <a:ext cx="3593394" cy="30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18145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확인하기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Finish</a:t>
            </a:r>
            <a:r>
              <a:rPr lang="ko-KR" altLang="en-US">
                <a:latin typeface="+mj-ea"/>
                <a:ea typeface="+mj-ea"/>
              </a:rPr>
              <a:t>를 클릭해 패키지를 완성하면 아래 그림처럼 패키지가 만들어 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탐색기를 열어 </a:t>
            </a:r>
            <a:r>
              <a:rPr lang="en-US" altLang="ko-KR" err="1">
                <a:latin typeface="+mj-ea"/>
                <a:ea typeface="+mj-ea"/>
              </a:rPr>
              <a:t>package_exam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프로젝트 폴더로 이동해보면 점</a:t>
            </a:r>
            <a:r>
              <a:rPr lang="en-US" altLang="ko-KR">
                <a:latin typeface="+mj-ea"/>
                <a:ea typeface="+mj-ea"/>
              </a:rPr>
              <a:t>(“.”)</a:t>
            </a:r>
            <a:r>
              <a:rPr lang="ko-KR" altLang="en-US">
                <a:latin typeface="+mj-ea"/>
                <a:ea typeface="+mj-ea"/>
              </a:rPr>
              <a:t>을 기준으로 실제 폴더가 만들어진 것을 확인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F3A509-2625-39DB-BCCA-EF4523289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58" y="1921140"/>
            <a:ext cx="2986393" cy="8818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92829B-BADF-4834-562E-DC53F807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58" y="3809600"/>
            <a:ext cx="173379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25186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다른 패키지 만들어보기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com.naver.bbs.management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패키지도 만들어봅니다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파일 탐색기에서도 패키지 폴더를 확인해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0A3C4C-9192-FA4E-3E1D-4585AB53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31" y="1937361"/>
            <a:ext cx="2997827" cy="10539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9B09BA-2F25-C07E-299B-A50680D70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31" y="3429000"/>
            <a:ext cx="1971950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99656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구조를 파일 탐색기처럼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형태로 보여주기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기업형 애플리케이션을 </a:t>
            </a:r>
            <a:r>
              <a:rPr lang="ko-KR" altLang="en-US" err="1">
                <a:latin typeface="+mj-ea"/>
                <a:ea typeface="+mj-ea"/>
              </a:rPr>
              <a:t>만들다보면</a:t>
            </a:r>
            <a:r>
              <a:rPr lang="ko-KR" altLang="en-US">
                <a:latin typeface="+mj-ea"/>
                <a:ea typeface="+mj-ea"/>
              </a:rPr>
              <a:t> 패키지가 보통 적게는 </a:t>
            </a:r>
            <a:r>
              <a:rPr lang="en-US" altLang="ko-KR">
                <a:latin typeface="+mj-ea"/>
                <a:ea typeface="+mj-ea"/>
              </a:rPr>
              <a:t>200 ~ 300</a:t>
            </a:r>
            <a:r>
              <a:rPr lang="ko-KR" altLang="en-US">
                <a:latin typeface="+mj-ea"/>
                <a:ea typeface="+mj-ea"/>
              </a:rPr>
              <a:t>개 정도가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만들어집니다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많은 패키지를 목록형으로 </a:t>
            </a:r>
            <a:r>
              <a:rPr lang="ko-KR" altLang="en-US" err="1">
                <a:latin typeface="+mj-ea"/>
                <a:ea typeface="+mj-ea"/>
              </a:rPr>
              <a:t>보게되면</a:t>
            </a:r>
            <a:r>
              <a:rPr lang="ko-KR" altLang="en-US">
                <a:latin typeface="+mj-ea"/>
                <a:ea typeface="+mj-ea"/>
              </a:rPr>
              <a:t> 찾아보기도 힘들며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관리하기도 쉽지 않게 되므로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관리하기 편한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형태로 바꾸어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Project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Explorer</a:t>
            </a:r>
            <a:r>
              <a:rPr lang="ko-KR" altLang="en-US">
                <a:latin typeface="+mj-ea"/>
                <a:ea typeface="+mj-ea"/>
              </a:rPr>
              <a:t>에서    버튼을 클릭합니다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04F695-B252-449E-8345-B28BD9BB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65" y="3237957"/>
            <a:ext cx="3181794" cy="2667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68B809-6FFB-02BF-61A8-5D61C6EF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262" y="3504694"/>
            <a:ext cx="2648320" cy="27054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5D5E482-17E2-E402-8C57-A1DFDF512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006" y="5157802"/>
            <a:ext cx="1400370" cy="4763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CEC4C57-C55C-15A9-5B56-E576E2AFC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436" y="2722737"/>
            <a:ext cx="224620" cy="2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702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이제 패키지 구조가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형태로 표시됩니다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A70383-1BF9-6460-9B79-FF97217D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7" y="1703808"/>
            <a:ext cx="229584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7178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패키지에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작성해보기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8FE4E-D801-43C1-DBEE-1F28047F2985}"/>
              </a:ext>
            </a:extLst>
          </p:cNvPr>
          <p:cNvSpPr txBox="1"/>
          <p:nvPr/>
        </p:nvSpPr>
        <p:spPr>
          <a:xfrm>
            <a:off x="472440" y="1724290"/>
            <a:ext cx="60241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3371613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패키지에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작성해보기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8FE4E-D801-43C1-DBEE-1F28047F2985}"/>
              </a:ext>
            </a:extLst>
          </p:cNvPr>
          <p:cNvSpPr txBox="1"/>
          <p:nvPr/>
        </p:nvSpPr>
        <p:spPr>
          <a:xfrm>
            <a:off x="472439" y="1724290"/>
            <a:ext cx="74697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Member cannot be resolved to a type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769230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클래스에 에러가 발생하는 이유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다른 패키지에 있는 클래스를 사용하려면 어떤 패키지에 있는 클래스인지를 반드시 명시해야만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3176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에 키보드 커서를 두고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“Ctrl + 1”</a:t>
            </a:r>
            <a:r>
              <a:rPr lang="ko-KR" altLang="en-US">
                <a:latin typeface="+mj-ea"/>
                <a:ea typeface="+mj-ea"/>
              </a:rPr>
              <a:t>을 누르면 </a:t>
            </a:r>
            <a:r>
              <a:rPr lang="en-US" altLang="ko-KR">
                <a:latin typeface="+mj-ea"/>
                <a:ea typeface="+mj-ea"/>
              </a:rPr>
              <a:t>“Quick Fix” </a:t>
            </a:r>
            <a:r>
              <a:rPr lang="ko-KR" altLang="en-US">
                <a:latin typeface="+mj-ea"/>
                <a:ea typeface="+mj-ea"/>
              </a:rPr>
              <a:t>창이 나타납니다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Import ‘Member’ (</a:t>
            </a:r>
            <a:r>
              <a:rPr lang="en-US" altLang="ko-KR" err="1">
                <a:latin typeface="+mj-ea"/>
                <a:ea typeface="+mj-ea"/>
              </a:rPr>
              <a:t>com.naver.member.management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클릭하거나 선택 후 엔터를 입력합니다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259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977536" y="2515426"/>
            <a:ext cx="74697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Member cannot be resolved to a type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C4CE950-7920-E67D-A7EE-18CFA3B9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473" y="4438358"/>
            <a:ext cx="396295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3745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에 키보드 커서를 두고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import </a:t>
            </a:r>
            <a:r>
              <a:rPr lang="ko-KR" altLang="en-US">
                <a:latin typeface="+mj-ea"/>
                <a:ea typeface="+mj-ea"/>
              </a:rPr>
              <a:t>문장이 추가되며 에러가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260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977536" y="2028801"/>
            <a:ext cx="7469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The field Member.id is not visible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The field Member.name is not visible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715324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접근제어지시자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5684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패키지와는 별개의 문제로 클래스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메소드 등은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다른 클래스나 인스턴스가 접근을 마음대로 할 수 없도록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제한하는 기능이 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이것을 </a:t>
            </a:r>
            <a:r>
              <a:rPr lang="ko-KR" altLang="en-US" b="1">
                <a:latin typeface="+mj-ea"/>
                <a:ea typeface="+mj-ea"/>
              </a:rPr>
              <a:t>접근제어지시자</a:t>
            </a:r>
            <a:r>
              <a:rPr lang="ko-KR" altLang="en-US">
                <a:latin typeface="+mj-ea"/>
                <a:ea typeface="+mj-ea"/>
              </a:rPr>
              <a:t> 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Article.java</a:t>
            </a:r>
            <a:r>
              <a:rPr lang="ko-KR" altLang="en-US">
                <a:latin typeface="+mj-ea"/>
                <a:ea typeface="+mj-ea"/>
              </a:rPr>
              <a:t> 파일에서 아래 에러가 발생한 이유는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잘못된 접근제어지시자를 사용하고 있기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The field Member.id is not visible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The field Member.name is not visible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8558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접근제어지시자</a:t>
            </a:r>
            <a:r>
              <a:rPr lang="en-US" altLang="ko-KR">
                <a:latin typeface="+mj-ea"/>
                <a:ea typeface="+mj-ea"/>
              </a:rPr>
              <a:t>(Access modifier)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,</a:t>
            </a:r>
            <a:r>
              <a:rPr lang="ko-KR" altLang="en-US">
                <a:latin typeface="+mj-ea"/>
                <a:ea typeface="+mj-ea"/>
              </a:rPr>
              <a:t> 메소드의 외부로부터의 접근을 제한하는 키워드입니다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지시자는 제공되는 범위에 따라 총 </a:t>
            </a:r>
            <a:r>
              <a:rPr lang="en-US" altLang="ko-KR">
                <a:latin typeface="+mj-ea"/>
                <a:ea typeface="+mj-ea"/>
              </a:rPr>
              <a:t>4</a:t>
            </a:r>
            <a:r>
              <a:rPr lang="ko-KR" altLang="en-US">
                <a:latin typeface="+mj-ea"/>
                <a:ea typeface="+mj-ea"/>
              </a:rPr>
              <a:t>개로 구분됩니다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private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default (</a:t>
            </a:r>
            <a:r>
              <a:rPr lang="ko-KR" altLang="en-US">
                <a:latin typeface="+mj-ea"/>
                <a:ea typeface="+mj-ea"/>
              </a:rPr>
              <a:t>접근제어 지시자가 누락된 경우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protected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public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33E6F4-FC1E-2647-04D5-7150214D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547" y="3519719"/>
            <a:ext cx="4627087" cy="142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18469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Article</a:t>
            </a:r>
            <a:r>
              <a:rPr lang="ko-KR" altLang="en-US">
                <a:latin typeface="+mj-ea"/>
                <a:ea typeface="+mj-ea"/>
              </a:rPr>
              <a:t> 클래스에서 사용하는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내용을 보면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멤버변수에 접근제어지시자가 없어 </a:t>
            </a:r>
            <a:r>
              <a:rPr lang="en-US" altLang="ko-KR">
                <a:latin typeface="+mj-ea"/>
                <a:ea typeface="+mj-ea"/>
              </a:rPr>
              <a:t>default </a:t>
            </a:r>
            <a:r>
              <a:rPr lang="ko-KR" altLang="en-US">
                <a:latin typeface="+mj-ea"/>
                <a:ea typeface="+mj-ea"/>
              </a:rPr>
              <a:t>접근제어지시자가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사용되는 것을 알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264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2280051"/>
            <a:ext cx="746977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접근제어지시자가 없으므로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적용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접근제어지시자가 없으므로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적용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7FAB7FA-6EC1-337D-B42B-36E74FCD8981}"/>
              </a:ext>
            </a:extLst>
          </p:cNvPr>
          <p:cNvGrpSpPr/>
          <p:nvPr/>
        </p:nvGrpSpPr>
        <p:grpSpPr>
          <a:xfrm>
            <a:off x="3869494" y="5365024"/>
            <a:ext cx="4627087" cy="1423107"/>
            <a:chOff x="4076370" y="5331361"/>
            <a:chExt cx="4627087" cy="142310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94C1F2-D5B3-3CA2-BB76-A5E3EF02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6370" y="5331361"/>
              <a:ext cx="4627087" cy="142310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24AF651-C947-94B2-3045-4D99E9C062F0}"/>
                </a:ext>
              </a:extLst>
            </p:cNvPr>
            <p:cNvSpPr/>
            <p:nvPr/>
          </p:nvSpPr>
          <p:spPr>
            <a:xfrm>
              <a:off x="4111988" y="5909944"/>
              <a:ext cx="4546800" cy="2664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1518124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멤버변수에 </a:t>
            </a:r>
            <a:r>
              <a:rPr lang="en-US" altLang="ko-KR">
                <a:latin typeface="+mj-ea"/>
                <a:ea typeface="+mj-ea"/>
              </a:rPr>
              <a:t>public </a:t>
            </a:r>
            <a:r>
              <a:rPr lang="ko-KR" altLang="en-US">
                <a:latin typeface="+mj-ea"/>
                <a:ea typeface="+mj-ea"/>
              </a:rPr>
              <a:t>접근제어지시자를 적용합니다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265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1679778"/>
            <a:ext cx="746977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7FAB7FA-6EC1-337D-B42B-36E74FCD8981}"/>
              </a:ext>
            </a:extLst>
          </p:cNvPr>
          <p:cNvGrpSpPr/>
          <p:nvPr/>
        </p:nvGrpSpPr>
        <p:grpSpPr>
          <a:xfrm>
            <a:off x="515981" y="5317928"/>
            <a:ext cx="4627087" cy="1423107"/>
            <a:chOff x="4076370" y="5331361"/>
            <a:chExt cx="4627087" cy="142310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94C1F2-D5B3-3CA2-BB76-A5E3EF02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6370" y="5331361"/>
              <a:ext cx="4627087" cy="142310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24AF651-C947-94B2-3045-4D99E9C062F0}"/>
                </a:ext>
              </a:extLst>
            </p:cNvPr>
            <p:cNvSpPr/>
            <p:nvPr/>
          </p:nvSpPr>
          <p:spPr>
            <a:xfrm>
              <a:off x="4111988" y="6452869"/>
              <a:ext cx="4546800" cy="2664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7758348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클래스를 사용하는 </a:t>
            </a:r>
            <a:r>
              <a:rPr lang="en-US" altLang="ko-KR">
                <a:latin typeface="+mj-ea"/>
                <a:ea typeface="+mj-ea"/>
              </a:rPr>
              <a:t>Article </a:t>
            </a:r>
            <a:r>
              <a:rPr lang="ko-KR" altLang="en-US">
                <a:latin typeface="+mj-ea"/>
                <a:ea typeface="+mj-ea"/>
              </a:rPr>
              <a:t>클래스의 에러가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266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1679778"/>
            <a:ext cx="74697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16320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정보은닉과 캡슐화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37715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인스턴스의 정보를 표현하는 멤버변수는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데이터의 보호를 위해 외부로부터 접근이 제한되어야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따라서 멤버변수의 접근제한자는 </a:t>
            </a:r>
            <a:r>
              <a:rPr lang="en-US" altLang="ko-KR">
                <a:latin typeface="+mj-ea"/>
                <a:ea typeface="+mj-ea"/>
              </a:rPr>
              <a:t>public</a:t>
            </a:r>
            <a:r>
              <a:rPr lang="ko-KR" altLang="en-US">
                <a:latin typeface="+mj-ea"/>
                <a:ea typeface="+mj-ea"/>
              </a:rPr>
              <a:t>이 아닌 </a:t>
            </a:r>
            <a:r>
              <a:rPr lang="en-US" altLang="ko-KR">
                <a:latin typeface="+mj-ea"/>
                <a:ea typeface="+mj-ea"/>
              </a:rPr>
              <a:t>private</a:t>
            </a:r>
            <a:r>
              <a:rPr lang="ko-KR" altLang="en-US">
                <a:latin typeface="+mj-ea"/>
                <a:ea typeface="+mj-ea"/>
              </a:rPr>
              <a:t>으로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사용해야 하며 생성자를 통해 멤버변수의 값을 설정해야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9F623-1AAB-DA52-CF9F-670BFF597239}"/>
              </a:ext>
            </a:extLst>
          </p:cNvPr>
          <p:cNvSpPr txBox="1"/>
          <p:nvPr/>
        </p:nvSpPr>
        <p:spPr>
          <a:xfrm>
            <a:off x="576942" y="2758631"/>
            <a:ext cx="64934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582389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멤버변수가 보호된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인스턴스 사용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9F623-1AAB-DA52-CF9F-670BFF597239}"/>
              </a:ext>
            </a:extLst>
          </p:cNvPr>
          <p:cNvSpPr txBox="1"/>
          <p:nvPr/>
        </p:nvSpPr>
        <p:spPr>
          <a:xfrm>
            <a:off x="576941" y="1704894"/>
            <a:ext cx="82780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field Member.id is not visible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접근할 수 없습니다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9719468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인스턴스인 </a:t>
            </a:r>
            <a:r>
              <a:rPr lang="en-US" altLang="ko-KR">
                <a:latin typeface="+mj-ea"/>
                <a:ea typeface="+mj-ea"/>
              </a:rPr>
              <a:t>member</a:t>
            </a:r>
            <a:r>
              <a:rPr lang="ko-KR" altLang="en-US">
                <a:latin typeface="+mj-ea"/>
                <a:ea typeface="+mj-ea"/>
              </a:rPr>
              <a:t>는 멤버변수에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직접 접근할 수 없도록 되어있기 때문에 내부의 값이 무엇인지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확인이 불가능합니다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Article </a:t>
            </a:r>
            <a:r>
              <a:rPr lang="ko-KR" altLang="en-US">
                <a:latin typeface="+mj-ea"/>
                <a:ea typeface="+mj-ea"/>
              </a:rPr>
              <a:t>클래스에서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>
                <a:latin typeface="+mj-ea"/>
                <a:ea typeface="+mj-ea"/>
              </a:rPr>
              <a:t>id </a:t>
            </a:r>
            <a:r>
              <a:rPr lang="ko-KR" altLang="en-US">
                <a:latin typeface="+mj-ea"/>
                <a:ea typeface="+mj-ea"/>
              </a:rPr>
              <a:t>변수의 값을 알 수 없습니다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이런 경우</a:t>
            </a:r>
            <a:r>
              <a:rPr lang="en-US" altLang="ko-KR">
                <a:latin typeface="+mj-ea"/>
                <a:ea typeface="+mj-ea"/>
              </a:rPr>
              <a:t>, member</a:t>
            </a:r>
            <a:r>
              <a:rPr lang="ko-KR" altLang="en-US">
                <a:latin typeface="+mj-ea"/>
                <a:ea typeface="+mj-ea"/>
              </a:rPr>
              <a:t> 인스턴스의 멤버변수 값을 반환해주는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별도의 인스턴스 메소드가 필요한데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이것을 </a:t>
            </a:r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099895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클래스에 </a:t>
            </a:r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정의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F58F5-DA7B-A543-E46C-DA01D94753C7}"/>
              </a:ext>
            </a:extLst>
          </p:cNvPr>
          <p:cNvSpPr txBox="1"/>
          <p:nvPr/>
        </p:nvSpPr>
        <p:spPr>
          <a:xfrm>
            <a:off x="550817" y="1608587"/>
            <a:ext cx="63812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9550841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를 이용한 멤버변수 값 반환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404C4-64DD-EC66-5DF9-D8A26A24AC17}"/>
              </a:ext>
            </a:extLst>
          </p:cNvPr>
          <p:cNvSpPr txBox="1"/>
          <p:nvPr/>
        </p:nvSpPr>
        <p:spPr>
          <a:xfrm>
            <a:off x="481147" y="1686965"/>
            <a:ext cx="67905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//ID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관리자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3506148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member</a:t>
            </a:r>
            <a:r>
              <a:rPr lang="ko-KR" altLang="en-US" dirty="0">
                <a:latin typeface="+mj-ea"/>
                <a:ea typeface="+mj-ea"/>
              </a:rPr>
              <a:t> 인스턴스의 멤버변수들은 </a:t>
            </a:r>
            <a:r>
              <a:rPr lang="en-US" altLang="ko-KR" dirty="0">
                <a:latin typeface="+mj-ea"/>
                <a:ea typeface="+mj-ea"/>
              </a:rPr>
              <a:t>private</a:t>
            </a:r>
            <a:r>
              <a:rPr lang="ko-KR" altLang="en-US" dirty="0">
                <a:latin typeface="+mj-ea"/>
                <a:ea typeface="+mj-ea"/>
              </a:rPr>
              <a:t>으로 제한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값 할당은 생성자에서만 가능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멤버변수의 값은 </a:t>
            </a:r>
            <a:r>
              <a:rPr lang="en-US" altLang="ko-KR" dirty="0">
                <a:latin typeface="+mj-ea"/>
                <a:ea typeface="+mj-ea"/>
              </a:rPr>
              <a:t>Getter</a:t>
            </a:r>
            <a:r>
              <a:rPr lang="ko-KR" altLang="en-US" dirty="0">
                <a:latin typeface="+mj-ea"/>
                <a:ea typeface="+mj-ea"/>
              </a:rPr>
              <a:t>로 반환하여 사용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이런 구조를 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정보은닉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이라고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멤버변수는 모두 보호 대상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모든 클래스들의 멤버변수는 </a:t>
            </a:r>
            <a:r>
              <a:rPr lang="ko-KR" altLang="en-US" dirty="0" err="1">
                <a:latin typeface="+mj-ea"/>
                <a:ea typeface="+mj-ea"/>
              </a:rPr>
              <a:t>예외없이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private</a:t>
            </a:r>
            <a:r>
              <a:rPr lang="ko-KR" altLang="en-US" dirty="0">
                <a:latin typeface="+mj-ea"/>
                <a:ea typeface="+mj-ea"/>
              </a:rPr>
              <a:t>으로 보호해야 하며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값의 할당은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생성자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로만 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값을 가져와 활용하려 할 경우 반드시 </a:t>
            </a:r>
            <a:r>
              <a:rPr lang="en-US" altLang="ko-KR" dirty="0">
                <a:latin typeface="+mj-ea"/>
                <a:ea typeface="+mj-ea"/>
              </a:rPr>
              <a:t>Getter</a:t>
            </a:r>
            <a:r>
              <a:rPr lang="ko-KR" altLang="en-US" dirty="0">
                <a:latin typeface="+mj-ea"/>
                <a:ea typeface="+mj-ea"/>
              </a:rPr>
              <a:t>를 통해야만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222290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멤버변수의 값은 재할당이 불가능 할까요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속성은 직접 변경이 불가능해야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항상 메소드를 통해 변경이 되어야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멤버변수 변경의 예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과일 하나에 </a:t>
            </a:r>
            <a:r>
              <a:rPr lang="en-US" altLang="ko-KR" dirty="0">
                <a:latin typeface="+mj-ea"/>
                <a:ea typeface="+mj-ea"/>
              </a:rPr>
              <a:t>500</a:t>
            </a:r>
            <a:r>
              <a:rPr lang="ko-KR" altLang="en-US" dirty="0">
                <a:latin typeface="+mj-ea"/>
                <a:ea typeface="+mj-ea"/>
              </a:rPr>
              <a:t>원에 판매하는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과일 판매자가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과일 판매자를 클래스로 구현한다면 아래처럼 표현이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멤버변수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소지금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과일개수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과일가격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상수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메소드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판매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sz="1500" dirty="0">
              <a:latin typeface="+mj-ea"/>
              <a:ea typeface="+mj-ea"/>
            </a:endParaRPr>
          </a:p>
          <a:p>
            <a:pPr lvl="1"/>
            <a:endParaRPr lang="en-US" altLang="ko-KR" sz="1500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09336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개의 과일을 가지고 온 판매자가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개의 과일을 판매할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과일의 재고는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개가 줄어야 하며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소지금은 </a:t>
            </a:r>
            <a:r>
              <a:rPr lang="en-US" altLang="ko-KR">
                <a:latin typeface="+mj-ea"/>
                <a:ea typeface="+mj-ea"/>
              </a:rPr>
              <a:t>500 X 5</a:t>
            </a:r>
            <a:r>
              <a:rPr lang="ko-KR" altLang="en-US">
                <a:latin typeface="+mj-ea"/>
                <a:ea typeface="+mj-ea"/>
              </a:rPr>
              <a:t>원이 증가해야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다시 말해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판매</a:t>
            </a:r>
            <a:r>
              <a:rPr lang="en-US" altLang="ko-KR">
                <a:latin typeface="+mj-ea"/>
                <a:ea typeface="+mj-ea"/>
              </a:rPr>
              <a:t>(5)” </a:t>
            </a:r>
            <a:r>
              <a:rPr lang="ko-KR" altLang="en-US">
                <a:latin typeface="+mj-ea"/>
                <a:ea typeface="+mj-ea"/>
              </a:rPr>
              <a:t>메소드를 실행할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과일 판매자는 과일 재고와 소지금이 변화하게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캡슐화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여러가지 변화를 하나의 메소드 내에 숨겨 처리하는 것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452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캡슐화가 적용된 과일 판매자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1107037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캡슐화가 적용된 과일 판매자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1259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캡슐화된</a:t>
            </a:r>
            <a:r>
              <a:rPr lang="ko-KR" altLang="en-US">
                <a:latin typeface="+mj-ea"/>
                <a:ea typeface="+mj-ea"/>
              </a:rPr>
              <a:t> 클래스의 활용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713955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만약 캡슐화를 사용하지 않는다면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Mart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main </a:t>
            </a:r>
            <a:r>
              <a:rPr lang="ko-KR" altLang="en-US">
                <a:latin typeface="+mj-ea"/>
                <a:ea typeface="+mj-ea"/>
              </a:rPr>
              <a:t>메소드에서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의 멤버변수를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직접 제어해야만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1259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286887385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750883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7101182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코드가 길고 </a:t>
            </a:r>
            <a:r>
              <a:rPr lang="ko-KR" altLang="en-US" err="1">
                <a:latin typeface="+mj-ea"/>
                <a:ea typeface="+mj-ea"/>
              </a:rPr>
              <a:t>복잡해지며</a:t>
            </a:r>
            <a:r>
              <a:rPr lang="ko-KR" altLang="en-US">
                <a:latin typeface="+mj-ea"/>
                <a:ea typeface="+mj-ea"/>
              </a:rPr>
              <a:t> 의도를 파악하기 쉽지 않게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가독성이 낮아지며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가독성이 낮아지면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기능 추가 및 수정이 쉽지 않게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05864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r>
              <a:rPr lang="en-US" altLang="ko-KR" dirty="0">
                <a:latin typeface="+mj-ea"/>
                <a:ea typeface="+mj-ea"/>
              </a:rPr>
              <a:t> + </a:t>
            </a:r>
            <a:r>
              <a:rPr lang="ko-KR" altLang="en-US" dirty="0">
                <a:latin typeface="+mj-ea"/>
                <a:ea typeface="+mj-ea"/>
              </a:rPr>
              <a:t>캡슐화 연습문제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만화카페 구현해보기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만화카페는 다양한 만화책을 구비해놓고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만화책을 관리하기 위해 아래 정보를 관리하고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이름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 err="1">
                <a:latin typeface="+mj-ea"/>
                <a:ea typeface="+mj-ea"/>
              </a:rPr>
              <a:t>슬램덩크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화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 err="1">
                <a:latin typeface="+mj-ea"/>
                <a:ea typeface="+mj-ea"/>
              </a:rPr>
              <a:t>슬램덩크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화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대여 상태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. true: </a:t>
            </a:r>
            <a:r>
              <a:rPr lang="ko-KR" altLang="en-US" dirty="0">
                <a:latin typeface="+mj-ea"/>
                <a:ea typeface="+mj-ea"/>
              </a:rPr>
              <a:t>대여 중</a:t>
            </a:r>
            <a:r>
              <a:rPr lang="en-US" altLang="ko-KR" dirty="0">
                <a:latin typeface="+mj-ea"/>
                <a:ea typeface="+mj-ea"/>
              </a:rPr>
              <a:t>, false: </a:t>
            </a:r>
            <a:r>
              <a:rPr lang="ko-KR" altLang="en-US" dirty="0" err="1">
                <a:latin typeface="+mj-ea"/>
                <a:ea typeface="+mj-ea"/>
              </a:rPr>
              <a:t>대여안함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</a:t>
            </a:r>
            <a:r>
              <a:rPr lang="ko-KR" altLang="en-US" dirty="0" err="1">
                <a:latin typeface="+mj-ea"/>
                <a:ea typeface="+mj-ea"/>
              </a:rPr>
              <a:t>대여비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소지금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만화카페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만화책을 대여하면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만화책의 대여 상태가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대여 중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으로 변환되며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만화책 대여비만큼 소지금이 증가합니다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3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337883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r>
              <a:rPr lang="en-US" altLang="ko-KR" dirty="0">
                <a:latin typeface="+mj-ea"/>
                <a:ea typeface="+mj-ea"/>
              </a:rPr>
              <a:t> + </a:t>
            </a:r>
            <a:r>
              <a:rPr lang="ko-KR" altLang="en-US" dirty="0">
                <a:latin typeface="+mj-ea"/>
                <a:ea typeface="+mj-ea"/>
              </a:rPr>
              <a:t>캡슐화 연습문제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만화카페 구현해보기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만화카페 기능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모든 만화책목록 출력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만화책 대여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이미 대여중인 만화책은 대여할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4"/>
            <a:r>
              <a:rPr lang="ko-KR" altLang="en-US" dirty="0">
                <a:latin typeface="+mj-ea"/>
                <a:ea typeface="+mj-ea"/>
              </a:rPr>
              <a:t>대여할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만화책 대여비를 지급해야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만화책 반납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8104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변수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클래스 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78E0D9-9DD1-AF49-DAFD-CB499681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9802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변수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557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인스턴스가 아닌 클래스로 접근할 수 있는 변수를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2174786"/>
            <a:ext cx="55713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6063734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변수의 참조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1721939"/>
            <a:ext cx="70866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경차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소형차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중형차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대형차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511954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변수를 생성할 때는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변수의 타입 앞에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static </a:t>
            </a:r>
            <a:r>
              <a:rPr lang="ko-KR" altLang="en-US">
                <a:latin typeface="+mj-ea"/>
                <a:ea typeface="+mj-ea"/>
              </a:rPr>
              <a:t>키워드를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으로 정의된 변수는 인스턴스가 아닌 클래스로 접근이 가능하게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3181190"/>
            <a:ext cx="70866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생성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경차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메소드 호출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 참조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CF49A-FD9E-A46C-B01B-F56ADAD460E8}"/>
              </a:ext>
            </a:extLst>
          </p:cNvPr>
          <p:cNvSpPr txBox="1"/>
          <p:nvPr/>
        </p:nvSpPr>
        <p:spPr>
          <a:xfrm>
            <a:off x="472439" y="1973368"/>
            <a:ext cx="5159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5338473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변수는 인스턴스로도 참조가 가능한데</a:t>
            </a:r>
            <a:r>
              <a:rPr lang="en-US" altLang="ko-KR">
                <a:latin typeface="+mj-ea"/>
                <a:ea typeface="+mj-ea"/>
              </a:rPr>
              <a:t>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이것은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코딩 표준에 맞지 않아 </a:t>
            </a:r>
            <a:r>
              <a:rPr lang="en-US" altLang="ko-KR">
                <a:latin typeface="+mj-ea"/>
                <a:ea typeface="+mj-ea"/>
              </a:rPr>
              <a:t>Warning</a:t>
            </a:r>
            <a:r>
              <a:rPr lang="ko-KR" altLang="en-US">
                <a:latin typeface="+mj-ea"/>
                <a:ea typeface="+mj-ea"/>
              </a:rPr>
              <a:t>이 발생하므로</a:t>
            </a:r>
            <a:r>
              <a:rPr lang="en-US" altLang="ko-KR">
                <a:latin typeface="+mj-ea"/>
                <a:ea typeface="+mj-ea"/>
              </a:rPr>
              <a:t>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되도록 클래스로 참조하도록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049D2-650D-7ECA-88AB-B426FC8BF48D}"/>
              </a:ext>
            </a:extLst>
          </p:cNvPr>
          <p:cNvSpPr txBox="1"/>
          <p:nvPr/>
        </p:nvSpPr>
        <p:spPr>
          <a:xfrm>
            <a:off x="493913" y="2381089"/>
            <a:ext cx="9555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인스턴스로 클래스 변수 참조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static field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Car.instanceCount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should be accessed in a static way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9816021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클래스로 변수에 접근이 가능하다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라는 점에서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애플리케이션 내부의 모든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파일에서 공유되는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변수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모든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파일이 공유하는 변수이므로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 변수의 값이 변경되었을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원하지 않는 결과값이 생성될 가능이 매우 높아집니다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따라서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 변수는 값이 변경되지 않도록 하기 위해 </a:t>
            </a:r>
            <a:r>
              <a:rPr lang="en-US" altLang="ko-KR">
                <a:latin typeface="+mj-ea"/>
                <a:ea typeface="+mj-ea"/>
              </a:rPr>
              <a:t>static </a:t>
            </a:r>
            <a:r>
              <a:rPr lang="ko-KR" altLang="en-US">
                <a:latin typeface="+mj-ea"/>
                <a:ea typeface="+mj-ea"/>
              </a:rPr>
              <a:t>뒤에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final </a:t>
            </a:r>
            <a:r>
              <a:rPr lang="ko-KR" altLang="en-US">
                <a:latin typeface="+mj-ea"/>
                <a:ea typeface="+mj-ea"/>
              </a:rPr>
              <a:t>키워드를 붙여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상수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클래스 상수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)“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로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97502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 클래스의 </a:t>
            </a:r>
            <a:r>
              <a:rPr lang="en-US" altLang="ko-KR">
                <a:latin typeface="+mj-ea"/>
                <a:ea typeface="+mj-ea"/>
              </a:rPr>
              <a:t>FRUIT_PRICE </a:t>
            </a:r>
            <a:r>
              <a:rPr lang="ko-KR" altLang="en-US">
                <a:latin typeface="+mj-ea"/>
                <a:ea typeface="+mj-ea"/>
              </a:rPr>
              <a:t>를 클래스 상수로 변경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F8554-DCCF-7D2C-C8C6-164E75F579BA}"/>
              </a:ext>
            </a:extLst>
          </p:cNvPr>
          <p:cNvSpPr txBox="1"/>
          <p:nvPr/>
        </p:nvSpPr>
        <p:spPr>
          <a:xfrm>
            <a:off x="489856" y="1608587"/>
            <a:ext cx="85945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77029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Mart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FRUIT_PRICE </a:t>
            </a:r>
            <a:r>
              <a:rPr lang="ko-KR" altLang="en-US">
                <a:latin typeface="+mj-ea"/>
                <a:ea typeface="+mj-ea"/>
              </a:rPr>
              <a:t>참조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F8554-DCCF-7D2C-C8C6-164E75F579BA}"/>
              </a:ext>
            </a:extLst>
          </p:cNvPr>
          <p:cNvSpPr txBox="1"/>
          <p:nvPr/>
        </p:nvSpPr>
        <p:spPr>
          <a:xfrm>
            <a:off x="489856" y="1608587"/>
            <a:ext cx="95511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과일 가격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"</a:t>
            </a:r>
            <a:r>
              <a:rPr lang="ko-KR" alt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60081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에서 지원하는 기본 클래스 상수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8CF83-932F-5EBA-2507-7448D1E0D865}"/>
              </a:ext>
            </a:extLst>
          </p:cNvPr>
          <p:cNvSpPr txBox="1"/>
          <p:nvPr/>
        </p:nvSpPr>
        <p:spPr>
          <a:xfrm>
            <a:off x="507274" y="1669549"/>
            <a:ext cx="51598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7463E-AA33-3D12-CAF7-89E45C9C554C}"/>
              </a:ext>
            </a:extLst>
          </p:cNvPr>
          <p:cNvSpPr txBox="1"/>
          <p:nvPr/>
        </p:nvSpPr>
        <p:spPr>
          <a:xfrm>
            <a:off x="507273" y="4813320"/>
            <a:ext cx="7704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81691317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 실습문제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만화카페의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대여비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를 클래스 상수로 변경해보세요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995879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691418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변수와 마찬가지로 클래스 메소드는 인스턴스가 아닌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클래스로 접근할 수 있는 메소드를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클래스로 접근하기 때문에 멤버변수의 영향을 받을 수 없으며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오직 파라미터의 영향</a:t>
            </a:r>
            <a:r>
              <a:rPr lang="ko-KR" altLang="en-US">
                <a:latin typeface="+mj-ea"/>
                <a:ea typeface="+mj-ea"/>
              </a:rPr>
              <a:t>만 받습니다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“</a:t>
            </a:r>
            <a:r>
              <a:rPr lang="ko-KR" altLang="en-US">
                <a:latin typeface="+mj-ea"/>
                <a:ea typeface="+mj-ea"/>
              </a:rPr>
              <a:t>안녕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번 반복한 값을 반환하는 클래스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6F013-F546-3563-1F65-8D8469AB0980}"/>
              </a:ext>
            </a:extLst>
          </p:cNvPr>
          <p:cNvSpPr txBox="1"/>
          <p:nvPr/>
        </p:nvSpPr>
        <p:spPr>
          <a:xfrm>
            <a:off x="968828" y="3086912"/>
            <a:ext cx="75046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067C3-60EE-6AC1-4A1C-696B1024CC07}"/>
              </a:ext>
            </a:extLst>
          </p:cNvPr>
          <p:cNvSpPr txBox="1"/>
          <p:nvPr/>
        </p:nvSpPr>
        <p:spPr>
          <a:xfrm>
            <a:off x="968828" y="4742476"/>
            <a:ext cx="76882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ClassMethodTest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8223141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메소드의 접근 범위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교재 </a:t>
            </a:r>
            <a:r>
              <a:rPr lang="en-US" altLang="ko-KR">
                <a:latin typeface="+mj-ea"/>
                <a:ea typeface="+mj-ea"/>
              </a:rPr>
              <a:t>190</a:t>
            </a:r>
            <a:r>
              <a:rPr lang="ko-KR" altLang="en-US">
                <a:latin typeface="+mj-ea"/>
                <a:ea typeface="+mj-ea"/>
              </a:rPr>
              <a:t>번 슬라이드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 메소드는 인스턴스로 접근할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299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912EFBB-40E9-1D02-EB6E-9D962649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2" y="2213467"/>
            <a:ext cx="8513170" cy="428275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8B4E3E-99E2-0135-71DE-EACF029E1385}"/>
              </a:ext>
            </a:extLst>
          </p:cNvPr>
          <p:cNvSpPr/>
          <p:nvPr/>
        </p:nvSpPr>
        <p:spPr>
          <a:xfrm>
            <a:off x="5094514" y="3928024"/>
            <a:ext cx="1898469" cy="22642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D4B429-60D1-1C63-02F2-B3351B20622A}"/>
              </a:ext>
            </a:extLst>
          </p:cNvPr>
          <p:cNvSpPr/>
          <p:nvPr/>
        </p:nvSpPr>
        <p:spPr>
          <a:xfrm>
            <a:off x="2699659" y="4681315"/>
            <a:ext cx="992778" cy="50945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99D884-66FA-06B8-361F-B4D0BD5CE41F}"/>
              </a:ext>
            </a:extLst>
          </p:cNvPr>
          <p:cNvSpPr/>
          <p:nvPr/>
        </p:nvSpPr>
        <p:spPr>
          <a:xfrm>
            <a:off x="6914606" y="4681315"/>
            <a:ext cx="992778" cy="50945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87302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메소드는 인스턴스 범위로 접근할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7990A-4AA5-03F5-5E21-9F6874B9B839}"/>
              </a:ext>
            </a:extLst>
          </p:cNvPr>
          <p:cNvSpPr txBox="1"/>
          <p:nvPr/>
        </p:nvSpPr>
        <p:spPr>
          <a:xfrm>
            <a:off x="440490" y="1692164"/>
            <a:ext cx="841451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Cannot make a static reference to the non-static field version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Cannot make a static reference to the non-static method</a:t>
            </a:r>
          </a:p>
          <a:p>
            <a:r>
              <a:rPr lang="en-US" altLang="ko-KR" sz="1600">
                <a:solidFill>
                  <a:srgbClr val="008000"/>
                </a:solidFill>
                <a:latin typeface="Consolas" panose="020B0609020204030204" pitchFamily="49" charset="0"/>
              </a:rPr>
              <a:t>        //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from the type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StringUtils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270891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public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void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main(String[]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args)</a:t>
            </a:r>
            <a:r>
              <a:rPr lang="ko-KR" altLang="en-US">
                <a:latin typeface="+mj-ea"/>
                <a:ea typeface="+mj-ea"/>
              </a:rPr>
              <a:t> 에서 </a:t>
            </a:r>
            <a:r>
              <a:rPr lang="en-US" altLang="ko-KR"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의 의미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JVM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파일을 실행시킬 수 있도록 클래스 메소드로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JVM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파일을 실행하는 과정은 매우 복잡하지만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아래와 같이 단순하게 표현해 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301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364492-CCEF-5B19-33C3-CDBB6731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6" y="3871192"/>
            <a:ext cx="2053953" cy="1154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BCE57D-587C-4538-429C-7934278BF5A3}"/>
              </a:ext>
            </a:extLst>
          </p:cNvPr>
          <p:cNvSpPr txBox="1"/>
          <p:nvPr/>
        </p:nvSpPr>
        <p:spPr>
          <a:xfrm>
            <a:off x="3935422" y="3540507"/>
            <a:ext cx="51302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7835F58-71E6-3A35-92CC-816329E36469}"/>
              </a:ext>
            </a:extLst>
          </p:cNvPr>
          <p:cNvSpPr/>
          <p:nvPr/>
        </p:nvSpPr>
        <p:spPr>
          <a:xfrm>
            <a:off x="2431835" y="4056561"/>
            <a:ext cx="1503585" cy="78377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85000"/>
                    <a:lumOff val="15000"/>
                  </a:schemeClr>
                </a:solidFill>
              </a:rPr>
              <a:t>Mart.main</a:t>
            </a:r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37376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클래스로 메소드 접근이 가능하다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라는 점에서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애플리케이션 내부의 모든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파일에서 공유되는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메소드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인스턴스 멤버변수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인스턴스 메소드와 관계없이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회성 처리만 하는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일종의 유틸리티 메소드가 필요할 때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클래스 메소드로 정의해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공용 메소드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로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문자열이 </a:t>
            </a:r>
            <a:r>
              <a:rPr lang="ko-KR" altLang="en-US" err="1">
                <a:latin typeface="+mj-ea"/>
                <a:ea typeface="+mj-ea"/>
              </a:rPr>
              <a:t>비어있는지</a:t>
            </a:r>
            <a:r>
              <a:rPr lang="ko-KR" altLang="en-US">
                <a:latin typeface="+mj-ea"/>
                <a:ea typeface="+mj-ea"/>
              </a:rPr>
              <a:t>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문자열의 길이가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글자 이상인지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문자열을 숫자로 변경해주는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숫자를 문자열로 변경해주는 클래스 메소드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문자열이 이메일 형식인지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문자열이 전화번호 형식인지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숫자가 지정 범위 내에 있는지 확인하는 클래스 메소드 등등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122024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 실습 문제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isValidAge</a:t>
            </a:r>
            <a:r>
              <a:rPr lang="en-US" altLang="ko-KR">
                <a:latin typeface="+mj-ea"/>
                <a:ea typeface="+mj-ea"/>
              </a:rPr>
              <a:t>(int age, int min, int max) </a:t>
            </a:r>
            <a:r>
              <a:rPr lang="ko-KR" altLang="en-US">
                <a:latin typeface="+mj-ea"/>
                <a:ea typeface="+mj-ea"/>
              </a:rPr>
              <a:t>클래스 메소드를 만들고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age</a:t>
            </a:r>
            <a:r>
              <a:rPr lang="ko-KR" altLang="en-US">
                <a:latin typeface="+mj-ea"/>
                <a:ea typeface="+mj-ea"/>
              </a:rPr>
              <a:t>의 값이 </a:t>
            </a:r>
            <a:r>
              <a:rPr lang="en-US" altLang="ko-KR">
                <a:latin typeface="+mj-ea"/>
                <a:ea typeface="+mj-ea"/>
              </a:rPr>
              <a:t>min</a:t>
            </a:r>
            <a:r>
              <a:rPr lang="ko-KR" altLang="en-US">
                <a:latin typeface="+mj-ea"/>
                <a:ea typeface="+mj-ea"/>
              </a:rPr>
              <a:t>보다 크고 </a:t>
            </a:r>
            <a:r>
              <a:rPr lang="en-US" altLang="ko-KR">
                <a:latin typeface="+mj-ea"/>
                <a:ea typeface="+mj-ea"/>
              </a:rPr>
              <a:t>max </a:t>
            </a:r>
            <a:r>
              <a:rPr lang="ko-KR" altLang="en-US">
                <a:latin typeface="+mj-ea"/>
                <a:ea typeface="+mj-ea"/>
              </a:rPr>
              <a:t>보다 작으면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아니면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를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en-US" altLang="ko-KR">
                <a:latin typeface="+mj-ea"/>
                <a:ea typeface="+mj-ea"/>
              </a:rPr>
              <a:t>(double average) </a:t>
            </a:r>
            <a:r>
              <a:rPr lang="ko-KR" altLang="en-US">
                <a:latin typeface="+mj-ea"/>
                <a:ea typeface="+mj-ea"/>
              </a:rPr>
              <a:t>클래스 메소드를 만들고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average</a:t>
            </a:r>
            <a:r>
              <a:rPr lang="ko-KR" altLang="en-US">
                <a:latin typeface="+mj-ea"/>
                <a:ea typeface="+mj-ea"/>
              </a:rPr>
              <a:t>의 값을 </a:t>
            </a:r>
            <a:r>
              <a:rPr lang="en-US" altLang="ko-KR">
                <a:latin typeface="+mj-ea"/>
                <a:ea typeface="+mj-ea"/>
              </a:rPr>
              <a:t>4.5 </a:t>
            </a:r>
            <a:r>
              <a:rPr lang="ko-KR" altLang="en-US">
                <a:latin typeface="+mj-ea"/>
                <a:ea typeface="+mj-ea"/>
              </a:rPr>
              <a:t>만점 기준의 학점을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(double </a:t>
            </a:r>
            <a:r>
              <a:rPr lang="en-US" altLang="ko-KR" err="1">
                <a:latin typeface="+mj-ea"/>
                <a:ea typeface="+mj-ea"/>
              </a:rPr>
              <a:t>courceCredit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클래스 메소드를 만들고 학점 기준에 맞춰 </a:t>
            </a:r>
            <a:r>
              <a:rPr lang="en-US" altLang="ko-KR">
                <a:latin typeface="+mj-ea"/>
                <a:ea typeface="+mj-ea"/>
              </a:rPr>
              <a:t>ABCDE </a:t>
            </a:r>
            <a:r>
              <a:rPr lang="ko-KR" altLang="en-US">
                <a:latin typeface="+mj-ea"/>
                <a:ea typeface="+mj-ea"/>
              </a:rPr>
              <a:t>등급을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교재 </a:t>
            </a:r>
            <a:r>
              <a:rPr lang="en-US" altLang="ko-KR">
                <a:latin typeface="+mj-ea"/>
                <a:ea typeface="+mj-ea"/>
              </a:rPr>
              <a:t>199</a:t>
            </a:r>
            <a:r>
              <a:rPr lang="ko-KR" altLang="en-US">
                <a:latin typeface="+mj-ea"/>
                <a:ea typeface="+mj-ea"/>
              </a:rPr>
              <a:t>번 슬라이드 학생 평균 및 학점 구하기 실습문제 중 </a:t>
            </a:r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인스턴스 메소드를 클래스 메소드로 변경해보세요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9567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12. </a:t>
            </a:r>
            <a:r>
              <a:rPr lang="ko-KR" altLang="en-US" sz="4000" b="1">
                <a:latin typeface="+mj-ea"/>
              </a:rPr>
              <a:t>메소드 오버로딩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ACBBB3-9EBC-A703-DF5F-3FA2672E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721437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에서 작성하는 변수나 메소드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클래스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생성자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는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유일한 이름으로 구분해야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변수 중복선언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메소드 중복선언은 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강제로 선언한다면 아래와 같은 에러를 보게 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Duplicate field </a:t>
            </a:r>
            <a:r>
              <a:rPr lang="ko-KR" altLang="en-US" dirty="0">
                <a:latin typeface="+mj-ea"/>
                <a:ea typeface="+mj-ea"/>
              </a:rPr>
              <a:t>클래스명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ko-KR" altLang="en-US" dirty="0" err="1">
                <a:latin typeface="+mj-ea"/>
                <a:ea typeface="+mj-ea"/>
              </a:rPr>
              <a:t>변수명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Duplicate method </a:t>
            </a:r>
            <a:r>
              <a:rPr lang="ko-KR" altLang="en-US" dirty="0" err="1">
                <a:latin typeface="+mj-ea"/>
                <a:ea typeface="+mj-ea"/>
              </a:rPr>
              <a:t>메소드명</a:t>
            </a:r>
            <a:r>
              <a:rPr lang="en-US" altLang="ko-KR" dirty="0">
                <a:latin typeface="+mj-ea"/>
                <a:ea typeface="+mj-ea"/>
              </a:rPr>
              <a:t>() in type </a:t>
            </a:r>
            <a:r>
              <a:rPr lang="ko-KR" altLang="en-US" dirty="0">
                <a:latin typeface="+mj-ea"/>
                <a:ea typeface="+mj-ea"/>
              </a:rPr>
              <a:t>클래스명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445C1-21A1-84CA-4E35-EDC3CE0766CC}"/>
              </a:ext>
            </a:extLst>
          </p:cNvPr>
          <p:cNvSpPr txBox="1"/>
          <p:nvPr/>
        </p:nvSpPr>
        <p:spPr>
          <a:xfrm>
            <a:off x="489856" y="3429000"/>
            <a:ext cx="86541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Duplicate field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FruitSeller.money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Duplicate method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in type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FruitSeller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0855610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인스턴스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메소드 오버로딩 </a:t>
            </a:r>
            <a:r>
              <a:rPr lang="ko-KR" altLang="en-US">
                <a:latin typeface="+mj-ea"/>
                <a:ea typeface="+mj-ea"/>
              </a:rPr>
              <a:t>기법으로 동일한 이름의 메소드를 정의하고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메소드 오버로딩의 기준은 아래와 같습니다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동일한 메소드 명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파라미터의 개수가 다르거나 파라미터의 타입이 다름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107898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 메소드는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</a:t>
            </a:r>
            <a:r>
              <a:rPr lang="en-US" altLang="ko-KR">
                <a:latin typeface="+mj-ea"/>
                <a:ea typeface="+mj-ea"/>
              </a:rPr>
              <a:t>sell </a:t>
            </a:r>
            <a:r>
              <a:rPr lang="ko-KR" altLang="en-US">
                <a:latin typeface="+mj-ea"/>
                <a:ea typeface="+mj-ea"/>
              </a:rPr>
              <a:t>메소드입니다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quantity</a:t>
            </a:r>
            <a:r>
              <a:rPr lang="ko-KR" altLang="en-US">
                <a:latin typeface="+mj-ea"/>
                <a:ea typeface="+mj-ea"/>
              </a:rPr>
              <a:t>의 개수만큼 재고를 감소시키고 금액을 증가시킵니다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파라미터가 없는 </a:t>
            </a:r>
            <a:r>
              <a:rPr lang="en-US" altLang="ko-KR">
                <a:latin typeface="+mj-ea"/>
                <a:ea typeface="+mj-ea"/>
              </a:rPr>
              <a:t>sell() </a:t>
            </a:r>
            <a:r>
              <a:rPr lang="ko-KR" altLang="en-US">
                <a:latin typeface="+mj-ea"/>
                <a:ea typeface="+mj-ea"/>
              </a:rPr>
              <a:t>메소드를 만들어 이 메소드를 호출 할 경우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재고는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개가 감소되며 금액은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개의 과일 값 만큼 증가시키는 기능을 만들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ABE11-1A25-131C-36C6-A1A8D801CF2D}"/>
              </a:ext>
            </a:extLst>
          </p:cNvPr>
          <p:cNvSpPr txBox="1"/>
          <p:nvPr/>
        </p:nvSpPr>
        <p:spPr>
          <a:xfrm>
            <a:off x="495946" y="2153719"/>
            <a:ext cx="75159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4599005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오버로딩 된 </a:t>
            </a:r>
            <a:r>
              <a:rPr lang="en-US" altLang="ko-KR">
                <a:latin typeface="+mj-ea"/>
                <a:ea typeface="+mj-ea"/>
              </a:rPr>
              <a:t>sell</a:t>
            </a:r>
            <a:r>
              <a:rPr lang="ko-KR" altLang="en-US">
                <a:latin typeface="+mj-ea"/>
                <a:ea typeface="+mj-ea"/>
              </a:rPr>
              <a:t>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31271-943F-AA88-E334-0DB135B71931}"/>
              </a:ext>
            </a:extLst>
          </p:cNvPr>
          <p:cNvSpPr txBox="1"/>
          <p:nvPr/>
        </p:nvSpPr>
        <p:spPr>
          <a:xfrm>
            <a:off x="542108" y="1720578"/>
            <a:ext cx="85148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--;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9879977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오버로딩 된 </a:t>
            </a:r>
            <a:r>
              <a:rPr lang="en-US" altLang="ko-KR">
                <a:latin typeface="+mj-ea"/>
                <a:ea typeface="+mj-ea"/>
              </a:rPr>
              <a:t>sell</a:t>
            </a:r>
            <a:r>
              <a:rPr lang="ko-KR" altLang="en-US">
                <a:latin typeface="+mj-ea"/>
                <a:ea typeface="+mj-ea"/>
              </a:rPr>
              <a:t> 메소드를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31271-943F-AA88-E334-0DB135B71931}"/>
              </a:ext>
            </a:extLst>
          </p:cNvPr>
          <p:cNvSpPr txBox="1"/>
          <p:nvPr/>
        </p:nvSpPr>
        <p:spPr>
          <a:xfrm>
            <a:off x="542108" y="1720578"/>
            <a:ext cx="825193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오늘 과일 가격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있는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파라미터가 없는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8000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4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2587081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12. </a:t>
            </a:r>
            <a:r>
              <a:rPr lang="ko-KR" altLang="en-US" sz="4000" b="1">
                <a:latin typeface="+mj-ea"/>
              </a:rPr>
              <a:t>생성자 오버로딩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163142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생성자도 메소드이기 때문에 오버로딩이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클래스 내에 생성자를 정의할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기본 생성자는 자동으로 만들어지지 않기 때문에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는 파라미터가 없는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new </a:t>
            </a:r>
            <a:r>
              <a:rPr lang="en-US" altLang="ko-KR" err="1">
                <a:highlight>
                  <a:srgbClr val="FFFF00"/>
                </a:highlight>
                <a:latin typeface="+mj-ea"/>
                <a:ea typeface="+mj-ea"/>
              </a:rPr>
              <a:t>FruitSeller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();</a:t>
            </a:r>
            <a:r>
              <a:rPr lang="ko-KR" altLang="en-US">
                <a:latin typeface="+mj-ea"/>
                <a:ea typeface="+mj-ea"/>
              </a:rPr>
              <a:t> 생성자는 호출 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9C3E9-22E4-9980-3FBD-16DD25847A6C}"/>
              </a:ext>
            </a:extLst>
          </p:cNvPr>
          <p:cNvSpPr txBox="1"/>
          <p:nvPr/>
        </p:nvSpPr>
        <p:spPr>
          <a:xfrm>
            <a:off x="533398" y="2848010"/>
            <a:ext cx="85944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531347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의 기본생성자 호출이 필요할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 오버로딩을 이용해 기본 생성자를 만들어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5FC7-9BFF-259B-34F8-C6613C69A7F9}"/>
              </a:ext>
            </a:extLst>
          </p:cNvPr>
          <p:cNvSpPr txBox="1"/>
          <p:nvPr/>
        </p:nvSpPr>
        <p:spPr>
          <a:xfrm>
            <a:off x="550816" y="1967538"/>
            <a:ext cx="80793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10000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995914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기본 생성자를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5FC7-9BFF-259B-34F8-C6613C69A7F9}"/>
              </a:ext>
            </a:extLst>
          </p:cNvPr>
          <p:cNvSpPr txBox="1"/>
          <p:nvPr/>
        </p:nvSpPr>
        <p:spPr>
          <a:xfrm>
            <a:off x="550816" y="1706281"/>
            <a:ext cx="80793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오늘 과일 가격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있는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11500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없는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127484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53B53-76B7-2884-4B8F-CD62E4664DD0}"/>
              </a:ext>
            </a:extLst>
          </p:cNvPr>
          <p:cNvSpPr txBox="1"/>
          <p:nvPr/>
        </p:nvSpPr>
        <p:spPr>
          <a:xfrm>
            <a:off x="287381" y="3720861"/>
            <a:ext cx="8090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https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://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docs.oracle.com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/20/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docs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java.base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lang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String.html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39732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할당할 수 있는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문자열을 간편히 제어할 수 있도록 많은 인스턴스 메소드를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제공하고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315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90C694-609C-CF93-83AA-C5A79D9F5E62}"/>
              </a:ext>
            </a:extLst>
          </p:cNvPr>
          <p:cNvGrpSpPr/>
          <p:nvPr/>
        </p:nvGrpSpPr>
        <p:grpSpPr>
          <a:xfrm>
            <a:off x="260466" y="5699338"/>
            <a:ext cx="8671608" cy="998466"/>
            <a:chOff x="4898273" y="2079444"/>
            <a:chExt cx="8671608" cy="9984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D7CE69-5CD7-9F98-0385-80958FAEE7FC}"/>
                </a:ext>
              </a:extLst>
            </p:cNvPr>
            <p:cNvSpPr txBox="1"/>
            <p:nvPr/>
          </p:nvSpPr>
          <p:spPr>
            <a:xfrm>
              <a:off x="4898273" y="2079444"/>
              <a:ext cx="4758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String</a:t>
              </a:r>
              <a:r>
                <a:rPr lang="ko-KR" altLang="en-US" sz="1600" b="1"/>
                <a:t>은 생성자 없이 데이터를 할당 할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FA0E50-E324-35F7-3FA0-EFFABE6D571B}"/>
                </a:ext>
              </a:extLst>
            </p:cNvPr>
            <p:cNvSpPr txBox="1"/>
            <p:nvPr/>
          </p:nvSpPr>
          <p:spPr>
            <a:xfrm>
              <a:off x="5021579" y="2431579"/>
              <a:ext cx="85483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String </a:t>
              </a:r>
              <a:r>
                <a:rPr lang="ko-KR" altLang="en-US"/>
                <a:t>인스턴스에 값을 할당할 때</a:t>
              </a:r>
              <a:r>
                <a:rPr lang="en-US" altLang="ko-KR"/>
                <a:t>, </a:t>
              </a:r>
              <a:r>
                <a:rPr lang="ko-KR" altLang="en-US"/>
                <a:t>생성자를 사용하지 않습니다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Java</a:t>
              </a:r>
              <a:r>
                <a:rPr lang="ko-KR" altLang="en-US"/>
                <a:t>에서 아주 많이 사용되므로</a:t>
              </a:r>
              <a:r>
                <a:rPr lang="en-US" altLang="ko-KR"/>
                <a:t>, </a:t>
              </a:r>
              <a:r>
                <a:rPr lang="ko-KR" altLang="en-US"/>
                <a:t>간편히 사용할 수 있도록 </a:t>
              </a:r>
              <a:r>
                <a:rPr lang="en-US" altLang="ko-KR"/>
                <a:t>JVM</a:t>
              </a:r>
              <a:r>
                <a:rPr lang="ko-KR" altLang="en-US"/>
                <a:t>이 지원하고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58641B-74ED-B3B8-B9A6-0CB751E90D7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FC0B683-76F0-B16F-782B-615C6F8A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63" y="2419934"/>
            <a:ext cx="2873638" cy="308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07809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6B4C64-F708-2E7F-9EBE-3B7B41C98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52" y="1707542"/>
            <a:ext cx="8594539" cy="47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87579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address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서울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ko-KR" altLang="en-US" err="1">
                <a:latin typeface="+mj-ea"/>
                <a:ea typeface="+mj-ea"/>
              </a:rPr>
              <a:t>포함되어있는지</a:t>
            </a:r>
            <a:r>
              <a:rPr lang="ko-KR" altLang="en-US">
                <a:latin typeface="+mj-ea"/>
                <a:ea typeface="+mj-ea"/>
              </a:rPr>
              <a:t>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address</a:t>
            </a:r>
            <a:r>
              <a:rPr lang="ko-KR" altLang="en-US">
                <a:latin typeface="+mj-ea"/>
                <a:ea typeface="+mj-ea"/>
              </a:rPr>
              <a:t>가 </a:t>
            </a:r>
            <a:r>
              <a:rPr lang="en-US" altLang="ko-KR">
                <a:latin typeface="+mj-ea"/>
                <a:ea typeface="+mj-ea"/>
              </a:rPr>
              <a:t>176</a:t>
            </a:r>
            <a:r>
              <a:rPr lang="ko-KR" altLang="en-US">
                <a:latin typeface="+mj-ea"/>
                <a:ea typeface="+mj-ea"/>
              </a:rPr>
              <a:t>으로 끝나는지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 err="1">
                <a:latin typeface="+mj-ea"/>
                <a:ea typeface="+mj-ea"/>
              </a:rPr>
              <a:t>ktdsUniversity</a:t>
            </a:r>
            <a:r>
              <a:rPr lang="ko-KR" altLang="en-US">
                <a:latin typeface="+mj-ea"/>
                <a:ea typeface="+mj-ea"/>
              </a:rPr>
              <a:t>와 정확히 </a:t>
            </a:r>
            <a:r>
              <a:rPr lang="ko-KR" altLang="en-US" err="1">
                <a:latin typeface="+mj-ea"/>
                <a:ea typeface="+mj-ea"/>
              </a:rPr>
              <a:t>같은지</a:t>
            </a:r>
            <a:r>
              <a:rPr lang="ko-KR" altLang="en-US">
                <a:latin typeface="+mj-ea"/>
                <a:ea typeface="+mj-ea"/>
              </a:rPr>
              <a:t> 비교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0717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서울특별시 서초구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효령로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85005"/>
            <a:ext cx="6659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서울특별시 서초구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효령로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endsWith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480214" y="4829486"/>
            <a:ext cx="65902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60382917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 err="1">
                <a:latin typeface="+mj-ea"/>
                <a:ea typeface="+mj-ea"/>
              </a:rPr>
              <a:t>ktdsUniversity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ko-KR" altLang="en-US" err="1">
                <a:latin typeface="+mj-ea"/>
                <a:ea typeface="+mj-ea"/>
              </a:rPr>
              <a:t>같은지</a:t>
            </a:r>
            <a:r>
              <a:rPr lang="ko-KR" altLang="en-US">
                <a:latin typeface="+mj-ea"/>
                <a:ea typeface="+mj-ea"/>
              </a:rPr>
              <a:t> 비교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대소문자 </a:t>
            </a:r>
            <a:r>
              <a:rPr lang="ko-KR" altLang="en-US" err="1">
                <a:latin typeface="+mj-ea"/>
                <a:ea typeface="+mj-ea"/>
              </a:rPr>
              <a:t>비교안함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format </a:t>
            </a:r>
            <a:r>
              <a:rPr lang="ko-KR" altLang="en-US">
                <a:latin typeface="+mj-ea"/>
                <a:ea typeface="+mj-ea"/>
              </a:rPr>
              <a:t>바인딩 기능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format </a:t>
            </a:r>
            <a:r>
              <a:rPr lang="ko-KR" altLang="en-US">
                <a:latin typeface="+mj-ea"/>
                <a:ea typeface="+mj-ea"/>
              </a:rPr>
              <a:t>바인딩 기능 </a:t>
            </a:r>
            <a:r>
              <a:rPr lang="en-US" altLang="ko-KR">
                <a:latin typeface="+mj-ea"/>
                <a:ea typeface="+mj-ea"/>
              </a:rPr>
              <a:t>(Java 15</a:t>
            </a:r>
            <a:r>
              <a:rPr lang="ko-KR" altLang="en-US">
                <a:latin typeface="+mj-ea"/>
                <a:ea typeface="+mj-ea"/>
              </a:rPr>
              <a:t>부터 가능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614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equalsIgnoreCase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23105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에서 교육하는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과정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36556"/>
            <a:ext cx="65902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에서 교육하는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과정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Since Java15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8087279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c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C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def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2241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00245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82276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letterDEFIndex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"def"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letterDEFIndex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38230367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ko-KR" altLang="en-US" err="1">
                <a:latin typeface="+mj-ea"/>
                <a:ea typeface="+mj-ea"/>
              </a:rPr>
              <a:t>비어있거나</a:t>
            </a:r>
            <a:r>
              <a:rPr lang="ko-KR" altLang="en-US">
                <a:latin typeface="+mj-ea"/>
                <a:ea typeface="+mj-ea"/>
              </a:rPr>
              <a:t> 공백으로만 </a:t>
            </a:r>
            <a:r>
              <a:rPr lang="ko-KR" altLang="en-US" err="1">
                <a:latin typeface="+mj-ea"/>
                <a:ea typeface="+mj-ea"/>
              </a:rPr>
              <a:t>이루어져있는지</a:t>
            </a:r>
            <a:r>
              <a:rPr lang="ko-KR" altLang="en-US">
                <a:latin typeface="+mj-ea"/>
                <a:ea typeface="+mj-ea"/>
              </a:rPr>
              <a:t> 확인 </a:t>
            </a:r>
            <a:r>
              <a:rPr lang="en-US" altLang="ko-KR">
                <a:latin typeface="+mj-ea"/>
                <a:ea typeface="+mj-ea"/>
              </a:rPr>
              <a:t>(Java 11</a:t>
            </a:r>
            <a:r>
              <a:rPr lang="ko-KR" altLang="en-US">
                <a:latin typeface="+mj-ea"/>
                <a:ea typeface="+mj-ea"/>
              </a:rPr>
              <a:t>부터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</a:t>
            </a:r>
            <a:r>
              <a:rPr lang="ko-KR" altLang="en-US">
                <a:latin typeface="+mj-ea"/>
                <a:ea typeface="+mj-ea"/>
              </a:rPr>
              <a:t>이 공백으로 </a:t>
            </a:r>
            <a:r>
              <a:rPr lang="ko-KR" altLang="en-US" err="1">
                <a:latin typeface="+mj-ea"/>
                <a:ea typeface="+mj-ea"/>
              </a:rPr>
              <a:t>비워져있는지</a:t>
            </a:r>
            <a:r>
              <a:rPr lang="ko-KR" altLang="en-US">
                <a:latin typeface="+mj-ea"/>
                <a:ea typeface="+mj-ea"/>
              </a:rPr>
              <a:t>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“, “ </a:t>
            </a:r>
            <a:r>
              <a:rPr lang="ko-KR" altLang="en-US">
                <a:latin typeface="+mj-ea"/>
                <a:ea typeface="+mj-ea"/>
              </a:rPr>
              <a:t>으로 연결하기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22410"/>
            <a:ext cx="6598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Since Java11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995401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5204499"/>
            <a:ext cx="65902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41364944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“a”</a:t>
            </a:r>
            <a:r>
              <a:rPr lang="ko-KR" altLang="en-US">
                <a:latin typeface="+mj-ea"/>
                <a:ea typeface="+mj-ea"/>
              </a:rPr>
              <a:t>의 마지막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jj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의 마지막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의 문자열 길이 구하기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995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letterALastIndex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letterALastIndex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3725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letterJJLastIndex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jj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letterJJLastIndex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8445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97395319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이 숫자인지 확인하기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홍길동을 </a:t>
            </a:r>
            <a:r>
              <a:rPr lang="en-US" altLang="ko-KR" err="1">
                <a:latin typeface="+mj-ea"/>
                <a:ea typeface="+mj-ea"/>
              </a:rPr>
              <a:t>ktds</a:t>
            </a:r>
            <a:r>
              <a:rPr lang="ko-KR" altLang="en-US">
                <a:latin typeface="+mj-ea"/>
                <a:ea typeface="+mj-ea"/>
              </a:rPr>
              <a:t>로 변경하기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에서 숫자가 아닌 문자를 공백문자</a:t>
            </a:r>
            <a:r>
              <a:rPr lang="en-US" altLang="ko-KR">
                <a:latin typeface="+mj-ea"/>
                <a:ea typeface="+mj-ea"/>
              </a:rPr>
              <a:t>(“”)</a:t>
            </a:r>
            <a:r>
              <a:rPr lang="ko-KR" altLang="en-US">
                <a:latin typeface="+mj-ea"/>
                <a:ea typeface="+mj-ea"/>
              </a:rPr>
              <a:t>로 변경하기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995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"01012341234"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isNumber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"^[0-9]+$"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isNumber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5343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안녕히 가세요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replace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4635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"010-1234-1234"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replaceAll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"[^0-9]"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49659989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“-”</a:t>
            </a:r>
            <a:r>
              <a:rPr lang="ko-KR" altLang="en-US">
                <a:latin typeface="+mj-ea"/>
                <a:ea typeface="+mj-ea"/>
              </a:rPr>
              <a:t>로 잘라 배열에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이  </a:t>
            </a:r>
            <a:r>
              <a:rPr lang="en-US" altLang="ko-KR">
                <a:latin typeface="+mj-ea"/>
                <a:ea typeface="+mj-ea"/>
              </a:rPr>
              <a:t>+82 </a:t>
            </a:r>
            <a:r>
              <a:rPr lang="ko-KR" altLang="en-US">
                <a:latin typeface="+mj-ea"/>
                <a:ea typeface="+mj-ea"/>
              </a:rPr>
              <a:t>로 시작하는지 확인하기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30030"/>
            <a:ext cx="6598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"010-1234-1234"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split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466443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"+82-010-1234-1234"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isKoreaNum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startsWith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"+82"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isKoreaNum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57671224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2023(</a:t>
            </a:r>
            <a:r>
              <a:rPr lang="ko-KR" altLang="en-US">
                <a:latin typeface="+mj-ea"/>
                <a:ea typeface="+mj-ea"/>
              </a:rPr>
              <a:t>연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14(</a:t>
            </a:r>
            <a:r>
              <a:rPr lang="ko-KR" altLang="en-US">
                <a:latin typeface="+mj-ea"/>
                <a:ea typeface="+mj-ea"/>
              </a:rPr>
              <a:t>시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14:56:13(</a:t>
            </a:r>
            <a:r>
              <a:rPr lang="ko-KR" altLang="en-US">
                <a:latin typeface="+mj-ea"/>
                <a:ea typeface="+mj-ea"/>
              </a:rPr>
              <a:t>시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분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초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7669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9153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3111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75923734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앞뒤 공백모두 제거하기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타입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문자열로 변경하기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Overloaing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76690"/>
            <a:ext cx="6598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2023-05-02 14:56:13  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trim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456641"/>
            <a:ext cx="6590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39982455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String </a:t>
            </a:r>
            <a:r>
              <a:rPr lang="ko-KR" altLang="en-US" dirty="0">
                <a:latin typeface="+mj-ea"/>
                <a:ea typeface="+mj-ea"/>
              </a:rPr>
              <a:t>실습 문제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Scanner</a:t>
            </a:r>
            <a:r>
              <a:rPr lang="ko-KR" altLang="en-US" dirty="0">
                <a:latin typeface="+mj-ea"/>
                <a:ea typeface="+mj-ea"/>
              </a:rPr>
              <a:t>와 </a:t>
            </a:r>
            <a:r>
              <a:rPr lang="en-US" altLang="ko-KR" dirty="0">
                <a:latin typeface="+mj-ea"/>
                <a:ea typeface="+mj-ea"/>
              </a:rPr>
              <a:t>while(</a:t>
            </a:r>
            <a:r>
              <a:rPr lang="ko-KR" altLang="en-US" dirty="0">
                <a:latin typeface="+mj-ea"/>
                <a:ea typeface="+mj-ea"/>
              </a:rPr>
              <a:t>무한반복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을 이용해 끝말잇기 게임 만들기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게임은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자전거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단어로 시작합니다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자전거가 출력된 이후부터 </a:t>
            </a:r>
            <a:r>
              <a:rPr lang="en-US" altLang="ko-KR" dirty="0">
                <a:latin typeface="+mj-ea"/>
                <a:ea typeface="+mj-ea"/>
              </a:rPr>
              <a:t>Scanner</a:t>
            </a:r>
            <a:r>
              <a:rPr lang="ko-KR" altLang="en-US" dirty="0" err="1">
                <a:latin typeface="+mj-ea"/>
                <a:ea typeface="+mj-ea"/>
              </a:rPr>
              <a:t>를</a:t>
            </a:r>
            <a:r>
              <a:rPr lang="ko-KR" altLang="en-US" dirty="0">
                <a:latin typeface="+mj-ea"/>
                <a:ea typeface="+mj-ea"/>
              </a:rPr>
              <a:t> 이용해 마지막으로 입력된 단어의 마지막 글자로 시작하는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글자 이상의 단어를 입력해야 합니다</a:t>
            </a:r>
            <a:r>
              <a:rPr lang="en-US" altLang="ko-KR" dirty="0">
                <a:latin typeface="+mj-ea"/>
                <a:ea typeface="+mj-ea"/>
              </a:rPr>
              <a:t>.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좌우 공백은 모두 제거해야 합니다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마지막 글자로 시작하지 않거나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글자 미만의 글자를 입력했을 경우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게임은 종료됩니다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게임이 종료될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이어나간 단어의 수를 출력합니다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971604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11A8-4A43-6D9D-69FD-082F7489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FF1A25E-7F2F-58B1-930C-3427EFAC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연습문제</a:t>
            </a:r>
            <a:endParaRPr lang="en-US" altLang="ko-KR" sz="14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3"/>
              </a:rPr>
              <a:t>https://www.acmicpc.net/problem/27866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</a:rPr>
              <a:t>--&gt;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| substring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4"/>
              </a:rPr>
              <a:t>https://www.acmicpc.net/problem/2743</a:t>
            </a:r>
            <a:r>
              <a:rPr lang="en-US" altLang="ko-KR" sz="1200" dirty="0">
                <a:latin typeface="+mj-ea"/>
                <a:ea typeface="+mj-ea"/>
              </a:rPr>
              <a:t> --&gt; length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5"/>
              </a:rPr>
              <a:t>https://www.acmicpc.net/problem/11654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6"/>
              </a:rPr>
              <a:t>https://www.acmicpc.net/problem/11720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7"/>
              </a:rPr>
              <a:t>https://www.acmicpc.net/problem/10809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indexOf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8"/>
              </a:rPr>
              <a:t>https://www.acmicpc.net/problem/1152</a:t>
            </a:r>
            <a:r>
              <a:rPr lang="en-US" altLang="ko-KR" sz="1200" dirty="0">
                <a:latin typeface="+mj-ea"/>
                <a:ea typeface="+mj-ea"/>
              </a:rPr>
              <a:t> --&gt; split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9"/>
              </a:rPr>
              <a:t>https://www.acmicpc.net/problem/2908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r>
              <a:rPr lang="en-US" altLang="ko-KR" sz="1200" dirty="0">
                <a:latin typeface="+mj-ea"/>
                <a:ea typeface="+mj-ea"/>
              </a:rPr>
              <a:t> &amp; split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0"/>
              </a:rPr>
              <a:t>https://school.programmers.co.kr/learn/courses/30/lessons/181842</a:t>
            </a:r>
            <a:r>
              <a:rPr lang="en-US" altLang="ko-KR" sz="1200" dirty="0">
                <a:latin typeface="+mj-ea"/>
                <a:ea typeface="+mj-ea"/>
              </a:rPr>
              <a:t> --&gt;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1"/>
              </a:rPr>
              <a:t>https://school.programmers.co.kr/learn/courses/30/lessons/181843</a:t>
            </a:r>
            <a:r>
              <a:rPr lang="en-US" altLang="ko-KR" sz="1200" dirty="0">
                <a:latin typeface="+mj-ea"/>
                <a:ea typeface="+mj-ea"/>
              </a:rPr>
              <a:t> --&gt;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2"/>
              </a:rPr>
              <a:t>https://school.programmers.co.kr/learn/courses/30/lessons/181845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3"/>
              </a:rPr>
              <a:t>https://school.programmers.co.kr/learn/courses/30/lessons/181848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4"/>
              </a:rPr>
              <a:t>https://school.programmers.co.kr/learn/courses/30/lessons/181847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  <a:sym typeface="Wingdings" pitchFamily="2" charset="2"/>
              </a:rPr>
              <a:t>--&gt; </a:t>
            </a:r>
            <a:r>
              <a:rPr lang="en-US" altLang="ko-KR" sz="1200" dirty="0" err="1">
                <a:latin typeface="+mj-ea"/>
                <a:ea typeface="+mj-ea"/>
                <a:sym typeface="Wingdings" pitchFamily="2" charset="2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5"/>
              </a:rPr>
              <a:t>https://school.programmers.co.kr/learn/courses/30/lessons/181849</a:t>
            </a:r>
            <a:r>
              <a:rPr lang="en-US" altLang="ko-KR" sz="1200" dirty="0">
                <a:latin typeface="+mj-ea"/>
                <a:ea typeface="+mj-ea"/>
              </a:rPr>
              <a:t> --&gt; split &amp; for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6"/>
              </a:rPr>
              <a:t>https://school.programmers.co.kr/learn/courses/30/lessons/181876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7"/>
              </a:rPr>
              <a:t>https://school.programmers.co.kr/learn/courses/30/lessons/181878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r>
              <a:rPr lang="en-US" altLang="ko-KR" sz="1200" dirty="0">
                <a:latin typeface="+mj-ea"/>
                <a:ea typeface="+mj-ea"/>
              </a:rPr>
              <a:t> &amp;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8"/>
              </a:rPr>
              <a:t>https://school.programmers.co.kr/learn/courses/30/lessons/181875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toUpperCase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E7559E2-C3F7-5382-3017-B052221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7884E04-BC15-C807-F89A-91CCD7364755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BC3697-AD73-684D-5D7E-97C6C0480462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99C89C-6A80-627A-D950-E977A5178633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47FA5FE-7CF3-DBF7-34EF-7B70F96098FB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4BAD0-35CE-7318-842F-AFF6F8C3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365307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</a:t>
            </a:r>
            <a:r>
              <a:rPr lang="ko-KR" altLang="en-US" sz="4000" b="1">
                <a:latin typeface="+mj-ea"/>
              </a:rPr>
              <a:t>의 패키지와 </a:t>
            </a:r>
            <a:r>
              <a:rPr lang="en-US" altLang="ko-KR" sz="4000" b="1">
                <a:latin typeface="+mj-ea"/>
              </a:rPr>
              <a:t>import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208990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 내부에 선언되어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장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패키지에서 배웠던 내용 중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패키지가 다를 경우 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import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문을 작성해야 한다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전혀 다른 패키지에 있는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은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작성하지 않아도 사용이 가능했습니다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자주 사용하는 내장 클래스들을 </a:t>
            </a:r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패키지에 모두 넣어 배포하는데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 패키지에 있는 클래스들은 </a:t>
            </a: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하지 않아도 사용이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r>
              <a:rPr lang="ko-KR" altLang="en-US"/>
              <a:t>의 패키지와 </a:t>
            </a:r>
            <a:r>
              <a:rPr lang="en-US" altLang="ko-KR"/>
              <a:t>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000174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 내부에 선언되어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장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패키지에서 배웠던 내용 중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패키지가 다를 경우 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import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문을 작성해야 한다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전혀 다른 패키지에 있는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은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작성하지 않아도 사용이 가능했습니다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자주 사용하는 내장 클래스들을 </a:t>
            </a:r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패키지에 모두 넣어 배포하는데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 패키지에 있는 클래스들은 </a:t>
            </a: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하지 않아도 사용이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r>
              <a:rPr lang="ko-KR" altLang="en-US"/>
              <a:t>의 패키지와 </a:t>
            </a:r>
            <a:r>
              <a:rPr lang="en-US" altLang="ko-KR"/>
              <a:t>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399D20-69EC-1402-F19B-160DC6E4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66" y="1123912"/>
            <a:ext cx="2629267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8131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 Concatenation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31073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문자열과 문자열을 연결하려면 </a:t>
            </a:r>
            <a:r>
              <a:rPr lang="en-US" altLang="ko-KR">
                <a:latin typeface="+mj-ea"/>
                <a:ea typeface="+mj-ea"/>
              </a:rPr>
              <a:t>“+” </a:t>
            </a:r>
            <a:r>
              <a:rPr lang="ko-KR" altLang="en-US">
                <a:latin typeface="+mj-ea"/>
                <a:ea typeface="+mj-ea"/>
              </a:rPr>
              <a:t>연산자를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문자열 연결의 특징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문자열 </a:t>
            </a:r>
            <a:r>
              <a:rPr lang="en-US" altLang="ko-KR">
                <a:latin typeface="+mj-ea"/>
                <a:ea typeface="+mj-ea"/>
              </a:rPr>
              <a:t>+ </a:t>
            </a:r>
            <a:r>
              <a:rPr lang="ko-KR" altLang="en-US">
                <a:latin typeface="+mj-ea"/>
                <a:ea typeface="+mj-ea"/>
              </a:rPr>
              <a:t>모든 타입의 결과는 문자열이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8BF93-9051-8ECF-6F71-05DEEB9ADA47}"/>
              </a:ext>
            </a:extLst>
          </p:cNvPr>
          <p:cNvSpPr txBox="1"/>
          <p:nvPr/>
        </p:nvSpPr>
        <p:spPr>
          <a:xfrm>
            <a:off x="515982" y="1655349"/>
            <a:ext cx="62244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A01F7-41AC-C5DA-5C95-87694B4A016C}"/>
              </a:ext>
            </a:extLst>
          </p:cNvPr>
          <p:cNvSpPr txBox="1"/>
          <p:nvPr/>
        </p:nvSpPr>
        <p:spPr>
          <a:xfrm>
            <a:off x="515981" y="4369955"/>
            <a:ext cx="896002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class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java.lang.String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048188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대량 문자열 연결하기 </a:t>
            </a:r>
            <a:r>
              <a:rPr lang="en-US" altLang="ko-KR">
                <a:latin typeface="+mj-ea"/>
                <a:ea typeface="+mj-ea"/>
              </a:rPr>
              <a:t>(Java 15 </a:t>
            </a:r>
            <a:r>
              <a:rPr lang="ko-KR" altLang="en-US">
                <a:latin typeface="+mj-ea"/>
                <a:ea typeface="+mj-ea"/>
              </a:rPr>
              <a:t>버전 미만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489856" y="2001289"/>
            <a:ext cx="828838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Java 15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미만의 문자열 연결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"Lorem Ipsum is simply dummy text"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of the printing and typesetting industry."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Lorem Ipsum has been the industry's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"standard dummy text ever since the 1500s,"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when an unknown printer took a galley of type"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and scrambled it to make a type specimen book."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It has survived not only five centuries,"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but also the leap into electronic typesetting,"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remaining essentially unchanged.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 was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popularised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the 1960s with the release"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of Letraset sheets containing Lorem Ipsum passages,"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and more recently with desktop publishing software"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like Aldus PageMaker including versions of Lorem Ipsum"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87998318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대량 문자열 연결하기 </a:t>
            </a:r>
            <a:r>
              <a:rPr lang="en-US" altLang="ko-KR">
                <a:latin typeface="+mj-ea"/>
                <a:ea typeface="+mj-ea"/>
              </a:rPr>
              <a:t>(Java 15 </a:t>
            </a:r>
            <a:r>
              <a:rPr lang="ko-KR" altLang="en-US">
                <a:latin typeface="+mj-ea"/>
                <a:ea typeface="+mj-ea"/>
              </a:rPr>
              <a:t>버전 이상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489856" y="2001289"/>
            <a:ext cx="8288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Java 15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이상의 멀티라인 문자열</a:t>
            </a:r>
            <a:endParaRPr lang="en-US" altLang="ko-KR" sz="1600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"""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Lorem Ipsum is simply dummy text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 the printing and typesetting industry.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Lorem Ipsum has been the industry's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standard dummy text ever since the 1500s,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when an unknown printer took a galley of type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and scrambled it to make a type specimen book.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 has survived not only five centuries,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 also the leap into electronic typesetting,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remaining essentially unchanged.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 was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popularised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the 1960s with the release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 Letraset sheets containing Lorem Ipsum passages,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and more recently with desktop publishing software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like Aldus PageMaker including versions of Lorem Ipsum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62052922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문자열은 </a:t>
            </a:r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 이므로 항상 메모리를 참조합니다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아래 코드에서  </a:t>
            </a:r>
            <a:r>
              <a:rPr lang="en-US" altLang="ko-KR">
                <a:latin typeface="+mj-ea"/>
                <a:ea typeface="+mj-ea"/>
              </a:rPr>
              <a:t>?1 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>
                <a:latin typeface="+mj-ea"/>
                <a:ea typeface="+mj-ea"/>
              </a:rPr>
              <a:t>?2 </a:t>
            </a:r>
            <a:r>
              <a:rPr lang="ko-KR" altLang="en-US">
                <a:latin typeface="+mj-ea"/>
                <a:ea typeface="+mj-ea"/>
              </a:rPr>
              <a:t>의 결과는 무엇일지 예상해보고 코드로 테스트를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1913C-43E0-3930-3D21-83F53191EB62}"/>
              </a:ext>
            </a:extLst>
          </p:cNvPr>
          <p:cNvSpPr txBox="1"/>
          <p:nvPr/>
        </p:nvSpPr>
        <p:spPr>
          <a:xfrm>
            <a:off x="515983" y="2476884"/>
            <a:ext cx="83390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StringExam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바뀌었을까요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?1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원본입니다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?2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6219241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은 두 가지 타입으로 구분됩니다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 b="1">
                <a:latin typeface="+mj-ea"/>
                <a:ea typeface="+mj-ea"/>
              </a:rPr>
              <a:t>Immutable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메모리내의 값이 절대 변경될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 b="1">
                <a:latin typeface="+mj-ea"/>
                <a:ea typeface="+mj-ea"/>
              </a:rPr>
              <a:t>Mutable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메모리 내의 값이 자유롭게 변경될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타입은 대표적인 </a:t>
            </a:r>
            <a:r>
              <a:rPr lang="en-US" altLang="ko-KR">
                <a:latin typeface="+mj-ea"/>
                <a:ea typeface="+mj-ea"/>
              </a:rPr>
              <a:t>Immutable </a:t>
            </a:r>
            <a:r>
              <a:rPr lang="ko-KR" altLang="en-US">
                <a:latin typeface="+mj-ea"/>
                <a:ea typeface="+mj-ea"/>
              </a:rPr>
              <a:t>타입입니다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의 값을 변경하려 시도할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새로운 메모리 공간을 할당하고 변경된 값을 할당합니다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String</a:t>
            </a:r>
            <a:r>
              <a:rPr lang="ko-KR" altLang="en-US">
                <a:latin typeface="+mj-ea"/>
                <a:ea typeface="+mj-ea"/>
              </a:rPr>
              <a:t>이 참조하고있던 메모리 주소는 끊어지며 새로운 메모리 공간을 참조하게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E268E-A903-04AD-0AE6-890F4184D586}"/>
              </a:ext>
            </a:extLst>
          </p:cNvPr>
          <p:cNvSpPr txBox="1"/>
          <p:nvPr/>
        </p:nvSpPr>
        <p:spPr>
          <a:xfrm>
            <a:off x="950205" y="4583109"/>
            <a:ext cx="55103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바뀌었을까요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1601316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문자열 연결은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문자열 내의 값이 많을 경우 </a:t>
            </a:r>
            <a:r>
              <a:rPr lang="ko-KR" altLang="en-US">
                <a:latin typeface="+mj-ea"/>
                <a:ea typeface="+mj-ea"/>
              </a:rPr>
              <a:t>새로운 메모리 공간을 확보하고 값을 할당하는데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큰 비용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(CPU, Memory)</a:t>
            </a:r>
            <a:r>
              <a:rPr lang="ko-KR" altLang="en-US">
                <a:latin typeface="+mj-ea"/>
                <a:ea typeface="+mj-ea"/>
              </a:rPr>
              <a:t>이 들기때문에 추천하지 않는 방법입니다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작은 량의 문자열은 </a:t>
            </a:r>
            <a:r>
              <a:rPr lang="en-US" altLang="ko-KR">
                <a:latin typeface="+mj-ea"/>
                <a:ea typeface="+mj-ea"/>
              </a:rPr>
              <a:t>+</a:t>
            </a:r>
            <a:r>
              <a:rPr lang="ko-KR" altLang="en-US">
                <a:latin typeface="+mj-ea"/>
                <a:ea typeface="+mj-ea"/>
              </a:rPr>
              <a:t>로 연결하는 것이 효율적입니다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많은 내용의 문자열을 연결할 필요가 있을 때 </a:t>
            </a:r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를 </a:t>
            </a:r>
            <a:r>
              <a:rPr lang="ko-KR" altLang="en-US" err="1">
                <a:latin typeface="+mj-ea"/>
                <a:ea typeface="+mj-ea"/>
              </a:rPr>
              <a:t>사용하는것이</a:t>
            </a:r>
            <a:r>
              <a:rPr lang="ko-KR" altLang="en-US">
                <a:latin typeface="+mj-ea"/>
                <a:ea typeface="+mj-ea"/>
              </a:rPr>
              <a:t> 비용절약에 효율적인 방법입니다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98586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StringBuffer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956113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 이어 붙이기 위한 </a:t>
            </a:r>
            <a:r>
              <a:rPr lang="en-US" altLang="ko-KR">
                <a:latin typeface="+mj-ea"/>
                <a:ea typeface="+mj-ea"/>
              </a:rPr>
              <a:t>StringBuffer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StringBuffer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>
                <a:latin typeface="+mj-ea"/>
                <a:ea typeface="+mj-ea"/>
              </a:rPr>
              <a:t>append() </a:t>
            </a:r>
            <a:r>
              <a:rPr lang="ko-KR" altLang="en-US">
                <a:latin typeface="+mj-ea"/>
                <a:ea typeface="+mj-ea"/>
              </a:rPr>
              <a:t>메소드를 이용해 문자열을 이어 붙입니다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마지막으로 </a:t>
            </a:r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toString() </a:t>
            </a:r>
            <a:r>
              <a:rPr lang="ko-KR" altLang="en-US">
                <a:latin typeface="+mj-ea"/>
                <a:ea typeface="+mj-ea"/>
              </a:rPr>
              <a:t>메소드를 이용해 하나의 문자열 인스턴스로 변환합니다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566621" y="2552020"/>
            <a:ext cx="82883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983812-4582-2C7A-3FDB-D051803F24C3}"/>
              </a:ext>
            </a:extLst>
          </p:cNvPr>
          <p:cNvGrpSpPr/>
          <p:nvPr/>
        </p:nvGrpSpPr>
        <p:grpSpPr>
          <a:xfrm>
            <a:off x="3972368" y="6130003"/>
            <a:ext cx="4605011" cy="659912"/>
            <a:chOff x="4998720" y="2417998"/>
            <a:chExt cx="4605011" cy="6599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72086D-6D2B-6D5E-F7FF-B9A01BCAECA3}"/>
                </a:ext>
              </a:extLst>
            </p:cNvPr>
            <p:cNvSpPr txBox="1"/>
            <p:nvPr/>
          </p:nvSpPr>
          <p:spPr>
            <a:xfrm>
              <a:off x="5021579" y="2431579"/>
              <a:ext cx="45821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\n</a:t>
              </a:r>
              <a:r>
                <a:rPr lang="ko-KR" altLang="en-US"/>
                <a:t>은 </a:t>
              </a:r>
              <a:r>
                <a:rPr lang="ko-KR" altLang="en-US" err="1"/>
                <a:t>줄바꿈을</a:t>
              </a:r>
              <a:r>
                <a:rPr lang="ko-KR" altLang="en-US"/>
                <a:t> 하는 </a:t>
              </a:r>
              <a:r>
                <a:rPr lang="en-US" altLang="ko-KR"/>
                <a:t>Escape Character </a:t>
              </a:r>
              <a:r>
                <a:rPr lang="ko-KR" altLang="en-US"/>
                <a:t>입니다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이 외에도 </a:t>
              </a:r>
              <a:r>
                <a:rPr lang="en-US" altLang="ko-KR"/>
                <a:t>\t, \”, \’, \\ </a:t>
              </a:r>
              <a:r>
                <a:rPr lang="ko-KR" altLang="en-US"/>
                <a:t>등이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D5229F-74AB-F141-E229-EC32EA5BE336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1982789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를 사용하면 조건이나 반복에 의한 문자열 생성도 간단히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4338-1010-1E05-F2AD-6D75882497E6}"/>
              </a:ext>
            </a:extLst>
          </p:cNvPr>
          <p:cNvSpPr txBox="1"/>
          <p:nvPr/>
        </p:nvSpPr>
        <p:spPr>
          <a:xfrm>
            <a:off x="542107" y="1992558"/>
            <a:ext cx="727038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isSoloSinger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isSoloSinger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271940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메모리 참조를 이용한 문자열 연결도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4338-1010-1E05-F2AD-6D75882497E6}"/>
              </a:ext>
            </a:extLst>
          </p:cNvPr>
          <p:cNvSpPr txBox="1"/>
          <p:nvPr/>
        </p:nvSpPr>
        <p:spPr>
          <a:xfrm>
            <a:off x="542107" y="1716309"/>
            <a:ext cx="727038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more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"Ditto</a:t>
            </a:r>
            <a:r>
              <a:rPr lang="en-US" altLang="ko-KR" sz="16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"CHRISTIAN</a:t>
            </a:r>
            <a:r>
              <a:rPr lang="en-US" altLang="ko-KR" sz="16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more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642854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39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StringBuffer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실습 문제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Scanner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while(</a:t>
            </a:r>
            <a:r>
              <a:rPr lang="ko-KR" altLang="en-US">
                <a:latin typeface="+mj-ea"/>
                <a:ea typeface="+mj-ea"/>
              </a:rPr>
              <a:t>무한반복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을 이용해 끝말잇기 게임 만들기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게임은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자전거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단어로 시작합니다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자전거가 출력된 이후부터 </a:t>
            </a:r>
            <a:r>
              <a:rPr lang="en-US" altLang="ko-KR">
                <a:latin typeface="+mj-ea"/>
                <a:ea typeface="+mj-ea"/>
              </a:rPr>
              <a:t>Scanner</a:t>
            </a:r>
            <a:r>
              <a:rPr lang="ko-KR" altLang="en-US" err="1">
                <a:latin typeface="+mj-ea"/>
                <a:ea typeface="+mj-ea"/>
              </a:rPr>
              <a:t>를</a:t>
            </a:r>
            <a:r>
              <a:rPr lang="ko-KR" altLang="en-US">
                <a:latin typeface="+mj-ea"/>
                <a:ea typeface="+mj-ea"/>
              </a:rPr>
              <a:t> 이용해 마지막으로 입력된 단어의 마지막 글자로 시작하는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글자 이상의 단어를 입력해야 합니다</a:t>
            </a:r>
            <a:r>
              <a:rPr lang="en-US" altLang="ko-KR">
                <a:latin typeface="+mj-ea"/>
                <a:ea typeface="+mj-ea"/>
              </a:rPr>
              <a:t>. (</a:t>
            </a:r>
            <a:r>
              <a:rPr lang="ko-KR" altLang="en-US">
                <a:latin typeface="+mj-ea"/>
                <a:ea typeface="+mj-ea"/>
              </a:rPr>
              <a:t>좌우 공백은 모두 제거해야 합니다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마지막 글자로 시작하지 않거나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글자 미만의 글자를 입력했을 경우 게임은 종료됩니다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게임이 종료될 때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이어나간 단어의 수와 단어들을 출력합니다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697032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14. </a:t>
            </a:r>
            <a:r>
              <a:rPr lang="ko-KR" altLang="en-US" sz="4000" b="1">
                <a:latin typeface="+mj-ea"/>
              </a:rPr>
              <a:t>배열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523907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배열이란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동일한 타입의 값들을 메모리에 차례대로 </a:t>
            </a:r>
            <a:r>
              <a:rPr lang="ko-KR" altLang="en-US" err="1">
                <a:latin typeface="+mj-ea"/>
                <a:ea typeface="+mj-ea"/>
              </a:rPr>
              <a:t>나열시킨</a:t>
            </a:r>
            <a:r>
              <a:rPr lang="ko-KR" altLang="en-US">
                <a:latin typeface="+mj-ea"/>
                <a:ea typeface="+mj-ea"/>
              </a:rPr>
              <a:t> 구조를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학생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명의 점수를 각 변수에 </a:t>
            </a:r>
            <a:r>
              <a:rPr lang="ko-KR" altLang="en-US" err="1">
                <a:latin typeface="+mj-ea"/>
                <a:ea typeface="+mj-ea"/>
              </a:rPr>
              <a:t>할당시키고</a:t>
            </a:r>
            <a:r>
              <a:rPr lang="ko-KR" altLang="en-US">
                <a:latin typeface="+mj-ea"/>
                <a:ea typeface="+mj-ea"/>
              </a:rPr>
              <a:t> 합계를 구하는 코드를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배열을 사용하지 않고 작성한다면 아래와 같은 코드가 완성됩니다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3011797"/>
            <a:ext cx="7626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일일이 더해야 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6450200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위 코드에서 학생들의 점수를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 err="1">
                <a:latin typeface="+mj-ea"/>
                <a:ea typeface="+mj-ea"/>
              </a:rPr>
              <a:t>점씩</a:t>
            </a:r>
            <a:r>
              <a:rPr lang="ko-KR" altLang="en-US">
                <a:latin typeface="+mj-ea"/>
                <a:ea typeface="+mj-ea"/>
              </a:rPr>
              <a:t> 더해야 한다면 값들을 일일이 수정해야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2075548"/>
            <a:ext cx="7626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일일이 더해야 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801303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이제 평균을 구해봅니다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1716309"/>
            <a:ext cx="76265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5.0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328223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계산을 해보니 학생 두 명을 누락했다는 것을 알게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두 명의 학생을 추가하고 코드를 변경합니다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6" y="2134323"/>
            <a:ext cx="769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7.0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2577826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다시 채점해보니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점을 더하면 안됐다는 것을 알게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다시 모든 학생들의 점수에서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점을 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6" y="2134323"/>
            <a:ext cx="769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552573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성적을 관리해야 하는 한 반의 학생의 수가 </a:t>
            </a:r>
            <a:r>
              <a:rPr lang="en-US" altLang="ko-KR">
                <a:latin typeface="+mj-ea"/>
                <a:ea typeface="+mj-ea"/>
              </a:rPr>
              <a:t>100</a:t>
            </a:r>
            <a:r>
              <a:rPr lang="ko-KR" altLang="en-US">
                <a:latin typeface="+mj-ea"/>
                <a:ea typeface="+mj-ea"/>
              </a:rPr>
              <a:t>명이면 어떤 일을 어떻게 해야 할지 생각해보세요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점수는 일일이 추가할 수 밖에 없겠지만 점수가 변경되거나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학생이 누락되었을 경우 코드를 일일이 찾아 수정해야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100</a:t>
            </a:r>
            <a:r>
              <a:rPr lang="ko-KR" altLang="en-US">
                <a:latin typeface="+mj-ea"/>
                <a:ea typeface="+mj-ea"/>
              </a:rPr>
              <a:t>명의 성적합계를 구하기 위해 일일이 더하는 코드를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작성하면서 누락되는 변수도 존재할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더 나아가 전교생의 성적을 관리해야 한다면 작업량은 더 늘어나게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위 예처럼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동일한 성격의 동일한 타입의 값들을 관리해야 할 때 배열을 사용하면 비교적 편하게 코드를 작성할 수 있고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수정에 대한 버그 발생율이 현저히 감소하게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64158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작성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B6036-293A-B7CC-72FD-1A570A65E7F0}"/>
              </a:ext>
            </a:extLst>
          </p:cNvPr>
          <p:cNvSpPr txBox="1"/>
          <p:nvPr/>
        </p:nvSpPr>
        <p:spPr>
          <a:xfrm>
            <a:off x="437608" y="1599286"/>
            <a:ext cx="869022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배열을 순회하며 합계 구하기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합계와 배열의 개수로 평균 점수 구하기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3985658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배열의 선언과 생성 및 할당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en-US" altLang="ko-KR" err="1">
                <a:latin typeface="+mj-ea"/>
                <a:ea typeface="+mj-ea"/>
              </a:rPr>
              <a:t>scoreArray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배열의 구조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 sz="1600">
                <a:latin typeface="+mj-ea"/>
                <a:ea typeface="+mj-ea"/>
              </a:rPr>
              <a:t>배열의 각 칸을 인덱스</a:t>
            </a:r>
            <a:r>
              <a:rPr lang="en-US" altLang="ko-KR" sz="1600">
                <a:latin typeface="+mj-ea"/>
                <a:ea typeface="+mj-ea"/>
              </a:rPr>
              <a:t>(index)</a:t>
            </a:r>
            <a:r>
              <a:rPr lang="ko-KR" altLang="en-US" sz="1600">
                <a:latin typeface="+mj-ea"/>
                <a:ea typeface="+mj-ea"/>
              </a:rPr>
              <a:t>라고 하며</a:t>
            </a:r>
            <a:r>
              <a:rPr lang="en-US" altLang="ko-KR" sz="1600">
                <a:latin typeface="+mj-ea"/>
                <a:ea typeface="+mj-ea"/>
              </a:rPr>
              <a:t>, </a:t>
            </a:r>
            <a:r>
              <a:rPr lang="ko-KR" altLang="en-US" sz="1600">
                <a:latin typeface="+mj-ea"/>
                <a:ea typeface="+mj-ea"/>
              </a:rPr>
              <a:t>인덱스는 항상 </a:t>
            </a:r>
            <a:r>
              <a:rPr lang="en-US" altLang="ko-KR" sz="1600">
                <a:latin typeface="+mj-ea"/>
                <a:ea typeface="+mj-ea"/>
              </a:rPr>
              <a:t>0</a:t>
            </a:r>
            <a:r>
              <a:rPr lang="ko-KR" altLang="en-US" sz="1600">
                <a:latin typeface="+mj-ea"/>
                <a:ea typeface="+mj-ea"/>
              </a:rPr>
              <a:t>부터 시작합니다</a:t>
            </a:r>
            <a:r>
              <a:rPr lang="en-US" altLang="ko-KR" sz="1600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9A944-5121-4F88-E8F0-27C36A5C35AD}"/>
              </a:ext>
            </a:extLst>
          </p:cNvPr>
          <p:cNvSpPr txBox="1"/>
          <p:nvPr/>
        </p:nvSpPr>
        <p:spPr>
          <a:xfrm>
            <a:off x="507273" y="2135089"/>
            <a:ext cx="7225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new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길이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B85322-75E1-BD07-2D36-D3360F4070C1}"/>
              </a:ext>
            </a:extLst>
          </p:cNvPr>
          <p:cNvSpPr/>
          <p:nvPr/>
        </p:nvSpPr>
        <p:spPr>
          <a:xfrm>
            <a:off x="559526" y="2450757"/>
            <a:ext cx="685800" cy="30453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A22418-D278-5CBD-1374-5D6E907444C8}"/>
              </a:ext>
            </a:extLst>
          </p:cNvPr>
          <p:cNvSpPr/>
          <p:nvPr/>
        </p:nvSpPr>
        <p:spPr>
          <a:xfrm>
            <a:off x="2926081" y="2450757"/>
            <a:ext cx="1332410" cy="30453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B72F3E-DD79-D6CB-511C-8D2ED96F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4498293"/>
            <a:ext cx="8230749" cy="94903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F3E396F-B0D3-0A24-1363-336944637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5" y="2926917"/>
            <a:ext cx="6457981" cy="9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9435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 인덱스에 값 할당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r>
              <a:rPr lang="ko-KR" altLang="en-US" err="1">
                <a:latin typeface="+mj-ea"/>
                <a:ea typeface="+mj-ea"/>
              </a:rPr>
              <a:t>배열인스턴스에</a:t>
            </a:r>
            <a:r>
              <a:rPr lang="ko-KR" altLang="en-US">
                <a:latin typeface="+mj-ea"/>
                <a:ea typeface="+mj-ea"/>
              </a:rPr>
              <a:t> 값을 할당하려면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b="1" err="1">
                <a:latin typeface="+mj-ea"/>
                <a:ea typeface="+mj-ea"/>
              </a:rPr>
              <a:t>배열인스턴스명</a:t>
            </a:r>
            <a:r>
              <a:rPr lang="en-US" altLang="ko-KR" b="1">
                <a:latin typeface="+mj-ea"/>
                <a:ea typeface="+mj-ea"/>
              </a:rPr>
              <a:t>[</a:t>
            </a:r>
            <a:r>
              <a:rPr lang="ko-KR" altLang="en-US" b="1">
                <a:latin typeface="+mj-ea"/>
                <a:ea typeface="+mj-ea"/>
              </a:rPr>
              <a:t>인덱스번호</a:t>
            </a:r>
            <a:r>
              <a:rPr lang="en-US" altLang="ko-KR" b="1">
                <a:latin typeface="+mj-ea"/>
                <a:ea typeface="+mj-ea"/>
              </a:rPr>
              <a:t>] = </a:t>
            </a:r>
            <a:r>
              <a:rPr lang="ko-KR" altLang="en-US" b="1">
                <a:latin typeface="+mj-ea"/>
                <a:ea typeface="+mj-ea"/>
              </a:rPr>
              <a:t>값</a:t>
            </a:r>
            <a:r>
              <a:rPr lang="en-US" altLang="ko-KR" b="1">
                <a:latin typeface="+mj-ea"/>
                <a:ea typeface="+mj-ea"/>
              </a:rPr>
              <a:t>;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형태로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4" y="2072345"/>
            <a:ext cx="43346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인덱스번호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4F83FE-C1DC-4CB8-F2BC-6C542D71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4433287"/>
            <a:ext cx="8230749" cy="9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18982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 순회하며 합계 구하기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r>
              <a:rPr lang="ko-KR" altLang="en-US" err="1">
                <a:latin typeface="+mj-ea"/>
                <a:ea typeface="+mj-ea"/>
              </a:rPr>
              <a:t>배열인스턴스</a:t>
            </a:r>
            <a:r>
              <a:rPr lang="ko-KR" altLang="en-US">
                <a:latin typeface="+mj-ea"/>
                <a:ea typeface="+mj-ea"/>
              </a:rPr>
              <a:t> 인덱스의 값을 참조하려면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b="1">
                <a:latin typeface="+mj-ea"/>
                <a:ea typeface="+mj-ea"/>
              </a:rPr>
              <a:t>변수 </a:t>
            </a:r>
            <a:r>
              <a:rPr lang="en-US" altLang="ko-KR" b="1">
                <a:latin typeface="+mj-ea"/>
                <a:ea typeface="+mj-ea"/>
              </a:rPr>
              <a:t>= </a:t>
            </a:r>
            <a:r>
              <a:rPr lang="ko-KR" altLang="en-US" b="1" err="1">
                <a:latin typeface="+mj-ea"/>
                <a:ea typeface="+mj-ea"/>
              </a:rPr>
              <a:t>배열인스턴스명</a:t>
            </a:r>
            <a:r>
              <a:rPr lang="en-US" altLang="ko-KR" b="1">
                <a:latin typeface="+mj-ea"/>
                <a:ea typeface="+mj-ea"/>
              </a:rPr>
              <a:t>[</a:t>
            </a:r>
            <a:r>
              <a:rPr lang="ko-KR" altLang="en-US" b="1">
                <a:latin typeface="+mj-ea"/>
                <a:ea typeface="+mj-ea"/>
              </a:rPr>
              <a:t>인덱스번호</a:t>
            </a:r>
            <a:r>
              <a:rPr lang="en-US" altLang="ko-KR" b="1">
                <a:latin typeface="+mj-ea"/>
                <a:ea typeface="+mj-ea"/>
              </a:rPr>
              <a:t>];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형태로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3" y="2072345"/>
            <a:ext cx="7130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CACDF0-BA14-ABDA-603A-662610487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7" y="3289501"/>
            <a:ext cx="7260773" cy="252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55752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 err="1">
                <a:latin typeface="+mj-ea"/>
                <a:ea typeface="+mj-ea"/>
              </a:rPr>
              <a:t>배열인스턴스</a:t>
            </a:r>
            <a:r>
              <a:rPr lang="ko-KR" altLang="en-US">
                <a:latin typeface="+mj-ea"/>
                <a:ea typeface="+mj-ea"/>
              </a:rPr>
              <a:t> 인덱스의 개수로 평균 구하기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3" y="2072345"/>
            <a:ext cx="7130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합계와 배열의 개수로 평균 점수 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34657158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모든 학생들의 점수를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 err="1">
                <a:latin typeface="+mj-ea"/>
                <a:ea typeface="+mj-ea"/>
              </a:rPr>
              <a:t>점씩</a:t>
            </a:r>
            <a:r>
              <a:rPr lang="ko-KR" altLang="en-US">
                <a:latin typeface="+mj-ea"/>
                <a:ea typeface="+mj-ea"/>
              </a:rPr>
              <a:t> 더하기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0769A-4BB8-6520-8956-1D76F502EB8D}"/>
              </a:ext>
            </a:extLst>
          </p:cNvPr>
          <p:cNvSpPr txBox="1"/>
          <p:nvPr/>
        </p:nvSpPr>
        <p:spPr>
          <a:xfrm>
            <a:off x="498564" y="1636944"/>
            <a:ext cx="84899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new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길이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인덱스번호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배열을 순회하며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ko-KR" altLang="en-US" b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점씩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더하기</a:t>
            </a:r>
            <a:endParaRPr lang="ko-KR" altLang="en-US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+=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배열을 순회하며 합계 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1154211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</a:t>
            </a:r>
            <a:r>
              <a:rPr lang="ko-KR" altLang="en-US">
                <a:latin typeface="+mj-ea"/>
                <a:ea typeface="+mj-ea"/>
              </a:rPr>
              <a:t> 배열을 이용해 한 반의 성적 총합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 평균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등급을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계산하고 출력하는 클래스를 만들고 실행해보세요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6F7360-3F3B-DA3C-E36A-95CFF788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0" y="2028801"/>
            <a:ext cx="3648584" cy="3057952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E9E80C78-696E-E762-E9D2-3ACF90183D0D}"/>
              </a:ext>
            </a:extLst>
          </p:cNvPr>
          <p:cNvSpPr txBox="1">
            <a:spLocks/>
          </p:cNvSpPr>
          <p:nvPr/>
        </p:nvSpPr>
        <p:spPr>
          <a:xfrm>
            <a:off x="4184314" y="2028801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err="1">
                <a:latin typeface="+mj-ea"/>
                <a:ea typeface="+mj-ea"/>
              </a:rPr>
              <a:t>getSumAllScores</a:t>
            </a:r>
            <a:r>
              <a:rPr lang="en-US" altLang="ko-KR" sz="1400">
                <a:latin typeface="+mj-ea"/>
                <a:ea typeface="+mj-ea"/>
              </a:rPr>
              <a:t>(): int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멤버변수를 모두 더해 </a:t>
            </a:r>
            <a:r>
              <a:rPr lang="en-US" altLang="ko-KR" sz="1400">
                <a:latin typeface="+mj-ea"/>
                <a:ea typeface="+mj-ea"/>
              </a:rPr>
              <a:t>int </a:t>
            </a:r>
            <a:r>
              <a:rPr lang="ko-KR" altLang="en-US" sz="1400">
                <a:latin typeface="+mj-ea"/>
                <a:ea typeface="+mj-ea"/>
              </a:rPr>
              <a:t>타입으로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getAverage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합계점수 </a:t>
            </a:r>
            <a:r>
              <a:rPr lang="en-US" altLang="ko-KR" sz="1400">
                <a:latin typeface="+mj-ea"/>
                <a:ea typeface="+mj-ea"/>
              </a:rPr>
              <a:t>/ 4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r>
              <a:rPr lang="en-US" altLang="ko-KR" sz="1400">
                <a:latin typeface="+mj-ea"/>
                <a:ea typeface="+mj-ea"/>
              </a:rPr>
              <a:t>.</a:t>
            </a:r>
          </a:p>
          <a:p>
            <a:r>
              <a:rPr lang="en-US" altLang="ko-KR" sz="1400" err="1">
                <a:latin typeface="+mj-ea"/>
                <a:ea typeface="+mj-ea"/>
              </a:rPr>
              <a:t>getCourseCredit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en-US" altLang="ko-KR" sz="1400">
                <a:latin typeface="+mj-ea"/>
                <a:ea typeface="+mj-ea"/>
              </a:rPr>
              <a:t>(</a:t>
            </a:r>
            <a:r>
              <a:rPr lang="ko-KR" altLang="en-US" sz="1400">
                <a:latin typeface="+mj-ea"/>
                <a:ea typeface="+mj-ea"/>
              </a:rPr>
              <a:t>평균점수 </a:t>
            </a:r>
            <a:r>
              <a:rPr lang="en-US" altLang="ko-KR" sz="1400">
                <a:latin typeface="+mj-ea"/>
                <a:ea typeface="+mj-ea"/>
              </a:rPr>
              <a:t>– 55) / 10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getABCDE</a:t>
            </a:r>
            <a:r>
              <a:rPr lang="en-US" altLang="ko-KR" sz="1400">
                <a:latin typeface="+mj-ea"/>
                <a:ea typeface="+mj-ea"/>
              </a:rPr>
              <a:t>(): String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학점을 아래 기준에 맞춰 반환</a:t>
            </a:r>
            <a:endParaRPr lang="en-US" altLang="ko-KR" sz="1400">
              <a:latin typeface="+mj-ea"/>
              <a:ea typeface="+mj-ea"/>
            </a:endParaRPr>
          </a:p>
          <a:p>
            <a:pPr lvl="2"/>
            <a:r>
              <a:rPr lang="en-US" altLang="ko-KR" sz="1400">
                <a:latin typeface="+mj-ea"/>
                <a:ea typeface="+mj-ea"/>
              </a:rPr>
              <a:t>4.1 ~ 4.5: A+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3.6 ~ 4.0: A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3.1 ~ 3.5: B+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2.6 ~ 3.0: B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1.6 ~ 2.5: C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0.6 ~ 1.5: D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0.1 ~ 0.5: F</a:t>
            </a:r>
          </a:p>
        </p:txBody>
      </p:sp>
    </p:spTree>
    <p:extLst>
      <p:ext uri="{BB962C8B-B14F-4D97-AF65-F5344CB8AC3E}">
        <p14:creationId xmlns:p14="http://schemas.microsoft.com/office/powerpoint/2010/main" val="1199391288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</a:t>
            </a:r>
            <a:r>
              <a:rPr lang="ko-KR" altLang="en-US">
                <a:latin typeface="+mj-ea"/>
                <a:ea typeface="+mj-ea"/>
              </a:rPr>
              <a:t> 배열을 이용해 한 반의 성적 총합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 평균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등급을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계산하고 출력하는 클래스를 만들고 실행해보세요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 sz="16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getSumAllScores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성적 총합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getAverage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평균 성적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학점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등급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E6C9BE-63A4-C619-B74F-B4D1E604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42" y="1963219"/>
            <a:ext cx="3250123" cy="158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94589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 실습문제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상품클래스와 배열을 이용해 쇼핑몰 판매자 기능 구현해보기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ko-KR" altLang="en-US">
                <a:latin typeface="+mj-ea"/>
                <a:ea typeface="+mj-ea"/>
              </a:rPr>
              <a:t>상품클래스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데이터 클래스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 속성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상품명</a:t>
            </a:r>
            <a:r>
              <a:rPr lang="en-US" altLang="ko-KR">
                <a:latin typeface="+mj-ea"/>
                <a:ea typeface="+mj-ea"/>
              </a:rPr>
              <a:t>: String</a:t>
            </a: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상품가격</a:t>
            </a:r>
            <a:r>
              <a:rPr lang="en-US" altLang="ko-KR">
                <a:latin typeface="+mj-ea"/>
                <a:ea typeface="+mj-ea"/>
              </a:rPr>
              <a:t>: int</a:t>
            </a:r>
          </a:p>
          <a:p>
            <a:pPr lvl="2" algn="just"/>
            <a:r>
              <a:rPr lang="ko-KR" altLang="en-US">
                <a:latin typeface="+mj-ea"/>
                <a:ea typeface="+mj-ea"/>
              </a:rPr>
              <a:t>재고 수</a:t>
            </a:r>
            <a:r>
              <a:rPr lang="en-US" altLang="ko-KR">
                <a:latin typeface="+mj-ea"/>
                <a:ea typeface="+mj-ea"/>
              </a:rPr>
              <a:t>: int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판매자 클래스 속성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상품클래스 배열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상품</a:t>
            </a:r>
            <a:r>
              <a:rPr lang="en-US" altLang="ko-KR">
                <a:latin typeface="+mj-ea"/>
                <a:ea typeface="+mj-ea"/>
              </a:rPr>
              <a:t>[]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판매자 클래스 기능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판매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상품명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주문수량</a:t>
            </a:r>
            <a:r>
              <a:rPr lang="en-US" altLang="ko-KR">
                <a:latin typeface="+mj-ea"/>
                <a:ea typeface="+mj-ea"/>
              </a:rPr>
              <a:t>): void</a:t>
            </a:r>
          </a:p>
          <a:p>
            <a:pPr lvl="3" algn="just"/>
            <a:r>
              <a:rPr lang="ko-KR" altLang="en-US">
                <a:latin typeface="+mj-ea"/>
                <a:ea typeface="+mj-ea"/>
              </a:rPr>
              <a:t>상품클래스 배열에서 상품명을 찾아 주문수량만큼 재고 감소시키기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주문수량이 재고수보다 크거나 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재고수가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이라면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판매할 수 없습니다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출력하기</a:t>
            </a:r>
            <a:endParaRPr lang="en-US" altLang="ko-KR">
              <a:latin typeface="+mj-ea"/>
              <a:ea typeface="+mj-ea"/>
            </a:endParaRPr>
          </a:p>
          <a:p>
            <a:pPr lvl="3" algn="just"/>
            <a:endParaRPr lang="en-US" altLang="ko-KR" sz="1500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777331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43ED-ACD9-C0AC-B816-59C5C9F8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F825B57-0803-AC8B-C7E4-28CEB53B0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https://www.acmicpc.net/problem/10807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https://www.acmicpc.net/problem/10871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5"/>
              </a:rPr>
              <a:t>https://www.acmicpc.net/problem/10818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6"/>
              </a:rPr>
              <a:t>https://www.acmicpc.net/problem/2562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7"/>
              </a:rPr>
              <a:t>https://www.acmicpc.net/problem/5597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8"/>
              </a:rPr>
              <a:t>https://school.programmers.co.kr/learn/courses/30/lessons/181941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https://school.programmers.co.kr/learn/courses/30/lessons/181852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https://school.programmers.co.kr/learn/courses/30/lessons/181853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1"/>
              </a:rPr>
              <a:t>https://school.programmers.co.kr/learn/courses/30/lessons/181854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2"/>
              </a:rPr>
              <a:t>https://school.programmers.co.kr/learn/courses/30/lessons/181856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3"/>
              </a:rPr>
              <a:t>https://school.programmers.co.kr/learn/courses/30/lessons/181861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4"/>
              </a:rPr>
              <a:t>https://school.programmers.co.kr/learn/courses/30/lessons/181867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5"/>
              </a:rPr>
              <a:t>https://school.programmers.co.kr/learn/courses/30/lessons/181868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6"/>
              </a:rPr>
              <a:t>https://school.programmers.co.kr/learn/courses/30/lessons/181869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7"/>
              </a:rPr>
              <a:t>https://www.acmicpc.net/problem/2566</a:t>
            </a:r>
            <a:r>
              <a:rPr lang="en-US" altLang="ko-KR">
                <a:latin typeface="+mj-ea"/>
                <a:ea typeface="+mj-ea"/>
              </a:rPr>
              <a:t> (2</a:t>
            </a:r>
            <a:r>
              <a:rPr lang="ko-KR" altLang="en-US">
                <a:latin typeface="+mj-ea"/>
                <a:ea typeface="+mj-ea"/>
              </a:rPr>
              <a:t>차원 배열 </a:t>
            </a:r>
            <a:r>
              <a:rPr lang="en-US" altLang="ko-KR">
                <a:latin typeface="+mj-ea"/>
                <a:ea typeface="+mj-ea"/>
              </a:rPr>
              <a:t>-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Matrix</a:t>
            </a:r>
            <a:r>
              <a:rPr lang="ko-KR" altLang="en-US">
                <a:latin typeface="+mj-ea"/>
                <a:ea typeface="+mj-ea"/>
              </a:rPr>
              <a:t> 패스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 algn="just"/>
            <a:r>
              <a:rPr lang="en-US" altLang="ko-KR">
                <a:latin typeface="+mj-ea"/>
                <a:ea typeface="+mj-ea"/>
                <a:hlinkClick r:id="rId18"/>
              </a:rPr>
              <a:t>https://www.acmicpc.net/problem/10798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</a:rPr>
              <a:t>(2</a:t>
            </a:r>
            <a:r>
              <a:rPr lang="ko-KR" altLang="en-US">
                <a:latin typeface="+mj-ea"/>
              </a:rPr>
              <a:t>차원 배열 </a:t>
            </a:r>
            <a:r>
              <a:rPr lang="en-US" altLang="ko-KR">
                <a:latin typeface="+mj-ea"/>
              </a:rPr>
              <a:t>-</a:t>
            </a:r>
            <a:r>
              <a:rPr lang="ko-KR" altLang="en-US">
                <a:latin typeface="+mj-ea"/>
              </a:rPr>
              <a:t> </a:t>
            </a:r>
            <a:r>
              <a:rPr lang="en-US" altLang="ko-KR">
                <a:latin typeface="+mj-ea"/>
              </a:rPr>
              <a:t>Matrix</a:t>
            </a:r>
            <a:r>
              <a:rPr lang="ko-KR" altLang="en-US">
                <a:latin typeface="+mj-ea"/>
              </a:rPr>
              <a:t> 패스</a:t>
            </a:r>
            <a:r>
              <a:rPr lang="en-US" altLang="ko-KR">
                <a:latin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423C3C-51B8-FC92-9E4D-9AB79583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0C6A9E-75B5-2549-6A1B-9D0AE8C63FA8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6ECE6B-8FBE-CB03-7187-CCE4BCA2F56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A284B1-121E-B09F-A4B2-7833970D4439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ECFB9EA-6CE2-84F8-EE0B-E2ABB9C4F845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A0DF-5983-FBE6-6257-2CD83E9A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888713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</a:t>
            </a:r>
            <a:r>
              <a:rPr lang="en-US" altLang="ko-KR" sz="4000" b="1">
                <a:latin typeface="+mj-ea"/>
              </a:rPr>
              <a:t>(Inheritance)</a:t>
            </a:r>
            <a:r>
              <a:rPr lang="ko-KR" altLang="en-US" sz="4000" b="1">
                <a:latin typeface="+mj-ea"/>
              </a:rPr>
              <a:t>과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 err="1">
                <a:latin typeface="+mj-ea"/>
              </a:rPr>
              <a:t>다형성</a:t>
            </a:r>
            <a:r>
              <a:rPr lang="en-US" altLang="ko-KR" sz="4000" b="1">
                <a:latin typeface="+mj-ea"/>
              </a:rPr>
              <a:t>(Polymorphism)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3932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</a:t>
            </a:r>
            <a:r>
              <a:rPr lang="en-US" altLang="ko-KR" sz="4000" b="1">
                <a:latin typeface="+mj-ea"/>
              </a:rPr>
              <a:t>(Inheritance)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421461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부모클래스의 속성과 기능을 자식클래스에게 그대로 물려주는 것을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클래스의 멤버변수나 메소드의 추가가 필요할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클래스를 직접 수정하는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2.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기존의 클래스를 상속받아 필요한 변수나 기능만 추가하는 방법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marL="914400" lvl="2" indent="0">
              <a:buNone/>
            </a:pPr>
            <a:endParaRPr lang="en-US" altLang="ko-KR" sz="1800">
              <a:highlight>
                <a:srgbClr val="FFFF00"/>
              </a:highlight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번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연결 되어있던 코드를 모두 수정 해야 할 가능성이 매우 높아집니다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결국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하나의 기능 추가 및 변경을 위해 모든 코드를 수정 해야 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번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연결 되어있던 기존의 코드에 영향을 주지 않고 안전하게 수정사항을 반영할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148012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이름과 연락처만 관리하는 </a:t>
            </a:r>
            <a:r>
              <a:rPr lang="en-US" altLang="ko-KR">
                <a:latin typeface="+mj-ea"/>
                <a:ea typeface="+mj-ea"/>
              </a:rPr>
              <a:t>Contact </a:t>
            </a:r>
            <a:r>
              <a:rPr lang="ko-KR" altLang="en-US">
                <a:latin typeface="+mj-ea"/>
                <a:ea typeface="+mj-ea"/>
              </a:rPr>
              <a:t>클래스가 있었습니다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시간이 지나 연락처에 </a:t>
            </a:r>
            <a:r>
              <a:rPr lang="en-US" altLang="ko-KR">
                <a:latin typeface="+mj-ea"/>
                <a:ea typeface="+mj-ea"/>
              </a:rPr>
              <a:t>Email</a:t>
            </a:r>
            <a:r>
              <a:rPr lang="ko-KR" altLang="en-US">
                <a:latin typeface="+mj-ea"/>
                <a:ea typeface="+mj-ea"/>
              </a:rPr>
              <a:t>도 관리해달라는 요구가 발생했습니다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 </a:t>
            </a:r>
            <a:r>
              <a:rPr lang="ko-KR" altLang="en-US">
                <a:latin typeface="+mj-ea"/>
                <a:ea typeface="+mj-ea"/>
              </a:rPr>
              <a:t>클래스에 </a:t>
            </a:r>
            <a:r>
              <a:rPr lang="en-US" altLang="ko-KR">
                <a:latin typeface="+mj-ea"/>
                <a:ea typeface="+mj-ea"/>
              </a:rPr>
              <a:t>Email</a:t>
            </a:r>
            <a:r>
              <a:rPr lang="ko-KR" altLang="en-US">
                <a:latin typeface="+mj-ea"/>
                <a:ea typeface="+mj-ea"/>
              </a:rPr>
              <a:t>을 직접 추가해도 문제없지만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유연한 확장을 위해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클래스를 만들어 추가하려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는 이름과 연락처만을 관리하는 클래스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는 이메일까지 관리하는 클래스로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2E0787-646A-B015-E619-BB913CFB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26" y="4042008"/>
            <a:ext cx="3288004" cy="23535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57D12C-106E-9283-709C-115C5B8B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592" y="3633576"/>
            <a:ext cx="3310863" cy="309246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7B19F5-2681-2BFD-A95C-75FE8E109B88}"/>
              </a:ext>
            </a:extLst>
          </p:cNvPr>
          <p:cNvSpPr/>
          <p:nvPr/>
        </p:nvSpPr>
        <p:spPr>
          <a:xfrm>
            <a:off x="4677685" y="4087851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744A9B-0E9C-FB6D-6603-D841EA792851}"/>
              </a:ext>
            </a:extLst>
          </p:cNvPr>
          <p:cNvSpPr/>
          <p:nvPr/>
        </p:nvSpPr>
        <p:spPr>
          <a:xfrm>
            <a:off x="4677685" y="5222786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41D492-0A58-01BD-F00C-709921343D4A}"/>
              </a:ext>
            </a:extLst>
          </p:cNvPr>
          <p:cNvSpPr/>
          <p:nvPr/>
        </p:nvSpPr>
        <p:spPr>
          <a:xfrm>
            <a:off x="4677685" y="6340172"/>
            <a:ext cx="3215640" cy="367359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808222-C6D8-BC4B-9370-789E0393D677}"/>
              </a:ext>
            </a:extLst>
          </p:cNvPr>
          <p:cNvSpPr/>
          <p:nvPr/>
        </p:nvSpPr>
        <p:spPr>
          <a:xfrm>
            <a:off x="841045" y="4490187"/>
            <a:ext cx="3204750" cy="732691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9EDC33-62C2-CE05-AD27-08D8CA08CBF6}"/>
              </a:ext>
            </a:extLst>
          </p:cNvPr>
          <p:cNvSpPr/>
          <p:nvPr/>
        </p:nvSpPr>
        <p:spPr>
          <a:xfrm>
            <a:off x="832212" y="5232597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39BE42-090F-1B1C-DB45-DEA22C24D22A}"/>
              </a:ext>
            </a:extLst>
          </p:cNvPr>
          <p:cNvSpPr/>
          <p:nvPr/>
        </p:nvSpPr>
        <p:spPr>
          <a:xfrm>
            <a:off x="830155" y="5964943"/>
            <a:ext cx="3215640" cy="367359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C5E85F3-79E7-1D7D-43A6-9A359D1BD80B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 flipV="1">
            <a:off x="4045795" y="4454197"/>
            <a:ext cx="631890" cy="40233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6F7D2D0-A152-5700-2198-E7A36586EEA4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 flipV="1">
            <a:off x="4047852" y="5589132"/>
            <a:ext cx="629833" cy="981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675C91A-C748-8652-3BE4-36C6DBA318D0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>
            <a:off x="4045795" y="6148623"/>
            <a:ext cx="631890" cy="375229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EC99151-0943-8922-A08A-21468C577EDF}"/>
              </a:ext>
            </a:extLst>
          </p:cNvPr>
          <p:cNvSpPr txBox="1"/>
          <p:nvPr/>
        </p:nvSpPr>
        <p:spPr>
          <a:xfrm>
            <a:off x="7916216" y="4878861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추가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8205B7-7560-AB98-F0E6-3D4803B2293D}"/>
              </a:ext>
            </a:extLst>
          </p:cNvPr>
          <p:cNvSpPr txBox="1"/>
          <p:nvPr/>
        </p:nvSpPr>
        <p:spPr>
          <a:xfrm>
            <a:off x="7916216" y="601781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4291750382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 _ 1 / 2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24869"/>
            <a:ext cx="86992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= 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phone;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+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연락처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3781406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 _ 2 / 2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24869"/>
            <a:ext cx="86992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name,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(name, phone);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email;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2851761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클래스를 상속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확장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에 있는 모든 변수와 메소드를 그대로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: name, phone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getName(), </a:t>
            </a:r>
            <a:r>
              <a:rPr lang="en-US" altLang="ko-KR" err="1">
                <a:latin typeface="+mj-ea"/>
                <a:ea typeface="+mj-ea"/>
              </a:rPr>
              <a:t>getPhone</a:t>
            </a:r>
            <a:r>
              <a:rPr lang="en-US" altLang="ko-KR">
                <a:latin typeface="+mj-ea"/>
                <a:ea typeface="+mj-ea"/>
              </a:rPr>
              <a:t>(),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생성자</a:t>
            </a:r>
            <a:r>
              <a:rPr lang="en-US" altLang="ko-KR">
                <a:latin typeface="+mj-ea"/>
                <a:ea typeface="+mj-ea"/>
              </a:rPr>
              <a:t>: Contact()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55349"/>
            <a:ext cx="8699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1590702565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super(name, phone)</a:t>
            </a:r>
            <a:r>
              <a:rPr lang="ko-KR" altLang="en-US">
                <a:latin typeface="+mj-ea"/>
                <a:ea typeface="+mj-ea"/>
              </a:rPr>
              <a:t>는 부모클래스</a:t>
            </a:r>
            <a:r>
              <a:rPr lang="en-US" altLang="ko-KR">
                <a:latin typeface="+mj-ea"/>
                <a:ea typeface="+mj-ea"/>
              </a:rPr>
              <a:t>(Contact)</a:t>
            </a:r>
            <a:r>
              <a:rPr lang="ko-KR" altLang="en-US">
                <a:latin typeface="+mj-ea"/>
                <a:ea typeface="+mj-ea"/>
              </a:rPr>
              <a:t>의 생성자를 호출합니다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Contact(name, phone)</a:t>
            </a:r>
            <a:r>
              <a:rPr lang="ko-KR" altLang="en-US">
                <a:latin typeface="+mj-ea"/>
                <a:ea typeface="+mj-ea"/>
              </a:rPr>
              <a:t>가 실행됩니다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이 코드로 인해서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는 멤버변수 </a:t>
            </a:r>
            <a:r>
              <a:rPr lang="en-US" altLang="ko-KR">
                <a:latin typeface="+mj-ea"/>
                <a:ea typeface="+mj-ea"/>
              </a:rPr>
              <a:t>name, phone</a:t>
            </a:r>
            <a:r>
              <a:rPr lang="ko-KR" altLang="en-US">
                <a:latin typeface="+mj-ea"/>
                <a:ea typeface="+mj-ea"/>
              </a:rPr>
              <a:t>에 데이터를 할당할 수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있게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부모클래스에 파라미터가 있는 생성자만 있을 경우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자식 클래스에서 부모 클래스의 생성자를 반드시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pPr lvl="1"/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3D498-4FE9-7324-E221-824EDC0856F6}"/>
              </a:ext>
            </a:extLst>
          </p:cNvPr>
          <p:cNvSpPr txBox="1"/>
          <p:nvPr/>
        </p:nvSpPr>
        <p:spPr>
          <a:xfrm>
            <a:off x="428624" y="1876719"/>
            <a:ext cx="84263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name,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phone,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(name, phone);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email;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7861861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@Override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>
                <a:latin typeface="+mj-ea"/>
                <a:ea typeface="+mj-ea"/>
              </a:rPr>
              <a:t>16</a:t>
            </a:r>
            <a:r>
              <a:rPr lang="ko-KR" altLang="en-US">
                <a:latin typeface="+mj-ea"/>
                <a:ea typeface="+mj-ea"/>
              </a:rPr>
              <a:t>장에서 자세히 설명합니다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super.printContact</a:t>
            </a:r>
            <a:r>
              <a:rPr lang="en-US" altLang="ko-KR">
                <a:latin typeface="+mj-ea"/>
                <a:ea typeface="+mj-ea"/>
              </a:rPr>
              <a:t>();</a:t>
            </a:r>
            <a:r>
              <a:rPr lang="ko-KR" altLang="en-US">
                <a:latin typeface="+mj-ea"/>
                <a:ea typeface="+mj-ea"/>
              </a:rPr>
              <a:t>는 부모클래스</a:t>
            </a:r>
            <a:r>
              <a:rPr lang="en-US" altLang="ko-KR">
                <a:latin typeface="+mj-ea"/>
                <a:ea typeface="+mj-ea"/>
              </a:rPr>
              <a:t>(Contact)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를 호출합니다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반드시 </a:t>
            </a:r>
            <a:r>
              <a:rPr lang="ko-KR" altLang="en-US" err="1">
                <a:latin typeface="+mj-ea"/>
                <a:ea typeface="+mj-ea"/>
              </a:rPr>
              <a:t>호출해야할</a:t>
            </a:r>
            <a:r>
              <a:rPr lang="ko-KR" altLang="en-US">
                <a:latin typeface="+mj-ea"/>
                <a:ea typeface="+mj-ea"/>
              </a:rPr>
              <a:t> 의무는 없습니다</a:t>
            </a:r>
            <a:r>
              <a:rPr lang="en-US" altLang="ko-KR">
                <a:latin typeface="+mj-ea"/>
                <a:ea typeface="+mj-ea"/>
              </a:rPr>
              <a:t>.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다만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부모클래스의 기능을 동시에 사용하려고 한다면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 </a:t>
            </a:r>
            <a:r>
              <a:rPr lang="ko-KR" altLang="en-US">
                <a:latin typeface="+mj-ea"/>
                <a:ea typeface="+mj-ea"/>
              </a:rPr>
              <a:t>메소드는 이름과 연락처를 출력하므로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는 이름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연락처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이메일을 모두 출력하게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super.printContact</a:t>
            </a:r>
            <a:r>
              <a:rPr lang="en-US" altLang="ko-KR">
                <a:latin typeface="+mj-ea"/>
                <a:ea typeface="+mj-ea"/>
              </a:rPr>
              <a:t>(); </a:t>
            </a:r>
            <a:r>
              <a:rPr lang="ko-KR" altLang="en-US">
                <a:latin typeface="+mj-ea"/>
                <a:ea typeface="+mj-ea"/>
              </a:rPr>
              <a:t>코드가 없다면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이메일만 출력하게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815164"/>
            <a:ext cx="86992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printContact()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1571430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 예제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0C14F-ECD8-4938-AA95-35E778E5F309}"/>
              </a:ext>
            </a:extLst>
          </p:cNvPr>
          <p:cNvSpPr txBox="1"/>
          <p:nvPr/>
        </p:nvSpPr>
        <p:spPr>
          <a:xfrm>
            <a:off x="481964" y="1628150"/>
            <a:ext cx="866203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"010-1111-2222"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언년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"010-3333-4444"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contact1.printContact();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contact2.printContact();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"010-2222-3333"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"friends1@gmail.com"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"010-4444-5555"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"friends2@gmail.com"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emailContact1.printContact();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emailContact2.printContact();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4579956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370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13" y="2590711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2015219"/>
            <a:ext cx="7704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contact1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"010-1111-2222"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A3FC-BFDB-0652-C35C-469750D00B21}"/>
              </a:ext>
            </a:extLst>
          </p:cNvPr>
          <p:cNvSpPr txBox="1"/>
          <p:nvPr/>
        </p:nvSpPr>
        <p:spPr>
          <a:xfrm>
            <a:off x="288994" y="4807308"/>
            <a:ext cx="515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contact1.printContact();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E3D63F-C995-1CF9-14C7-F6F682407452}"/>
              </a:ext>
            </a:extLst>
          </p:cNvPr>
          <p:cNvSpPr/>
          <p:nvPr/>
        </p:nvSpPr>
        <p:spPr>
          <a:xfrm>
            <a:off x="2547733" y="342900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2766173" y="2053533"/>
            <a:ext cx="483858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4" idx="2"/>
            <a:endCxn id="21" idx="3"/>
          </p:cNvCxnSpPr>
          <p:nvPr/>
        </p:nvCxnSpPr>
        <p:spPr>
          <a:xfrm rot="5400000">
            <a:off x="4410075" y="2789499"/>
            <a:ext cx="1239578" cy="311207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2547733" y="2891823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2547733" y="3163670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E43D09E-78F9-2968-DC39-17BB946F2EE1}"/>
              </a:ext>
            </a:extLst>
          </p:cNvPr>
          <p:cNvCxnSpPr>
            <a:cxnSpLocks/>
            <a:stCxn id="21" idx="1"/>
            <a:endCxn id="31" idx="1"/>
          </p:cNvCxnSpPr>
          <p:nvPr/>
        </p:nvCxnSpPr>
        <p:spPr>
          <a:xfrm rot="10800000">
            <a:off x="2547733" y="3027713"/>
            <a:ext cx="12700" cy="5371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41151CD-D9E3-2B13-CD79-72615EEC6143}"/>
              </a:ext>
            </a:extLst>
          </p:cNvPr>
          <p:cNvCxnSpPr>
            <a:cxnSpLocks/>
            <a:stCxn id="10" idx="1"/>
            <a:endCxn id="32" idx="1"/>
          </p:cNvCxnSpPr>
          <p:nvPr/>
        </p:nvCxnSpPr>
        <p:spPr>
          <a:xfrm rot="10800000" flipH="1">
            <a:off x="2514713" y="3299560"/>
            <a:ext cx="33020" cy="273282"/>
          </a:xfrm>
          <a:prstGeom prst="bentConnector3">
            <a:avLst>
              <a:gd name="adj1" fmla="val -546154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122706-7DC0-8D82-50C1-743D906A71E2}"/>
              </a:ext>
            </a:extLst>
          </p:cNvPr>
          <p:cNvSpPr/>
          <p:nvPr/>
        </p:nvSpPr>
        <p:spPr>
          <a:xfrm>
            <a:off x="323157" y="4858535"/>
            <a:ext cx="3128704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374BBA6-F8EF-D1B8-541F-8130BA72945E}"/>
              </a:ext>
            </a:extLst>
          </p:cNvPr>
          <p:cNvCxnSpPr>
            <a:cxnSpLocks/>
            <a:stCxn id="41" idx="0"/>
            <a:endCxn id="46" idx="1"/>
          </p:cNvCxnSpPr>
          <p:nvPr/>
        </p:nvCxnSpPr>
        <p:spPr>
          <a:xfrm rot="5400000" flipH="1" flipV="1">
            <a:off x="1987162" y="4297964"/>
            <a:ext cx="460918" cy="660224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91359F-4759-FE45-CE1C-13C4FB528F8C}"/>
              </a:ext>
            </a:extLst>
          </p:cNvPr>
          <p:cNvSpPr/>
          <p:nvPr/>
        </p:nvSpPr>
        <p:spPr>
          <a:xfrm>
            <a:off x="2547733" y="4261727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930355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935" y="3091559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2015219"/>
            <a:ext cx="8865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"010-2222-3333"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"friends1@gmail.com"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A3FC-BFDB-0652-C35C-469750D00B21}"/>
              </a:ext>
            </a:extLst>
          </p:cNvPr>
          <p:cNvSpPr txBox="1"/>
          <p:nvPr/>
        </p:nvSpPr>
        <p:spPr>
          <a:xfrm>
            <a:off x="288994" y="5763534"/>
            <a:ext cx="3879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emailContact1.printContact();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E3D63F-C995-1CF9-14C7-F6F682407452}"/>
              </a:ext>
            </a:extLst>
          </p:cNvPr>
          <p:cNvSpPr/>
          <p:nvPr/>
        </p:nvSpPr>
        <p:spPr>
          <a:xfrm>
            <a:off x="6279955" y="392984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3566159" y="2047097"/>
            <a:ext cx="4732021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 flipH="1">
            <a:off x="1695561" y="2435845"/>
            <a:ext cx="1234359" cy="1902419"/>
          </a:xfrm>
          <a:prstGeom prst="bentConnector5">
            <a:avLst>
              <a:gd name="adj1" fmla="val -18520"/>
              <a:gd name="adj2" fmla="val 25567"/>
              <a:gd name="adj3" fmla="val 11852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6279955" y="339267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6279955" y="3664518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E43D09E-78F9-2968-DC39-17BB946F2EE1}"/>
              </a:ext>
            </a:extLst>
          </p:cNvPr>
          <p:cNvCxnSpPr>
            <a:cxnSpLocks/>
            <a:stCxn id="21" idx="3"/>
            <a:endCxn id="31" idx="3"/>
          </p:cNvCxnSpPr>
          <p:nvPr/>
        </p:nvCxnSpPr>
        <p:spPr>
          <a:xfrm flipV="1">
            <a:off x="8606482" y="3528561"/>
            <a:ext cx="12700" cy="5371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41151CD-D9E3-2B13-CD79-72615EEC6143}"/>
              </a:ext>
            </a:extLst>
          </p:cNvPr>
          <p:cNvCxnSpPr>
            <a:cxnSpLocks/>
            <a:stCxn id="21" idx="3"/>
            <a:endCxn id="32" idx="3"/>
          </p:cNvCxnSpPr>
          <p:nvPr/>
        </p:nvCxnSpPr>
        <p:spPr>
          <a:xfrm flipV="1">
            <a:off x="8606482" y="3800408"/>
            <a:ext cx="12700" cy="265331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122706-7DC0-8D82-50C1-743D906A71E2}"/>
              </a:ext>
            </a:extLst>
          </p:cNvPr>
          <p:cNvSpPr/>
          <p:nvPr/>
        </p:nvSpPr>
        <p:spPr>
          <a:xfrm>
            <a:off x="323156" y="5813068"/>
            <a:ext cx="3692583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374BBA6-F8EF-D1B8-541F-8130BA72945E}"/>
              </a:ext>
            </a:extLst>
          </p:cNvPr>
          <p:cNvCxnSpPr>
            <a:cxnSpLocks/>
            <a:stCxn id="41" idx="0"/>
            <a:endCxn id="52" idx="1"/>
          </p:cNvCxnSpPr>
          <p:nvPr/>
        </p:nvCxnSpPr>
        <p:spPr>
          <a:xfrm rot="16200000" flipV="1">
            <a:off x="1724868" y="5368487"/>
            <a:ext cx="415289" cy="473873"/>
          </a:xfrm>
          <a:prstGeom prst="bentConnector4">
            <a:avLst>
              <a:gd name="adj1" fmla="val 33639"/>
              <a:gd name="adj2" fmla="val 153237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91359F-4759-FE45-CE1C-13C4FB528F8C}"/>
              </a:ext>
            </a:extLst>
          </p:cNvPr>
          <p:cNvSpPr/>
          <p:nvPr/>
        </p:nvSpPr>
        <p:spPr>
          <a:xfrm>
            <a:off x="6279955" y="4754955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E7BBE-C9D6-6A90-4E14-674BC9C4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165" y="3090470"/>
            <a:ext cx="2359549" cy="246510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780F2C-C815-C9C1-CA3A-2ACA7E8BC601}"/>
              </a:ext>
            </a:extLst>
          </p:cNvPr>
          <p:cNvSpPr/>
          <p:nvPr/>
        </p:nvSpPr>
        <p:spPr>
          <a:xfrm>
            <a:off x="365760" y="2299955"/>
            <a:ext cx="2564160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07850A-DE44-AD47-7301-72F2F4D0CD7E}"/>
              </a:ext>
            </a:extLst>
          </p:cNvPr>
          <p:cNvSpPr/>
          <p:nvPr/>
        </p:nvSpPr>
        <p:spPr>
          <a:xfrm>
            <a:off x="1695561" y="4202374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95FD1A6-E833-AEC3-EF48-115DC4C46F19}"/>
              </a:ext>
            </a:extLst>
          </p:cNvPr>
          <p:cNvCxnSpPr>
            <a:cxnSpLocks/>
            <a:stCxn id="28" idx="3"/>
            <a:endCxn id="49" idx="3"/>
          </p:cNvCxnSpPr>
          <p:nvPr/>
        </p:nvCxnSpPr>
        <p:spPr>
          <a:xfrm flipV="1">
            <a:off x="4022088" y="4059488"/>
            <a:ext cx="3938" cy="278776"/>
          </a:xfrm>
          <a:prstGeom prst="bentConnector3">
            <a:avLst>
              <a:gd name="adj1" fmla="val 5904977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3D394E-25FF-584B-26F5-3D08C6569E36}"/>
              </a:ext>
            </a:extLst>
          </p:cNvPr>
          <p:cNvSpPr/>
          <p:nvPr/>
        </p:nvSpPr>
        <p:spPr>
          <a:xfrm>
            <a:off x="1699499" y="3923598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C2EBAE4-3AEA-D982-4B51-FFCCD2D76528}"/>
              </a:ext>
            </a:extLst>
          </p:cNvPr>
          <p:cNvCxnSpPr>
            <a:cxnSpLocks/>
            <a:stCxn id="28" idx="3"/>
            <a:endCxn id="21" idx="1"/>
          </p:cNvCxnSpPr>
          <p:nvPr/>
        </p:nvCxnSpPr>
        <p:spPr>
          <a:xfrm flipV="1">
            <a:off x="4022088" y="4065739"/>
            <a:ext cx="2257867" cy="2725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0BE7242-F932-39BF-7403-C0EEDD5705A9}"/>
              </a:ext>
            </a:extLst>
          </p:cNvPr>
          <p:cNvSpPr/>
          <p:nvPr/>
        </p:nvSpPr>
        <p:spPr>
          <a:xfrm>
            <a:off x="1695575" y="526188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BED1FD69-D25F-BEFE-4621-BEFCD99811A1}"/>
              </a:ext>
            </a:extLst>
          </p:cNvPr>
          <p:cNvCxnSpPr>
            <a:cxnSpLocks/>
            <a:stCxn id="52" idx="3"/>
            <a:endCxn id="46" idx="1"/>
          </p:cNvCxnSpPr>
          <p:nvPr/>
        </p:nvCxnSpPr>
        <p:spPr>
          <a:xfrm flipV="1">
            <a:off x="4022102" y="4890845"/>
            <a:ext cx="2257853" cy="50693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95749B-0982-193C-47D7-7EAFBE3C9923}"/>
              </a:ext>
            </a:extLst>
          </p:cNvPr>
          <p:cNvSpPr txBox="1"/>
          <p:nvPr/>
        </p:nvSpPr>
        <p:spPr>
          <a:xfrm>
            <a:off x="4012828" y="4319790"/>
            <a:ext cx="171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(name, phone);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296D6D-FDE6-FBF0-59C2-C76DE71E3D16}"/>
              </a:ext>
            </a:extLst>
          </p:cNvPr>
          <p:cNvSpPr txBox="1"/>
          <p:nvPr/>
        </p:nvSpPr>
        <p:spPr>
          <a:xfrm>
            <a:off x="4012828" y="5371323"/>
            <a:ext cx="19104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.printContact();</a:t>
            </a:r>
          </a:p>
        </p:txBody>
      </p:sp>
    </p:spTree>
    <p:extLst>
      <p:ext uri="{BB962C8B-B14F-4D97-AF65-F5344CB8AC3E}">
        <p14:creationId xmlns:p14="http://schemas.microsoft.com/office/powerpoint/2010/main" val="1393685910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 sz="2000">
                <a:latin typeface="+mj-ea"/>
                <a:ea typeface="+mj-ea"/>
              </a:rPr>
              <a:t>상속받은 클래스의 메소드를 실행할 경우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ko-KR" altLang="en-US" sz="2000">
                <a:latin typeface="+mj-ea"/>
                <a:ea typeface="+mj-ea"/>
              </a:rPr>
              <a:t>부모클래스의 메소드를 실행시키게 됩니다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  <a:p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372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93" y="4438740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1716309"/>
            <a:ext cx="5326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System.out.println(emailContact1.getName());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System.out.println(emailContact1.getPhone());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System.out.println(emailContact1.getEmail());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2474612" y="1758121"/>
            <a:ext cx="256416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5038772" y="1876249"/>
            <a:ext cx="1274463" cy="1298186"/>
          </a:xfrm>
          <a:prstGeom prst="bentConnector3">
            <a:avLst>
              <a:gd name="adj1" fmla="val 80493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6343713" y="5553554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6343713" y="582540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E7BBE-C9D6-6A90-4E14-674BC9C4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755" y="1673968"/>
            <a:ext cx="2359549" cy="246510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3D394E-25FF-584B-26F5-3D08C6569E36}"/>
              </a:ext>
            </a:extLst>
          </p:cNvPr>
          <p:cNvSpPr/>
          <p:nvPr/>
        </p:nvSpPr>
        <p:spPr>
          <a:xfrm>
            <a:off x="6303089" y="2507096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632714-88D5-21D1-3820-6758F1CA14FD}"/>
              </a:ext>
            </a:extLst>
          </p:cNvPr>
          <p:cNvSpPr/>
          <p:nvPr/>
        </p:nvSpPr>
        <p:spPr>
          <a:xfrm>
            <a:off x="2474612" y="2003149"/>
            <a:ext cx="270720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6B696D-CCF8-C1EA-10C1-F52580157ACE}"/>
              </a:ext>
            </a:extLst>
          </p:cNvPr>
          <p:cNvSpPr/>
          <p:nvPr/>
        </p:nvSpPr>
        <p:spPr>
          <a:xfrm>
            <a:off x="2474612" y="2253932"/>
            <a:ext cx="270720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7762DB-5AB4-DCAF-F618-25DF6167B448}"/>
              </a:ext>
            </a:extLst>
          </p:cNvPr>
          <p:cNvSpPr/>
          <p:nvPr/>
        </p:nvSpPr>
        <p:spPr>
          <a:xfrm>
            <a:off x="6313235" y="3038545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93E014-53CB-ECF6-6A86-ECE3A477906D}"/>
              </a:ext>
            </a:extLst>
          </p:cNvPr>
          <p:cNvSpPr/>
          <p:nvPr/>
        </p:nvSpPr>
        <p:spPr>
          <a:xfrm>
            <a:off x="6313235" y="3312677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7E1BBDC-B741-91FE-B18B-004AD8C6FB24}"/>
              </a:ext>
            </a:extLst>
          </p:cNvPr>
          <p:cNvSpPr/>
          <p:nvPr/>
        </p:nvSpPr>
        <p:spPr>
          <a:xfrm>
            <a:off x="6313235" y="357196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E6121958-C4B0-93E8-2767-C49C4CD43DF8}"/>
              </a:ext>
            </a:extLst>
          </p:cNvPr>
          <p:cNvCxnSpPr>
            <a:cxnSpLocks/>
            <a:stCxn id="5" idx="3"/>
            <a:endCxn id="30" idx="1"/>
          </p:cNvCxnSpPr>
          <p:nvPr/>
        </p:nvCxnSpPr>
        <p:spPr>
          <a:xfrm>
            <a:off x="5181812" y="2121277"/>
            <a:ext cx="1131423" cy="1327290"/>
          </a:xfrm>
          <a:prstGeom prst="bentConnector3">
            <a:avLst>
              <a:gd name="adj1" fmla="val 64143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03431D9-BB83-D290-225E-227CE2382887}"/>
              </a:ext>
            </a:extLst>
          </p:cNvPr>
          <p:cNvCxnSpPr>
            <a:cxnSpLocks/>
            <a:stCxn id="7" idx="3"/>
            <a:endCxn id="37" idx="1"/>
          </p:cNvCxnSpPr>
          <p:nvPr/>
        </p:nvCxnSpPr>
        <p:spPr>
          <a:xfrm>
            <a:off x="5181812" y="2372060"/>
            <a:ext cx="1131423" cy="13357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3A0CED8-B676-17A9-15EB-946E2BEE070E}"/>
              </a:ext>
            </a:extLst>
          </p:cNvPr>
          <p:cNvCxnSpPr>
            <a:cxnSpLocks/>
            <a:stCxn id="27" idx="3"/>
            <a:endCxn id="31" idx="3"/>
          </p:cNvCxnSpPr>
          <p:nvPr/>
        </p:nvCxnSpPr>
        <p:spPr>
          <a:xfrm>
            <a:off x="8639762" y="3174435"/>
            <a:ext cx="30478" cy="2515009"/>
          </a:xfrm>
          <a:prstGeom prst="bentConnector3">
            <a:avLst>
              <a:gd name="adj1" fmla="val 850049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4B88CC2D-F257-6987-7EB1-3420BDF0981F}"/>
              </a:ext>
            </a:extLst>
          </p:cNvPr>
          <p:cNvCxnSpPr>
            <a:cxnSpLocks/>
            <a:stCxn id="30" idx="3"/>
            <a:endCxn id="32" idx="3"/>
          </p:cNvCxnSpPr>
          <p:nvPr/>
        </p:nvCxnSpPr>
        <p:spPr>
          <a:xfrm>
            <a:off x="8639762" y="3448567"/>
            <a:ext cx="30478" cy="2512724"/>
          </a:xfrm>
          <a:prstGeom prst="bentConnector3">
            <a:avLst>
              <a:gd name="adj1" fmla="val 1300079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665531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자동차를 종류별로 구현해보고 인스턴스를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자동차</a:t>
            </a:r>
            <a:r>
              <a:rPr lang="en-US" altLang="ko-KR">
                <a:latin typeface="+mj-ea"/>
                <a:ea typeface="+mj-ea"/>
              </a:rPr>
              <a:t>(Vehicle)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(EV)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배터리 양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배터리체크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스포츠카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터보모드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 err="1">
                <a:latin typeface="+mj-ea"/>
                <a:ea typeface="+mj-ea"/>
              </a:rPr>
              <a:t>배트모빌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터보모드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배트포트 분리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373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5859780" y="226314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6789236" y="338164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4914592" y="338164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4914592" y="4500156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5608012" y="283464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553200" y="283464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5608012" y="395314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145928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상속의 유연성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41757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연습문제에서 만든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에 기능 추가하기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시동끄기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메소드를 만들어봅니다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스포츠카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배트모빌에서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시동끄기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메소드의 사용이 가능한지 확인해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상속의 유연성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5859780" y="291846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6789236" y="403696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4914592" y="403696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4914592" y="5155476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5608012" y="348996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553200" y="348996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5608012" y="460846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72543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상속은 기존의 클래스에서 확장한 것으로 부모 클래스를 수정할 경우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자식 클래스에서 수정된 내용을 즉시 사용할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상속을 하지 않고 일일이 기능을 추가할 경우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필요한 클래스를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모두 찾아 수정을 </a:t>
            </a:r>
            <a:r>
              <a:rPr lang="ko-KR" altLang="en-US" dirty="0" err="1">
                <a:latin typeface="+mj-ea"/>
                <a:ea typeface="+mj-ea"/>
              </a:rPr>
              <a:t>해야하는</a:t>
            </a:r>
            <a:r>
              <a:rPr lang="ko-KR" altLang="en-US" dirty="0">
                <a:latin typeface="+mj-ea"/>
                <a:ea typeface="+mj-ea"/>
              </a:rPr>
              <a:t> 불편함이 생기게 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이처럼 상속은 클래스 속성이나 기능의 추가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수정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삭제를 유연하게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처리할 수 있게 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상속의 유연성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5950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상속이 불가능한 </a:t>
            </a:r>
            <a:r>
              <a:rPr lang="en-US" altLang="ko-KR" sz="4000" b="1">
                <a:latin typeface="+mj-ea"/>
              </a:rPr>
              <a:t>final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045830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모든 클래스는 상속이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 선언부에</a:t>
            </a:r>
            <a:r>
              <a:rPr lang="en-US" altLang="ko-KR">
                <a:latin typeface="+mj-ea"/>
                <a:ea typeface="+mj-ea"/>
              </a:rPr>
              <a:t> final </a:t>
            </a:r>
            <a:r>
              <a:rPr lang="ko-KR" altLang="en-US">
                <a:latin typeface="+mj-ea"/>
                <a:ea typeface="+mj-ea"/>
              </a:rPr>
              <a:t>키워드가 존재할 경우는 상속이 불가능합니다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클래스에</a:t>
            </a:r>
            <a:r>
              <a:rPr lang="en-US" altLang="ko-KR">
                <a:latin typeface="+mj-ea"/>
                <a:ea typeface="+mj-ea"/>
              </a:rPr>
              <a:t> final</a:t>
            </a:r>
            <a:r>
              <a:rPr lang="ko-KR" altLang="en-US">
                <a:latin typeface="+mj-ea"/>
                <a:ea typeface="+mj-ea"/>
              </a:rPr>
              <a:t>을 추가해봅니다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을 상속받는 스포츠카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스포츠카를 상속받는 </a:t>
            </a:r>
            <a:r>
              <a:rPr lang="ko-KR" altLang="en-US" err="1">
                <a:latin typeface="+mj-ea"/>
                <a:ea typeface="+mj-ea"/>
              </a:rPr>
              <a:t>배트모빌</a:t>
            </a:r>
            <a:r>
              <a:rPr lang="ko-KR" altLang="en-US">
                <a:latin typeface="+mj-ea"/>
                <a:ea typeface="+mj-ea"/>
              </a:rPr>
              <a:t> 모두 에러가 발생함을 알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상속이 되지 않길 바라는 클래스에는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final </a:t>
            </a:r>
            <a:r>
              <a:rPr lang="ko-KR" altLang="en-US">
                <a:latin typeface="+mj-ea"/>
                <a:ea typeface="+mj-ea"/>
              </a:rPr>
              <a:t>키워드를 추가해 상속을 제한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상속이 불가능한 </a:t>
            </a:r>
            <a:r>
              <a:rPr lang="en-US" altLang="ko-KR"/>
              <a:t>final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6A6B45-A776-EC95-8E23-C85CD6BA33A8}"/>
              </a:ext>
            </a:extLst>
          </p:cNvPr>
          <p:cNvSpPr/>
          <p:nvPr/>
        </p:nvSpPr>
        <p:spPr>
          <a:xfrm>
            <a:off x="6140970" y="3429000"/>
            <a:ext cx="1858912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final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class 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414DAE-9F81-B456-01DD-C16797645E0D}"/>
              </a:ext>
            </a:extLst>
          </p:cNvPr>
          <p:cNvSpPr/>
          <p:nvPr/>
        </p:nvSpPr>
        <p:spPr>
          <a:xfrm>
            <a:off x="7306462" y="4547508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CBB7DC-F121-DA65-ED60-6ECC75244B22}"/>
              </a:ext>
            </a:extLst>
          </p:cNvPr>
          <p:cNvSpPr/>
          <p:nvPr/>
        </p:nvSpPr>
        <p:spPr>
          <a:xfrm>
            <a:off x="5431818" y="4547508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94F66E-C3BE-C689-A8E1-37BEF4535265}"/>
              </a:ext>
            </a:extLst>
          </p:cNvPr>
          <p:cNvSpPr/>
          <p:nvPr/>
        </p:nvSpPr>
        <p:spPr>
          <a:xfrm>
            <a:off x="5431818" y="5666016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70307A5-19A1-4D26-579B-50E05353F078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6125238" y="400050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C50460A-1DE4-EFEB-5AA6-FF0F2BA9D48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070426" y="400050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2C36D69-5B25-E170-F4A2-4D2A42EA049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125238" y="511900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1953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상속을 제한하는 </a:t>
            </a:r>
            <a:r>
              <a:rPr lang="en-US" altLang="ko-KR" sz="4000" b="1">
                <a:latin typeface="+mj-ea"/>
              </a:rPr>
              <a:t>sealed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018611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17</a:t>
            </a:r>
            <a:r>
              <a:rPr lang="ko-KR" altLang="en-US">
                <a:latin typeface="+mj-ea"/>
                <a:ea typeface="+mj-ea"/>
              </a:rPr>
              <a:t>부터 추가된 </a:t>
            </a:r>
            <a:r>
              <a:rPr lang="en-US" altLang="ko-KR">
                <a:latin typeface="+mj-ea"/>
                <a:ea typeface="+mj-ea"/>
              </a:rPr>
              <a:t>sealed </a:t>
            </a:r>
            <a:r>
              <a:rPr lang="ko-KR" altLang="en-US">
                <a:latin typeface="+mj-ea"/>
                <a:ea typeface="+mj-ea"/>
              </a:rPr>
              <a:t>키워드는 </a:t>
            </a:r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과 마찬가지로 상속을 할 수 없도록 제한시키는 키워드입니다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 키워드와의 차이점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final: </a:t>
            </a:r>
            <a:r>
              <a:rPr lang="ko-KR" altLang="en-US">
                <a:latin typeface="+mj-ea"/>
                <a:ea typeface="+mj-ea"/>
              </a:rPr>
              <a:t>상속이 불가능한 클래스로 만듦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sealed: </a:t>
            </a:r>
            <a:r>
              <a:rPr lang="ko-KR" altLang="en-US">
                <a:latin typeface="+mj-ea"/>
                <a:ea typeface="+mj-ea"/>
              </a:rPr>
              <a:t>지정 클래스를 제외하고 상속이 불가능하도록 만듦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sealed</a:t>
            </a:r>
            <a:r>
              <a:rPr lang="ko-KR" altLang="en-US">
                <a:latin typeface="+mj-ea"/>
                <a:ea typeface="+mj-ea"/>
              </a:rPr>
              <a:t>를 상속받는 클래스는 아래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가지 중 하나를 선택해야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>
                <a:latin typeface="+mj-ea"/>
                <a:ea typeface="+mj-ea"/>
              </a:rPr>
              <a:t>sealed: </a:t>
            </a:r>
            <a:r>
              <a:rPr lang="ko-KR" altLang="en-US">
                <a:latin typeface="+mj-ea"/>
                <a:ea typeface="+mj-ea"/>
              </a:rPr>
              <a:t>지정 클래스를 제외하고 상속이 불가능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non-sealed: </a:t>
            </a:r>
            <a:r>
              <a:rPr lang="ko-KR" altLang="en-US">
                <a:latin typeface="+mj-ea"/>
                <a:ea typeface="+mj-ea"/>
              </a:rPr>
              <a:t>모든 클래스에서 상속 가능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final: </a:t>
            </a:r>
            <a:r>
              <a:rPr lang="ko-KR" altLang="en-US">
                <a:latin typeface="+mj-ea"/>
                <a:ea typeface="+mj-ea"/>
              </a:rPr>
              <a:t>상속이 불가능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상속을 제한하는 </a:t>
            </a:r>
            <a:r>
              <a:rPr lang="en-US" altLang="ko-KR"/>
              <a:t>sealed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583446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sz="2000">
                <a:latin typeface="+mj-ea"/>
                <a:ea typeface="+mj-ea"/>
              </a:rPr>
              <a:t>아래 처럼 변경해 보세요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상속을 제한하는 </a:t>
            </a:r>
            <a:r>
              <a:rPr lang="en-US" altLang="ko-KR"/>
              <a:t>sealed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381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2895784" y="2191134"/>
            <a:ext cx="3245752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(SportsCar, EV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만 상속가능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class Vehicle </a:t>
            </a:r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permits SportsCar, EV</a:t>
            </a:r>
            <a:endParaRPr lang="ko-KR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4843794" y="3327510"/>
            <a:ext cx="2707626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 </a:t>
            </a:r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모든 클래스에서  상속 불가능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final 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class 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1370521" y="3327510"/>
            <a:ext cx="3337251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(BatMobile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만 상속가능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class SportsCar </a:t>
            </a:r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permits BatMobile</a:t>
            </a:r>
            <a:endParaRPr lang="ko-KR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1682107" y="4446018"/>
            <a:ext cx="2714078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모든 클래스에서 상속 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non-sealed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 class 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3039147" y="2762634"/>
            <a:ext cx="1479513" cy="56487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4518660" y="2762634"/>
            <a:ext cx="1678947" cy="56487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3039146" y="3899010"/>
            <a:ext cx="1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68840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 err="1">
                <a:latin typeface="+mj-ea"/>
              </a:rPr>
              <a:t>다형성</a:t>
            </a:r>
            <a:r>
              <a:rPr lang="en-US" altLang="ko-KR" sz="4000" b="1">
                <a:latin typeface="+mj-ea"/>
              </a:rPr>
              <a:t>(Polymorphism)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0103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객체지향프로그래밍의 </a:t>
            </a:r>
            <a:r>
              <a:rPr lang="en-US" altLang="ko-KR" dirty="0">
                <a:latin typeface="+mj-ea"/>
                <a:ea typeface="+mj-ea"/>
              </a:rPr>
              <a:t>4</a:t>
            </a:r>
            <a:r>
              <a:rPr lang="ko-KR" altLang="en-US" dirty="0">
                <a:latin typeface="+mj-ea"/>
                <a:ea typeface="+mj-ea"/>
              </a:rPr>
              <a:t>가지 특징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캡슐화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여러 기능을 메소드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캡슐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로 묶어 처리한다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추상화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기능의 정의만 존재하고 구현은 하지 않는다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상속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구현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대상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부모클래스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 타입에 포함되는 것을 허가한다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  <a:sym typeface="Wingdings" panose="05000000000000000000" pitchFamily="2" charset="2"/>
              </a:rPr>
              <a:t>즉</a:t>
            </a:r>
            <a:r>
              <a:rPr lang="en-US" altLang="ko-KR" dirty="0">
                <a:latin typeface="+mj-ea"/>
                <a:ea typeface="+mj-ea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하나의 타입으로 여러가지 타입을 표현할 수 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상속 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부모클래스의 모든 속성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기능을 확장한다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 err="1"/>
              <a:t>다형성</a:t>
            </a:r>
            <a:r>
              <a:rPr lang="en-US" altLang="ko-KR"/>
              <a:t>(Polymorphism)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09110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is</a:t>
            </a:r>
            <a:r>
              <a:rPr lang="ko-KR" altLang="en-US" sz="4000" b="1">
                <a:latin typeface="+mj-ea"/>
              </a:rPr>
              <a:t> </a:t>
            </a:r>
            <a:r>
              <a:rPr lang="en-US" altLang="ko-KR" sz="4000" b="1">
                <a:latin typeface="+mj-ea"/>
              </a:rPr>
              <a:t>a</a:t>
            </a:r>
            <a:r>
              <a:rPr lang="ko-KR" altLang="en-US" sz="4000" b="1">
                <a:latin typeface="+mj-ea"/>
              </a:rPr>
              <a:t> 관계를 이용한 </a:t>
            </a:r>
            <a:r>
              <a:rPr lang="ko-KR" altLang="en-US" sz="4000" b="1" err="1">
                <a:latin typeface="+mj-ea"/>
              </a:rPr>
              <a:t>다형성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781318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상속 관계에 있는 클래스들은 아래 규칙으로 표현이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Sub class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Super class.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Sub class: </a:t>
            </a:r>
            <a:r>
              <a:rPr lang="ko-KR" altLang="en-US">
                <a:latin typeface="+mj-ea"/>
                <a:ea typeface="+mj-ea"/>
              </a:rPr>
              <a:t>상속을 받아 확장한 클래스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Sub class</a:t>
            </a:r>
          </a:p>
          <a:p>
            <a:pPr lvl="3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Vehicle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Sub class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Super class: </a:t>
            </a:r>
            <a:r>
              <a:rPr lang="ko-KR" altLang="en-US">
                <a:latin typeface="+mj-ea"/>
                <a:ea typeface="+mj-ea"/>
              </a:rPr>
              <a:t>상속의 대상이 되는 클래스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EV,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Super class</a:t>
            </a:r>
          </a:p>
          <a:p>
            <a:pPr lvl="3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Super class</a:t>
            </a:r>
          </a:p>
          <a:p>
            <a:pPr lvl="3"/>
            <a:endParaRPr lang="en-US" altLang="ko-KR" sz="16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Vehicle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Vehicle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EV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Veicle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1DA337-A472-CE96-97EA-6ACE8956E1FE}"/>
              </a:ext>
            </a:extLst>
          </p:cNvPr>
          <p:cNvSpPr/>
          <p:nvPr/>
        </p:nvSpPr>
        <p:spPr>
          <a:xfrm>
            <a:off x="6667254" y="3848949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93ECB9-E57F-54F5-BC0D-F509247064EC}"/>
              </a:ext>
            </a:extLst>
          </p:cNvPr>
          <p:cNvSpPr/>
          <p:nvPr/>
        </p:nvSpPr>
        <p:spPr>
          <a:xfrm>
            <a:off x="7596710" y="4967457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B44DC9-DC0B-B334-67B4-034D94A5EDC8}"/>
              </a:ext>
            </a:extLst>
          </p:cNvPr>
          <p:cNvSpPr/>
          <p:nvPr/>
        </p:nvSpPr>
        <p:spPr>
          <a:xfrm>
            <a:off x="5722066" y="4967457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5FE151-BB16-C4C5-4981-4485E9FF24A8}"/>
              </a:ext>
            </a:extLst>
          </p:cNvPr>
          <p:cNvSpPr/>
          <p:nvPr/>
        </p:nvSpPr>
        <p:spPr>
          <a:xfrm>
            <a:off x="5722066" y="6085965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9100B1-9E7D-F717-ADA1-28BD0A86EEB3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6415486" y="4420449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6776F27-E0AB-C4ED-AC11-BB3E3AE4E08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360674" y="4420449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833DA7-3B38-5969-4476-B90B4EC31FD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415486" y="5538957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276214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7" y="1247502"/>
            <a:ext cx="5194504" cy="5477892"/>
          </a:xfrm>
        </p:spPr>
        <p:txBody>
          <a:bodyPr/>
          <a:lstStyle/>
          <a:p>
            <a:r>
              <a:rPr lang="en-US" altLang="ko-KR" sz="1800">
                <a:latin typeface="+mj-ea"/>
                <a:ea typeface="+mj-ea"/>
              </a:rPr>
              <a:t>is a </a:t>
            </a:r>
            <a:r>
              <a:rPr lang="ko-KR" altLang="en-US" sz="1800">
                <a:latin typeface="+mj-ea"/>
                <a:ea typeface="+mj-ea"/>
              </a:rPr>
              <a:t>관계가 성립할 경우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다형성을 이용해 </a:t>
            </a:r>
            <a:br>
              <a:rPr lang="en-US" altLang="ko-KR" sz="1800">
                <a:latin typeface="+mj-ea"/>
                <a:ea typeface="+mj-ea"/>
              </a:rPr>
            </a:br>
            <a:r>
              <a:rPr lang="ko-KR" altLang="en-US" sz="1800">
                <a:latin typeface="+mj-ea"/>
                <a:ea typeface="+mj-ea"/>
              </a:rPr>
              <a:t>유연한 </a:t>
            </a:r>
            <a:r>
              <a:rPr lang="ko-KR" altLang="en-US" sz="1800" b="1">
                <a:latin typeface="+mj-ea"/>
                <a:ea typeface="+mj-ea"/>
              </a:rPr>
              <a:t>변수 및 파라미터 타입 정의</a:t>
            </a:r>
            <a:r>
              <a:rPr lang="ko-KR" altLang="en-US" sz="1800">
                <a:latin typeface="+mj-ea"/>
                <a:ea typeface="+mj-ea"/>
              </a:rPr>
              <a:t>가</a:t>
            </a:r>
            <a:br>
              <a:rPr lang="en-US" altLang="ko-KR" sz="1800">
                <a:latin typeface="+mj-ea"/>
                <a:ea typeface="+mj-ea"/>
              </a:rPr>
            </a:br>
            <a:r>
              <a:rPr lang="ko-KR" altLang="en-US" sz="1800">
                <a:latin typeface="+mj-ea"/>
                <a:ea typeface="+mj-ea"/>
              </a:rPr>
              <a:t>가능해집니다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1DA337-A472-CE96-97EA-6ACE8956E1FE}"/>
              </a:ext>
            </a:extLst>
          </p:cNvPr>
          <p:cNvSpPr/>
          <p:nvPr/>
        </p:nvSpPr>
        <p:spPr>
          <a:xfrm>
            <a:off x="6570300" y="1387184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93ECB9-E57F-54F5-BC0D-F509247064EC}"/>
              </a:ext>
            </a:extLst>
          </p:cNvPr>
          <p:cNvSpPr/>
          <p:nvPr/>
        </p:nvSpPr>
        <p:spPr>
          <a:xfrm>
            <a:off x="7499756" y="2505692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B44DC9-DC0B-B334-67B4-034D94A5EDC8}"/>
              </a:ext>
            </a:extLst>
          </p:cNvPr>
          <p:cNvSpPr/>
          <p:nvPr/>
        </p:nvSpPr>
        <p:spPr>
          <a:xfrm>
            <a:off x="5625112" y="2505692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5FE151-BB16-C4C5-4981-4485E9FF24A8}"/>
              </a:ext>
            </a:extLst>
          </p:cNvPr>
          <p:cNvSpPr/>
          <p:nvPr/>
        </p:nvSpPr>
        <p:spPr>
          <a:xfrm>
            <a:off x="5625112" y="362420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9100B1-9E7D-F717-ADA1-28BD0A86EEB3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6318532" y="1958684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6776F27-E0AB-C4ED-AC11-BB3E3AE4E08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263720" y="1958684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833DA7-3B38-5969-4476-B90B4EC31FD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318532" y="3077192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2A8EA2-8E96-5E2B-9B35-2B0A0487F4EE}"/>
              </a:ext>
            </a:extLst>
          </p:cNvPr>
          <p:cNvSpPr txBox="1"/>
          <p:nvPr/>
        </p:nvSpPr>
        <p:spPr>
          <a:xfrm>
            <a:off x="543943" y="2232188"/>
            <a:ext cx="51549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car1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SportsCar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EV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</p:txBody>
      </p:sp>
    </p:spTree>
    <p:extLst>
      <p:ext uri="{BB962C8B-B14F-4D97-AF65-F5344CB8AC3E}">
        <p14:creationId xmlns:p14="http://schemas.microsoft.com/office/powerpoint/2010/main" val="3012988424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Vehicle,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EV,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을 하나의 메소드로 처리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다형성을 이용하면 </a:t>
            </a:r>
            <a:r>
              <a:rPr lang="en-US" altLang="ko-KR">
                <a:latin typeface="+mj-ea"/>
                <a:ea typeface="+mj-ea"/>
              </a:rPr>
              <a:t>Super class</a:t>
            </a:r>
            <a:r>
              <a:rPr lang="ko-KR" altLang="en-US">
                <a:latin typeface="+mj-ea"/>
                <a:ea typeface="+mj-ea"/>
              </a:rPr>
              <a:t>로 </a:t>
            </a:r>
            <a:r>
              <a:rPr lang="en-US" altLang="ko-KR">
                <a:latin typeface="+mj-ea"/>
                <a:ea typeface="+mj-ea"/>
              </a:rPr>
              <a:t>Sub class</a:t>
            </a:r>
            <a:r>
              <a:rPr lang="ko-KR" altLang="en-US">
                <a:latin typeface="+mj-ea"/>
                <a:ea typeface="+mj-ea"/>
              </a:rPr>
              <a:t>를 제어할 수 </a:t>
            </a:r>
            <a:r>
              <a:rPr lang="ko-KR" altLang="en-US" err="1">
                <a:latin typeface="+mj-ea"/>
                <a:ea typeface="+mj-ea"/>
              </a:rPr>
              <a:t>있게됩니다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(Vehicle vehicle) </a:t>
            </a:r>
            <a:r>
              <a:rPr lang="ko-KR" altLang="en-US">
                <a:latin typeface="+mj-ea"/>
                <a:ea typeface="+mj-ea"/>
              </a:rPr>
              <a:t>메소드로 모든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차량의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r>
              <a:rPr lang="ko-KR" altLang="en-US">
                <a:latin typeface="+mj-ea"/>
                <a:ea typeface="+mj-ea"/>
              </a:rPr>
              <a:t> 메소드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())</a:t>
            </a:r>
            <a:r>
              <a:rPr lang="ko-KR" altLang="en-US">
                <a:latin typeface="+mj-ea"/>
                <a:ea typeface="+mj-ea"/>
              </a:rPr>
              <a:t> 호출해보기 실습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387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7EB3D2-CED1-53AC-6A30-A744138DAA8D}"/>
              </a:ext>
            </a:extLst>
          </p:cNvPr>
          <p:cNvSpPr txBox="1"/>
          <p:nvPr/>
        </p:nvSpPr>
        <p:spPr>
          <a:xfrm>
            <a:off x="474344" y="2718644"/>
            <a:ext cx="69551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(car1);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(car2);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(car3);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(car4);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1136689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16. </a:t>
            </a:r>
            <a:r>
              <a:rPr lang="ko-KR" altLang="en-US" sz="4000" b="1">
                <a:latin typeface="+mj-ea"/>
              </a:rPr>
              <a:t>메소드 </a:t>
            </a:r>
            <a:r>
              <a:rPr lang="ko-KR" altLang="en-US" sz="4000" b="1" err="1">
                <a:latin typeface="+mj-ea"/>
              </a:rPr>
              <a:t>오버라이딩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A8E231-9FAD-0DAC-7D52-D3DF8ED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326963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부모클래스의 메소드를 자식 클래스에서 재 정의하는 것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객체 지향 설계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원칙 중 </a:t>
            </a:r>
            <a:r>
              <a:rPr lang="ko-KR" altLang="en-US" err="1">
                <a:latin typeface="+mj-ea"/>
                <a:ea typeface="+mj-ea"/>
              </a:rPr>
              <a:t>리스코프</a:t>
            </a:r>
            <a:r>
              <a:rPr lang="ko-KR" altLang="en-US">
                <a:latin typeface="+mj-ea"/>
                <a:ea typeface="+mj-ea"/>
              </a:rPr>
              <a:t> 치환의 원칙</a:t>
            </a:r>
            <a:r>
              <a:rPr lang="en-US" altLang="ko-KR">
                <a:latin typeface="+mj-ea"/>
                <a:ea typeface="+mj-ea"/>
              </a:rPr>
              <a:t>(LSP)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관계는 유지하되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부모클래스의 메소드를 </a:t>
            </a:r>
            <a:r>
              <a:rPr lang="ko-KR" altLang="en-US" err="1">
                <a:latin typeface="+mj-ea"/>
                <a:ea typeface="+mj-ea"/>
              </a:rPr>
              <a:t>오버라이딩</a:t>
            </a:r>
            <a:r>
              <a:rPr lang="ko-KR" altLang="en-US">
                <a:latin typeface="+mj-ea"/>
                <a:ea typeface="+mj-ea"/>
              </a:rPr>
              <a:t> 하지 말 것을 권고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자식 클래스에서 부모클래스의 메소드를 </a:t>
            </a:r>
            <a:r>
              <a:rPr lang="ko-KR" altLang="en-US" err="1">
                <a:latin typeface="+mj-ea"/>
                <a:ea typeface="+mj-ea"/>
              </a:rPr>
              <a:t>아무렇게나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ko-KR" altLang="en-US" err="1">
                <a:latin typeface="+mj-ea"/>
                <a:ea typeface="+mj-ea"/>
              </a:rPr>
              <a:t>오버라이딩</a:t>
            </a:r>
            <a:r>
              <a:rPr lang="ko-KR" altLang="en-US">
                <a:latin typeface="+mj-ea"/>
                <a:ea typeface="+mj-ea"/>
              </a:rPr>
              <a:t> 하지 말 것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/>
              <a:t>메소드 </a:t>
            </a:r>
            <a:r>
              <a:rPr lang="ko-KR" altLang="en-US" err="1"/>
              <a:t>오버라이딩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389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80928-D4B3-D7C5-15AA-8995F8B55CD9}"/>
              </a:ext>
            </a:extLst>
          </p:cNvPr>
          <p:cNvSpPr txBox="1"/>
          <p:nvPr/>
        </p:nvSpPr>
        <p:spPr>
          <a:xfrm>
            <a:off x="428624" y="2859159"/>
            <a:ext cx="86992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Contact 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클래스의 </a:t>
            </a:r>
            <a:r>
              <a:rPr lang="en-US" altLang="ko-KR" sz="160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printContact</a:t>
            </a:r>
            <a:r>
              <a:rPr lang="en-US" altLang="ko-KR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메소드를 </a:t>
            </a:r>
            <a:r>
              <a:rPr lang="en-US" altLang="ko-KR" sz="160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EmailContact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에서 재정의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3498800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@Override</a:t>
            </a:r>
            <a:r>
              <a:rPr lang="ko-KR" altLang="en-US">
                <a:latin typeface="+mj-ea"/>
                <a:ea typeface="+mj-ea"/>
              </a:rPr>
              <a:t> 를 작성하지 않아도 메소드 </a:t>
            </a:r>
            <a:r>
              <a:rPr lang="ko-KR" altLang="en-US" err="1">
                <a:latin typeface="+mj-ea"/>
                <a:ea typeface="+mj-ea"/>
              </a:rPr>
              <a:t>오버라이딩은</a:t>
            </a:r>
            <a:r>
              <a:rPr lang="ko-KR" altLang="en-US">
                <a:latin typeface="+mj-ea"/>
                <a:ea typeface="+mj-ea"/>
              </a:rPr>
              <a:t> 정상 동작합니다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@Override</a:t>
            </a:r>
            <a:r>
              <a:rPr lang="ko-KR" altLang="en-US">
                <a:latin typeface="+mj-ea"/>
                <a:ea typeface="+mj-ea"/>
              </a:rPr>
              <a:t> 를 작성하지 않을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미미한 성능 하락을 일으킵니다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동시접속 사용자가 많은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트래픽이 많은</a:t>
            </a:r>
            <a:r>
              <a:rPr lang="en-US" altLang="ko-KR">
                <a:latin typeface="+mj-ea"/>
                <a:ea typeface="+mj-ea"/>
              </a:rPr>
              <a:t>|</a:t>
            </a:r>
            <a:r>
              <a:rPr lang="ko-KR" altLang="en-US">
                <a:latin typeface="+mj-ea"/>
                <a:ea typeface="+mj-ea"/>
              </a:rPr>
              <a:t>트랜잭션이 많은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애플리케이션일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미미한 성능의 하락이 매우 큰 성능 하락을 초래하기 때문에</a:t>
            </a:r>
            <a:r>
              <a:rPr lang="en-US" altLang="ko-KR">
                <a:latin typeface="+mj-ea"/>
                <a:ea typeface="+mj-ea"/>
              </a:rPr>
              <a:t>, @Override</a:t>
            </a:r>
            <a:r>
              <a:rPr lang="ko-KR" altLang="en-US">
                <a:latin typeface="+mj-ea"/>
                <a:ea typeface="+mj-ea"/>
              </a:rPr>
              <a:t>는 반드시 작성해 주어야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/>
              <a:t>메소드 </a:t>
            </a:r>
            <a:r>
              <a:rPr lang="ko-KR" altLang="en-US" err="1"/>
              <a:t>오버라이딩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047379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16. </a:t>
            </a:r>
            <a:r>
              <a:rPr lang="ko-KR" altLang="en-US" sz="4000" b="1" err="1">
                <a:latin typeface="+mj-ea"/>
              </a:rPr>
              <a:t>오버라이딩이</a:t>
            </a:r>
            <a:r>
              <a:rPr lang="ko-KR" altLang="en-US" sz="4000" b="1">
                <a:latin typeface="+mj-ea"/>
              </a:rPr>
              <a:t> 불가능한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final method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A8E231-9FAD-0DAC-7D52-D3DF8ED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701038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자식 클래스가 부모 클래스의 메소드를 재정의 하지 못하도록 막으려면 부모클래스의 메소드에 </a:t>
            </a:r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 을 붙여줍니다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 err="1"/>
              <a:t>오버라이딩이</a:t>
            </a:r>
            <a:r>
              <a:rPr lang="ko-KR" altLang="en-US"/>
              <a:t> 불가능한 </a:t>
            </a:r>
            <a:r>
              <a:rPr lang="en-US" altLang="ko-KR"/>
              <a:t>final method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A8E27-DEAE-AAA1-D5D4-6C12F1473409}"/>
              </a:ext>
            </a:extLst>
          </p:cNvPr>
          <p:cNvSpPr txBox="1"/>
          <p:nvPr/>
        </p:nvSpPr>
        <p:spPr>
          <a:xfrm>
            <a:off x="503766" y="2028801"/>
            <a:ext cx="70569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겁니다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6702623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의 자식 클래스에서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Override </a:t>
            </a:r>
            <a:r>
              <a:rPr lang="ko-KR" altLang="en-US">
                <a:latin typeface="+mj-ea"/>
                <a:ea typeface="+mj-ea"/>
              </a:rPr>
              <a:t>하려하면 아래와 같이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 err="1"/>
              <a:t>오버라이딩이</a:t>
            </a:r>
            <a:r>
              <a:rPr lang="ko-KR" altLang="en-US"/>
              <a:t> 불가능한 </a:t>
            </a:r>
            <a:r>
              <a:rPr lang="en-US" altLang="ko-KR"/>
              <a:t>final method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A8E27-DEAE-AAA1-D5D4-6C12F1473409}"/>
              </a:ext>
            </a:extLst>
          </p:cNvPr>
          <p:cNvSpPr txBox="1"/>
          <p:nvPr/>
        </p:nvSpPr>
        <p:spPr>
          <a:xfrm>
            <a:off x="503766" y="2028801"/>
            <a:ext cx="70569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소리 없습니다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014E5E-502E-B7AF-EAFE-A08F5F2A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70" y="3284658"/>
            <a:ext cx="4319998" cy="10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69412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고급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>
                <a:latin typeface="+mj-ea"/>
                <a:ea typeface="+mj-ea"/>
              </a:rPr>
              <a:t>abstract class / interface / </a:t>
            </a:r>
            <a:r>
              <a:rPr lang="ko-KR" altLang="en-US" dirty="0">
                <a:latin typeface="+mj-ea"/>
                <a:ea typeface="+mj-ea"/>
              </a:rPr>
              <a:t>추상화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익명클래스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예외처리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제네릭과 컬렉션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>
                <a:latin typeface="+mj-ea"/>
                <a:ea typeface="+mj-ea"/>
              </a:rPr>
              <a:t>File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I/O</a:t>
            </a: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열거형 </a:t>
            </a:r>
            <a:r>
              <a:rPr lang="en-US" altLang="ko-KR" dirty="0">
                <a:latin typeface="+mj-ea"/>
                <a:ea typeface="+mj-ea"/>
              </a:rPr>
              <a:t>(Enum)</a:t>
            </a:r>
          </a:p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 err="1">
                <a:latin typeface="+mj-ea"/>
                <a:ea typeface="+mj-ea"/>
              </a:rPr>
              <a:t>Calender</a:t>
            </a:r>
            <a:r>
              <a:rPr lang="en-US" altLang="ko-KR" dirty="0">
                <a:latin typeface="+mj-ea"/>
                <a:ea typeface="+mj-ea"/>
              </a:rPr>
              <a:t> / </a:t>
            </a:r>
            <a:r>
              <a:rPr lang="en-US" altLang="ko-KR" dirty="0" err="1">
                <a:latin typeface="+mj-ea"/>
                <a:ea typeface="+mj-ea"/>
              </a:rPr>
              <a:t>LocalDateTime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E80D13-DD55-DB0A-3846-42466AB8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439561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abstract class / interface /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>
                <a:latin typeface="+mj-ea"/>
              </a:rPr>
              <a:t>추상화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익명클래스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153589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abstract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23FD544-1477-377D-545E-4ABEEACE9C5E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메소드 실행 전 후에 공통 처리를 하고싶다면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추상클래스가 답입니다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!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8948389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상속과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관계의 한계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5190E-AA43-3D43-7A08-A87E253F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9" y="1844136"/>
            <a:ext cx="4064090" cy="3515264"/>
          </a:xfrm>
          <a:prstGeom prst="rect">
            <a:avLst/>
          </a:prstGeom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10AF206E-C33F-AF47-992F-D562B672E0E4}"/>
              </a:ext>
            </a:extLst>
          </p:cNvPr>
          <p:cNvSpPr txBox="1">
            <a:spLocks/>
          </p:cNvSpPr>
          <p:nvPr/>
        </p:nvSpPr>
        <p:spPr>
          <a:xfrm>
            <a:off x="4615162" y="2913544"/>
            <a:ext cx="4528837" cy="325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>
                <a:latin typeface="+mj-ea"/>
                <a:ea typeface="+mj-ea"/>
              </a:rPr>
              <a:t>car2 </a:t>
            </a:r>
            <a:r>
              <a:rPr lang="ko-KR" altLang="en-US" sz="1800">
                <a:latin typeface="+mj-ea"/>
                <a:ea typeface="+mj-ea"/>
              </a:rPr>
              <a:t>인스턴스는 </a:t>
            </a:r>
            <a:r>
              <a:rPr lang="en-US" altLang="ko-KR" sz="1800" err="1">
                <a:latin typeface="+mj-ea"/>
                <a:ea typeface="+mj-ea"/>
              </a:rPr>
              <a:t>startTurbo</a:t>
            </a:r>
            <a:r>
              <a:rPr lang="en-US" altLang="ko-KR" sz="1800">
                <a:latin typeface="+mj-ea"/>
                <a:ea typeface="+mj-ea"/>
              </a:rPr>
              <a:t>()</a:t>
            </a:r>
          </a:p>
          <a:p>
            <a:r>
              <a:rPr lang="en-US" altLang="ko-KR" sz="1800">
                <a:latin typeface="+mj-ea"/>
                <a:ea typeface="+mj-ea"/>
              </a:rPr>
              <a:t>car3</a:t>
            </a:r>
            <a:r>
              <a:rPr lang="ko-KR" altLang="en-US" sz="1800">
                <a:latin typeface="+mj-ea"/>
                <a:ea typeface="+mj-ea"/>
              </a:rPr>
              <a:t> 인스턴스는 </a:t>
            </a:r>
            <a:r>
              <a:rPr lang="en-US" altLang="ko-KR" sz="1800" err="1">
                <a:latin typeface="+mj-ea"/>
                <a:ea typeface="+mj-ea"/>
              </a:rPr>
              <a:t>checkBattery</a:t>
            </a:r>
            <a:r>
              <a:rPr lang="en-US" altLang="ko-KR" sz="1800">
                <a:latin typeface="+mj-ea"/>
                <a:ea typeface="+mj-ea"/>
              </a:rPr>
              <a:t>()</a:t>
            </a:r>
          </a:p>
          <a:p>
            <a:r>
              <a:rPr lang="en-US" altLang="ko-KR" sz="1800">
                <a:latin typeface="+mj-ea"/>
                <a:ea typeface="+mj-ea"/>
              </a:rPr>
              <a:t>car4 </a:t>
            </a:r>
            <a:r>
              <a:rPr lang="ko-KR" altLang="en-US" sz="1800">
                <a:latin typeface="+mj-ea"/>
                <a:ea typeface="+mj-ea"/>
              </a:rPr>
              <a:t>인스턴스는 </a:t>
            </a:r>
            <a:r>
              <a:rPr lang="en-US" altLang="ko-KR" sz="1800" err="1">
                <a:latin typeface="+mj-ea"/>
                <a:ea typeface="+mj-ea"/>
              </a:rPr>
              <a:t>startTurbo</a:t>
            </a:r>
            <a:r>
              <a:rPr lang="en-US" altLang="ko-KR" sz="1800">
                <a:latin typeface="+mj-ea"/>
                <a:ea typeface="+mj-ea"/>
              </a:rPr>
              <a:t>(), </a:t>
            </a:r>
            <a:r>
              <a:rPr lang="en-US" altLang="ko-KR" sz="1800" err="1">
                <a:latin typeface="+mj-ea"/>
                <a:ea typeface="+mj-ea"/>
              </a:rPr>
              <a:t>extractBatPort</a:t>
            </a:r>
            <a:r>
              <a:rPr lang="en-US" altLang="ko-KR" sz="1800">
                <a:latin typeface="+mj-ea"/>
                <a:ea typeface="+mj-ea"/>
              </a:rPr>
              <a:t>()</a:t>
            </a:r>
            <a:r>
              <a:rPr lang="ko-KR" altLang="en-US" sz="1800">
                <a:latin typeface="+mj-ea"/>
                <a:ea typeface="+mj-ea"/>
              </a:rPr>
              <a:t>를 사용할 수 없습니다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  <a:p>
            <a:r>
              <a:rPr lang="en-US" altLang="ko-KR" sz="1800">
                <a:latin typeface="+mj-ea"/>
                <a:ea typeface="+mj-ea"/>
              </a:rPr>
              <a:t>car2,</a:t>
            </a:r>
            <a:r>
              <a:rPr lang="ko-KR" altLang="en-US" sz="1800">
                <a:latin typeface="+mj-ea"/>
                <a:ea typeface="+mj-ea"/>
              </a:rPr>
              <a:t> </a:t>
            </a:r>
            <a:r>
              <a:rPr lang="en-US" altLang="ko-KR" sz="1800">
                <a:latin typeface="+mj-ea"/>
                <a:ea typeface="+mj-ea"/>
              </a:rPr>
              <a:t>car3,</a:t>
            </a:r>
            <a:r>
              <a:rPr lang="ko-KR" altLang="en-US" sz="1800">
                <a:latin typeface="+mj-ea"/>
                <a:ea typeface="+mj-ea"/>
              </a:rPr>
              <a:t> </a:t>
            </a:r>
            <a:r>
              <a:rPr lang="en-US" altLang="ko-KR" sz="1800">
                <a:latin typeface="+mj-ea"/>
                <a:ea typeface="+mj-ea"/>
              </a:rPr>
              <a:t>car4</a:t>
            </a:r>
            <a:r>
              <a:rPr lang="ko-KR" altLang="en-US" sz="1800">
                <a:latin typeface="+mj-ea"/>
                <a:ea typeface="+mj-ea"/>
              </a:rPr>
              <a:t> 인스턴스의 타입이 </a:t>
            </a:r>
            <a:r>
              <a:rPr lang="en-US" altLang="ko-KR" sz="1800">
                <a:latin typeface="+mj-ea"/>
                <a:ea typeface="+mj-ea"/>
              </a:rPr>
              <a:t>Vehicle</a:t>
            </a:r>
            <a:r>
              <a:rPr lang="ko-KR" altLang="en-US" sz="1800">
                <a:latin typeface="+mj-ea"/>
                <a:ea typeface="+mj-ea"/>
              </a:rPr>
              <a:t>로 </a:t>
            </a:r>
            <a:r>
              <a:rPr lang="ko-KR" altLang="en-US" sz="1800" err="1">
                <a:latin typeface="+mj-ea"/>
                <a:ea typeface="+mj-ea"/>
              </a:rPr>
              <a:t>선언되어있기</a:t>
            </a:r>
            <a:r>
              <a:rPr lang="ko-KR" altLang="en-US" sz="1800">
                <a:latin typeface="+mj-ea"/>
                <a:ea typeface="+mj-ea"/>
              </a:rPr>
              <a:t> 때문에 사용할 수 있는 메소드는 </a:t>
            </a:r>
            <a:r>
              <a:rPr lang="en-US" altLang="ko-KR" sz="1800" err="1">
                <a:latin typeface="+mj-ea"/>
                <a:ea typeface="+mj-ea"/>
              </a:rPr>
              <a:t>startEngine</a:t>
            </a:r>
            <a:r>
              <a:rPr lang="en-US" altLang="ko-KR" sz="1800">
                <a:latin typeface="+mj-ea"/>
                <a:ea typeface="+mj-ea"/>
              </a:rPr>
              <a:t>() </a:t>
            </a:r>
            <a:r>
              <a:rPr lang="ko-KR" altLang="en-US" sz="1800">
                <a:latin typeface="+mj-ea"/>
                <a:ea typeface="+mj-ea"/>
              </a:rPr>
              <a:t>밖에 없습니다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E3612-519A-712F-42CA-5FC30A296CDB}"/>
              </a:ext>
            </a:extLst>
          </p:cNvPr>
          <p:cNvSpPr txBox="1"/>
          <p:nvPr/>
        </p:nvSpPr>
        <p:spPr>
          <a:xfrm>
            <a:off x="4615163" y="1899428"/>
            <a:ext cx="3778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89275068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인스턴스의 모든 메소드를 사용하고 싶다면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453956"/>
            <a:ext cx="769637" cy="1022928"/>
            <a:chOff x="4898273" y="2041400"/>
            <a:chExt cx="769637" cy="10229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41400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5190E-AA43-3D43-7A08-A87E253F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9" y="1844136"/>
            <a:ext cx="4064090" cy="3515264"/>
          </a:xfrm>
          <a:prstGeom prst="rect">
            <a:avLst/>
          </a:prstGeom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10AF206E-C33F-AF47-992F-D562B672E0E4}"/>
              </a:ext>
            </a:extLst>
          </p:cNvPr>
          <p:cNvSpPr txBox="1">
            <a:spLocks/>
          </p:cNvSpPr>
          <p:nvPr/>
        </p:nvSpPr>
        <p:spPr>
          <a:xfrm>
            <a:off x="4615162" y="2913544"/>
            <a:ext cx="4528837" cy="325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>
                <a:latin typeface="+mj-ea"/>
                <a:ea typeface="+mj-ea"/>
              </a:rPr>
              <a:t>인스턴스 생성자와 인스턴스 타입을 동일하게 맞춰주면</a:t>
            </a:r>
            <a:r>
              <a:rPr lang="en-US" altLang="ko-KR" sz="1800">
                <a:latin typeface="+mj-ea"/>
                <a:ea typeface="+mj-ea"/>
              </a:rPr>
              <a:t>, car2, car3, car4</a:t>
            </a:r>
            <a:r>
              <a:rPr lang="ko-KR" altLang="en-US" sz="1800">
                <a:latin typeface="+mj-ea"/>
                <a:ea typeface="+mj-ea"/>
              </a:rPr>
              <a:t> 인스턴스들의 모든 메소드를 사용할 수 있습니다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  <a:p>
            <a:endParaRPr lang="en-US" altLang="ko-KR" sz="1800">
              <a:latin typeface="+mj-ea"/>
              <a:ea typeface="+mj-ea"/>
            </a:endParaRPr>
          </a:p>
          <a:p>
            <a:r>
              <a:rPr lang="ko-KR" altLang="en-US" sz="1800">
                <a:latin typeface="+mj-ea"/>
                <a:ea typeface="+mj-ea"/>
              </a:rPr>
              <a:t>이렇게 사용할 경우 상속을 사용한 의미를 잃게 됩니다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E3612-519A-712F-42CA-5FC30A296CDB}"/>
              </a:ext>
            </a:extLst>
          </p:cNvPr>
          <p:cNvSpPr txBox="1"/>
          <p:nvPr/>
        </p:nvSpPr>
        <p:spPr>
          <a:xfrm>
            <a:off x="4615163" y="1899428"/>
            <a:ext cx="4383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10137033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추상클래스를 사용할 경우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상속의 의미를 잃지 않으면서 자연스러운 </a:t>
            </a:r>
            <a:r>
              <a:rPr lang="en-US" altLang="ko-KR" dirty="0">
                <a:latin typeface="+mj-ea"/>
                <a:ea typeface="+mj-ea"/>
              </a:rPr>
              <a:t>is a </a:t>
            </a:r>
            <a:r>
              <a:rPr lang="ko-KR" altLang="en-US" dirty="0">
                <a:latin typeface="+mj-ea"/>
                <a:ea typeface="+mj-ea"/>
              </a:rPr>
              <a:t>관계를 만들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을 추상 클래스로 만들어봅니다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488949" y="5790603"/>
            <a:ext cx="4530987" cy="997528"/>
            <a:chOff x="4898273" y="2066800"/>
            <a:chExt cx="4530987" cy="9975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6800"/>
              <a:ext cx="26484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추상클래스를 만들 때 주의</a:t>
              </a:r>
              <a:r>
                <a:rPr lang="en-US" altLang="ko-KR" sz="1600" b="1"/>
                <a:t>!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44076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 클래스는 객체화 시킬 수 없는 클래스입니다</a:t>
              </a:r>
              <a:r>
                <a:rPr lang="en-US" altLang="ko-KR" sz="1400"/>
                <a:t>. </a:t>
              </a:r>
            </a:p>
            <a:p>
              <a:r>
                <a:rPr lang="ko-KR" altLang="en-US" sz="1400"/>
                <a:t>따라서 </a:t>
              </a:r>
              <a:r>
                <a:rPr lang="en-US" altLang="ko-KR" sz="1400"/>
                <a:t>Vehicle </a:t>
              </a:r>
              <a:r>
                <a:rPr lang="ko-KR" altLang="en-US" sz="1400"/>
                <a:t>클래스는 인스턴스화 할 수 없게 됩니다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8C63-381D-5947-EA3E-5E4A325ED981}"/>
              </a:ext>
            </a:extLst>
          </p:cNvPr>
          <p:cNvSpPr txBox="1"/>
          <p:nvPr/>
        </p:nvSpPr>
        <p:spPr>
          <a:xfrm>
            <a:off x="488949" y="2471177"/>
            <a:ext cx="85945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겁니다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2485345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그리고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startTurbo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err="1">
                <a:latin typeface="+mj-ea"/>
                <a:ea typeface="+mj-ea"/>
              </a:rPr>
              <a:t>BatMobile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extractBatPort</a:t>
            </a:r>
            <a:r>
              <a:rPr lang="en-US" altLang="ko-KR" dirty="0">
                <a:latin typeface="+mj-ea"/>
                <a:ea typeface="+mj-ea"/>
              </a:rPr>
              <a:t>, EV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checkBattery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메소드를 </a:t>
            </a:r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에 만들어줍니다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이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메소드들의 정의만 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488949" y="5790603"/>
            <a:ext cx="8145054" cy="1103443"/>
            <a:chOff x="4898273" y="2066800"/>
            <a:chExt cx="8145054" cy="110344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6800"/>
              <a:ext cx="44165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추상 클래스는 추상 메소드를 만들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02174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추상의 의미는 </a:t>
              </a:r>
              <a:r>
                <a:rPr lang="en-US" altLang="ko-KR" sz="1400"/>
                <a:t>“</a:t>
              </a:r>
              <a:r>
                <a:rPr lang="ko-KR" altLang="en-US" sz="1400" err="1"/>
                <a:t>구체화되어있지</a:t>
              </a:r>
              <a:r>
                <a:rPr lang="ko-KR" altLang="en-US" sz="1400"/>
                <a:t> 않은</a:t>
              </a:r>
              <a:r>
                <a:rPr lang="en-US" altLang="ko-KR" sz="1400"/>
                <a:t>“ </a:t>
              </a:r>
              <a:r>
                <a:rPr lang="ko-KR" altLang="en-US" sz="1400"/>
                <a:t>입니다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추상 </a:t>
              </a:r>
              <a:r>
                <a:rPr lang="ko-KR" altLang="en-US" sz="1400" err="1"/>
                <a:t>메소드란</a:t>
              </a:r>
              <a:r>
                <a:rPr lang="en-US" altLang="ko-KR" sz="1400"/>
                <a:t>, </a:t>
              </a:r>
              <a:r>
                <a:rPr lang="ko-KR" altLang="en-US" sz="1400"/>
                <a:t>어떤 기능을 할지 모르는</a:t>
              </a:r>
              <a:r>
                <a:rPr lang="en-US" altLang="ko-KR" sz="1400"/>
                <a:t> </a:t>
              </a:r>
              <a:r>
                <a:rPr lang="ko-KR" altLang="en-US" sz="1400"/>
                <a:t>즉</a:t>
              </a:r>
              <a:r>
                <a:rPr lang="en-US" altLang="ko-KR" sz="1400"/>
                <a:t>, </a:t>
              </a:r>
              <a:r>
                <a:rPr lang="ko-KR" altLang="en-US" sz="1400"/>
                <a:t>기능 구현이 되어있지 않은 대략적인 메소드를 말합니다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기능 구현이 되어있지 않은 추상 메소드를 포함할 때</a:t>
              </a:r>
              <a:r>
                <a:rPr lang="en-US" altLang="ko-KR" sz="1400"/>
                <a:t>, </a:t>
              </a:r>
              <a:r>
                <a:rPr lang="ko-KR" altLang="en-US" sz="1400"/>
                <a:t>추상 클래스로 만듭니다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8C63-381D-5947-EA3E-5E4A325ED981}"/>
              </a:ext>
            </a:extLst>
          </p:cNvPr>
          <p:cNvSpPr txBox="1"/>
          <p:nvPr/>
        </p:nvSpPr>
        <p:spPr>
          <a:xfrm>
            <a:off x="488949" y="2471177"/>
            <a:ext cx="85945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6791749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이 추상 클래스로 변경이 되었고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추상 메소드가 포함됨에 따라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err="1">
                <a:latin typeface="+mj-ea"/>
                <a:ea typeface="+mj-ea"/>
              </a:rPr>
              <a:t>BatMobile</a:t>
            </a:r>
            <a:r>
              <a:rPr lang="en-US" altLang="ko-KR" dirty="0">
                <a:latin typeface="+mj-ea"/>
                <a:ea typeface="+mj-ea"/>
              </a:rPr>
              <a:t>, EV </a:t>
            </a:r>
            <a:r>
              <a:rPr lang="ko-KR" altLang="en-US" dirty="0">
                <a:latin typeface="+mj-ea"/>
                <a:ea typeface="+mj-ea"/>
              </a:rPr>
              <a:t>클래스에서 에러가 발생합니다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추상 메소드가 포함된 추상 클래스를 상속받는 클래스는 추상 클래스의 모든 추상 메소드를 반드시 구현해야만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따라서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en-US" altLang="ko-KR" dirty="0">
                <a:latin typeface="+mj-ea"/>
                <a:ea typeface="+mj-ea"/>
              </a:rPr>
              <a:t>, Mobile, EV </a:t>
            </a:r>
            <a:r>
              <a:rPr lang="ko-KR" altLang="en-US" dirty="0">
                <a:latin typeface="+mj-ea"/>
                <a:ea typeface="+mj-ea"/>
              </a:rPr>
              <a:t>클래스는 </a:t>
            </a:r>
            <a:r>
              <a:rPr lang="en-US" altLang="ko-KR" dirty="0" err="1">
                <a:latin typeface="+mj-ea"/>
                <a:ea typeface="+mj-ea"/>
              </a:rPr>
              <a:t>startTurbo</a:t>
            </a:r>
            <a:r>
              <a:rPr lang="en-US" altLang="ko-KR" dirty="0">
                <a:latin typeface="+mj-ea"/>
                <a:ea typeface="+mj-ea"/>
              </a:rPr>
              <a:t>(), </a:t>
            </a:r>
            <a:r>
              <a:rPr lang="en-US" altLang="ko-KR" dirty="0" err="1">
                <a:latin typeface="+mj-ea"/>
                <a:ea typeface="+mj-ea"/>
              </a:rPr>
              <a:t>extractBatMobile</a:t>
            </a:r>
            <a:r>
              <a:rPr lang="en-US" altLang="ko-KR" dirty="0">
                <a:latin typeface="+mj-ea"/>
                <a:ea typeface="+mj-ea"/>
              </a:rPr>
              <a:t>(), </a:t>
            </a:r>
            <a:r>
              <a:rPr lang="en-US" altLang="ko-KR" dirty="0" err="1">
                <a:latin typeface="+mj-ea"/>
                <a:ea typeface="+mj-ea"/>
              </a:rPr>
              <a:t>checkBattery</a:t>
            </a:r>
            <a:r>
              <a:rPr lang="en-US" altLang="ko-KR" dirty="0">
                <a:latin typeface="+mj-ea"/>
                <a:ea typeface="+mj-ea"/>
              </a:rPr>
              <a:t>() </a:t>
            </a:r>
            <a:r>
              <a:rPr lang="ko-KR" altLang="en-US" dirty="0">
                <a:latin typeface="+mj-ea"/>
                <a:ea typeface="+mj-ea"/>
              </a:rPr>
              <a:t>메소드를 모두 구현해야만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5678704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402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159106"/>
            <a:ext cx="1059180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배터리가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만큼 남아있습니다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09705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dirty="0">
                <a:latin typeface="+mj-ea"/>
              </a:rPr>
              <a:t>17. abstract class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247502"/>
            <a:ext cx="105918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터보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모드를 시작합니다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045158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247502"/>
            <a:ext cx="105918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non-sealed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배트포트를 분리합니다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0266120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다시</a:t>
            </a:r>
            <a:r>
              <a:rPr lang="en-US" altLang="ko-KR">
                <a:latin typeface="+mj-ea"/>
                <a:ea typeface="+mj-ea"/>
              </a:rPr>
              <a:t> is a </a:t>
            </a:r>
            <a:r>
              <a:rPr lang="ko-KR" altLang="en-US">
                <a:latin typeface="+mj-ea"/>
                <a:ea typeface="+mj-ea"/>
              </a:rPr>
              <a:t>관계로 인스턴스를 만든 뒤 각 메소드를 호출해 보면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이상없이</a:t>
            </a:r>
            <a:r>
              <a:rPr lang="ko-KR" altLang="en-US">
                <a:latin typeface="+mj-ea"/>
                <a:ea typeface="+mj-ea"/>
              </a:rPr>
              <a:t> 동작하는 모습을 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405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1998023"/>
            <a:ext cx="72748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4664263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interface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6A9F2B5-29E8-A279-DFA8-CC408AFD46E3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개발자의 약속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이 형태로 만들고 이 형태로 호출해주세요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!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32195342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네이버 국어사전에서 정의한 인터페이스의 의미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407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5FF3630-71D7-EB2A-9B6B-FFCE018E1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4" y="1844135"/>
            <a:ext cx="6268325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20157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UI (User Interface)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FF02459-B5E9-8877-E476-4476C196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9" y="1640167"/>
            <a:ext cx="5927297" cy="50172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4DDA82-E2C8-72A6-A6A2-2E98D21D1809}"/>
              </a:ext>
            </a:extLst>
          </p:cNvPr>
          <p:cNvSpPr/>
          <p:nvPr/>
        </p:nvSpPr>
        <p:spPr>
          <a:xfrm>
            <a:off x="536049" y="3909060"/>
            <a:ext cx="3252180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92049-CC66-84A7-9F0C-C4A7753C9063}"/>
              </a:ext>
            </a:extLst>
          </p:cNvPr>
          <p:cNvSpPr/>
          <p:nvPr/>
        </p:nvSpPr>
        <p:spPr>
          <a:xfrm>
            <a:off x="3211166" y="4671060"/>
            <a:ext cx="3166774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7315FA-B649-2AAE-7FE9-CA9B9F1B25D4}"/>
              </a:ext>
            </a:extLst>
          </p:cNvPr>
          <p:cNvSpPr/>
          <p:nvPr/>
        </p:nvSpPr>
        <p:spPr>
          <a:xfrm>
            <a:off x="536049" y="4872871"/>
            <a:ext cx="109463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0235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API (Application Programming Interface)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409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7A215935-0FF3-CD2C-A63A-8394C2A3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29" y="1708480"/>
            <a:ext cx="6411997" cy="50172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4DDA82-E2C8-72A6-A6A2-2E98D21D1809}"/>
              </a:ext>
            </a:extLst>
          </p:cNvPr>
          <p:cNvSpPr/>
          <p:nvPr/>
        </p:nvSpPr>
        <p:spPr>
          <a:xfrm>
            <a:off x="703688" y="3237411"/>
            <a:ext cx="399785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92049-CC66-84A7-9F0C-C4A7753C9063}"/>
              </a:ext>
            </a:extLst>
          </p:cNvPr>
          <p:cNvSpPr/>
          <p:nvPr/>
        </p:nvSpPr>
        <p:spPr>
          <a:xfrm>
            <a:off x="3953876" y="3959346"/>
            <a:ext cx="2751724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7315FA-B649-2AAE-7FE9-CA9B9F1B25D4}"/>
              </a:ext>
            </a:extLst>
          </p:cNvPr>
          <p:cNvSpPr/>
          <p:nvPr/>
        </p:nvSpPr>
        <p:spPr>
          <a:xfrm>
            <a:off x="347929" y="4201889"/>
            <a:ext cx="85603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91497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의 정의에서 공통으로 나오는 주제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연결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상호작용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메시지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의 의미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클래스와 클래스가 상호작용할 수 있도록 표준을 제공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2.</a:t>
            </a:r>
            <a:r>
              <a:rPr lang="ko-KR" altLang="en-US">
                <a:latin typeface="+mj-ea"/>
                <a:ea typeface="+mj-ea"/>
              </a:rPr>
              <a:t> 개발자간 커뮤니케이션을 위한 표준을 제공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다형성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>
                <a:latin typeface="+mj-ea"/>
                <a:ea typeface="+mj-ea"/>
              </a:rPr>
              <a:t>객체지향프로그래밍의 특징 중 하나</a:t>
            </a:r>
            <a:r>
              <a:rPr lang="en-US" altLang="ko-KR" sz="1800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제공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하나의 인터페이스를 이용해 여러 개의 클래스를 생성 할 수 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410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8" name="Picture 4" descr="Television Programming Stock Photos, Pictures &amp; Royalty-Free Images - iStock">
            <a:extLst>
              <a:ext uri="{FF2B5EF4-FFF2-40B4-BE49-F238E27FC236}">
                <a16:creationId xmlns:a16="http://schemas.microsoft.com/office/drawing/2014/main" id="{CB327770-F887-C95D-14AF-6815C597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230" y="4575102"/>
            <a:ext cx="1642110" cy="16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DBDA559C-6F28-B0FF-DDC9-4A6E9534B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00000">
            <a:off x="3377059" y="5802286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83505AD5-EC31-5E68-DADD-1796E146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00000">
            <a:off x="3445695" y="4412906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1B9F8FF9-A428-6132-0683-8B28341F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9266" y="4981230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CFFD5FE3-3AAD-07EA-2A7E-DA98924A7526}"/>
              </a:ext>
            </a:extLst>
          </p:cNvPr>
          <p:cNvSpPr txBox="1">
            <a:spLocks/>
          </p:cNvSpPr>
          <p:nvPr/>
        </p:nvSpPr>
        <p:spPr>
          <a:xfrm>
            <a:off x="3860623" y="5067570"/>
            <a:ext cx="4715394" cy="1149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err="1">
                <a:latin typeface="+mj-ea"/>
                <a:ea typeface="+mj-ea"/>
              </a:rPr>
              <a:t>다형성</a:t>
            </a:r>
            <a:endParaRPr lang="en-US" altLang="ko-KR" sz="1600" b="1">
              <a:latin typeface="+mj-ea"/>
              <a:ea typeface="+mj-ea"/>
            </a:endParaRPr>
          </a:p>
          <a:p>
            <a:r>
              <a:rPr lang="en-US" altLang="ko-KR" sz="1600">
                <a:latin typeface="+mj-ea"/>
                <a:ea typeface="+mj-ea"/>
              </a:rPr>
              <a:t>TV</a:t>
            </a:r>
            <a:r>
              <a:rPr lang="ko-KR" altLang="en-US" sz="1600">
                <a:latin typeface="+mj-ea"/>
                <a:ea typeface="+mj-ea"/>
              </a:rPr>
              <a:t>와 </a:t>
            </a:r>
            <a:r>
              <a:rPr lang="ko-KR" altLang="en-US" sz="1600" err="1">
                <a:latin typeface="+mj-ea"/>
                <a:ea typeface="+mj-ea"/>
              </a:rPr>
              <a:t>리모콘이</a:t>
            </a:r>
            <a:r>
              <a:rPr lang="ko-KR" altLang="en-US" sz="1600">
                <a:latin typeface="+mj-ea"/>
                <a:ea typeface="+mj-ea"/>
              </a:rPr>
              <a:t> 통신하는 표준 규격을 통해 </a:t>
            </a:r>
            <a:br>
              <a:rPr lang="en-US" altLang="ko-KR" sz="1600">
                <a:latin typeface="+mj-ea"/>
                <a:ea typeface="+mj-ea"/>
              </a:rPr>
            </a:br>
            <a:r>
              <a:rPr lang="ko-KR" altLang="en-US" sz="1600">
                <a:latin typeface="+mj-ea"/>
                <a:ea typeface="+mj-ea"/>
              </a:rPr>
              <a:t>여러 형태의 </a:t>
            </a:r>
            <a:r>
              <a:rPr lang="ko-KR" altLang="en-US" sz="1600" err="1">
                <a:latin typeface="+mj-ea"/>
                <a:ea typeface="+mj-ea"/>
              </a:rPr>
              <a:t>리모콘이</a:t>
            </a:r>
            <a:r>
              <a:rPr lang="ko-KR" altLang="en-US" sz="1600">
                <a:latin typeface="+mj-ea"/>
                <a:ea typeface="+mj-ea"/>
              </a:rPr>
              <a:t> </a:t>
            </a:r>
            <a:r>
              <a:rPr lang="en-US" altLang="ko-KR" sz="1600">
                <a:latin typeface="+mj-ea"/>
                <a:ea typeface="+mj-ea"/>
              </a:rPr>
              <a:t>TV</a:t>
            </a:r>
            <a:r>
              <a:rPr lang="ko-KR" altLang="en-US" sz="1600">
                <a:latin typeface="+mj-ea"/>
                <a:ea typeface="+mj-ea"/>
              </a:rPr>
              <a:t>와 연결될 수 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9408691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인터페이스 만들어보기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인터페이스는 오로지 </a:t>
            </a:r>
            <a:r>
              <a:rPr lang="ko-KR" altLang="en-US" dirty="0" err="1">
                <a:latin typeface="+mj-ea"/>
                <a:ea typeface="+mj-ea"/>
              </a:rPr>
              <a:t>추상메소드와</a:t>
            </a:r>
            <a:r>
              <a:rPr lang="ko-KR" altLang="en-US" dirty="0">
                <a:latin typeface="+mj-ea"/>
                <a:ea typeface="+mj-ea"/>
              </a:rPr>
              <a:t> 상수의 정의를 위해 사용합니다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추상 클래스처럼 일반 메소드는 정의할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1.8</a:t>
            </a:r>
            <a:r>
              <a:rPr lang="ko-KR" altLang="en-US" dirty="0">
                <a:latin typeface="+mj-ea"/>
                <a:ea typeface="+mj-ea"/>
              </a:rPr>
              <a:t> 부터는 </a:t>
            </a:r>
            <a:r>
              <a:rPr lang="en-US" altLang="ko-KR" dirty="0">
                <a:latin typeface="+mj-ea"/>
                <a:ea typeface="+mj-ea"/>
              </a:rPr>
              <a:t>Default Abstract Method</a:t>
            </a:r>
            <a:r>
              <a:rPr lang="ko-KR" altLang="en-US" dirty="0">
                <a:latin typeface="+mj-ea"/>
                <a:ea typeface="+mj-ea"/>
              </a:rPr>
              <a:t>를 정의할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0DE84A-6341-BA12-EB90-C87641C7C2A8}"/>
              </a:ext>
            </a:extLst>
          </p:cNvPr>
          <p:cNvSpPr txBox="1"/>
          <p:nvPr/>
        </p:nvSpPr>
        <p:spPr>
          <a:xfrm>
            <a:off x="611504" y="1640167"/>
            <a:ext cx="66427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30A603-7519-8438-6C4B-75C9EB175DBD}"/>
              </a:ext>
            </a:extLst>
          </p:cNvPr>
          <p:cNvSpPr/>
          <p:nvPr/>
        </p:nvSpPr>
        <p:spPr>
          <a:xfrm>
            <a:off x="2028092" y="2186746"/>
            <a:ext cx="1133118" cy="1488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9FFE0-29EE-50D1-8D44-49630774661E}"/>
              </a:ext>
            </a:extLst>
          </p:cNvPr>
          <p:cNvSpPr txBox="1"/>
          <p:nvPr/>
        </p:nvSpPr>
        <p:spPr>
          <a:xfrm>
            <a:off x="2028092" y="37098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생략가능</a:t>
            </a:r>
          </a:p>
        </p:txBody>
      </p:sp>
    </p:spTree>
    <p:extLst>
      <p:ext uri="{BB962C8B-B14F-4D97-AF65-F5344CB8AC3E}">
        <p14:creationId xmlns:p14="http://schemas.microsoft.com/office/powerpoint/2010/main" val="605845145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인터페이스를 만든 후 구현 클래스를 만들어 줍니다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인터페이스는 직접 인스턴스화할 수 없으므로 구현 클래스가 반드시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인터페이스를 구현할 때엔</a:t>
            </a:r>
            <a:r>
              <a:rPr lang="en-US" altLang="ko-KR"/>
              <a:t>, implements </a:t>
            </a:r>
            <a:r>
              <a:rPr lang="ko-KR" altLang="en-US"/>
              <a:t>키워드를 사용합니다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SomeInterface</a:t>
            </a:r>
            <a:r>
              <a:rPr lang="ko-KR" altLang="en-US"/>
              <a:t> 인터페이스를 구현해 </a:t>
            </a:r>
            <a:r>
              <a:rPr lang="en-US" altLang="ko-KR" err="1"/>
              <a:t>SomeClass</a:t>
            </a:r>
            <a:r>
              <a:rPr lang="en-US" altLang="ko-KR"/>
              <a:t> </a:t>
            </a:r>
            <a:r>
              <a:rPr lang="ko-KR" altLang="en-US"/>
              <a:t>를 만듭니다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인터페이스의 메소드는 </a:t>
            </a:r>
            <a:r>
              <a:rPr lang="en-US" altLang="ko-KR" err="1"/>
              <a:t>SomeClass</a:t>
            </a:r>
            <a:r>
              <a:rPr lang="ko-KR" altLang="en-US"/>
              <a:t>에서 반드시 구현을 해주어야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82258-375F-ED88-57ED-1EFEE2E21F55}"/>
              </a:ext>
            </a:extLst>
          </p:cNvPr>
          <p:cNvSpPr txBox="1"/>
          <p:nvPr/>
        </p:nvSpPr>
        <p:spPr>
          <a:xfrm>
            <a:off x="535577" y="2551837"/>
            <a:ext cx="7284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1407025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SomeClass</a:t>
            </a:r>
            <a:r>
              <a:rPr lang="ko-KR" altLang="en-US" dirty="0"/>
              <a:t>에 </a:t>
            </a:r>
            <a:r>
              <a:rPr lang="en-US" altLang="ko-KR" dirty="0" err="1"/>
              <a:t>SomeInterface</a:t>
            </a:r>
            <a:r>
              <a:rPr lang="ko-KR" altLang="en-US" dirty="0"/>
              <a:t>를 구현합니다</a:t>
            </a:r>
            <a:r>
              <a:rPr lang="en-US" altLang="ko-KR" dirty="0"/>
              <a:t>.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C5885-AEEC-F1AA-4F0E-EACA6E126591}"/>
              </a:ext>
            </a:extLst>
          </p:cNvPr>
          <p:cNvSpPr txBox="1"/>
          <p:nvPr/>
        </p:nvSpPr>
        <p:spPr>
          <a:xfrm>
            <a:off x="535577" y="1621533"/>
            <a:ext cx="73805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 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 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5148047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en-US" altLang="ko-KR" dirty="0" err="1"/>
              <a:t>SomeInterface</a:t>
            </a:r>
            <a:r>
              <a:rPr lang="ko-KR" altLang="en-US" dirty="0"/>
              <a:t>와 </a:t>
            </a:r>
            <a:r>
              <a:rPr lang="en-US" altLang="ko-KR" dirty="0" err="1"/>
              <a:t>SomeClass</a:t>
            </a:r>
            <a:r>
              <a:rPr lang="ko-KR" altLang="en-US" dirty="0"/>
              <a:t>가 완성되었습니다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추상클래스와 똑같이 인터페이스와 구현클래스에도 </a:t>
            </a:r>
            <a:r>
              <a:rPr lang="en-US" altLang="ko-KR" dirty="0"/>
              <a:t>is a </a:t>
            </a:r>
            <a:r>
              <a:rPr lang="ko-KR" altLang="en-US" dirty="0"/>
              <a:t>관계가 성립합니다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SomeClass</a:t>
            </a:r>
            <a:r>
              <a:rPr lang="en-US" altLang="ko-KR" dirty="0"/>
              <a:t> is a </a:t>
            </a:r>
            <a:r>
              <a:rPr lang="en-US" altLang="ko-KR" dirty="0" err="1"/>
              <a:t>SomeInterface</a:t>
            </a:r>
            <a:endParaRPr lang="en-US" altLang="ko-KR" dirty="0"/>
          </a:p>
          <a:p>
            <a:r>
              <a:rPr lang="ko-KR" altLang="en-US" dirty="0"/>
              <a:t>따라서 아래와 같이 인스턴스 정의가 가능합니다</a:t>
            </a:r>
            <a:r>
              <a:rPr lang="en-US" altLang="ko-KR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B5F8F-3DDE-2E14-877E-041B9876F349}"/>
              </a:ext>
            </a:extLst>
          </p:cNvPr>
          <p:cNvSpPr txBox="1"/>
          <p:nvPr/>
        </p:nvSpPr>
        <p:spPr>
          <a:xfrm>
            <a:off x="492036" y="2792425"/>
            <a:ext cx="72150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7979452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추상 클래스나 인터페이스는 다형성을 제공합니다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하나의 추상 클래스 또는 인터페이스를 통해 여러 개의 구현 클래스가 </a:t>
            </a:r>
            <a:br>
              <a:rPr lang="en-US" altLang="ko-KR"/>
            </a:br>
            <a:r>
              <a:rPr lang="ko-KR" altLang="en-US"/>
              <a:t>만들어질 수 있습니다</a:t>
            </a:r>
            <a:r>
              <a:rPr lang="en-US" altLang="ko-KR"/>
              <a:t>.</a:t>
            </a:r>
          </a:p>
          <a:p>
            <a:r>
              <a:rPr lang="en-US" altLang="ko-KR" err="1"/>
              <a:t>SomeInterface</a:t>
            </a:r>
            <a:r>
              <a:rPr lang="ko-KR" altLang="en-US"/>
              <a:t>를 이용해 새로운</a:t>
            </a:r>
            <a:r>
              <a:rPr lang="en-US" altLang="ko-KR"/>
              <a:t> </a:t>
            </a:r>
            <a:r>
              <a:rPr lang="ko-KR" altLang="en-US"/>
              <a:t>구현 클래스를 만들어보세요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48996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인터페이스는 클래스처럼 상속이 가능합니다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인터페이스는 클래스가 구현 해야 할 기능을 정의하는 것입니다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아래와 같은 기능을 가진 회원 서비스를 개발하는 중이라고 가정합니다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 </a:t>
            </a:r>
            <a:r>
              <a:rPr lang="ko-KR" altLang="en-US"/>
              <a:t>회원 가입</a:t>
            </a:r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/>
              <a:t>로그인</a:t>
            </a:r>
            <a:endParaRPr lang="en-US" altLang="ko-KR"/>
          </a:p>
          <a:p>
            <a:pPr lvl="1"/>
            <a:r>
              <a:rPr lang="en-US" altLang="ko-KR"/>
              <a:t>3. </a:t>
            </a:r>
            <a:r>
              <a:rPr lang="ko-KR" altLang="en-US"/>
              <a:t>탈퇴</a:t>
            </a:r>
            <a:endParaRPr lang="en-US" altLang="ko-KR"/>
          </a:p>
          <a:p>
            <a:pPr lvl="1"/>
            <a:r>
              <a:rPr lang="en-US" altLang="ko-KR"/>
              <a:t>4. </a:t>
            </a:r>
            <a:r>
              <a:rPr lang="ko-KR" altLang="en-US"/>
              <a:t>로그아웃</a:t>
            </a:r>
            <a:endParaRPr lang="en-US" altLang="ko-KR"/>
          </a:p>
          <a:p>
            <a:pPr lvl="1"/>
            <a:r>
              <a:rPr lang="en-US" altLang="ko-KR">
                <a:highlight>
                  <a:srgbClr val="FFFF00"/>
                </a:highlight>
              </a:rPr>
              <a:t>5. VIP </a:t>
            </a:r>
            <a:r>
              <a:rPr lang="ko-KR" altLang="en-US">
                <a:highlight>
                  <a:srgbClr val="FFFF00"/>
                </a:highlight>
              </a:rPr>
              <a:t>혜택 받기</a:t>
            </a:r>
            <a:endParaRPr lang="en-US" altLang="ko-KR">
              <a:highlight>
                <a:srgbClr val="FFFF00"/>
              </a:highlight>
            </a:endParaRPr>
          </a:p>
          <a:p>
            <a:pPr lvl="1"/>
            <a:endParaRPr lang="en-US" altLang="ko-KR"/>
          </a:p>
          <a:p>
            <a:r>
              <a:rPr lang="ko-KR" altLang="en-US"/>
              <a:t>일반회원은 </a:t>
            </a:r>
            <a:r>
              <a:rPr lang="en-US" altLang="ko-KR"/>
              <a:t>VIP </a:t>
            </a:r>
            <a:r>
              <a:rPr lang="ko-KR" altLang="en-US"/>
              <a:t>혜택을 받을 수 없고</a:t>
            </a:r>
            <a:r>
              <a:rPr lang="en-US" altLang="ko-KR"/>
              <a:t>, </a:t>
            </a:r>
            <a:r>
              <a:rPr lang="ko-KR" altLang="en-US"/>
              <a:t>오로지 </a:t>
            </a:r>
            <a:r>
              <a:rPr lang="en-US" altLang="ko-KR"/>
              <a:t>VIP </a:t>
            </a:r>
            <a:r>
              <a:rPr lang="ko-KR" altLang="en-US"/>
              <a:t>회원만 혜택을 받을 수 있다면</a:t>
            </a:r>
            <a:r>
              <a:rPr lang="en-US" altLang="ko-KR"/>
              <a:t> </a:t>
            </a:r>
            <a:br>
              <a:rPr lang="en-US" altLang="ko-KR"/>
            </a:br>
            <a:r>
              <a:rPr lang="ko-KR" altLang="en-US"/>
              <a:t>이렇게 구분 시킬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D82483-B636-7F73-E677-89CC6518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725" y="5100054"/>
            <a:ext cx="3908566" cy="15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8327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MemberService</a:t>
            </a:r>
            <a:r>
              <a:rPr lang="ko-KR" altLang="en-US"/>
              <a:t>와 </a:t>
            </a:r>
            <a:r>
              <a:rPr lang="en-US" altLang="ko-KR" err="1"/>
              <a:t>VipMemberService</a:t>
            </a:r>
            <a:r>
              <a:rPr lang="en-US" altLang="ko-KR"/>
              <a:t> Interface</a:t>
            </a:r>
            <a:r>
              <a:rPr lang="ko-KR" altLang="en-US"/>
              <a:t>를 만들어봅니다</a:t>
            </a:r>
            <a:r>
              <a:rPr lang="en-US" altLang="ko-KR"/>
              <a:t>.</a:t>
            </a:r>
          </a:p>
          <a:p>
            <a:r>
              <a:rPr lang="en-US" altLang="ko-KR"/>
              <a:t>MemberService.java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VipMemberService.java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VipMemberService</a:t>
            </a:r>
            <a:r>
              <a:rPr lang="ko-KR" altLang="en-US"/>
              <a:t> </a:t>
            </a:r>
            <a:r>
              <a:rPr lang="en-US" altLang="ko-KR"/>
              <a:t>is</a:t>
            </a:r>
            <a:r>
              <a:rPr lang="ko-KR" altLang="en-US"/>
              <a:t> </a:t>
            </a:r>
            <a:r>
              <a:rPr lang="en-US" altLang="ko-KR"/>
              <a:t>a</a:t>
            </a:r>
            <a:r>
              <a:rPr lang="ko-KR" altLang="en-US"/>
              <a:t> </a:t>
            </a:r>
            <a:r>
              <a:rPr lang="en-US" altLang="ko-KR" err="1"/>
              <a:t>MemberService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4A9F4-8E54-4C1E-70A5-BCBE1D241E8D}"/>
              </a:ext>
            </a:extLst>
          </p:cNvPr>
          <p:cNvSpPr txBox="1"/>
          <p:nvPr/>
        </p:nvSpPr>
        <p:spPr>
          <a:xfrm>
            <a:off x="448492" y="1994806"/>
            <a:ext cx="4589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953B8-0D79-145B-3C0B-735CA3F4F357}"/>
              </a:ext>
            </a:extLst>
          </p:cNvPr>
          <p:cNvSpPr txBox="1"/>
          <p:nvPr/>
        </p:nvSpPr>
        <p:spPr>
          <a:xfrm>
            <a:off x="448491" y="4407650"/>
            <a:ext cx="8164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5560871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클래스와 </a:t>
            </a:r>
            <a:br>
              <a:rPr lang="en-US" altLang="ko-KR"/>
            </a:br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클래스를 만들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NormalMemberService.java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BE53D-2166-2F25-AD24-43F4D4E9CB4E}"/>
              </a:ext>
            </a:extLst>
          </p:cNvPr>
          <p:cNvSpPr txBox="1"/>
          <p:nvPr/>
        </p:nvSpPr>
        <p:spPr>
          <a:xfrm>
            <a:off x="526869" y="2347898"/>
            <a:ext cx="81120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062715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클래스와 </a:t>
            </a:r>
            <a:br>
              <a:rPr lang="en-US" altLang="ko-KR"/>
            </a:br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클래스를 만들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VipClassMemberService.java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BE53D-2166-2F25-AD24-43F4D4E9CB4E}"/>
              </a:ext>
            </a:extLst>
          </p:cNvPr>
          <p:cNvSpPr txBox="1"/>
          <p:nvPr/>
        </p:nvSpPr>
        <p:spPr>
          <a:xfrm>
            <a:off x="526869" y="2347898"/>
            <a:ext cx="84616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4074257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is a </a:t>
            </a:r>
            <a:r>
              <a:rPr lang="en-US" altLang="ko-KR" err="1"/>
              <a:t>VipMemberService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en-US" altLang="ko-KR"/>
              <a:t> is a </a:t>
            </a:r>
            <a:r>
              <a:rPr lang="en-US" altLang="ko-KR" err="1"/>
              <a:t>MemberService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is a </a:t>
            </a:r>
            <a:r>
              <a:rPr lang="en-US" altLang="ko-KR" err="1"/>
              <a:t>MemberService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420989"/>
            <a:ext cx="79465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7810778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</a:t>
            </a:r>
            <a:r>
              <a:rPr lang="ko-KR" altLang="en-US"/>
              <a:t>코드</a:t>
            </a:r>
            <a:r>
              <a:rPr lang="en-US" altLang="ko-KR"/>
              <a:t> </a:t>
            </a:r>
            <a:r>
              <a:rPr lang="ko-KR" altLang="en-US"/>
              <a:t>줄여보기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를 상속받은 인터페이스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</a:t>
            </a:r>
            <a:endParaRPr lang="en-US" altLang="ko-KR"/>
          </a:p>
          <a:p>
            <a:r>
              <a:rPr lang="en-US" altLang="ko-KR" err="1"/>
              <a:t>MemberSerivce</a:t>
            </a:r>
            <a:r>
              <a:rPr lang="en-US" altLang="ko-KR"/>
              <a:t> </a:t>
            </a:r>
            <a:r>
              <a:rPr lang="ko-KR" altLang="en-US"/>
              <a:t>의 미 구현 메소드는 </a:t>
            </a:r>
            <a:r>
              <a:rPr lang="en-US" altLang="ko-KR" err="1"/>
              <a:t>NormalMemberService</a:t>
            </a:r>
            <a:r>
              <a:rPr lang="ko-KR" altLang="en-US"/>
              <a:t>를 상속받아 구현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903233"/>
            <a:ext cx="7946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혜택 받아요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8352356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</a:t>
            </a:r>
            <a:r>
              <a:rPr lang="ko-KR" altLang="en-US"/>
              <a:t>코드</a:t>
            </a:r>
            <a:r>
              <a:rPr lang="en-US" altLang="ko-KR"/>
              <a:t> </a:t>
            </a:r>
            <a:r>
              <a:rPr lang="ko-KR" altLang="en-US"/>
              <a:t>줄여보기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를 상속받은 인터페이스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</a:t>
            </a:r>
            <a:endParaRPr lang="en-US" altLang="ko-KR"/>
          </a:p>
          <a:p>
            <a:r>
              <a:rPr lang="en-US" altLang="ko-KR" err="1"/>
              <a:t>MemberSerivce</a:t>
            </a:r>
            <a:r>
              <a:rPr lang="en-US" altLang="ko-KR"/>
              <a:t> </a:t>
            </a:r>
            <a:r>
              <a:rPr lang="ko-KR" altLang="en-US"/>
              <a:t>의 미 구현 메소드는 </a:t>
            </a:r>
            <a:r>
              <a:rPr lang="en-US" altLang="ko-KR" err="1"/>
              <a:t>NormalMemberService</a:t>
            </a:r>
            <a:r>
              <a:rPr lang="ko-KR" altLang="en-US"/>
              <a:t>를 상속받아 구현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903233"/>
            <a:ext cx="7946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혜택 받아요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68ECDC-8ADE-3419-D458-2A14A2537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77" y="2470068"/>
            <a:ext cx="4927550" cy="29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12053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다시 </a:t>
            </a:r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코드를 살펴보면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조금 거슬리는 부분이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1676288"/>
            <a:ext cx="72748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SportsCar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 지원되지 않는 기능이 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altLang="ko-KR" sz="16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                                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호출되는 것 자체가 거슬립니다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.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4026012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그 뿐만 아니라 새로운 자동차 클래스를 만들 때 마다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을 수정해주어야 하며</a:t>
            </a:r>
            <a:r>
              <a:rPr lang="en-US" altLang="ko-KR">
                <a:latin typeface="+mj-ea"/>
                <a:ea typeface="+mj-ea"/>
              </a:rPr>
              <a:t>, Vehicle</a:t>
            </a:r>
            <a:r>
              <a:rPr lang="ko-KR" altLang="en-US">
                <a:latin typeface="+mj-ea"/>
                <a:ea typeface="+mj-ea"/>
              </a:rPr>
              <a:t>을 상속받고 있는 모든 클래스들도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수정을 해 주어야 합니다</a:t>
            </a:r>
            <a:r>
              <a:rPr lang="en-US" altLang="ko-KR">
                <a:latin typeface="+mj-ea"/>
                <a:ea typeface="+mj-ea"/>
              </a:rPr>
              <a:t>. (OCP </a:t>
            </a:r>
            <a:r>
              <a:rPr lang="ko-KR" altLang="en-US">
                <a:latin typeface="+mj-ea"/>
                <a:ea typeface="+mj-ea"/>
              </a:rPr>
              <a:t>위반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는 이런 문제를 해결할 때 사용되며</a:t>
            </a:r>
            <a:r>
              <a:rPr lang="en-US" altLang="ko-KR">
                <a:latin typeface="+mj-ea"/>
                <a:ea typeface="+mj-ea"/>
              </a:rPr>
              <a:t>, Java Application</a:t>
            </a:r>
            <a:r>
              <a:rPr lang="ko-KR" altLang="en-US">
                <a:latin typeface="+mj-ea"/>
                <a:ea typeface="+mj-ea"/>
              </a:rPr>
              <a:t>을 만들 때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아주 많이 사용되는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타입 중 하나입니다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2311289"/>
            <a:ext cx="727486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460558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인터페이스를 이용해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startTurbo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extractBatMobile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checkBattery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메소드들을 모두 분리해봅니다</a:t>
            </a:r>
            <a:r>
              <a:rPr lang="en-US" altLang="ko-KR">
                <a:latin typeface="+mj-ea"/>
                <a:ea typeface="+mj-ea"/>
              </a:rPr>
              <a:t>. (ISP)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먼저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ko-KR" altLang="en-US">
                <a:latin typeface="+mj-ea"/>
                <a:ea typeface="+mj-ea"/>
              </a:rPr>
              <a:t>을 담당할 인터페이스 부터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다음은 </a:t>
            </a:r>
            <a:r>
              <a:rPr lang="en-US" altLang="ko-KR" err="1">
                <a:latin typeface="+mj-ea"/>
                <a:ea typeface="+mj-ea"/>
              </a:rPr>
              <a:t>startTurbo</a:t>
            </a:r>
            <a:r>
              <a:rPr lang="ko-KR" altLang="en-US">
                <a:latin typeface="+mj-ea"/>
                <a:ea typeface="+mj-ea"/>
              </a:rPr>
              <a:t>를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425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491066" y="5782138"/>
            <a:ext cx="7633247" cy="1069574"/>
            <a:chOff x="4898273" y="2058334"/>
            <a:chExt cx="7633247" cy="10695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43236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인터페이스도 </a:t>
              </a:r>
              <a:r>
                <a:rPr lang="ko-KR" altLang="en-US" sz="1600" b="1" err="1"/>
                <a:t>추상메소드를</a:t>
              </a:r>
              <a:r>
                <a:rPr lang="ko-KR" altLang="en-US" sz="1600" b="1"/>
                <a:t> 만들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389244"/>
              <a:ext cx="750994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추상클래스는 일반 메소드와 추상 메소드를 만들 수 있는 반면</a:t>
              </a:r>
              <a:endParaRPr lang="en-US" altLang="ko-KR" sz="1400"/>
            </a:p>
            <a:p>
              <a:r>
                <a:rPr lang="ko-KR" altLang="en-US" sz="1400"/>
                <a:t>인터페이스는 오로지 추상 메소드와 상수만 만들 수 있습니다</a:t>
              </a:r>
              <a:r>
                <a:rPr lang="en-US" altLang="ko-KR" sz="1400"/>
                <a:t>. </a:t>
              </a:r>
              <a:r>
                <a:rPr lang="ko-KR" altLang="en-US" sz="1400"/>
                <a:t>이 점이 다릅니다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* Java 1.8</a:t>
              </a:r>
              <a:r>
                <a:rPr lang="ko-KR" altLang="en-US" sz="1400"/>
                <a:t> 부터 </a:t>
              </a:r>
              <a:r>
                <a:rPr lang="en-US" altLang="ko-KR" sz="1400">
                  <a:highlight>
                    <a:srgbClr val="FFFF00"/>
                  </a:highlight>
                </a:rPr>
                <a:t>default method</a:t>
              </a:r>
              <a:r>
                <a:rPr lang="ko-KR" altLang="en-US" sz="1400"/>
                <a:t>로 일반 메소드도 만들 수 있습니다</a:t>
              </a:r>
              <a:r>
                <a:rPr lang="en-US" altLang="ko-KR" sz="1400"/>
                <a:t>. (</a:t>
              </a:r>
              <a:r>
                <a:rPr lang="ko-KR" altLang="en-US" sz="1400"/>
                <a:t>단</a:t>
              </a:r>
              <a:r>
                <a:rPr lang="en-US" altLang="ko-KR" sz="1400"/>
                <a:t>,</a:t>
              </a:r>
              <a:r>
                <a:rPr lang="ko-KR" altLang="en-US" sz="1400"/>
                <a:t> 사용에 제한이 있습니다</a:t>
              </a:r>
              <a:r>
                <a:rPr lang="en-US" altLang="ko-KR" sz="1400"/>
                <a:t>.)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1A07A1-839E-E240-FE17-0F0D19337CBA}"/>
              </a:ext>
            </a:extLst>
          </p:cNvPr>
          <p:cNvSpPr txBox="1"/>
          <p:nvPr/>
        </p:nvSpPr>
        <p:spPr>
          <a:xfrm>
            <a:off x="491066" y="2743759"/>
            <a:ext cx="5096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B1C2A-DBCF-AE5E-31E2-9724988D173F}"/>
              </a:ext>
            </a:extLst>
          </p:cNvPr>
          <p:cNvSpPr txBox="1"/>
          <p:nvPr/>
        </p:nvSpPr>
        <p:spPr>
          <a:xfrm>
            <a:off x="491066" y="4398330"/>
            <a:ext cx="8833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7742214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다음은 </a:t>
            </a:r>
            <a:r>
              <a:rPr lang="en-US" altLang="ko-KR" err="1">
                <a:latin typeface="+mj-ea"/>
                <a:ea typeface="+mj-ea"/>
              </a:rPr>
              <a:t>extractBatMobile</a:t>
            </a:r>
            <a:r>
              <a:rPr lang="ko-KR" altLang="en-US">
                <a:latin typeface="+mj-ea"/>
                <a:ea typeface="+mj-ea"/>
              </a:rPr>
              <a:t>을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마지막으로 </a:t>
            </a:r>
            <a:r>
              <a:rPr lang="en-US" altLang="ko-KR" err="1">
                <a:latin typeface="+mj-ea"/>
                <a:ea typeface="+mj-ea"/>
              </a:rPr>
              <a:t>checkBattery</a:t>
            </a:r>
            <a:r>
              <a:rPr lang="ko-KR" altLang="en-US">
                <a:latin typeface="+mj-ea"/>
                <a:ea typeface="+mj-ea"/>
              </a:rPr>
              <a:t>를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1B84D-6953-0DD1-6D61-1EF7794B274F}"/>
              </a:ext>
            </a:extLst>
          </p:cNvPr>
          <p:cNvSpPr txBox="1"/>
          <p:nvPr/>
        </p:nvSpPr>
        <p:spPr>
          <a:xfrm>
            <a:off x="491065" y="1579458"/>
            <a:ext cx="79078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4220E97-79BB-622A-664E-A2741A988D2E}"/>
              </a:ext>
            </a:extLst>
          </p:cNvPr>
          <p:cNvSpPr txBox="1"/>
          <p:nvPr/>
        </p:nvSpPr>
        <p:spPr>
          <a:xfrm>
            <a:off x="491065" y="3285527"/>
            <a:ext cx="7399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8111711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인터페이스의 상속구조와 클래스들의 구현 예정 구조입니다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0FE62D8-FCA1-1DD5-402B-1A7A5566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11" y="2151912"/>
            <a:ext cx="7749448" cy="38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27935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>
                <a:latin typeface="+mj-ea"/>
                <a:ea typeface="+mj-ea"/>
              </a:rPr>
              <a:t>Rideable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3807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74133" y="1803556"/>
            <a:ext cx="85945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겁니다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0BD6E15-9B67-823A-9765-B18F63876EA4}"/>
              </a:ext>
            </a:extLst>
          </p:cNvPr>
          <p:cNvGrpSpPr/>
          <p:nvPr/>
        </p:nvGrpSpPr>
        <p:grpSpPr>
          <a:xfrm>
            <a:off x="474133" y="5434035"/>
            <a:ext cx="8045668" cy="1061107"/>
            <a:chOff x="4898273" y="2058334"/>
            <a:chExt cx="8045668" cy="10611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55C892-78EF-BD47-2CE1-CAE463F15D5D}"/>
                </a:ext>
              </a:extLst>
            </p:cNvPr>
            <p:cNvSpPr txBox="1"/>
            <p:nvPr/>
          </p:nvSpPr>
          <p:spPr>
            <a:xfrm>
              <a:off x="4898273" y="2058334"/>
              <a:ext cx="16674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인터페이스 구현</a:t>
              </a:r>
              <a:endParaRPr lang="en-US" altLang="ko-KR" sz="1600" b="1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1E3A68-DDC0-C467-8E06-7C5590F1934C}"/>
                </a:ext>
              </a:extLst>
            </p:cNvPr>
            <p:cNvSpPr txBox="1"/>
            <p:nvPr/>
          </p:nvSpPr>
          <p:spPr>
            <a:xfrm>
              <a:off x="5021579" y="2380777"/>
              <a:ext cx="792236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인터페이스 내부의 추상 메소드를 </a:t>
              </a:r>
              <a:r>
                <a:rPr lang="ko-KR" altLang="en-US" sz="1400" err="1"/>
                <a:t>오버라이딩하는</a:t>
              </a:r>
              <a:r>
                <a:rPr lang="ko-KR" altLang="en-US" sz="1400"/>
                <a:t> 것을 </a:t>
              </a:r>
              <a:r>
                <a:rPr lang="en-US" altLang="ko-KR" sz="1400"/>
                <a:t>“</a:t>
              </a:r>
              <a:r>
                <a:rPr lang="ko-KR" altLang="en-US" sz="1400"/>
                <a:t>인터페이스를 구현한다</a:t>
              </a:r>
              <a:r>
                <a:rPr lang="en-US" altLang="ko-KR" sz="1400"/>
                <a:t>“ </a:t>
              </a:r>
              <a:r>
                <a:rPr lang="ko-KR" altLang="en-US" sz="1400"/>
                <a:t>라고 표현합니다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자주 사용되는 표현입니다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인터페이스 구현은 </a:t>
              </a:r>
              <a:r>
                <a:rPr lang="en-US" altLang="ko-KR" sz="1400"/>
                <a:t>implements </a:t>
              </a:r>
              <a:r>
                <a:rPr lang="ko-KR" altLang="en-US" sz="1400"/>
                <a:t>키워드를 사용합니다</a:t>
              </a:r>
              <a:r>
                <a:rPr lang="en-US" altLang="ko-KR" sz="1400"/>
                <a:t>.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4503652-7648-E2ED-C178-4275D50343D8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6251158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UsingTurboEngine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74133" y="1809444"/>
            <a:ext cx="85945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터보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모드를 시작합니다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0417197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UsingBatPort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809444"/>
            <a:ext cx="8854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non-sealed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배트포트를 분리합니다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94232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EV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UsingBattery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431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809444"/>
            <a:ext cx="8854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배터리가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만큼 남아있습니다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11473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 기반의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관계가 만들어졌으니 테스트를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432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2071910"/>
            <a:ext cx="8854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5247683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 확인을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693848"/>
            <a:ext cx="8854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3166954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게시판 인터페이스를 </a:t>
            </a:r>
            <a:r>
              <a:rPr lang="ko-KR" altLang="en-US" err="1">
                <a:latin typeface="+mj-ea"/>
                <a:ea typeface="+mj-ea"/>
              </a:rPr>
              <a:t>만드려면</a:t>
            </a:r>
            <a:r>
              <a:rPr lang="ko-KR" altLang="en-US">
                <a:latin typeface="+mj-ea"/>
                <a:ea typeface="+mj-ea"/>
              </a:rPr>
              <a:t> 어떤 기능이 필요할까요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게시판은 아래 기능들이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게시글 목록 조회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게시글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 내용 조회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3. </a:t>
            </a:r>
            <a:r>
              <a:rPr lang="ko-KR" altLang="en-US">
                <a:latin typeface="+mj-ea"/>
                <a:ea typeface="+mj-ea"/>
              </a:rPr>
              <a:t>게시글 작성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게시글 수정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5. </a:t>
            </a:r>
            <a:r>
              <a:rPr lang="ko-KR" altLang="en-US">
                <a:latin typeface="+mj-ea"/>
                <a:ea typeface="+mj-ea"/>
              </a:rPr>
              <a:t>게시글 삭제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434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638222-48D2-364D-7E6F-37489D4C2D6C}"/>
              </a:ext>
            </a:extLst>
          </p:cNvPr>
          <p:cNvSpPr txBox="1"/>
          <p:nvPr/>
        </p:nvSpPr>
        <p:spPr>
          <a:xfrm>
            <a:off x="1454266" y="3523404"/>
            <a:ext cx="50969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readAllArticles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readOneArticles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modifyArtcile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9763075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주소록 인터페이스를 </a:t>
            </a:r>
            <a:r>
              <a:rPr lang="ko-KR" altLang="en-US" err="1">
                <a:latin typeface="+mj-ea"/>
                <a:ea typeface="+mj-ea"/>
              </a:rPr>
              <a:t>만드려면</a:t>
            </a:r>
            <a:r>
              <a:rPr lang="ko-KR" altLang="en-US">
                <a:latin typeface="+mj-ea"/>
                <a:ea typeface="+mj-ea"/>
              </a:rPr>
              <a:t> 어떤 기능이 필요할까요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필요한 기능을 정의해 인터페이스로 만들어보고 구현 클래스를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435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5798924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</a:t>
            </a:r>
            <a:r>
              <a:rPr lang="ko-KR" altLang="en-US" sz="4000" b="1">
                <a:latin typeface="+mj-ea"/>
              </a:rPr>
              <a:t>추상화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C128E48-126D-A36A-F148-16458667AA41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대충 이런 기능을 </a:t>
            </a:r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제공할거에요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필요하면 가져다 쓰세요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1549325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CA6C-8F3B-5E68-9048-16EBD0AC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6346E46-5836-8880-8FFF-BD64F402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64436"/>
            <a:ext cx="8594539" cy="5477892"/>
          </a:xfrm>
        </p:spPr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추상</a:t>
            </a:r>
            <a:r>
              <a:rPr lang="en-US" altLang="ko-KR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err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抽象</a:t>
            </a:r>
            <a:r>
              <a:rPr lang="en-US" altLang="ko-KR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>
              <a:solidFill>
                <a:srgbClr val="000000"/>
              </a:solidFill>
              <a:effectLst/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1"/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여러 가지 사물이나 개념에서 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공통되는 특성이나 속성 따위를 추출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하여 파악하는 작용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네이버 국어사전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lvl="1"/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사물을 어떤 성질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공통성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본질에 착안하여 그것을 추출하여 파악하는 것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그 때 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다른 성질을 배제하는 작용인 사상</a:t>
            </a:r>
            <a:r>
              <a:rPr lang="en-US" altLang="ko-KR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err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捨象</a:t>
            </a:r>
            <a:r>
              <a:rPr lang="en-US" altLang="ko-KR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을 수반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하므로 추상과 사상은 동일 작용의 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두 측면을 형성함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Oxford Languages)</a:t>
            </a:r>
          </a:p>
          <a:p>
            <a:pPr lvl="1"/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복잡한 자료</a:t>
            </a:r>
            <a: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모듈</a:t>
            </a:r>
            <a: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시스템 등으로부터 핵심적인 개념 또는 기능을 간추려 내는 것 </a:t>
            </a:r>
            <a:b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>
                <a:solidFill>
                  <a:srgbClr val="60606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위키피디아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lvl="1"/>
            <a:endParaRPr lang="en-US" altLang="ko-KR">
              <a:solidFill>
                <a:srgbClr val="60606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>
                <a:latin typeface="+mj-ea"/>
                <a:ea typeface="+mj-ea"/>
              </a:rPr>
              <a:t>추상화란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제공해야 하는 일련의 기능의 메소드만 정의되어 있거나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인터페이스</a:t>
            </a:r>
            <a:r>
              <a:rPr lang="en-US" altLang="ko-KR">
                <a:latin typeface="+mj-ea"/>
                <a:ea typeface="+mj-ea"/>
              </a:rPr>
              <a:t>)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err="1">
                <a:latin typeface="+mj-ea"/>
                <a:ea typeface="+mj-ea"/>
              </a:rPr>
              <a:t>추상된</a:t>
            </a:r>
            <a:r>
              <a:rPr lang="ko-KR" altLang="en-US">
                <a:latin typeface="+mj-ea"/>
                <a:ea typeface="+mj-ea"/>
              </a:rPr>
              <a:t> 메소드 내부에서 </a:t>
            </a:r>
            <a:r>
              <a:rPr lang="ko-KR" altLang="en-US" err="1">
                <a:latin typeface="+mj-ea"/>
                <a:ea typeface="+mj-ea"/>
              </a:rPr>
              <a:t>사상된</a:t>
            </a:r>
            <a:r>
              <a:rPr lang="ko-KR" altLang="en-US">
                <a:latin typeface="+mj-ea"/>
                <a:ea typeface="+mj-ea"/>
              </a:rPr>
              <a:t> 메소드를 호출하는 것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추상클래스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클래스 또는 인터페이스는 반드시 상속하거나 구현해야 함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419966-93FF-6B80-53C0-491871E9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A375D-3932-71C1-BDF4-293F1D71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190E35E-6E4E-A3C9-400E-213CFAFB659B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FF365E-5576-703E-3BE2-377CB490A463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D617EA-95DD-6E9A-C707-D19776450B9A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70A0B89-9F79-1392-21F6-0D56DB6EFB55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1708270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예를 들어 아래와 같은 기능을 가진 애플리케이션을 만든다면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555E8E-D0BB-B4EB-F2BD-8B27406DCEDA}"/>
              </a:ext>
            </a:extLst>
          </p:cNvPr>
          <p:cNvSpPr/>
          <p:nvPr/>
        </p:nvSpPr>
        <p:spPr>
          <a:xfrm>
            <a:off x="3631593" y="2326943"/>
            <a:ext cx="1683146" cy="30563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EFD29F-DCC3-97AC-3C1A-63A8B6434F2A}"/>
              </a:ext>
            </a:extLst>
          </p:cNvPr>
          <p:cNvSpPr/>
          <p:nvPr/>
        </p:nvSpPr>
        <p:spPr>
          <a:xfrm>
            <a:off x="3765787" y="2453944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회원가입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8BF316-7FF1-E3B3-E869-C83C2514462D}"/>
              </a:ext>
            </a:extLst>
          </p:cNvPr>
          <p:cNvSpPr/>
          <p:nvPr/>
        </p:nvSpPr>
        <p:spPr>
          <a:xfrm>
            <a:off x="3765787" y="3201573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로그인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446471-306A-8BF3-FAC3-17EBD0E3C9BC}"/>
              </a:ext>
            </a:extLst>
          </p:cNvPr>
          <p:cNvSpPr/>
          <p:nvPr/>
        </p:nvSpPr>
        <p:spPr>
          <a:xfrm>
            <a:off x="3765787" y="3947921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탈퇴 </a:t>
            </a:r>
            <a:br>
              <a:rPr lang="en-US" altLang="ko-KR" sz="14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100">
                <a:solidFill>
                  <a:schemeClr val="bg2">
                    <a:lumMod val="25000"/>
                  </a:schemeClr>
                </a:solidFill>
              </a:rPr>
              <a:t>로그인 상태에서</a:t>
            </a: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D32F24-4498-7329-EBDB-2B40138FF92D}"/>
              </a:ext>
            </a:extLst>
          </p:cNvPr>
          <p:cNvSpPr/>
          <p:nvPr/>
        </p:nvSpPr>
        <p:spPr>
          <a:xfrm>
            <a:off x="3765787" y="4694269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개인정보 수정 </a:t>
            </a:r>
            <a:br>
              <a:rPr lang="en-US" altLang="ko-KR" sz="1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100">
                <a:solidFill>
                  <a:schemeClr val="bg2">
                    <a:lumMod val="25000"/>
                  </a:schemeClr>
                </a:solidFill>
              </a:rPr>
              <a:t>로그인 상태에서</a:t>
            </a: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C50381A-4DA1-C6AB-723C-B19FCBF731AE}"/>
              </a:ext>
            </a:extLst>
          </p:cNvPr>
          <p:cNvGrpSpPr/>
          <p:nvPr/>
        </p:nvGrpSpPr>
        <p:grpSpPr>
          <a:xfrm>
            <a:off x="1555545" y="2215987"/>
            <a:ext cx="1156120" cy="1085514"/>
            <a:chOff x="319407" y="3208868"/>
            <a:chExt cx="1156120" cy="108551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FE5D651-32E1-4800-CE55-CB3565DDCF54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7FC2FF6F-2170-9D9D-BEC7-34D36ECB8819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9E75AF-AD55-9983-B93F-8B6313F84856}"/>
              </a:ext>
            </a:extLst>
          </p:cNvPr>
          <p:cNvGrpSpPr/>
          <p:nvPr/>
        </p:nvGrpSpPr>
        <p:grpSpPr>
          <a:xfrm>
            <a:off x="1555545" y="3709964"/>
            <a:ext cx="1156120" cy="1085514"/>
            <a:chOff x="319407" y="3208868"/>
            <a:chExt cx="1156120" cy="1085514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9FC442DD-B6D6-4EC4-2704-503CEE0D62CC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C31E4624-33E7-D2EB-35FF-097FC9CBBA8D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BDB945B-4FA3-AC42-9A3B-28B4F0AA053D}"/>
              </a:ext>
            </a:extLst>
          </p:cNvPr>
          <p:cNvGrpSpPr/>
          <p:nvPr/>
        </p:nvGrpSpPr>
        <p:grpSpPr>
          <a:xfrm>
            <a:off x="6214866" y="2963616"/>
            <a:ext cx="1156120" cy="1085514"/>
            <a:chOff x="319407" y="3208868"/>
            <a:chExt cx="1156120" cy="108551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6757060-2C1E-BF24-9AC9-017D2E670AF7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5DB02BFE-1157-52FE-6573-F8A0B18F7096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0DF2919-442F-D730-8D9F-89173D8DBAB6}"/>
              </a:ext>
            </a:extLst>
          </p:cNvPr>
          <p:cNvGrpSpPr/>
          <p:nvPr/>
        </p:nvGrpSpPr>
        <p:grpSpPr>
          <a:xfrm>
            <a:off x="6214866" y="4456312"/>
            <a:ext cx="1156120" cy="1085514"/>
            <a:chOff x="319407" y="3208868"/>
            <a:chExt cx="1156120" cy="108551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99B5FB5-F83D-AD17-64D9-6A48B189F9E7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6B89C59B-764C-DC3D-7970-16F5BEBC93C3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F74DA3B-E7DE-1237-A323-ADC23E3C3C4D}"/>
              </a:ext>
            </a:extLst>
          </p:cNvPr>
          <p:cNvCxnSpPr>
            <a:cxnSpLocks/>
          </p:cNvCxnSpPr>
          <p:nvPr/>
        </p:nvCxnSpPr>
        <p:spPr>
          <a:xfrm>
            <a:off x="2711665" y="4252721"/>
            <a:ext cx="10569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949EC52-0BE1-3286-E1CF-F22486A4A0E2}"/>
              </a:ext>
            </a:extLst>
          </p:cNvPr>
          <p:cNvCxnSpPr>
            <a:cxnSpLocks/>
          </p:cNvCxnSpPr>
          <p:nvPr/>
        </p:nvCxnSpPr>
        <p:spPr>
          <a:xfrm flipH="1">
            <a:off x="5173126" y="3506373"/>
            <a:ext cx="114566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28F2474-7E01-6CF2-3308-F41600E7E002}"/>
              </a:ext>
            </a:extLst>
          </p:cNvPr>
          <p:cNvCxnSpPr>
            <a:cxnSpLocks/>
          </p:cNvCxnSpPr>
          <p:nvPr/>
        </p:nvCxnSpPr>
        <p:spPr>
          <a:xfrm flipH="1">
            <a:off x="5173126" y="4984699"/>
            <a:ext cx="114566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60670CA-BE4D-0585-51EB-9718B3B0E488}"/>
              </a:ext>
            </a:extLst>
          </p:cNvPr>
          <p:cNvCxnSpPr>
            <a:cxnSpLocks/>
          </p:cNvCxnSpPr>
          <p:nvPr/>
        </p:nvCxnSpPr>
        <p:spPr>
          <a:xfrm>
            <a:off x="2711665" y="2745656"/>
            <a:ext cx="10569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508A9CC9-5AF1-EB96-A4C1-912BEE4973AF}"/>
              </a:ext>
            </a:extLst>
          </p:cNvPr>
          <p:cNvSpPr/>
          <p:nvPr/>
        </p:nvSpPr>
        <p:spPr>
          <a:xfrm>
            <a:off x="5641076" y="1875315"/>
            <a:ext cx="3459819" cy="740777"/>
          </a:xfrm>
          <a:prstGeom prst="wedgeRoundRectCallout">
            <a:avLst>
              <a:gd name="adj1" fmla="val -18984"/>
              <a:gd name="adj2" fmla="val 90764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탈퇴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개인정보 수정은 내가 인터페이스를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만들어놨어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인터페이스 참고해서 기능 구현 좀 부탁해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그 동안 난 인터페이스 호출만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할게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말풍선: 모서리가 둥근 사각형 40">
            <a:extLst>
              <a:ext uri="{FF2B5EF4-FFF2-40B4-BE49-F238E27FC236}">
                <a16:creationId xmlns:a16="http://schemas.microsoft.com/office/drawing/2014/main" id="{77F8F874-94E2-5F66-BDE9-600E1579728E}"/>
              </a:ext>
            </a:extLst>
          </p:cNvPr>
          <p:cNvSpPr/>
          <p:nvPr/>
        </p:nvSpPr>
        <p:spPr>
          <a:xfrm>
            <a:off x="135110" y="5011523"/>
            <a:ext cx="3384787" cy="489002"/>
          </a:xfrm>
          <a:prstGeom prst="wedgeRoundRectCallout">
            <a:avLst>
              <a:gd name="adj1" fmla="val -2524"/>
              <a:gd name="adj2" fmla="val -121190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네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탈퇴 인터페이스 구현되면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말씀드릴게요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로그인 상태 보려면 로그인 인터페이스 확인하면 되죠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말풍선: 모서리가 둥근 사각형 41">
            <a:extLst>
              <a:ext uri="{FF2B5EF4-FFF2-40B4-BE49-F238E27FC236}">
                <a16:creationId xmlns:a16="http://schemas.microsoft.com/office/drawing/2014/main" id="{CAEE812F-B564-6A91-748B-14C06ACC200D}"/>
              </a:ext>
            </a:extLst>
          </p:cNvPr>
          <p:cNvSpPr/>
          <p:nvPr/>
        </p:nvSpPr>
        <p:spPr>
          <a:xfrm>
            <a:off x="5641076" y="5731714"/>
            <a:ext cx="2855145" cy="489002"/>
          </a:xfrm>
          <a:prstGeom prst="wedgeRoundRectCallout">
            <a:avLst>
              <a:gd name="adj1" fmla="val -10278"/>
              <a:gd name="adj2" fmla="val -112533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개인정보수정 인터페이스 찾았어요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이거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구현시켜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놓을게요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612462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추상화의 이점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인터페이스나 추상클래스만으로 코드 작성이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하나의 인터페이스나 추상클래스로 여러 개의 구현 클래스를 만들 수 있고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여러 개의 구현 클래스를 이용해 유연한 상황대처가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7941605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추상 클래스와 인터페이스의 차이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추상클래스와 인터페이스는 추상 메소드를 만든다는 점에서 동일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일반적으로 추상 메소드의 비율로 추상화 정도를 나타냄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 </a:t>
            </a:r>
            <a:r>
              <a:rPr lang="en-US" altLang="ko-KR">
                <a:latin typeface="+mj-ea"/>
                <a:ea typeface="+mj-ea"/>
              </a:rPr>
              <a:t>– class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메소드와 일반 메소드가 혼재할 가능성이 매우 높음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불완전 추상화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 </a:t>
            </a:r>
            <a:r>
              <a:rPr lang="en-US" altLang="ko-KR">
                <a:latin typeface="+mj-ea"/>
                <a:ea typeface="+mj-ea"/>
              </a:rPr>
              <a:t>– interface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메소드만 존재함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완전 추상화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인터페이스가 추상클래스보다 추상화의 정도가 높음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4342075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추상클래스의 활용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기존 코드를 확장하려 할 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기존의 코드는 수정하지 않고 추상 클래스를 활용해 코드 전 후에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해야 할 일을 작성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인터페이스의 활용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제공되는 기능에 대해서는 알고 있지만 환경에 따라 기능의 구현이 변경되어야 할 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환경</a:t>
            </a:r>
            <a:r>
              <a:rPr lang="en-US" altLang="ko-KR">
                <a:latin typeface="+mj-ea"/>
                <a:ea typeface="+mj-ea"/>
              </a:rPr>
              <a:t>:</a:t>
            </a:r>
          </a:p>
          <a:p>
            <a:pPr lvl="3"/>
            <a:r>
              <a:rPr lang="en-US" altLang="ko-KR">
                <a:latin typeface="+mj-ea"/>
                <a:ea typeface="+mj-ea"/>
              </a:rPr>
              <a:t>OS, Database, </a:t>
            </a:r>
            <a:r>
              <a:rPr lang="ko-KR" altLang="en-US">
                <a:latin typeface="+mj-ea"/>
                <a:ea typeface="+mj-ea"/>
              </a:rPr>
              <a:t>사용자 입력 값 등 여러 요인이 존재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441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3876633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</a:t>
            </a:r>
            <a:r>
              <a:rPr lang="ko-KR" altLang="en-US" sz="4000" b="1">
                <a:latin typeface="+mj-ea"/>
              </a:rPr>
              <a:t>익명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234173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익명 클래스란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추상 클래스나 인터페이스를 강제로 인스턴스화 시키는 방법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추상클래스나 인터페이스를 인스턴스화 할 수 없는 이유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구현되지 않은 추상 메소드가 있기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인스턴스화의 조건은 모든 메소드가 구현되어 있어야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추상클래스나 인터페이스를 강제로 인스턴스화 하려면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인스턴스를 만들 때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추상클래스를 구현 시켜주면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9328766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Rideable </a:t>
            </a:r>
            <a:r>
              <a:rPr lang="ko-KR" altLang="en-US">
                <a:latin typeface="+mj-ea"/>
                <a:ea typeface="+mj-ea"/>
              </a:rPr>
              <a:t>인터페이스를 강제 인스턴스화 하기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dirty="0">
                <a:latin typeface="+mj-ea"/>
              </a:rPr>
              <a:t>17. </a:t>
            </a:r>
            <a:r>
              <a:rPr lang="ko-KR" altLang="en-US" sz="3600" b="1" dirty="0">
                <a:latin typeface="+mj-ea"/>
              </a:rPr>
              <a:t>익명 클래스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444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41EAAD-1093-EF4E-EF71-C681DBAD4955}"/>
              </a:ext>
            </a:extLst>
          </p:cNvPr>
          <p:cNvSpPr txBox="1"/>
          <p:nvPr/>
        </p:nvSpPr>
        <p:spPr>
          <a:xfrm>
            <a:off x="491067" y="1724290"/>
            <a:ext cx="8255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즉시 구현</a:t>
            </a:r>
            <a:endParaRPr lang="ko-KR" alt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걸었습니다</a:t>
            </a:r>
            <a:r>
              <a:rPr lang="en-US" altLang="ko-KR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18537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UsingTurboEngine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강제 인스턴스화 하기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445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1820D13-7654-8006-56F7-565714E045B0}"/>
              </a:ext>
            </a:extLst>
          </p:cNvPr>
          <p:cNvSpPr txBox="1"/>
          <p:nvPr/>
        </p:nvSpPr>
        <p:spPr>
          <a:xfrm>
            <a:off x="508000" y="1640167"/>
            <a:ext cx="863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걸었습니다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터보모드를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시작합니다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1551945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익명 클래스는 언제 사용하면 좋을까요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단 한 번 사용할 인스턴스를 만들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 클래스 또는 인터페이스의 구현체를 생성하는데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딱 한번 사용할 인스턴스를 만들기 위해 클래스를 정의하는 것은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매우 비효율적입니다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이런 경우 클래스를 정의하지 않고 즉시 구현하여 인스턴스를 만드는 익명클래스를 만드는 것이 유리합니다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446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1604840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인터페이스를 파라미터로 받는 메소드가 있다고 가정합니다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App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ko-KR" altLang="en-US">
                <a:latin typeface="+mj-ea"/>
                <a:ea typeface="+mj-ea"/>
              </a:rPr>
              <a:t>을 호출하기 위해 파라미터로 클래스를 정의해 보낼 수도 있지만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익명클래스를 보낼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69E341-4378-7558-B50A-B6754FFB10D9}"/>
              </a:ext>
            </a:extLst>
          </p:cNvPr>
          <p:cNvSpPr txBox="1"/>
          <p:nvPr/>
        </p:nvSpPr>
        <p:spPr>
          <a:xfrm>
            <a:off x="550333" y="1798549"/>
            <a:ext cx="77131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838694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호출하면서 익명클래스를 전달해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69E341-4378-7558-B50A-B6754FFB10D9}"/>
              </a:ext>
            </a:extLst>
          </p:cNvPr>
          <p:cNvSpPr txBox="1"/>
          <p:nvPr/>
        </p:nvSpPr>
        <p:spPr>
          <a:xfrm>
            <a:off x="550333" y="1798549"/>
            <a:ext cx="84200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일회용 차의 시동을 겁니다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97508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주소록 인터페이스로 익명 클래스를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0255118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51057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프로그램이 동작하는 과정 중 잘못된 입력 값이 전달되거나</a:t>
            </a:r>
            <a:endParaRPr lang="en-US" altLang="ko-KR" dirty="0"/>
          </a:p>
          <a:p>
            <a:r>
              <a:rPr lang="ko-KR" altLang="en-US" dirty="0"/>
              <a:t>읽어야 하는 파일이 존재하지 않거나</a:t>
            </a:r>
            <a:endParaRPr lang="en-US" altLang="ko-KR" dirty="0"/>
          </a:p>
          <a:p>
            <a:r>
              <a:rPr lang="ko-KR" altLang="en-US" dirty="0"/>
              <a:t>배열의 인덱스를 잘못 전달했거나</a:t>
            </a:r>
            <a:endParaRPr lang="en-US" altLang="ko-KR" dirty="0"/>
          </a:p>
          <a:p>
            <a:r>
              <a:rPr lang="en-US" altLang="ko-KR" dirty="0"/>
              <a:t>Null </a:t>
            </a:r>
            <a:r>
              <a:rPr lang="ko-KR" altLang="en-US" dirty="0"/>
              <a:t>인스턴스에 접근을 하려했거나 등등의 이유로 </a:t>
            </a:r>
            <a:r>
              <a:rPr lang="ko-KR" altLang="en-US" b="1" dirty="0"/>
              <a:t>오류</a:t>
            </a:r>
            <a:r>
              <a:rPr lang="ko-KR" altLang="en-US" dirty="0"/>
              <a:t>가 발생하는데</a:t>
            </a:r>
            <a:endParaRPr lang="en-US" altLang="ko-KR" dirty="0"/>
          </a:p>
          <a:p>
            <a:r>
              <a:rPr lang="ko-KR" altLang="en-US" dirty="0"/>
              <a:t>이것을 </a:t>
            </a:r>
            <a:r>
              <a:rPr lang="en-US" altLang="ko-KR" dirty="0"/>
              <a:t>“</a:t>
            </a:r>
            <a:r>
              <a:rPr lang="ko-KR" altLang="en-US" b="1" dirty="0"/>
              <a:t>예외</a:t>
            </a:r>
            <a:r>
              <a:rPr lang="en-US" altLang="ko-KR" dirty="0"/>
              <a:t>” 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예외가 발생한 경우 </a:t>
            </a:r>
            <a:r>
              <a:rPr lang="en-US" altLang="ko-KR" dirty="0"/>
              <a:t>Java </a:t>
            </a:r>
            <a:r>
              <a:rPr lang="ko-KR" altLang="en-US" dirty="0"/>
              <a:t>프로그램은 </a:t>
            </a:r>
            <a:r>
              <a:rPr lang="en-US" altLang="ko-KR" dirty="0"/>
              <a:t>JVM</a:t>
            </a:r>
            <a:r>
              <a:rPr lang="ko-KR" altLang="en-US" dirty="0"/>
              <a:t>에 의해서 강제 종료됩니다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BB2349-DECB-623B-D92E-AAAFAAA982AB}"/>
              </a:ext>
            </a:extLst>
          </p:cNvPr>
          <p:cNvGrpSpPr/>
          <p:nvPr/>
        </p:nvGrpSpPr>
        <p:grpSpPr>
          <a:xfrm>
            <a:off x="805730" y="4325504"/>
            <a:ext cx="2160240" cy="2160240"/>
            <a:chOff x="2483768" y="2564904"/>
            <a:chExt cx="2160240" cy="2160240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50CDCC1-AA71-49D6-05E9-C309FD5CE47E}"/>
                </a:ext>
              </a:extLst>
            </p:cNvPr>
            <p:cNvSpPr/>
            <p:nvPr/>
          </p:nvSpPr>
          <p:spPr>
            <a:xfrm>
              <a:off x="2483768" y="2564904"/>
              <a:ext cx="2160240" cy="21602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3284376-5A2D-2DB1-FF16-C0EAA74D6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8908" y="3453996"/>
              <a:ext cx="749959" cy="3820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CCAB73E7-4F08-78FC-5FC2-406070959F26}"/>
              </a:ext>
            </a:extLst>
          </p:cNvPr>
          <p:cNvSpPr/>
          <p:nvPr/>
        </p:nvSpPr>
        <p:spPr>
          <a:xfrm>
            <a:off x="5990306" y="4325503"/>
            <a:ext cx="2160240" cy="216024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AE7E236-93A9-64C0-4887-BC35C787A530}"/>
              </a:ext>
            </a:extLst>
          </p:cNvPr>
          <p:cNvSpPr txBox="1"/>
          <p:nvPr/>
        </p:nvSpPr>
        <p:spPr>
          <a:xfrm>
            <a:off x="6240327" y="5220957"/>
            <a:ext cx="166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JAVA Program</a:t>
            </a:r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B34299A-2E34-38EB-BA16-1992BE012714}"/>
              </a:ext>
            </a:extLst>
          </p:cNvPr>
          <p:cNvCxnSpPr/>
          <p:nvPr/>
        </p:nvCxnSpPr>
        <p:spPr>
          <a:xfrm flipH="1">
            <a:off x="2965970" y="4855692"/>
            <a:ext cx="3096344" cy="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CF2731-F0CC-CC22-B9DC-A94A56E4E60F}"/>
              </a:ext>
            </a:extLst>
          </p:cNvPr>
          <p:cNvCxnSpPr/>
          <p:nvPr/>
        </p:nvCxnSpPr>
        <p:spPr>
          <a:xfrm>
            <a:off x="2978776" y="5980944"/>
            <a:ext cx="3011530" cy="26876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6">
            <a:extLst>
              <a:ext uri="{FF2B5EF4-FFF2-40B4-BE49-F238E27FC236}">
                <a16:creationId xmlns:a16="http://schemas.microsoft.com/office/drawing/2014/main" id="{E8E843DB-2652-708F-A12D-466DCA16064C}"/>
              </a:ext>
            </a:extLst>
          </p:cNvPr>
          <p:cNvSpPr txBox="1"/>
          <p:nvPr/>
        </p:nvSpPr>
        <p:spPr>
          <a:xfrm>
            <a:off x="3619721" y="4466700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예외</a:t>
            </a:r>
            <a:r>
              <a:rPr lang="en-US" altLang="ko-KR"/>
              <a:t> </a:t>
            </a:r>
            <a:r>
              <a:rPr lang="ko-KR" altLang="en-US"/>
              <a:t>전달</a:t>
            </a:r>
          </a:p>
        </p:txBody>
      </p:sp>
      <p:sp>
        <p:nvSpPr>
          <p:cNvPr id="13" name="TextBox 27">
            <a:extLst>
              <a:ext uri="{FF2B5EF4-FFF2-40B4-BE49-F238E27FC236}">
                <a16:creationId xmlns:a16="http://schemas.microsoft.com/office/drawing/2014/main" id="{9B372EE9-E670-F830-8D44-2ADC6320B311}"/>
              </a:ext>
            </a:extLst>
          </p:cNvPr>
          <p:cNvSpPr txBox="1"/>
          <p:nvPr/>
        </p:nvSpPr>
        <p:spPr>
          <a:xfrm>
            <a:off x="3782242" y="5590289"/>
            <a:ext cx="14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Kill Program</a:t>
            </a:r>
            <a:endParaRPr lang="ko-KR" altLang="en-US"/>
          </a:p>
        </p:txBody>
      </p:sp>
      <p:sp>
        <p:nvSpPr>
          <p:cNvPr id="14" name="폭발: 8pt 28">
            <a:extLst>
              <a:ext uri="{FF2B5EF4-FFF2-40B4-BE49-F238E27FC236}">
                <a16:creationId xmlns:a16="http://schemas.microsoft.com/office/drawing/2014/main" id="{F6B1F345-5B1A-2FA6-7A8E-1B560A78E8CD}"/>
              </a:ext>
            </a:extLst>
          </p:cNvPr>
          <p:cNvSpPr/>
          <p:nvPr/>
        </p:nvSpPr>
        <p:spPr>
          <a:xfrm>
            <a:off x="5878730" y="4304039"/>
            <a:ext cx="1008112" cy="1008112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230528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예외 처리는 예외가 발생하더라도 </a:t>
            </a:r>
            <a:r>
              <a:rPr lang="ko-KR" altLang="en-US" b="1"/>
              <a:t>프로그램이 종료되지 않도록 하는 방법</a:t>
            </a:r>
            <a:r>
              <a:rPr lang="ko-KR" altLang="en-US"/>
              <a:t>이면서</a:t>
            </a:r>
            <a:endParaRPr lang="en-US" altLang="ko-KR"/>
          </a:p>
          <a:p>
            <a:r>
              <a:rPr lang="ko-KR" altLang="en-US" b="1"/>
              <a:t>예외가 발생하지 않도록 하는 방어코딩</a:t>
            </a:r>
            <a:r>
              <a:rPr lang="ko-KR" altLang="en-US"/>
              <a:t>의 방법입니다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 처리는 모든 언어에서 굉장히 중요하게 다루는 개념입니다</a:t>
            </a:r>
            <a:r>
              <a:rPr lang="en-US" altLang="ko-KR"/>
              <a:t>.</a:t>
            </a:r>
          </a:p>
          <a:p>
            <a:r>
              <a:rPr lang="ko-KR" altLang="en-US"/>
              <a:t>반드시 </a:t>
            </a:r>
            <a:r>
              <a:rPr lang="ko-KR" altLang="en-US" err="1"/>
              <a:t>알아두어야</a:t>
            </a:r>
            <a:r>
              <a:rPr lang="ko-KR" altLang="en-US"/>
              <a:t>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8BE7EA-F1F0-B87F-B12B-E18BE396C83E}"/>
              </a:ext>
            </a:extLst>
          </p:cNvPr>
          <p:cNvGrpSpPr/>
          <p:nvPr/>
        </p:nvGrpSpPr>
        <p:grpSpPr>
          <a:xfrm>
            <a:off x="971600" y="2267898"/>
            <a:ext cx="2160240" cy="2160240"/>
            <a:chOff x="2483768" y="2564904"/>
            <a:chExt cx="2160240" cy="2160240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8342618-6BB9-E945-F781-8CD741BD1337}"/>
                </a:ext>
              </a:extLst>
            </p:cNvPr>
            <p:cNvSpPr/>
            <p:nvPr/>
          </p:nvSpPr>
          <p:spPr>
            <a:xfrm>
              <a:off x="2483768" y="2564904"/>
              <a:ext cx="2160240" cy="21602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07326FB-5EA3-0004-8AA3-C093A2B74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8908" y="3453996"/>
              <a:ext cx="749959" cy="3820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D7621FE3-E986-59A0-074C-9957B1FA7E98}"/>
              </a:ext>
            </a:extLst>
          </p:cNvPr>
          <p:cNvSpPr/>
          <p:nvPr/>
        </p:nvSpPr>
        <p:spPr>
          <a:xfrm>
            <a:off x="6156176" y="2267897"/>
            <a:ext cx="2160240" cy="216024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1C440784-A5D3-8FD6-165A-F65898B3ABC6}"/>
              </a:ext>
            </a:extLst>
          </p:cNvPr>
          <p:cNvSpPr txBox="1"/>
          <p:nvPr/>
        </p:nvSpPr>
        <p:spPr>
          <a:xfrm>
            <a:off x="6406197" y="3163351"/>
            <a:ext cx="166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JAVA Program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D74E7-0F43-9FEE-9424-1D0BE2994DE2}"/>
              </a:ext>
            </a:extLst>
          </p:cNvPr>
          <p:cNvSpPr txBox="1"/>
          <p:nvPr/>
        </p:nvSpPr>
        <p:spPr>
          <a:xfrm>
            <a:off x="7135627" y="2600540"/>
            <a:ext cx="8851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예외 처리</a:t>
            </a:r>
            <a:endParaRPr lang="en-US" altLang="ko-KR" sz="1100"/>
          </a:p>
          <a:p>
            <a:r>
              <a:rPr lang="en-US" altLang="ko-KR" sz="1100"/>
              <a:t>(</a:t>
            </a:r>
            <a:r>
              <a:rPr lang="ko-KR" altLang="en-US" sz="1100"/>
              <a:t>에러 무시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21" name="폭발: 8pt 13">
            <a:extLst>
              <a:ext uri="{FF2B5EF4-FFF2-40B4-BE49-F238E27FC236}">
                <a16:creationId xmlns:a16="http://schemas.microsoft.com/office/drawing/2014/main" id="{F5F957FB-A565-AB8E-38D0-AB68511EEB56}"/>
              </a:ext>
            </a:extLst>
          </p:cNvPr>
          <p:cNvSpPr/>
          <p:nvPr/>
        </p:nvSpPr>
        <p:spPr>
          <a:xfrm>
            <a:off x="6044600" y="2246433"/>
            <a:ext cx="1008112" cy="1008112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3">
            <a:extLst>
              <a:ext uri="{FF2B5EF4-FFF2-40B4-BE49-F238E27FC236}">
                <a16:creationId xmlns:a16="http://schemas.microsoft.com/office/drawing/2014/main" id="{5E4AA614-E8D5-6308-9EEE-B7AB2C2D6075}"/>
              </a:ext>
            </a:extLst>
          </p:cNvPr>
          <p:cNvCxnSpPr/>
          <p:nvPr/>
        </p:nvCxnSpPr>
        <p:spPr>
          <a:xfrm rot="16200000" flipH="1">
            <a:off x="6973239" y="1995562"/>
            <a:ext cx="354107" cy="855848"/>
          </a:xfrm>
          <a:prstGeom prst="curvedConnector3">
            <a:avLst>
              <a:gd name="adj1" fmla="val -64557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7">
            <a:extLst>
              <a:ext uri="{FF2B5EF4-FFF2-40B4-BE49-F238E27FC236}">
                <a16:creationId xmlns:a16="http://schemas.microsoft.com/office/drawing/2014/main" id="{7D49015A-3DE0-72F0-2E79-F7484FDAA67F}"/>
              </a:ext>
            </a:extLst>
          </p:cNvPr>
          <p:cNvSpPr txBox="1"/>
          <p:nvPr/>
        </p:nvSpPr>
        <p:spPr>
          <a:xfrm>
            <a:off x="3271201" y="3069879"/>
            <a:ext cx="273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Exception </a:t>
            </a:r>
            <a:r>
              <a:rPr lang="ko-KR" altLang="en-US"/>
              <a:t>전달하지 않음</a:t>
            </a:r>
          </a:p>
        </p:txBody>
      </p:sp>
    </p:spTree>
    <p:extLst>
      <p:ext uri="{BB962C8B-B14F-4D97-AF65-F5344CB8AC3E}">
        <p14:creationId xmlns:p14="http://schemas.microsoft.com/office/powerpoint/2010/main" val="391173188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에서 가장 많이 발생하는 예외 목록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en-US" altLang="ko-KR" b="1" dirty="0" err="1"/>
              <a:t>NullPointerException</a:t>
            </a:r>
            <a:endParaRPr lang="en-US" altLang="ko-KR" b="1" dirty="0"/>
          </a:p>
          <a:p>
            <a:pPr lvl="2"/>
            <a:r>
              <a:rPr lang="en-US" altLang="ko-KR" dirty="0"/>
              <a:t>Null Instance</a:t>
            </a:r>
            <a:r>
              <a:rPr lang="ko-KR" altLang="en-US" dirty="0"/>
              <a:t>에 접근하려 함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en-US" altLang="ko-KR" dirty="0" err="1"/>
              <a:t>ArrayIndexOutOfBoundsException</a:t>
            </a:r>
            <a:endParaRPr lang="en-US" altLang="ko-KR" dirty="0"/>
          </a:p>
          <a:p>
            <a:pPr lvl="2"/>
            <a:r>
              <a:rPr lang="ko-KR" altLang="en-US" dirty="0"/>
              <a:t>배열의 인덱스 범위를 벗어남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IndexOutOfBoundsException</a:t>
            </a:r>
            <a:endParaRPr lang="en-US" altLang="ko-KR" dirty="0"/>
          </a:p>
          <a:p>
            <a:pPr lvl="2"/>
            <a:r>
              <a:rPr lang="en-US" altLang="ko-KR" dirty="0"/>
              <a:t>List</a:t>
            </a:r>
            <a:r>
              <a:rPr lang="ko-KR" altLang="en-US" dirty="0"/>
              <a:t>의 인덱스 범위를 벗어남</a:t>
            </a:r>
            <a:endParaRPr lang="en-US" altLang="ko-KR" dirty="0"/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NumberFormatException</a:t>
            </a:r>
            <a:endParaRPr lang="en-US" altLang="ko-KR" dirty="0"/>
          </a:p>
          <a:p>
            <a:pPr lvl="2"/>
            <a:r>
              <a:rPr lang="ko-KR" altLang="en-US" dirty="0"/>
              <a:t>숫자가 아닌 문자를 숫자로 변환하려 함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</p:spTree>
    <p:extLst>
      <p:ext uri="{BB962C8B-B14F-4D97-AF65-F5344CB8AC3E}">
        <p14:creationId xmlns:p14="http://schemas.microsoft.com/office/powerpoint/2010/main" val="3335288415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if</a:t>
            </a:r>
            <a:r>
              <a:rPr lang="ko-KR" altLang="en-US" sz="4000" b="1">
                <a:latin typeface="+mj-ea"/>
              </a:rPr>
              <a:t>를 활용한 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22095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예외를 처리하는 가장 좋은 방법은 예외를 발생시키지 않는 것입니다</a:t>
            </a:r>
            <a:r>
              <a:rPr lang="en-US" altLang="ko-KR"/>
              <a:t>.</a:t>
            </a:r>
          </a:p>
          <a:p>
            <a:r>
              <a:rPr lang="ko-KR" altLang="en-US"/>
              <a:t>아래 예외 목록은 </a:t>
            </a:r>
            <a:r>
              <a:rPr lang="en-US" altLang="ko-KR"/>
              <a:t>if</a:t>
            </a:r>
            <a:r>
              <a:rPr lang="ko-KR" altLang="en-US" err="1"/>
              <a:t>를</a:t>
            </a:r>
            <a:r>
              <a:rPr lang="ko-KR" altLang="en-US"/>
              <a:t> 활용해 예외를 방지할 수 있습니다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 </a:t>
            </a:r>
            <a:r>
              <a:rPr lang="en-US" altLang="ko-KR" err="1"/>
              <a:t>NullPointerException</a:t>
            </a:r>
            <a:endParaRPr lang="en-US" altLang="ko-KR"/>
          </a:p>
          <a:p>
            <a:pPr lvl="2"/>
            <a:r>
              <a:rPr lang="en-US" altLang="ko-KR"/>
              <a:t>Null Instance</a:t>
            </a:r>
            <a:r>
              <a:rPr lang="ko-KR" altLang="en-US" err="1"/>
              <a:t>에</a:t>
            </a:r>
            <a:r>
              <a:rPr lang="ko-KR" altLang="en-US"/>
              <a:t> 접근하려 함</a:t>
            </a:r>
            <a:endParaRPr lang="en-US" altLang="ko-KR"/>
          </a:p>
          <a:p>
            <a:pPr lvl="2"/>
            <a:r>
              <a:rPr lang="en-US" altLang="ko-KR" b="1"/>
              <a:t>Instance</a:t>
            </a:r>
            <a:r>
              <a:rPr lang="ko-KR" altLang="en-US" b="1"/>
              <a:t>가 </a:t>
            </a:r>
            <a:r>
              <a:rPr lang="en-US" altLang="ko-KR" b="1"/>
              <a:t>Null</a:t>
            </a:r>
            <a:r>
              <a:rPr lang="ko-KR" altLang="en-US" b="1"/>
              <a:t>인지 먼저 확인 함</a:t>
            </a:r>
            <a:endParaRPr lang="en-US" altLang="ko-KR" b="1"/>
          </a:p>
          <a:p>
            <a:pPr lvl="1"/>
            <a:r>
              <a:rPr lang="en-US" altLang="ko-KR"/>
              <a:t>2. </a:t>
            </a:r>
            <a:r>
              <a:rPr lang="en-US" altLang="ko-KR" err="1"/>
              <a:t>ArrayIndexOutOfBoundsException</a:t>
            </a:r>
            <a:endParaRPr lang="en-US" altLang="ko-KR"/>
          </a:p>
          <a:p>
            <a:pPr lvl="2"/>
            <a:r>
              <a:rPr lang="ko-KR" altLang="en-US"/>
              <a:t>배열의 인덱스 범위를 벗어남</a:t>
            </a:r>
            <a:endParaRPr lang="en-US" altLang="ko-KR"/>
          </a:p>
          <a:p>
            <a:pPr lvl="2"/>
            <a:r>
              <a:rPr lang="ko-KR" altLang="en-US" b="1"/>
              <a:t>찾으려는 인덱스가 존재하는지 먼저 확인 함</a:t>
            </a:r>
            <a:endParaRPr lang="en-US" altLang="ko-KR" b="1"/>
          </a:p>
          <a:p>
            <a:pPr lvl="1"/>
            <a:r>
              <a:rPr lang="en-US" altLang="ko-KR"/>
              <a:t>3. </a:t>
            </a:r>
            <a:r>
              <a:rPr lang="en-US" altLang="ko-KR" err="1"/>
              <a:t>IndexOutOfBoundsException</a:t>
            </a:r>
            <a:endParaRPr lang="en-US" altLang="ko-KR"/>
          </a:p>
          <a:p>
            <a:pPr lvl="2"/>
            <a:r>
              <a:rPr lang="en-US" altLang="ko-KR"/>
              <a:t>List</a:t>
            </a:r>
            <a:r>
              <a:rPr lang="ko-KR" altLang="en-US"/>
              <a:t>의 인덱스 범위를 벗어남</a:t>
            </a:r>
            <a:endParaRPr lang="en-US" altLang="ko-KR"/>
          </a:p>
          <a:p>
            <a:pPr lvl="2"/>
            <a:r>
              <a:rPr lang="ko-KR" altLang="en-US" b="1"/>
              <a:t>찾으려는 인덱스가 존재하는지 먼저 확인 함</a:t>
            </a:r>
            <a:endParaRPr lang="en-US" altLang="ko-KR" b="1"/>
          </a:p>
          <a:p>
            <a:pPr lvl="1"/>
            <a:r>
              <a:rPr lang="en-US" altLang="ko-KR"/>
              <a:t>4. </a:t>
            </a:r>
            <a:r>
              <a:rPr lang="en-US" altLang="ko-KR" err="1"/>
              <a:t>NumberFormatException</a:t>
            </a:r>
            <a:endParaRPr lang="en-US" altLang="ko-KR"/>
          </a:p>
          <a:p>
            <a:pPr lvl="2"/>
            <a:r>
              <a:rPr lang="ko-KR" altLang="en-US"/>
              <a:t>숫자가 아닌 문자를 숫자로 변환하려 함</a:t>
            </a:r>
            <a:endParaRPr lang="en-US" altLang="ko-KR"/>
          </a:p>
          <a:p>
            <a:pPr lvl="2"/>
            <a:r>
              <a:rPr lang="ko-KR" altLang="en-US" b="1"/>
              <a:t>문자가 숫자형태인지 확인 함</a:t>
            </a:r>
            <a:endParaRPr lang="en-US" altLang="ko-KR" b="1"/>
          </a:p>
          <a:p>
            <a:r>
              <a:rPr lang="ko-KR" altLang="en-US"/>
              <a:t>이렇게</a:t>
            </a:r>
            <a:r>
              <a:rPr lang="en-US" altLang="ko-KR"/>
              <a:t> </a:t>
            </a:r>
            <a:r>
              <a:rPr lang="ko-KR" altLang="en-US"/>
              <a:t>먼저 확인하는 코드를 </a:t>
            </a:r>
            <a:r>
              <a:rPr lang="en-US" altLang="ko-KR"/>
              <a:t>“Validation Logic” </a:t>
            </a:r>
            <a:r>
              <a:rPr lang="ko-KR" altLang="en-US"/>
              <a:t>이라고 하며 </a:t>
            </a:r>
            <a:r>
              <a:rPr lang="en-US" altLang="ko-KR"/>
              <a:t>“</a:t>
            </a:r>
            <a:r>
              <a:rPr lang="ko-KR" altLang="en-US" err="1"/>
              <a:t>입력값</a:t>
            </a:r>
            <a:r>
              <a:rPr lang="ko-KR" altLang="en-US"/>
              <a:t> 검증</a:t>
            </a:r>
            <a:r>
              <a:rPr lang="en-US" altLang="ko-KR"/>
              <a:t>“ </a:t>
            </a:r>
            <a:r>
              <a:rPr lang="ko-KR" altLang="en-US"/>
              <a:t>이라고 표현하기도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18. if</a:t>
            </a:r>
            <a:r>
              <a:rPr lang="ko-KR" altLang="en-US" b="1" dirty="0"/>
              <a:t>를 활용한 예외처리</a:t>
            </a:r>
          </a:p>
        </p:txBody>
      </p:sp>
    </p:spTree>
    <p:extLst>
      <p:ext uri="{BB962C8B-B14F-4D97-AF65-F5344CB8AC3E}">
        <p14:creationId xmlns:p14="http://schemas.microsoft.com/office/powerpoint/2010/main" val="3528947997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NullPointerException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Null </a:t>
            </a:r>
            <a:r>
              <a:rPr lang="ko-KR" altLang="en-US"/>
              <a:t>은 </a:t>
            </a:r>
            <a:r>
              <a:rPr lang="en-US" altLang="ko-KR"/>
              <a:t>Reference Type</a:t>
            </a:r>
            <a:r>
              <a:rPr lang="ko-KR" altLang="en-US"/>
              <a:t>의 기본 값으로</a:t>
            </a:r>
            <a:r>
              <a:rPr lang="en-US" altLang="ko-KR"/>
              <a:t> </a:t>
            </a:r>
            <a:r>
              <a:rPr lang="ko-KR" altLang="en-US"/>
              <a:t>아무것도 할당되지 않은 상태를 말합니다</a:t>
            </a:r>
            <a:r>
              <a:rPr lang="en-US" altLang="ko-KR"/>
              <a:t>.</a:t>
            </a:r>
          </a:p>
          <a:p>
            <a:r>
              <a:rPr lang="ko-KR" altLang="en-US"/>
              <a:t>할당된 것이 없으니 메모리에 아무것도 없는 상태이며</a:t>
            </a:r>
            <a:r>
              <a:rPr lang="en-US" altLang="ko-KR"/>
              <a:t>, </a:t>
            </a:r>
            <a:r>
              <a:rPr lang="ko-KR" altLang="en-US"/>
              <a:t>존재하지 않는 메모리를 </a:t>
            </a:r>
            <a:br>
              <a:rPr lang="en-US" altLang="ko-KR"/>
            </a:br>
            <a:r>
              <a:rPr lang="ko-KR" altLang="en-US"/>
              <a:t>참조하려 한다는 에러가 발생합니다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4" y="1626386"/>
            <a:ext cx="70321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NullPointerException -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null.equals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0552626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NullPointerException</a:t>
            </a:r>
            <a:r>
              <a:rPr lang="ko-KR" altLang="en-US"/>
              <a:t> 방지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인스턴스를 참조하기 전</a:t>
            </a:r>
            <a:r>
              <a:rPr lang="en-US" altLang="ko-KR"/>
              <a:t>, null </a:t>
            </a:r>
            <a:r>
              <a:rPr lang="ko-KR" altLang="en-US"/>
              <a:t>인지 확인합니다</a:t>
            </a:r>
            <a:r>
              <a:rPr lang="en-US" altLang="ko-KR"/>
              <a:t>.</a:t>
            </a:r>
          </a:p>
          <a:p>
            <a:r>
              <a:rPr lang="en-US" altLang="ko-KR"/>
              <a:t>Name</a:t>
            </a:r>
            <a:r>
              <a:rPr lang="ko-KR" altLang="en-US"/>
              <a:t> 변수의 값은 </a:t>
            </a:r>
            <a:r>
              <a:rPr lang="en-US" altLang="ko-KR"/>
              <a:t>null </a:t>
            </a:r>
            <a:r>
              <a:rPr lang="ko-KR" altLang="en-US"/>
              <a:t>이므로 </a:t>
            </a:r>
            <a:br>
              <a:rPr lang="en-US" altLang="ko-KR"/>
            </a:b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ko-KR" altLang="en-US"/>
              <a:t>이 코드는 실행되지 않습니다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4" y="1626386"/>
            <a:ext cx="70321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6387382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(Array)</a:t>
            </a:r>
            <a:r>
              <a:rPr lang="en-US" altLang="ko-KR" err="1"/>
              <a:t>IndexOutOfBoundsException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scores </a:t>
            </a:r>
            <a:r>
              <a:rPr lang="ko-KR" altLang="en-US"/>
              <a:t>배열은 </a:t>
            </a:r>
            <a:r>
              <a:rPr lang="en-US" altLang="ko-KR"/>
              <a:t>0, 1, 2 </a:t>
            </a:r>
            <a:r>
              <a:rPr lang="ko-KR" altLang="en-US"/>
              <a:t>인덱스만 가지고 있는데 </a:t>
            </a:r>
            <a:r>
              <a:rPr lang="en-US" altLang="ko-KR"/>
              <a:t>3 </a:t>
            </a:r>
            <a:r>
              <a:rPr lang="ko-KR" altLang="en-US"/>
              <a:t>인덱스를 참조하려 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간단한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//100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//200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ArrayIndexOutOfBoundsException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7612261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(Array)</a:t>
            </a:r>
            <a:r>
              <a:rPr lang="en-US" altLang="ko-KR" err="1"/>
              <a:t>IndexOutOfBoundsException</a:t>
            </a:r>
            <a:r>
              <a:rPr lang="ko-KR" altLang="en-US"/>
              <a:t> 방지방법 </a:t>
            </a:r>
            <a:r>
              <a:rPr lang="en-US" altLang="ko-KR"/>
              <a:t>- </a:t>
            </a:r>
            <a:r>
              <a:rPr lang="ko-KR" altLang="en-US"/>
              <a:t>참조 전 배열의 길이 계산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간단한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6503516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NumberFormatException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숫자 형태가 아닌 값을 숫자로 변경하려 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93747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123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2102022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NumberFormatException</a:t>
            </a:r>
            <a:r>
              <a:rPr lang="ko-KR" altLang="en-US"/>
              <a:t> 방지방법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변환 전 숫자의 형태를 체크합니다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numString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"^[0-9]+$"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123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numString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"^[0-9]+$"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5989229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try – catch – finally </a:t>
            </a:r>
            <a:r>
              <a:rPr lang="ko-KR" altLang="en-US" sz="4000" b="1">
                <a:latin typeface="+mj-ea"/>
              </a:rPr>
              <a:t>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139084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예외 처리할 수 없거나 애매할 경우 </a:t>
            </a:r>
            <a:r>
              <a:rPr lang="en-US" altLang="ko-KR"/>
              <a:t>try ~ catch ~ finally</a:t>
            </a:r>
            <a:r>
              <a:rPr lang="ko-KR" altLang="en-US"/>
              <a:t>를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E492B-4E06-41A6-C7A6-5135A0B87111}"/>
              </a:ext>
            </a:extLst>
          </p:cNvPr>
          <p:cNvSpPr txBox="1"/>
          <p:nvPr/>
        </p:nvSpPr>
        <p:spPr>
          <a:xfrm>
            <a:off x="550800" y="1743814"/>
            <a:ext cx="8593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▼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발생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코드는 실행되지 않습니다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▼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발생했을 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실행됩니다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try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에서 예외가 발생하면 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catch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가 실행됩니다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에러가 발생했습니다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"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에러내용 모두 출력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발생 여부와 관계없이 무조건 실행됩니다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처리가 완료됐습니다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6545557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예외 처리할 수 없는 경우</a:t>
            </a:r>
            <a:r>
              <a:rPr lang="en-US" altLang="ko-KR"/>
              <a:t>?</a:t>
            </a:r>
          </a:p>
          <a:p>
            <a:r>
              <a:rPr lang="en-US" altLang="ko-KR"/>
              <a:t>Java</a:t>
            </a:r>
            <a:r>
              <a:rPr lang="ko-KR" altLang="en-US"/>
              <a:t>의 예외 종류는 크게 두 종류가 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F56FE-FF33-2E42-85EE-04F61732785E}"/>
              </a:ext>
            </a:extLst>
          </p:cNvPr>
          <p:cNvSpPr/>
          <p:nvPr/>
        </p:nvSpPr>
        <p:spPr>
          <a:xfrm>
            <a:off x="3463009" y="2669844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8567E5-3353-FDE2-BC78-E5A2740EBBE3}"/>
              </a:ext>
            </a:extLst>
          </p:cNvPr>
          <p:cNvSpPr/>
          <p:nvPr/>
        </p:nvSpPr>
        <p:spPr>
          <a:xfrm>
            <a:off x="3455518" y="3600707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D0432A-50A5-AAD8-6451-EF1E615FA58D}"/>
              </a:ext>
            </a:extLst>
          </p:cNvPr>
          <p:cNvSpPr/>
          <p:nvPr/>
        </p:nvSpPr>
        <p:spPr>
          <a:xfrm>
            <a:off x="3455518" y="4531570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RuntimeException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catch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옵션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434E80-80DB-8FF1-4DBF-F37FEE047F77}"/>
              </a:ext>
            </a:extLst>
          </p:cNvPr>
          <p:cNvSpPr/>
          <p:nvPr/>
        </p:nvSpPr>
        <p:spPr>
          <a:xfrm>
            <a:off x="6296572" y="3143913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IOException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1765ED-4F65-8843-E740-2DAFFFFA3F53}"/>
              </a:ext>
            </a:extLst>
          </p:cNvPr>
          <p:cNvSpPr/>
          <p:nvPr/>
        </p:nvSpPr>
        <p:spPr>
          <a:xfrm>
            <a:off x="6296572" y="3688365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ClassNotFoundException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F3087D-FBFF-71AA-09CD-CEB76BF81B16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77708" y="3288152"/>
            <a:ext cx="7491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820AA9C-E05F-4579-1480-74ADBBC67E1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4577708" y="4219015"/>
            <a:ext cx="0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55121B1E-8523-B42C-9401-5D78D7203FFB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5699898" y="3362104"/>
            <a:ext cx="596674" cy="547757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5119963-882D-392C-8D51-9A74B1BFA35A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699898" y="3906556"/>
            <a:ext cx="596674" cy="3305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118745-12E0-911A-924C-FA0248FA400E}"/>
              </a:ext>
            </a:extLst>
          </p:cNvPr>
          <p:cNvSpPr/>
          <p:nvPr/>
        </p:nvSpPr>
        <p:spPr>
          <a:xfrm>
            <a:off x="6296572" y="4232817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CEA402-AC6E-5B70-C4B3-EB30B07E1FBC}"/>
              </a:ext>
            </a:extLst>
          </p:cNvPr>
          <p:cNvSpPr/>
          <p:nvPr/>
        </p:nvSpPr>
        <p:spPr>
          <a:xfrm>
            <a:off x="259200" y="3533489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NullPointerException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8CB80C-7C4E-CD81-F4B5-12D0C5152EB3}"/>
              </a:ext>
            </a:extLst>
          </p:cNvPr>
          <p:cNvSpPr/>
          <p:nvPr/>
        </p:nvSpPr>
        <p:spPr>
          <a:xfrm>
            <a:off x="259200" y="4077941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ArrayIndexOutOfBoundException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5B5BB8-927E-665E-9F40-F8704192352D}"/>
              </a:ext>
            </a:extLst>
          </p:cNvPr>
          <p:cNvSpPr/>
          <p:nvPr/>
        </p:nvSpPr>
        <p:spPr>
          <a:xfrm>
            <a:off x="259200" y="4622393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IndexOutOfBoundsException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F9931BF-3683-3A01-51DA-71A43BDE6B6E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>
            <a:off x="5699898" y="3909861"/>
            <a:ext cx="596674" cy="5411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9242C03-D248-7470-F275-17FF939B6555}"/>
              </a:ext>
            </a:extLst>
          </p:cNvPr>
          <p:cNvSpPr/>
          <p:nvPr/>
        </p:nvSpPr>
        <p:spPr>
          <a:xfrm>
            <a:off x="259200" y="5190961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NumberFormatException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31AA83-DD04-06ED-8C12-7CBBFB4EDD29}"/>
              </a:ext>
            </a:extLst>
          </p:cNvPr>
          <p:cNvSpPr/>
          <p:nvPr/>
        </p:nvSpPr>
        <p:spPr>
          <a:xfrm>
            <a:off x="259200" y="5759529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77EFE6B7-D0A1-86E1-A655-EA26643145F7}"/>
              </a:ext>
            </a:extLst>
          </p:cNvPr>
          <p:cNvCxnSpPr>
            <a:cxnSpLocks/>
            <a:stCxn id="8" idx="1"/>
            <a:endCxn id="27" idx="3"/>
          </p:cNvCxnSpPr>
          <p:nvPr/>
        </p:nvCxnSpPr>
        <p:spPr>
          <a:xfrm rot="10800000">
            <a:off x="2815028" y="3751680"/>
            <a:ext cx="640490" cy="1089044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B4804EB3-FCBC-ED1B-9D5F-9C5D62B85C50}"/>
              </a:ext>
            </a:extLst>
          </p:cNvPr>
          <p:cNvCxnSpPr>
            <a:cxnSpLocks/>
            <a:stCxn id="8" idx="1"/>
            <a:endCxn id="28" idx="3"/>
          </p:cNvCxnSpPr>
          <p:nvPr/>
        </p:nvCxnSpPr>
        <p:spPr>
          <a:xfrm rot="10800000">
            <a:off x="2815028" y="4296132"/>
            <a:ext cx="640490" cy="544592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684A14B1-71C8-32FA-B9FC-B8049551B7E8}"/>
              </a:ext>
            </a:extLst>
          </p:cNvPr>
          <p:cNvCxnSpPr>
            <a:cxnSpLocks/>
            <a:stCxn id="8" idx="1"/>
            <a:endCxn id="29" idx="3"/>
          </p:cNvCxnSpPr>
          <p:nvPr/>
        </p:nvCxnSpPr>
        <p:spPr>
          <a:xfrm rot="10800000">
            <a:off x="2815028" y="4840584"/>
            <a:ext cx="640490" cy="140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A690C30F-AFDB-7714-E4AF-27EC6EFADA9D}"/>
              </a:ext>
            </a:extLst>
          </p:cNvPr>
          <p:cNvCxnSpPr>
            <a:cxnSpLocks/>
            <a:stCxn id="8" idx="1"/>
            <a:endCxn id="33" idx="3"/>
          </p:cNvCxnSpPr>
          <p:nvPr/>
        </p:nvCxnSpPr>
        <p:spPr>
          <a:xfrm rot="10800000" flipV="1">
            <a:off x="2815028" y="4840724"/>
            <a:ext cx="640490" cy="5684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BE3B3D84-17A2-0038-E104-BDB7AA34F16E}"/>
              </a:ext>
            </a:extLst>
          </p:cNvPr>
          <p:cNvCxnSpPr>
            <a:cxnSpLocks/>
            <a:stCxn id="8" idx="1"/>
            <a:endCxn id="34" idx="3"/>
          </p:cNvCxnSpPr>
          <p:nvPr/>
        </p:nvCxnSpPr>
        <p:spPr>
          <a:xfrm rot="10800000" flipV="1">
            <a:off x="2815028" y="4840724"/>
            <a:ext cx="640490" cy="1136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44A0663-8437-F305-26DB-0C7F48AEF988}"/>
              </a:ext>
            </a:extLst>
          </p:cNvPr>
          <p:cNvSpPr txBox="1"/>
          <p:nvPr/>
        </p:nvSpPr>
        <p:spPr>
          <a:xfrm>
            <a:off x="6343027" y="2640258"/>
            <a:ext cx="24629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없습니다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CC77CF-32B0-2C04-9BD0-6C7B0E37A82B}"/>
              </a:ext>
            </a:extLst>
          </p:cNvPr>
          <p:cNvSpPr txBox="1"/>
          <p:nvPr/>
        </p:nvSpPr>
        <p:spPr>
          <a:xfrm>
            <a:off x="50285" y="2978998"/>
            <a:ext cx="30384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RuntimeException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있습니다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448280953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처리할 수 없는 예외들은 </a:t>
            </a:r>
            <a:r>
              <a:rPr lang="en-US" altLang="ko-KR"/>
              <a:t>try ~ catch ~ finally</a:t>
            </a:r>
            <a:r>
              <a:rPr lang="ko-KR" altLang="en-US"/>
              <a:t>를 사용합니다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아래는 클래스를 동적 </a:t>
            </a:r>
            <a:r>
              <a:rPr lang="ko-KR" altLang="en-US" err="1"/>
              <a:t>로딩하는</a:t>
            </a:r>
            <a:r>
              <a:rPr lang="ko-KR" altLang="en-US"/>
              <a:t> 코드입니다</a:t>
            </a:r>
            <a:r>
              <a:rPr lang="en-US" altLang="ko-KR"/>
              <a:t>. </a:t>
            </a:r>
          </a:p>
          <a:p>
            <a:r>
              <a:rPr lang="en-US" altLang="ko-KR" err="1"/>
              <a:t>SomeAClass</a:t>
            </a:r>
            <a:r>
              <a:rPr lang="en-US" altLang="ko-KR"/>
              <a:t> </a:t>
            </a:r>
            <a:r>
              <a:rPr lang="ko-KR" altLang="en-US"/>
              <a:t>라는 클래스를 불러오게 되는데 </a:t>
            </a:r>
            <a:r>
              <a:rPr lang="en-US" altLang="ko-KR" err="1"/>
              <a:t>SomeAClass</a:t>
            </a:r>
            <a:r>
              <a:rPr lang="en-US" altLang="ko-KR"/>
              <a:t> </a:t>
            </a:r>
            <a:r>
              <a:rPr lang="ko-KR" altLang="en-US"/>
              <a:t>라는 클래스는 없으니 </a:t>
            </a:r>
            <a:br>
              <a:rPr lang="en-US" altLang="ko-KR"/>
            </a:br>
            <a:r>
              <a:rPr lang="ko-KR" altLang="en-US"/>
              <a:t>에러</a:t>
            </a:r>
            <a:r>
              <a:rPr lang="en-US" altLang="ko-KR"/>
              <a:t>(</a:t>
            </a:r>
            <a:r>
              <a:rPr lang="en-US" altLang="ko-KR" b="0" i="0" err="1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b="0" i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/>
              <a:t>가 발생하게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forName</a:t>
            </a:r>
            <a:r>
              <a:rPr lang="ko-KR" altLang="en-US"/>
              <a:t>을 </a:t>
            </a:r>
            <a:r>
              <a:rPr lang="en-US" altLang="ko-KR"/>
              <a:t>Ctrl</a:t>
            </a:r>
            <a:r>
              <a:rPr lang="ko-KR" altLang="en-US"/>
              <a:t>을 </a:t>
            </a:r>
            <a:r>
              <a:rPr lang="ko-KR" altLang="en-US" err="1"/>
              <a:t>누른채로</a:t>
            </a:r>
            <a:r>
              <a:rPr lang="ko-KR" altLang="en-US"/>
              <a:t> 클릭해보면 다음과 같은 코드를 볼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755FF-21EA-EB30-C34A-90800370D191}"/>
              </a:ext>
            </a:extLst>
          </p:cNvPr>
          <p:cNvSpPr txBox="1"/>
          <p:nvPr/>
        </p:nvSpPr>
        <p:spPr>
          <a:xfrm>
            <a:off x="483327" y="3124588"/>
            <a:ext cx="36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03092-B15B-B78E-F22C-28D9F80AB433}"/>
              </a:ext>
            </a:extLst>
          </p:cNvPr>
          <p:cNvSpPr txBox="1"/>
          <p:nvPr/>
        </p:nvSpPr>
        <p:spPr>
          <a:xfrm>
            <a:off x="483327" y="4272677"/>
            <a:ext cx="7450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Reflection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getCallerClass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6915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ClassNotFoundException</a:t>
            </a:r>
            <a:r>
              <a:rPr lang="ko-KR" altLang="en-US"/>
              <a:t>을 </a:t>
            </a:r>
            <a:r>
              <a:rPr lang="en-US" altLang="ko-KR"/>
              <a:t>throws </a:t>
            </a:r>
            <a:r>
              <a:rPr lang="ko-KR" altLang="en-US"/>
              <a:t>하고 있습니다</a:t>
            </a:r>
            <a:r>
              <a:rPr lang="en-US" altLang="ko-KR"/>
              <a:t>. </a:t>
            </a:r>
            <a:r>
              <a:rPr lang="en-US" altLang="ko-KR" err="1"/>
              <a:t>ClassNotFoundException</a:t>
            </a:r>
            <a:r>
              <a:rPr lang="ko-KR" altLang="en-US"/>
              <a:t>을 </a:t>
            </a:r>
            <a:br>
              <a:rPr lang="en-US" altLang="ko-KR"/>
            </a:br>
            <a:r>
              <a:rPr lang="en-US" altLang="ko-KR"/>
              <a:t>Ctrl + </a:t>
            </a:r>
            <a:r>
              <a:rPr lang="ko-KR" altLang="en-US"/>
              <a:t>클릭해보면 </a:t>
            </a:r>
            <a:r>
              <a:rPr lang="en-US" altLang="ko-KR" err="1"/>
              <a:t>ReflectiveOperationException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상속받은 것을 알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다시 </a:t>
            </a:r>
            <a:r>
              <a:rPr lang="en-US" altLang="ko-KR" err="1"/>
              <a:t>ReflectiveOperationException</a:t>
            </a:r>
            <a:r>
              <a:rPr lang="ko-KR" altLang="en-US"/>
              <a:t>을 </a:t>
            </a:r>
            <a:r>
              <a:rPr lang="en-US" altLang="ko-KR"/>
              <a:t>Ctrl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클릭해봅니다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결국 </a:t>
            </a:r>
            <a:r>
              <a:rPr lang="en-US" altLang="ko-KR" err="1"/>
              <a:t>ReflectiveOperationException</a:t>
            </a:r>
            <a:r>
              <a:rPr lang="ko-KR" altLang="en-US"/>
              <a:t>은 </a:t>
            </a:r>
            <a:r>
              <a:rPr lang="en-US" altLang="ko-KR"/>
              <a:t>Exception</a:t>
            </a:r>
            <a:r>
              <a:rPr lang="ko-KR" altLang="en-US"/>
              <a:t>을 상속받은 </a:t>
            </a:r>
            <a:br>
              <a:rPr lang="en-US" altLang="ko-KR"/>
            </a:br>
            <a:r>
              <a:rPr lang="ko-KR" altLang="en-US"/>
              <a:t>예외클래스라는 것을 알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3FCDDD-20C4-8403-1B2D-9AC64901B947}"/>
              </a:ext>
            </a:extLst>
          </p:cNvPr>
          <p:cNvSpPr txBox="1"/>
          <p:nvPr/>
        </p:nvSpPr>
        <p:spPr>
          <a:xfrm>
            <a:off x="492034" y="1976735"/>
            <a:ext cx="734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endParaRPr lang="en-US" altLang="ko-KR" b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267F99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ReflectiveOperationException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39197-7A10-C1BB-0452-F693A5C079F2}"/>
              </a:ext>
            </a:extLst>
          </p:cNvPr>
          <p:cNvSpPr txBox="1"/>
          <p:nvPr/>
        </p:nvSpPr>
        <p:spPr>
          <a:xfrm>
            <a:off x="492033" y="3183543"/>
            <a:ext cx="8207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ReflectiveOperationException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32B545-F1DD-A61A-9228-8DB32DD7708C}"/>
              </a:ext>
            </a:extLst>
          </p:cNvPr>
          <p:cNvSpPr/>
          <p:nvPr/>
        </p:nvSpPr>
        <p:spPr>
          <a:xfrm>
            <a:off x="492033" y="4682846"/>
            <a:ext cx="1712453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1408B1-3A71-D962-EE90-E3078CC1D46C}"/>
              </a:ext>
            </a:extLst>
          </p:cNvPr>
          <p:cNvSpPr/>
          <p:nvPr/>
        </p:nvSpPr>
        <p:spPr>
          <a:xfrm>
            <a:off x="2444810" y="4682846"/>
            <a:ext cx="1554481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D669EA1-C2B2-ED9E-4609-1E2215C92E4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04486" y="499200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5EA3AB-0134-BBE7-2DD1-4FEFDF9FE478}"/>
              </a:ext>
            </a:extLst>
          </p:cNvPr>
          <p:cNvSpPr/>
          <p:nvPr/>
        </p:nvSpPr>
        <p:spPr>
          <a:xfrm>
            <a:off x="4239615" y="4682846"/>
            <a:ext cx="2989717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ReflectiveOperationException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EEDA40-C10B-2BFE-CEEB-F738F9DA7DDE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3999291" y="499200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35615F-E2B1-3CA2-E901-58E59A4CA866}"/>
              </a:ext>
            </a:extLst>
          </p:cNvPr>
          <p:cNvSpPr/>
          <p:nvPr/>
        </p:nvSpPr>
        <p:spPr>
          <a:xfrm>
            <a:off x="4469235" y="5551146"/>
            <a:ext cx="2530476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ClassNotFoundException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C0F9D86-E3DA-06F6-537B-28AD01A11C4F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V="1">
            <a:off x="5734473" y="5301154"/>
            <a:ext cx="1" cy="24999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336205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상속관계를 </a:t>
            </a:r>
            <a:r>
              <a:rPr lang="en-US" altLang="ko-KR"/>
              <a:t>is a </a:t>
            </a:r>
            <a:r>
              <a:rPr lang="ko-KR" altLang="en-US"/>
              <a:t>관계로 정리해봅니다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 err="1"/>
              <a:t>ClassNotFoundException</a:t>
            </a:r>
            <a:r>
              <a:rPr lang="en-US" altLang="ko-KR"/>
              <a:t> is a </a:t>
            </a:r>
            <a:r>
              <a:rPr lang="en-US" altLang="ko-KR" b="1" err="1"/>
              <a:t>ReflectiveOperationException</a:t>
            </a:r>
            <a:endParaRPr lang="en-US" altLang="ko-KR" b="1"/>
          </a:p>
          <a:p>
            <a:r>
              <a:rPr lang="en-US" altLang="ko-KR" b="1" err="1"/>
              <a:t>ReflectiveOperationException</a:t>
            </a:r>
            <a:r>
              <a:rPr lang="en-US" altLang="ko-KR"/>
              <a:t> is a </a:t>
            </a:r>
            <a:r>
              <a:rPr lang="en-US" altLang="ko-KR" b="1"/>
              <a:t>Exception</a:t>
            </a:r>
          </a:p>
          <a:p>
            <a:r>
              <a:rPr lang="en-US" altLang="ko-KR" b="1" err="1"/>
              <a:t>ClassNotFoundException</a:t>
            </a:r>
            <a:r>
              <a:rPr lang="en-US" altLang="ko-KR"/>
              <a:t> is a </a:t>
            </a:r>
            <a:r>
              <a:rPr lang="en-US" altLang="ko-KR" b="1"/>
              <a:t>Exception</a:t>
            </a:r>
          </a:p>
          <a:p>
            <a:endParaRPr lang="en-US" altLang="ko-KR" b="1"/>
          </a:p>
          <a:p>
            <a:r>
              <a:rPr lang="en-US" altLang="ko-KR" err="1"/>
              <a:t>ClassNotFoundException</a:t>
            </a:r>
            <a:r>
              <a:rPr lang="ko-KR" altLang="en-US"/>
              <a:t>은 </a:t>
            </a:r>
            <a:r>
              <a:rPr lang="en-US" altLang="ko-KR"/>
              <a:t>Exception</a:t>
            </a:r>
            <a:r>
              <a:rPr lang="ko-KR" altLang="en-US"/>
              <a:t>을 상속받은 예외 클래스이기 때문에 </a:t>
            </a:r>
            <a:br>
              <a:rPr lang="en-US" altLang="ko-KR"/>
            </a:br>
            <a:r>
              <a:rPr lang="en-US" altLang="ko-KR"/>
              <a:t>try ~ catch</a:t>
            </a:r>
            <a:r>
              <a:rPr lang="ko-KR" altLang="en-US"/>
              <a:t>가 반드시 필요합니다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32B545-F1DD-A61A-9228-8DB32DD7708C}"/>
              </a:ext>
            </a:extLst>
          </p:cNvPr>
          <p:cNvSpPr/>
          <p:nvPr/>
        </p:nvSpPr>
        <p:spPr>
          <a:xfrm>
            <a:off x="492033" y="1756766"/>
            <a:ext cx="1712453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1408B1-3A71-D962-EE90-E3078CC1D46C}"/>
              </a:ext>
            </a:extLst>
          </p:cNvPr>
          <p:cNvSpPr/>
          <p:nvPr/>
        </p:nvSpPr>
        <p:spPr>
          <a:xfrm>
            <a:off x="2444810" y="1756766"/>
            <a:ext cx="1554481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D669EA1-C2B2-ED9E-4609-1E2215C92E4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04486" y="206592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5EA3AB-0134-BBE7-2DD1-4FEFDF9FE478}"/>
              </a:ext>
            </a:extLst>
          </p:cNvPr>
          <p:cNvSpPr/>
          <p:nvPr/>
        </p:nvSpPr>
        <p:spPr>
          <a:xfrm>
            <a:off x="4239615" y="1756766"/>
            <a:ext cx="2989717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ReflectiveOperationException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EEDA40-C10B-2BFE-CEEB-F738F9DA7DDE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3999291" y="206592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35615F-E2B1-3CA2-E901-58E59A4CA866}"/>
              </a:ext>
            </a:extLst>
          </p:cNvPr>
          <p:cNvSpPr/>
          <p:nvPr/>
        </p:nvSpPr>
        <p:spPr>
          <a:xfrm>
            <a:off x="4469235" y="2625066"/>
            <a:ext cx="2530476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ClassNotFoundException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C0F9D86-E3DA-06F6-537B-28AD01A11C4F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V="1">
            <a:off x="5734473" y="2375074"/>
            <a:ext cx="1" cy="24999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80272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코드를 실행해보면 다음과 같은 에러가 발생합니다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ClassNotFoundException</a:t>
            </a:r>
            <a:r>
              <a:rPr lang="ko-KR" altLang="en-US"/>
              <a:t> 타입의 예외를 처리하지 </a:t>
            </a:r>
            <a:r>
              <a:rPr lang="ko-KR" altLang="en-US" err="1"/>
              <a:t>않았다라는</a:t>
            </a:r>
            <a:r>
              <a:rPr lang="ko-KR" altLang="en-US"/>
              <a:t> 에러입니다</a:t>
            </a:r>
            <a:r>
              <a:rPr lang="en-US" altLang="ko-KR"/>
              <a:t>.</a:t>
            </a:r>
          </a:p>
          <a:p>
            <a:r>
              <a:rPr lang="ko-KR" altLang="en-US"/>
              <a:t>이 에러를 처리하기 위해 </a:t>
            </a:r>
            <a:r>
              <a:rPr lang="en-US" altLang="ko-KR"/>
              <a:t>try ~ catch</a:t>
            </a:r>
            <a:r>
              <a:rPr lang="ko-KR" altLang="en-US"/>
              <a:t>를 사용해봅니다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8D8CB-AB58-DEBF-F8DA-4EFA1042ACF2}"/>
              </a:ext>
            </a:extLst>
          </p:cNvPr>
          <p:cNvSpPr txBox="1"/>
          <p:nvPr/>
        </p:nvSpPr>
        <p:spPr>
          <a:xfrm>
            <a:off x="552994" y="1681481"/>
            <a:ext cx="6178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8EE75-D616-4F8E-572E-DC8835D70924}"/>
              </a:ext>
            </a:extLst>
          </p:cNvPr>
          <p:cNvSpPr txBox="1"/>
          <p:nvPr/>
        </p:nvSpPr>
        <p:spPr>
          <a:xfrm>
            <a:off x="552994" y="2680006"/>
            <a:ext cx="7903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Unhandled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exception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type </a:t>
            </a:r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ClassNotFoundException</a:t>
            </a:r>
            <a:endParaRPr lang="ko-KR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C3F86-8399-C28F-E55B-A4DCB1C91FB2}"/>
              </a:ext>
            </a:extLst>
          </p:cNvPr>
          <p:cNvSpPr txBox="1"/>
          <p:nvPr/>
        </p:nvSpPr>
        <p:spPr>
          <a:xfrm>
            <a:off x="511696" y="4059479"/>
            <a:ext cx="7317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cnfe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cnfe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980404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cnfe.printStackTrace</a:t>
            </a:r>
            <a:r>
              <a:rPr lang="en-US" altLang="ko-KR"/>
              <a:t>(); </a:t>
            </a:r>
            <a:r>
              <a:rPr lang="ko-KR" altLang="en-US"/>
              <a:t>코드에 의해 아래처럼 메시지가 나타나게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Exception</a:t>
            </a:r>
            <a:r>
              <a:rPr lang="ko-KR" altLang="en-US"/>
              <a:t>이 발생한 최초의 위치와 </a:t>
            </a:r>
            <a:r>
              <a:rPr lang="ko-KR" altLang="en-US" err="1"/>
              <a:t>호출스택들이</a:t>
            </a:r>
            <a:r>
              <a:rPr lang="ko-KR" altLang="en-US"/>
              <a:t> 한번에 노출되게 되며</a:t>
            </a:r>
            <a:br>
              <a:rPr lang="en-US" altLang="ko-KR"/>
            </a:br>
            <a:r>
              <a:rPr lang="ko-KR" altLang="en-US"/>
              <a:t>가상 상위에 </a:t>
            </a:r>
            <a:r>
              <a:rPr lang="en-US" altLang="ko-KR"/>
              <a:t>Exception</a:t>
            </a:r>
            <a:r>
              <a:rPr lang="ko-KR" altLang="en-US"/>
              <a:t>이 발생한 원인에 대해 설명해줍니다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7C63A-B69D-68D4-FBE4-4584881557C2}"/>
              </a:ext>
            </a:extLst>
          </p:cNvPr>
          <p:cNvSpPr txBox="1"/>
          <p:nvPr/>
        </p:nvSpPr>
        <p:spPr>
          <a:xfrm>
            <a:off x="535578" y="1582853"/>
            <a:ext cx="83168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err="1"/>
              <a:t>java.lang.ClassNotFoundException</a:t>
            </a:r>
            <a:r>
              <a:rPr lang="ko-KR" altLang="en-US" sz="1600"/>
              <a:t>: </a:t>
            </a:r>
            <a:r>
              <a:rPr lang="ko-KR" altLang="en-US" sz="1600" err="1"/>
              <a:t>SomeAClass</a:t>
            </a:r>
            <a:endParaRPr lang="ko-KR" altLang="en-US" sz="1600"/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jdk.internal.loader.BuiltinClassLoader.loadClass</a:t>
            </a:r>
            <a:r>
              <a:rPr lang="ko-KR" altLang="en-US" sz="1600"/>
              <a:t>(BuiltinClassLoader.java:641)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jdk.internal.loader.ClassLoaders$AppClassLoader.loadClass</a:t>
            </a:r>
            <a:r>
              <a:rPr lang="ko-KR" altLang="en-US" sz="1600"/>
              <a:t>(ClassLoaders.java:188)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java.lang.ClassLoader.loadClass</a:t>
            </a:r>
            <a:r>
              <a:rPr lang="ko-KR" altLang="en-US" sz="1600"/>
              <a:t>(ClassLoader.java:521)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/java.lang.Class.forName0(</a:t>
            </a:r>
            <a:r>
              <a:rPr lang="ko-KR" altLang="en-US" sz="1600" err="1"/>
              <a:t>Native</a:t>
            </a:r>
            <a:r>
              <a:rPr lang="ko-KR" altLang="en-US" sz="1600"/>
              <a:t> </a:t>
            </a:r>
            <a:r>
              <a:rPr lang="ko-KR" altLang="en-US" sz="1600" err="1"/>
              <a:t>Method</a:t>
            </a:r>
            <a:r>
              <a:rPr lang="ko-KR" altLang="en-US" sz="1600"/>
              <a:t>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java.lang.Class.forName</a:t>
            </a:r>
            <a:r>
              <a:rPr lang="ko-KR" altLang="en-US" sz="1600"/>
              <a:t>(Class.java:391)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java.lang.Class.forName</a:t>
            </a:r>
            <a:r>
              <a:rPr lang="ko-KR" altLang="en-US" sz="1600"/>
              <a:t>(Class.java:382)</a:t>
            </a:r>
          </a:p>
          <a:p>
            <a:r>
              <a:rPr lang="ko-KR" altLang="en-US" sz="1600"/>
              <a:t>        </a:t>
            </a:r>
            <a:r>
              <a:rPr lang="ko-KR" altLang="en-US" sz="1600" err="1">
                <a:highlight>
                  <a:srgbClr val="FFFF00"/>
                </a:highlight>
              </a:rPr>
              <a:t>at</a:t>
            </a:r>
            <a:r>
              <a:rPr lang="ko-KR" altLang="en-US" sz="1600">
                <a:highlight>
                  <a:srgbClr val="FFFF00"/>
                </a:highlight>
              </a:rPr>
              <a:t> </a:t>
            </a:r>
            <a:r>
              <a:rPr lang="ko-KR" altLang="en-US" sz="1600" err="1">
                <a:highlight>
                  <a:srgbClr val="FFFF00"/>
                </a:highlight>
              </a:rPr>
              <a:t>App.main</a:t>
            </a:r>
            <a:r>
              <a:rPr lang="ko-KR" altLang="en-US" sz="1600">
                <a:highlight>
                  <a:srgbClr val="FFFF00"/>
                </a:highlight>
              </a:rPr>
              <a:t>(App.java:4)</a:t>
            </a:r>
          </a:p>
        </p:txBody>
      </p:sp>
    </p:spTree>
    <p:extLst>
      <p:ext uri="{BB962C8B-B14F-4D97-AF65-F5344CB8AC3E}">
        <p14:creationId xmlns:p14="http://schemas.microsoft.com/office/powerpoint/2010/main" val="2594264907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예외처리는 </a:t>
            </a:r>
            <a:r>
              <a:rPr lang="en-US" altLang="ko-KR"/>
              <a:t>try </a:t>
            </a:r>
            <a:r>
              <a:rPr lang="ko-KR" altLang="en-US"/>
              <a:t>내에서 발생한 </a:t>
            </a:r>
            <a:r>
              <a:rPr lang="en-US" altLang="ko-KR"/>
              <a:t>Exception </a:t>
            </a:r>
            <a:r>
              <a:rPr lang="ko-KR" altLang="en-US"/>
              <a:t>을 처리합니다</a:t>
            </a:r>
            <a:r>
              <a:rPr lang="en-US" altLang="ko-KR"/>
              <a:t>.</a:t>
            </a:r>
          </a:p>
          <a:p>
            <a:r>
              <a:rPr lang="ko-KR" altLang="en-US"/>
              <a:t>하나의 </a:t>
            </a:r>
            <a:r>
              <a:rPr lang="en-US" altLang="ko-KR"/>
              <a:t>try</a:t>
            </a:r>
            <a:r>
              <a:rPr lang="ko-KR" altLang="en-US"/>
              <a:t>에서 여러 </a:t>
            </a:r>
            <a:r>
              <a:rPr lang="en-US" altLang="ko-KR"/>
              <a:t>Exception</a:t>
            </a:r>
            <a:r>
              <a:rPr lang="ko-KR" altLang="en-US"/>
              <a:t>을 발생시킨다면 </a:t>
            </a:r>
            <a:r>
              <a:rPr lang="en-US" altLang="ko-KR"/>
              <a:t>catch</a:t>
            </a:r>
            <a:r>
              <a:rPr lang="ko-KR" altLang="en-US"/>
              <a:t>를 여러 번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FCDB1-AD62-FC32-31F9-F55CC78E5247}"/>
              </a:ext>
            </a:extLst>
          </p:cNvPr>
          <p:cNvSpPr txBox="1"/>
          <p:nvPr/>
        </p:nvSpPr>
        <p:spPr>
          <a:xfrm>
            <a:off x="509453" y="2045741"/>
            <a:ext cx="65609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"number"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nfe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nfe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306D45-AEAB-12A7-5C2E-01B50EE5A6E4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EF4605-D54A-5746-CC87-85A740CB49BE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8DB3C2-CE20-C167-8894-1A437DCCDC2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DBC636-FB5E-928A-9A88-E5E24D3DBF5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7500494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여러 </a:t>
            </a:r>
            <a:r>
              <a:rPr lang="en-US" altLang="ko-KR"/>
              <a:t>Exception</a:t>
            </a:r>
            <a:r>
              <a:rPr lang="ko-KR" altLang="en-US"/>
              <a:t>에 대한 처리를 똑같이 해주고 있다면 </a:t>
            </a:r>
            <a:br>
              <a:rPr lang="en-US" altLang="ko-KR"/>
            </a:br>
            <a:r>
              <a:rPr lang="en-US" altLang="ko-KR"/>
              <a:t>Exception</a:t>
            </a:r>
            <a:r>
              <a:rPr lang="ko-KR" altLang="en-US"/>
              <a:t>을 하나로 묶어 처리하는 것이 유용합니다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FCDB1-AD62-FC32-31F9-F55CC78E5247}"/>
              </a:ext>
            </a:extLst>
          </p:cNvPr>
          <p:cNvSpPr txBox="1"/>
          <p:nvPr/>
        </p:nvSpPr>
        <p:spPr>
          <a:xfrm>
            <a:off x="509452" y="1845441"/>
            <a:ext cx="86183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3F59ED2-1882-7E55-08C2-6CA6FEB0B7DD}"/>
              </a:ext>
            </a:extLst>
          </p:cNvPr>
          <p:cNvGrpSpPr/>
          <p:nvPr/>
        </p:nvGrpSpPr>
        <p:grpSpPr>
          <a:xfrm>
            <a:off x="509452" y="5780481"/>
            <a:ext cx="8756760" cy="1059657"/>
            <a:chOff x="4898273" y="2058334"/>
            <a:chExt cx="8756760" cy="10596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2CA87B-E6F9-A500-CDB4-BF6288DE958A}"/>
                </a:ext>
              </a:extLst>
            </p:cNvPr>
            <p:cNvSpPr txBox="1"/>
            <p:nvPr/>
          </p:nvSpPr>
          <p:spPr>
            <a:xfrm>
              <a:off x="4898273" y="2058334"/>
              <a:ext cx="7088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finally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2AEA18-2701-8664-6F5F-36417DC6E94E}"/>
                </a:ext>
              </a:extLst>
            </p:cNvPr>
            <p:cNvSpPr txBox="1"/>
            <p:nvPr/>
          </p:nvSpPr>
          <p:spPr>
            <a:xfrm>
              <a:off x="5021579" y="2379327"/>
              <a:ext cx="863345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현재 실습 코드는 </a:t>
              </a:r>
              <a:r>
                <a:rPr lang="en-US" altLang="ko-KR" sz="1400"/>
                <a:t>RuntimeException</a:t>
              </a:r>
              <a:r>
                <a:rPr lang="ko-KR" altLang="en-US" sz="1400"/>
                <a:t>을 </a:t>
              </a:r>
              <a:r>
                <a:rPr lang="en-US" altLang="ko-KR" sz="1400"/>
                <a:t>catch</a:t>
              </a:r>
              <a:r>
                <a:rPr lang="ko-KR" altLang="en-US" sz="1400"/>
                <a:t>하고 있습니다</a:t>
              </a:r>
              <a:r>
                <a:rPr lang="en-US" altLang="ko-KR" sz="1400"/>
                <a:t>. </a:t>
              </a:r>
              <a:r>
                <a:rPr lang="ko-KR" altLang="en-US" sz="1400"/>
                <a:t>일반적으로 </a:t>
              </a:r>
              <a:r>
                <a:rPr lang="en-US" altLang="ko-KR" sz="1400"/>
                <a:t>RuntimeException</a:t>
              </a:r>
              <a:r>
                <a:rPr lang="ko-KR" altLang="en-US" sz="1400"/>
                <a:t>은 </a:t>
              </a:r>
              <a:r>
                <a:rPr lang="en-US" altLang="ko-KR" sz="1400"/>
                <a:t>if</a:t>
              </a:r>
              <a:r>
                <a:rPr lang="ko-KR" altLang="en-US" sz="1400"/>
                <a:t>로만 처리합니다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Exception</a:t>
              </a:r>
              <a:r>
                <a:rPr lang="ko-KR" altLang="en-US" sz="1400"/>
                <a:t>과 관련된 코드들은 </a:t>
              </a:r>
              <a:r>
                <a:rPr lang="en-US" altLang="ko-KR" sz="1400"/>
                <a:t>File I/O</a:t>
              </a:r>
              <a:r>
                <a:rPr lang="ko-KR" altLang="en-US" sz="1400"/>
                <a:t>에서 다루고 있으므로 지금은 문법만 익히도록 합니다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finally </a:t>
              </a:r>
              <a:r>
                <a:rPr lang="ko-KR" altLang="en-US" sz="1400"/>
                <a:t>또한 </a:t>
              </a:r>
              <a:r>
                <a:rPr lang="en-US" altLang="ko-KR" sz="1400"/>
                <a:t>File I/O</a:t>
              </a:r>
              <a:r>
                <a:rPr lang="ko-KR" altLang="en-US" sz="1400"/>
                <a:t>에서 다룹니다</a:t>
              </a:r>
              <a:r>
                <a:rPr lang="en-US" altLang="ko-KR" sz="1400"/>
                <a:t>.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ADFA7D9-2B1B-146A-AC41-A2543DBF5FA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1245363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사용자 예외 발생시키기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939888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에서 제공하는 내장 </a:t>
            </a:r>
            <a:r>
              <a:rPr lang="en-US" altLang="ko-KR"/>
              <a:t>Exception</a:t>
            </a:r>
            <a:r>
              <a:rPr lang="ko-KR" altLang="en-US"/>
              <a:t>은 </a:t>
            </a:r>
            <a:r>
              <a:rPr lang="en-US" altLang="ko-KR"/>
              <a:t>Java Application</a:t>
            </a:r>
            <a:r>
              <a:rPr lang="ko-KR" altLang="en-US"/>
              <a:t>이 동작할 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코드의 조건을 만족하지 못했을 때 지정된 </a:t>
            </a:r>
            <a:r>
              <a:rPr lang="en-US" altLang="ko-KR"/>
              <a:t>Exception</a:t>
            </a:r>
            <a:r>
              <a:rPr lang="ko-KR" altLang="en-US"/>
              <a:t>이 발생하도록 되어 있습니다</a:t>
            </a:r>
            <a:r>
              <a:rPr lang="en-US" altLang="ko-KR"/>
              <a:t>.</a:t>
            </a:r>
          </a:p>
          <a:p>
            <a:r>
              <a:rPr lang="ko-KR" altLang="en-US"/>
              <a:t>몇 가지 코드의 조건을 살펴보면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Null </a:t>
            </a:r>
            <a:r>
              <a:rPr lang="ko-KR" altLang="en-US"/>
              <a:t>값을 가진 </a:t>
            </a:r>
            <a:r>
              <a:rPr lang="en-US" altLang="ko-KR"/>
              <a:t>Instance</a:t>
            </a:r>
            <a:r>
              <a:rPr lang="ko-KR" altLang="en-US"/>
              <a:t>에 점 연산자를 사용함 </a:t>
            </a:r>
            <a:r>
              <a:rPr lang="en-US" altLang="ko-KR">
                <a:sym typeface="Wingdings" panose="05000000000000000000" pitchFamily="2" charset="2"/>
              </a:rPr>
              <a:t> NullPointerException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숫자 형태가 아닌 문자를 숫자로 변환하려 함 </a:t>
            </a:r>
            <a:r>
              <a:rPr lang="en-US" altLang="ko-KR">
                <a:sym typeface="Wingdings" panose="05000000000000000000" pitchFamily="2" charset="2"/>
              </a:rPr>
              <a:t> NumberFormatException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존재하지 않는 파일을 읽으려 함 </a:t>
            </a:r>
            <a:r>
              <a:rPr lang="en-US" altLang="ko-KR">
                <a:sym typeface="Wingdings" panose="05000000000000000000" pitchFamily="2" charset="2"/>
              </a:rPr>
              <a:t> FileNotFoundException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0 </a:t>
            </a:r>
            <a:r>
              <a:rPr lang="ko-KR" altLang="en-US">
                <a:sym typeface="Wingdings" panose="05000000000000000000" pitchFamily="2" charset="2"/>
              </a:rPr>
              <a:t>으로 나누려 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ArithmaticException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배열의 인덱스 범위를 초과하여 참조하려 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ArrayIndexOutOfBoundsException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개발자가 직접 조건을 정의하고 지정된</a:t>
            </a:r>
            <a:r>
              <a:rPr lang="en-US" altLang="ko-KR">
                <a:sym typeface="Wingdings" panose="05000000000000000000" pitchFamily="2" charset="2"/>
              </a:rPr>
              <a:t> Exception</a:t>
            </a:r>
            <a:r>
              <a:rPr lang="ko-KR" altLang="en-US">
                <a:sym typeface="Wingdings" panose="05000000000000000000" pitchFamily="2" charset="2"/>
              </a:rPr>
              <a:t>을 발생시킬 수도 있는데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ko-KR" altLang="en-US">
                <a:sym typeface="Wingdings" panose="05000000000000000000" pitchFamily="2" charset="2"/>
              </a:rPr>
              <a:t>이것은 사용자 예외 혹은 커스텀 예외 라고 합니다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/>
              <a:t>예</a:t>
            </a:r>
            <a:r>
              <a:rPr lang="en-US" altLang="ko-KR"/>
              <a:t>&gt; </a:t>
            </a:r>
          </a:p>
          <a:p>
            <a:pPr lvl="1"/>
            <a:r>
              <a:rPr lang="ko-KR" altLang="en-US"/>
              <a:t>사용할 수 없는 </a:t>
            </a:r>
            <a:r>
              <a:rPr lang="en-US" altLang="ko-KR"/>
              <a:t>ID 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InvalidUserIdException</a:t>
            </a:r>
            <a:endParaRPr lang="en-US" altLang="ko-KR"/>
          </a:p>
          <a:p>
            <a:pPr lvl="1"/>
            <a:r>
              <a:rPr lang="ko-KR" altLang="en-US"/>
              <a:t>이미</a:t>
            </a:r>
            <a:r>
              <a:rPr lang="en-US" altLang="ko-KR"/>
              <a:t> </a:t>
            </a:r>
            <a:r>
              <a:rPr lang="ko-KR" altLang="en-US"/>
              <a:t>사용 중인 </a:t>
            </a:r>
            <a:r>
              <a:rPr lang="en-US" altLang="ko-KR"/>
              <a:t>ID 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AlreadyUseUserIdException</a:t>
            </a:r>
            <a:endParaRPr lang="en-US" altLang="ko-KR"/>
          </a:p>
          <a:p>
            <a:pPr lvl="1"/>
            <a:r>
              <a:rPr lang="en-US" altLang="ko-KR"/>
              <a:t>ID</a:t>
            </a:r>
            <a:r>
              <a:rPr lang="ko-KR" altLang="en-US"/>
              <a:t>는 최소 </a:t>
            </a:r>
            <a:r>
              <a:rPr lang="en-US" altLang="ko-KR"/>
              <a:t>8</a:t>
            </a:r>
            <a:r>
              <a:rPr lang="ko-KR" altLang="en-US"/>
              <a:t>글자 이상 입력하세요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UserIdLengthException</a:t>
            </a:r>
            <a:endParaRPr lang="en-US" altLang="ko-KR"/>
          </a:p>
          <a:p>
            <a:pPr lvl="1"/>
            <a:r>
              <a:rPr lang="ko-KR" altLang="en-US"/>
              <a:t>비밀번호는 영어</a:t>
            </a:r>
            <a:r>
              <a:rPr lang="en-US" altLang="ko-KR"/>
              <a:t>(</a:t>
            </a:r>
            <a:r>
              <a:rPr lang="ko-KR" altLang="en-US"/>
              <a:t>대</a:t>
            </a:r>
            <a:r>
              <a:rPr lang="en-US" altLang="ko-KR"/>
              <a:t>/</a:t>
            </a:r>
            <a:r>
              <a:rPr lang="ko-KR" altLang="en-US"/>
              <a:t>소문자 포함</a:t>
            </a:r>
            <a:r>
              <a:rPr lang="en-US" altLang="ko-KR"/>
              <a:t>), </a:t>
            </a:r>
            <a:r>
              <a:rPr lang="ko-KR" altLang="en-US"/>
              <a:t>숫자</a:t>
            </a:r>
            <a:r>
              <a:rPr lang="en-US" altLang="ko-KR"/>
              <a:t>, </a:t>
            </a:r>
            <a:r>
              <a:rPr lang="ko-KR" altLang="en-US"/>
              <a:t>특수기호를 사용해 </a:t>
            </a:r>
            <a:r>
              <a:rPr lang="en-US" altLang="ko-KR"/>
              <a:t>10</a:t>
            </a:r>
            <a:r>
              <a:rPr lang="ko-KR" altLang="en-US"/>
              <a:t>자리 이상 입력하세요</a:t>
            </a:r>
            <a:r>
              <a:rPr lang="en-US" altLang="ko-KR"/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PasswordFormatException</a:t>
            </a:r>
            <a:endParaRPr lang="en-US" altLang="ko-KR"/>
          </a:p>
          <a:p>
            <a:pPr lvl="1"/>
            <a:r>
              <a:rPr lang="ko-KR" altLang="en-US"/>
              <a:t>등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6387392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사용자 예외는 항상 </a:t>
            </a:r>
            <a:r>
              <a:rPr lang="en-US" altLang="ko-KR"/>
              <a:t>RuntimeException</a:t>
            </a:r>
            <a:r>
              <a:rPr lang="ko-KR" altLang="en-US"/>
              <a:t>을 상속받아 생성합니다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생성자가 존재하는 클래스를 상속 받으면 </a:t>
            </a:r>
            <a:r>
              <a:rPr lang="en-US" altLang="ko-KR"/>
              <a:t>Sub Class</a:t>
            </a:r>
            <a:r>
              <a:rPr lang="ko-KR" altLang="en-US"/>
              <a:t>에서 </a:t>
            </a:r>
            <a:r>
              <a:rPr lang="en-US" altLang="ko-KR"/>
              <a:t>Super Class</a:t>
            </a:r>
            <a:r>
              <a:rPr lang="ko-KR" altLang="en-US"/>
              <a:t>의 생성자를 호출해주어야 합니다</a:t>
            </a:r>
            <a:r>
              <a:rPr lang="en-US" altLang="ko-KR"/>
              <a:t>.</a:t>
            </a:r>
          </a:p>
          <a:p>
            <a:r>
              <a:rPr lang="en-US" altLang="ko-KR"/>
              <a:t>RuntimeException</a:t>
            </a:r>
            <a:r>
              <a:rPr lang="ko-KR" altLang="en-US"/>
              <a:t>의 생성자 목록을 확인해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3630913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</a:t>
            </a:r>
            <a:r>
              <a:rPr lang="ko-KR" altLang="en-US" err="1"/>
              <a:t>오버로딩된</a:t>
            </a:r>
            <a:r>
              <a:rPr lang="ko-KR" altLang="en-US"/>
              <a:t>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enableSuppression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writableStackTrace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enableSuppression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writableStackTrace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3556630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기본 생성자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아무런 값도 전달하지 않습니다</a:t>
            </a:r>
            <a:r>
              <a:rPr lang="en-US" altLang="ko-KR"/>
              <a:t>.</a:t>
            </a:r>
          </a:p>
          <a:p>
            <a:r>
              <a:rPr lang="ko-KR" altLang="en-US"/>
              <a:t>이 생성자를 사용할 경우</a:t>
            </a:r>
            <a:r>
              <a:rPr lang="en-US" altLang="ko-KR"/>
              <a:t>, </a:t>
            </a:r>
            <a:r>
              <a:rPr lang="ko-KR" altLang="en-US"/>
              <a:t>예외를 받았을 때</a:t>
            </a:r>
            <a:r>
              <a:rPr lang="en-US" altLang="ko-KR"/>
              <a:t> </a:t>
            </a:r>
            <a:r>
              <a:rPr lang="ko-KR" altLang="en-US"/>
              <a:t>아무런 정보를 얻을 수 없습니다</a:t>
            </a:r>
            <a:r>
              <a:rPr lang="en-US" altLang="ko-KR"/>
              <a:t>.</a:t>
            </a:r>
          </a:p>
          <a:p>
            <a:r>
              <a:rPr lang="ko-KR" altLang="en-US"/>
              <a:t>잘 사용하지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65443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7983780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원인이 된 메시지를 파라미터로 전달합니다</a:t>
            </a:r>
            <a:r>
              <a:rPr lang="en-US" altLang="ko-KR"/>
              <a:t>.</a:t>
            </a:r>
          </a:p>
          <a:p>
            <a:r>
              <a:rPr lang="ko-KR" altLang="en-US"/>
              <a:t>가장 많이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8119719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Throwable</a:t>
            </a:r>
            <a:r>
              <a:rPr lang="ko-KR" altLang="en-US"/>
              <a:t>은 모든 예외들의 </a:t>
            </a:r>
            <a:r>
              <a:rPr lang="en-US" altLang="ko-KR"/>
              <a:t>Root Class 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RuntimeException is a Throwable</a:t>
            </a:r>
            <a:br>
              <a:rPr lang="en-US" altLang="ko-KR"/>
            </a:br>
            <a:r>
              <a:rPr lang="en-US" altLang="ko-KR"/>
              <a:t>Exception is a Throwable</a:t>
            </a:r>
            <a:br>
              <a:rPr lang="en-US" altLang="ko-KR"/>
            </a:b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모든 예외타입은 </a:t>
            </a:r>
            <a:r>
              <a:rPr lang="en-US" altLang="ko-KR"/>
              <a:t>is a Throwable </a:t>
            </a:r>
            <a:r>
              <a:rPr lang="ko-KR" altLang="en-US"/>
              <a:t>타입입니다</a:t>
            </a:r>
            <a:r>
              <a:rPr lang="en-US" altLang="ko-KR"/>
              <a:t>.</a:t>
            </a:r>
          </a:p>
          <a:p>
            <a:r>
              <a:rPr lang="ko-KR" altLang="en-US"/>
              <a:t>보통 </a:t>
            </a:r>
            <a:r>
              <a:rPr lang="en-US" altLang="ko-KR"/>
              <a:t>try ~ catch </a:t>
            </a:r>
            <a:r>
              <a:rPr lang="ko-KR" altLang="en-US"/>
              <a:t>에서 처리한 </a:t>
            </a:r>
            <a:r>
              <a:rPr lang="en-US" altLang="ko-KR"/>
              <a:t>Exception</a:t>
            </a:r>
            <a:r>
              <a:rPr lang="ko-KR" altLang="en-US"/>
              <a:t>을 </a:t>
            </a:r>
            <a:r>
              <a:rPr lang="en-US" altLang="ko-KR"/>
              <a:t>RuntimeException</a:t>
            </a:r>
            <a:r>
              <a:rPr lang="ko-KR" altLang="en-US"/>
              <a:t>으로 변경하여 </a:t>
            </a:r>
            <a:br>
              <a:rPr lang="en-US" altLang="ko-KR"/>
            </a:br>
            <a:r>
              <a:rPr lang="ko-KR" altLang="en-US"/>
              <a:t>다시 발생시킬 때 주로 사용합니다</a:t>
            </a:r>
            <a:r>
              <a:rPr lang="en-US" altLang="ko-KR"/>
              <a:t>.</a:t>
            </a:r>
          </a:p>
          <a:p>
            <a:r>
              <a:rPr lang="en-US" altLang="ko-KR"/>
              <a:t>Message</a:t>
            </a:r>
            <a:r>
              <a:rPr lang="ko-KR" altLang="en-US"/>
              <a:t>는 예외를 발생시킨 원인이 된 메시지를 전달하며</a:t>
            </a:r>
            <a:endParaRPr lang="en-US" altLang="ko-KR"/>
          </a:p>
          <a:p>
            <a:r>
              <a:rPr lang="en-US" altLang="ko-KR"/>
              <a:t>Cause</a:t>
            </a:r>
            <a:r>
              <a:rPr lang="ko-KR" altLang="en-US"/>
              <a:t>는 </a:t>
            </a:r>
            <a:r>
              <a:rPr lang="en-US" altLang="ko-KR"/>
              <a:t>catch</a:t>
            </a:r>
            <a:r>
              <a:rPr lang="ko-KR" altLang="en-US"/>
              <a:t>에서 처리한 예외를 전달합니다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즉</a:t>
            </a:r>
            <a:r>
              <a:rPr lang="en-US" altLang="ko-KR"/>
              <a:t>, RuntimeException</a:t>
            </a:r>
            <a:r>
              <a:rPr lang="ko-KR" altLang="en-US"/>
              <a:t>이 발생된 원인이 됩니다</a:t>
            </a:r>
            <a:r>
              <a:rPr lang="en-US" altLang="ko-KR"/>
              <a:t>.</a:t>
            </a:r>
          </a:p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 </a:t>
            </a:r>
            <a:r>
              <a:rPr lang="ko-KR" alt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와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함께 많이 사용됩니다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0046125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원인이 된 예외를 파라미터로 전달합니다</a:t>
            </a:r>
            <a:r>
              <a:rPr lang="en-US" altLang="ko-KR"/>
              <a:t>.</a:t>
            </a:r>
          </a:p>
          <a:p>
            <a:r>
              <a:rPr lang="ko-KR" altLang="en-US"/>
              <a:t>보통 </a:t>
            </a:r>
            <a:r>
              <a:rPr lang="en-US" altLang="ko-KR"/>
              <a:t>try ~ catch </a:t>
            </a:r>
            <a:r>
              <a:rPr lang="ko-KR" altLang="en-US"/>
              <a:t>문 중 </a:t>
            </a:r>
            <a:r>
              <a:rPr lang="en-US" altLang="ko-KR"/>
              <a:t>catch</a:t>
            </a:r>
            <a:r>
              <a:rPr lang="ko-KR" altLang="en-US"/>
              <a:t>에서 발생된 예외를 </a:t>
            </a:r>
            <a:r>
              <a:rPr lang="en-US" altLang="ko-KR"/>
              <a:t>RuntimeException</a:t>
            </a:r>
            <a:r>
              <a:rPr lang="ko-KR" altLang="en-US"/>
              <a:t>으로 변경하여 </a:t>
            </a:r>
            <a:br>
              <a:rPr lang="en-US" altLang="ko-KR"/>
            </a:br>
            <a:r>
              <a:rPr lang="ko-KR" altLang="en-US"/>
              <a:t>발생시킬 때 사용합니다</a:t>
            </a:r>
            <a:r>
              <a:rPr lang="en-US" altLang="ko-KR"/>
              <a:t>.</a:t>
            </a:r>
          </a:p>
          <a:p>
            <a:r>
              <a:rPr lang="ko-KR" altLang="en-US"/>
              <a:t>잘 사용하지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848980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다시 </a:t>
            </a:r>
            <a:r>
              <a:rPr lang="en-US" altLang="ko-KR" err="1"/>
              <a:t>InvalidUserIdException</a:t>
            </a:r>
            <a:r>
              <a:rPr lang="ko-KR" altLang="en-US"/>
              <a:t>을 완성해봅니다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사용자 예외는 거창할 필요없이 필요한 생성자만 호출 해주면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7890693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InvalidUserIdException</a:t>
            </a:r>
            <a:r>
              <a:rPr lang="ko-KR" altLang="en-US"/>
              <a:t>을 발생시켜 봅니다</a:t>
            </a:r>
            <a:r>
              <a:rPr lang="en-US" altLang="ko-KR"/>
              <a:t>.</a:t>
            </a:r>
          </a:p>
          <a:p>
            <a:r>
              <a:rPr lang="en-US" altLang="ko-KR"/>
              <a:t>id</a:t>
            </a:r>
            <a:r>
              <a:rPr lang="ko-KR" altLang="en-US"/>
              <a:t>가 </a:t>
            </a:r>
            <a:r>
              <a:rPr lang="en-US" altLang="ko-KR"/>
              <a:t>root, admin, system </a:t>
            </a:r>
            <a:r>
              <a:rPr lang="ko-KR" altLang="en-US"/>
              <a:t>인 경우 위 예외를 발생시키는 코드입니다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throw</a:t>
            </a:r>
            <a:r>
              <a:rPr lang="ko-KR" altLang="en-US"/>
              <a:t> </a:t>
            </a:r>
            <a:r>
              <a:rPr lang="en-US" altLang="ko-KR"/>
              <a:t>Exception</a:t>
            </a:r>
            <a:r>
              <a:rPr lang="ko-KR" altLang="en-US"/>
              <a:t>객체 코드를 통해서 예외를 발생시키게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27A337-319A-40AE-98E4-7580695AB16A}"/>
              </a:ext>
            </a:extLst>
          </p:cNvPr>
          <p:cNvSpPr txBox="1"/>
          <p:nvPr/>
        </p:nvSpPr>
        <p:spPr>
          <a:xfrm>
            <a:off x="494210" y="2033765"/>
            <a:ext cx="85932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를 입력하세요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iuie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        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는 사용할 수 없습니다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iuie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5697508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보통</a:t>
            </a:r>
            <a:r>
              <a:rPr lang="en-US" altLang="ko-KR"/>
              <a:t>, </a:t>
            </a:r>
            <a:r>
              <a:rPr lang="ko-KR" altLang="en-US"/>
              <a:t>예외를 발생시킬 경우는 아래 코드처럼 한 줄로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27A337-319A-40AE-98E4-7580695AB16A}"/>
              </a:ext>
            </a:extLst>
          </p:cNvPr>
          <p:cNvSpPr txBox="1"/>
          <p:nvPr/>
        </p:nvSpPr>
        <p:spPr>
          <a:xfrm>
            <a:off x="494210" y="1668000"/>
            <a:ext cx="85932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를 입력하세요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는 사용할 수 없습니다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3414205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예외 위임하기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27300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이 아닌 </a:t>
            </a:r>
            <a:r>
              <a:rPr lang="en-US" altLang="ko-KR"/>
              <a:t>Exception</a:t>
            </a:r>
            <a:r>
              <a:rPr lang="ko-KR" altLang="en-US"/>
              <a:t>은 </a:t>
            </a:r>
            <a:r>
              <a:rPr lang="en-US" altLang="ko-KR"/>
              <a:t>try ~ catch </a:t>
            </a:r>
            <a:r>
              <a:rPr lang="ko-KR" altLang="en-US"/>
              <a:t>처리가 반드시 필요합니다</a:t>
            </a:r>
            <a:r>
              <a:rPr lang="en-US" altLang="ko-KR"/>
              <a:t>.</a:t>
            </a:r>
          </a:p>
          <a:p>
            <a:r>
              <a:rPr lang="en-US" altLang="ko-KR" err="1"/>
              <a:t>ClassNotFoundException</a:t>
            </a:r>
            <a:r>
              <a:rPr lang="en-US" altLang="ko-KR"/>
              <a:t> </a:t>
            </a:r>
            <a:r>
              <a:rPr lang="ko-KR" altLang="en-US"/>
              <a:t>같은 </a:t>
            </a:r>
            <a:r>
              <a:rPr lang="en-US" altLang="ko-KR"/>
              <a:t>Exception </a:t>
            </a:r>
            <a:r>
              <a:rPr lang="ko-KR" altLang="en-US"/>
              <a:t>타입의 예외가 발생하면 </a:t>
            </a:r>
            <a:br>
              <a:rPr lang="en-US" altLang="ko-KR"/>
            </a:br>
            <a:r>
              <a:rPr lang="ko-KR" altLang="en-US"/>
              <a:t>즉시 </a:t>
            </a:r>
            <a:r>
              <a:rPr lang="en-US" altLang="ko-KR"/>
              <a:t>try ~ catch</a:t>
            </a:r>
            <a:r>
              <a:rPr lang="ko-KR" altLang="en-US"/>
              <a:t>를 </a:t>
            </a:r>
            <a:r>
              <a:rPr lang="ko-KR" altLang="en-US" err="1"/>
              <a:t>해주어야만</a:t>
            </a:r>
            <a:r>
              <a:rPr lang="ko-KR" altLang="en-US"/>
              <a:t> 하고 그렇지 않을 경우 컴파일 에러가 발생합니다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547D26-0482-896F-77F8-EEF4C9FEA909}"/>
              </a:ext>
            </a:extLst>
          </p:cNvPr>
          <p:cNvSpPr/>
          <p:nvPr/>
        </p:nvSpPr>
        <p:spPr>
          <a:xfrm>
            <a:off x="3463009" y="2780007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554013-54FE-872C-AB81-9977409FE6A9}"/>
              </a:ext>
            </a:extLst>
          </p:cNvPr>
          <p:cNvSpPr/>
          <p:nvPr/>
        </p:nvSpPr>
        <p:spPr>
          <a:xfrm>
            <a:off x="3455518" y="3710870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1DB71A-4F82-CF0C-0DA4-687C3DDA719D}"/>
              </a:ext>
            </a:extLst>
          </p:cNvPr>
          <p:cNvSpPr/>
          <p:nvPr/>
        </p:nvSpPr>
        <p:spPr>
          <a:xfrm>
            <a:off x="3455518" y="4641733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RuntimeException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catch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옵션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3A452C-19AC-4AD9-B3AF-953092FB6CDC}"/>
              </a:ext>
            </a:extLst>
          </p:cNvPr>
          <p:cNvSpPr/>
          <p:nvPr/>
        </p:nvSpPr>
        <p:spPr>
          <a:xfrm>
            <a:off x="6296572" y="3254076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IOException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BE743E-4C8A-337D-E5FC-7CFB06EA47A4}"/>
              </a:ext>
            </a:extLst>
          </p:cNvPr>
          <p:cNvSpPr/>
          <p:nvPr/>
        </p:nvSpPr>
        <p:spPr>
          <a:xfrm>
            <a:off x="6296572" y="3798528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ClassNotFoundException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CE589BF-2E36-EB21-4FE7-3CA66A82A2E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77708" y="3398315"/>
            <a:ext cx="7491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512B30D-2A86-0C2A-8348-D449559E568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4577708" y="4329178"/>
            <a:ext cx="0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2205D52-7099-A10C-4BA4-5B583C19BA4D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5699898" y="3472267"/>
            <a:ext cx="596674" cy="547757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99F2F19-133F-F971-E1C4-4EF89077617B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5699898" y="4016719"/>
            <a:ext cx="596674" cy="3305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696CD7-D8A0-E643-0254-C61A31A1E8C0}"/>
              </a:ext>
            </a:extLst>
          </p:cNvPr>
          <p:cNvSpPr/>
          <p:nvPr/>
        </p:nvSpPr>
        <p:spPr>
          <a:xfrm>
            <a:off x="6296572" y="4342980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FEF72E-8C00-DCA2-03A7-291912B648A9}"/>
              </a:ext>
            </a:extLst>
          </p:cNvPr>
          <p:cNvSpPr/>
          <p:nvPr/>
        </p:nvSpPr>
        <p:spPr>
          <a:xfrm>
            <a:off x="259200" y="3643652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NullPointerException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8F7346-6655-4A09-B663-4F50F820FDA1}"/>
              </a:ext>
            </a:extLst>
          </p:cNvPr>
          <p:cNvSpPr/>
          <p:nvPr/>
        </p:nvSpPr>
        <p:spPr>
          <a:xfrm>
            <a:off x="259200" y="4188104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ArrayIndexOutOfBoundException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457BA11-6E60-76D0-0043-B496FB5226AE}"/>
              </a:ext>
            </a:extLst>
          </p:cNvPr>
          <p:cNvSpPr/>
          <p:nvPr/>
        </p:nvSpPr>
        <p:spPr>
          <a:xfrm>
            <a:off x="259200" y="4732556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IndexOutOfBoundsException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E0E9CA3-B1AE-4CA1-04FD-4C3AEB6135B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5699898" y="4020024"/>
            <a:ext cx="596674" cy="5411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8E1C2E-6461-96E3-FE67-2349DB260A62}"/>
              </a:ext>
            </a:extLst>
          </p:cNvPr>
          <p:cNvSpPr/>
          <p:nvPr/>
        </p:nvSpPr>
        <p:spPr>
          <a:xfrm>
            <a:off x="259200" y="5301124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NumberFormatException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62C635-06C3-7BF0-6863-33FB0A58E49E}"/>
              </a:ext>
            </a:extLst>
          </p:cNvPr>
          <p:cNvSpPr/>
          <p:nvPr/>
        </p:nvSpPr>
        <p:spPr>
          <a:xfrm>
            <a:off x="259200" y="5869692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0D20055-5F91-D31C-61A6-12D9213C4D96}"/>
              </a:ext>
            </a:extLst>
          </p:cNvPr>
          <p:cNvCxnSpPr>
            <a:cxnSpLocks/>
            <a:stCxn id="8" idx="1"/>
            <a:endCxn id="20" idx="3"/>
          </p:cNvCxnSpPr>
          <p:nvPr/>
        </p:nvCxnSpPr>
        <p:spPr>
          <a:xfrm rot="10800000">
            <a:off x="2815028" y="3861843"/>
            <a:ext cx="640490" cy="1089044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9A5E186-DD01-0ED7-7B77-7F31BF4989B4}"/>
              </a:ext>
            </a:extLst>
          </p:cNvPr>
          <p:cNvCxnSpPr>
            <a:cxnSpLocks/>
            <a:stCxn id="8" idx="1"/>
            <a:endCxn id="21" idx="3"/>
          </p:cNvCxnSpPr>
          <p:nvPr/>
        </p:nvCxnSpPr>
        <p:spPr>
          <a:xfrm rot="10800000">
            <a:off x="2815028" y="4406295"/>
            <a:ext cx="640490" cy="544592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8178209-2E79-537B-D47A-0A6D35F512F3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rot="10800000">
            <a:off x="2815028" y="4950747"/>
            <a:ext cx="640490" cy="140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3EFD5FED-2E18-FEE9-E4BB-B1559663D298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rot="10800000" flipV="1">
            <a:off x="2815028" y="4950887"/>
            <a:ext cx="640490" cy="5684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3A6B7C7-04F4-1A63-5C33-1D08E8BDF376}"/>
              </a:ext>
            </a:extLst>
          </p:cNvPr>
          <p:cNvCxnSpPr>
            <a:cxnSpLocks/>
            <a:stCxn id="8" idx="1"/>
            <a:endCxn id="25" idx="3"/>
          </p:cNvCxnSpPr>
          <p:nvPr/>
        </p:nvCxnSpPr>
        <p:spPr>
          <a:xfrm rot="10800000" flipV="1">
            <a:off x="2815028" y="4950887"/>
            <a:ext cx="640490" cy="1136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9827B0-6302-3BC0-A96C-7CD10ED239B0}"/>
              </a:ext>
            </a:extLst>
          </p:cNvPr>
          <p:cNvSpPr txBox="1"/>
          <p:nvPr/>
        </p:nvSpPr>
        <p:spPr>
          <a:xfrm>
            <a:off x="6343027" y="2750421"/>
            <a:ext cx="24629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없습니다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7E0AEB-8F6D-6951-132E-E0658BAB747B}"/>
              </a:ext>
            </a:extLst>
          </p:cNvPr>
          <p:cNvSpPr txBox="1"/>
          <p:nvPr/>
        </p:nvSpPr>
        <p:spPr>
          <a:xfrm>
            <a:off x="50285" y="3089161"/>
            <a:ext cx="30384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RuntimeException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있습니다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555373537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는 </a:t>
            </a:r>
            <a:r>
              <a:rPr lang="en-US" altLang="ko-KR"/>
              <a:t>Exception </a:t>
            </a:r>
            <a:r>
              <a:rPr lang="ko-KR" altLang="en-US"/>
              <a:t>타입의 예외에 대한 처리를 호출자에게 위임할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간단한 예를 먼저 봅니다</a:t>
            </a:r>
            <a:r>
              <a:rPr lang="en-US" altLang="ko-KR"/>
              <a:t>.</a:t>
            </a:r>
          </a:p>
          <a:p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코드는 </a:t>
            </a:r>
            <a:r>
              <a:rPr lang="en-US" altLang="ko-KR" err="1"/>
              <a:t>Class.forName</a:t>
            </a:r>
            <a:r>
              <a:rPr lang="ko-KR" altLang="en-US"/>
              <a:t>의 </a:t>
            </a:r>
            <a:r>
              <a:rPr lang="en-US" altLang="ko-KR" err="1"/>
              <a:t>ClassNotFoundException</a:t>
            </a:r>
            <a:r>
              <a:rPr lang="ko-KR" altLang="en-US"/>
              <a:t>을 처리하는 코드입니다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위 코드에서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호출자에게 </a:t>
            </a:r>
            <a:br>
              <a:rPr lang="en-US" altLang="ko-KR"/>
            </a:br>
            <a:r>
              <a:rPr lang="ko-KR" altLang="en-US" err="1"/>
              <a:t>위임하려한다면</a:t>
            </a:r>
            <a:r>
              <a:rPr lang="ko-KR" altLang="en-US"/>
              <a:t> 메소드 정의 부분에 </a:t>
            </a:r>
            <a:r>
              <a:rPr lang="en-US" altLang="ko-KR">
                <a:highlight>
                  <a:srgbClr val="FFFF00"/>
                </a:highlight>
              </a:rPr>
              <a:t>throws </a:t>
            </a:r>
            <a:r>
              <a:rPr lang="en-US" altLang="ko-KR" err="1">
                <a:highlight>
                  <a:srgbClr val="FFFF00"/>
                </a:highlight>
              </a:rPr>
              <a:t>ClassNotFoundException</a:t>
            </a:r>
            <a:r>
              <a:rPr lang="ko-KR" altLang="en-US"/>
              <a:t>을 작성합니다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7E4BF90-441F-30A4-DC4D-90903E30BF54}"/>
              </a:ext>
            </a:extLst>
          </p:cNvPr>
          <p:cNvSpPr txBox="1"/>
          <p:nvPr/>
        </p:nvSpPr>
        <p:spPr>
          <a:xfrm>
            <a:off x="511628" y="2441353"/>
            <a:ext cx="47918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FF3C86-C75C-FC22-8CD5-7407170B72D0}"/>
              </a:ext>
            </a:extLst>
          </p:cNvPr>
          <p:cNvSpPr txBox="1"/>
          <p:nvPr/>
        </p:nvSpPr>
        <p:spPr>
          <a:xfrm>
            <a:off x="511628" y="5526763"/>
            <a:ext cx="9238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에러가 사라집니다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8957226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Throws </a:t>
            </a:r>
            <a:r>
              <a:rPr lang="ko-KR" altLang="en-US"/>
              <a:t>코드 제대로 만들어보기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loadClass</a:t>
            </a:r>
            <a:r>
              <a:rPr lang="ko-KR" altLang="en-US"/>
              <a:t> 메소드가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위임했으므로</a:t>
            </a:r>
            <a:endParaRPr lang="en-US" altLang="ko-KR"/>
          </a:p>
          <a:p>
            <a:r>
              <a:rPr lang="ko-KR" altLang="en-US"/>
              <a:t>호출하는 부분에서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22D60B8-2B04-D154-AD3C-97B161F872D1}"/>
              </a:ext>
            </a:extLst>
          </p:cNvPr>
          <p:cNvSpPr txBox="1"/>
          <p:nvPr/>
        </p:nvSpPr>
        <p:spPr>
          <a:xfrm>
            <a:off x="476795" y="1582059"/>
            <a:ext cx="840800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try ~ catch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필요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F4825-F8CC-BC6F-693D-703599B7C68A}"/>
              </a:ext>
            </a:extLst>
          </p:cNvPr>
          <p:cNvSpPr txBox="1"/>
          <p:nvPr/>
        </p:nvSpPr>
        <p:spPr>
          <a:xfrm>
            <a:off x="476795" y="4525028"/>
            <a:ext cx="70038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3217530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제네릭과 컬렉션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A84E29-208C-CD43-9163-E522A4F7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57075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 1.5 </a:t>
            </a:r>
            <a:r>
              <a:rPr lang="ko-KR" altLang="en-US"/>
              <a:t>부터 추가된 제네릭</a:t>
            </a:r>
            <a:r>
              <a:rPr lang="en-US" altLang="ko-KR"/>
              <a:t>(Generic)</a:t>
            </a:r>
            <a:r>
              <a:rPr lang="ko-KR" altLang="en-US"/>
              <a:t>과 컬렉션 프레임워크</a:t>
            </a:r>
            <a:r>
              <a:rPr lang="en-US" altLang="ko-KR"/>
              <a:t>(Collection Framework)</a:t>
            </a:r>
            <a:r>
              <a:rPr lang="ko-KR" altLang="en-US"/>
              <a:t>는</a:t>
            </a:r>
            <a:br>
              <a:rPr lang="en-US" altLang="ko-KR"/>
            </a:br>
            <a:r>
              <a:rPr lang="ko-KR" altLang="en-US"/>
              <a:t>유연한 데이터 처리를 가능케 하는 </a:t>
            </a:r>
            <a:r>
              <a:rPr lang="en-US" altLang="ko-KR"/>
              <a:t>Java</a:t>
            </a:r>
            <a:r>
              <a:rPr lang="ko-KR" altLang="en-US"/>
              <a:t>의 강력한 기능 중 하나 입니다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제네릭이란</a:t>
            </a:r>
            <a:r>
              <a:rPr lang="en-US" altLang="ko-KR"/>
              <a:t>?</a:t>
            </a:r>
            <a:br>
              <a:rPr lang="en-US" altLang="ko-KR"/>
            </a:br>
            <a:r>
              <a:rPr lang="ko-KR" altLang="en-US"/>
              <a:t>자료구조의 형태만 제시하고</a:t>
            </a:r>
            <a:r>
              <a:rPr lang="en-US" altLang="ko-KR"/>
              <a:t> </a:t>
            </a:r>
            <a:r>
              <a:rPr lang="ko-KR" altLang="en-US"/>
              <a:t>실제로 어떤 타입의 데이터가 관리될 것인지는 </a:t>
            </a:r>
            <a:br>
              <a:rPr lang="en-US" altLang="ko-KR"/>
            </a:br>
            <a:r>
              <a:rPr lang="ko-KR" altLang="en-US"/>
              <a:t>나중에 결정하는 기술을 말합니다</a:t>
            </a:r>
            <a:r>
              <a:rPr lang="en-US" altLang="ko-KR"/>
              <a:t>.</a:t>
            </a:r>
          </a:p>
          <a:p>
            <a:r>
              <a:rPr lang="ko-KR" altLang="en-US"/>
              <a:t>컬렉션이란</a:t>
            </a:r>
            <a:r>
              <a:rPr lang="en-US" altLang="ko-KR"/>
              <a:t>?</a:t>
            </a:r>
            <a:br>
              <a:rPr lang="en-US" altLang="ko-KR"/>
            </a:br>
            <a:r>
              <a:rPr lang="ko-KR" altLang="en-US"/>
              <a:t>제네릭을 이용해 </a:t>
            </a:r>
            <a:r>
              <a:rPr lang="en-US" altLang="ko-KR"/>
              <a:t>Array</a:t>
            </a:r>
            <a:r>
              <a:rPr lang="ko-KR" altLang="en-US"/>
              <a:t>를 조금 더 다양한 형태로 간편하게 사용할 수 있도록 </a:t>
            </a:r>
            <a:br>
              <a:rPr lang="en-US" altLang="ko-KR"/>
            </a:br>
            <a:r>
              <a:rPr lang="ko-KR" altLang="en-US"/>
              <a:t>제공하는 프레임워크</a:t>
            </a:r>
            <a:r>
              <a:rPr lang="en-US" altLang="ko-KR"/>
              <a:t>(</a:t>
            </a:r>
            <a:r>
              <a:rPr lang="ko-KR" altLang="en-US"/>
              <a:t>툴</a:t>
            </a:r>
            <a:r>
              <a:rPr lang="en-US" altLang="ko-KR"/>
              <a:t>)</a:t>
            </a:r>
            <a:r>
              <a:rPr lang="ko-KR" altLang="en-US"/>
              <a:t>을 말합니다</a:t>
            </a:r>
            <a:r>
              <a:rPr lang="en-US" altLang="ko-KR"/>
              <a:t>.</a:t>
            </a:r>
          </a:p>
          <a:p>
            <a:r>
              <a:rPr lang="en-US" altLang="ko-KR"/>
              <a:t>Java Application</a:t>
            </a:r>
            <a:r>
              <a:rPr lang="ko-KR" altLang="en-US"/>
              <a:t>을 개발할 때</a:t>
            </a:r>
            <a:r>
              <a:rPr lang="en-US" altLang="ko-KR"/>
              <a:t>, </a:t>
            </a:r>
            <a:r>
              <a:rPr lang="ko-KR" altLang="en-US"/>
              <a:t>아주 많이 사용되는 기술이므로 </a:t>
            </a:r>
            <a:br>
              <a:rPr lang="en-US" altLang="ko-KR"/>
            </a:br>
            <a:r>
              <a:rPr lang="ko-KR" altLang="en-US"/>
              <a:t>반드시 습득해 놓는 것이 좋습니다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제네릭과 컬렉션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3751692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제네릭</a:t>
            </a:r>
            <a:r>
              <a:rPr lang="en-US" altLang="ko-KR" sz="4000" b="1">
                <a:latin typeface="+mj-ea"/>
              </a:rPr>
              <a:t>(Generic)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566451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제네릭을 사용하면</a:t>
            </a:r>
            <a:r>
              <a:rPr lang="en-US" altLang="ko-KR" dirty="0"/>
              <a:t>, </a:t>
            </a:r>
            <a:r>
              <a:rPr lang="ko-KR" altLang="en-US" dirty="0"/>
              <a:t>매우 유연한 자료구조를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코드는 정수형 배열을 만들어 값을 할당하는 코드입니다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, </a:t>
            </a:r>
            <a:r>
              <a:rPr lang="ko-KR" altLang="en-US" dirty="0"/>
              <a:t>값을 하나 더 추가하려면 아래와 같은 코드가 필요합니다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D3C551E-0A76-4B98-E7E9-9F82461230BB}"/>
              </a:ext>
            </a:extLst>
          </p:cNvPr>
          <p:cNvSpPr txBox="1"/>
          <p:nvPr/>
        </p:nvSpPr>
        <p:spPr>
          <a:xfrm>
            <a:off x="469783" y="1796314"/>
            <a:ext cx="58543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7935534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값을 하나 더 추가하려면 아래와 같은 코드가 필요합니다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E28E861-CBFA-1265-C621-25459C8CFC9C}"/>
              </a:ext>
            </a:extLst>
          </p:cNvPr>
          <p:cNvSpPr txBox="1"/>
          <p:nvPr/>
        </p:nvSpPr>
        <p:spPr>
          <a:xfrm>
            <a:off x="502919" y="1584186"/>
            <a:ext cx="94954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배열 복사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arraycopy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"scoreArray2: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76242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배열의 불편함을 해소하기 위해 새로운 클래스 하나를 생성해봅니다</a:t>
            </a:r>
            <a:r>
              <a:rPr lang="en-US" altLang="ko-KR"/>
              <a:t>.</a:t>
            </a:r>
          </a:p>
          <a:p>
            <a:r>
              <a:rPr lang="en-US" altLang="ko-KR"/>
              <a:t>ScoreList.java ( 1 / 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D29560-AF3A-0336-90E6-20FC90501CD1}"/>
              </a:ext>
            </a:extLst>
          </p:cNvPr>
          <p:cNvSpPr txBox="1"/>
          <p:nvPr/>
        </p:nvSpPr>
        <p:spPr>
          <a:xfrm>
            <a:off x="476792" y="2001029"/>
            <a:ext cx="855523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130629308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배열의 불편함을 해소하기 위해 새로운 클래스 하나를 생성해봅니다</a:t>
            </a:r>
            <a:r>
              <a:rPr lang="en-US" altLang="ko-KR"/>
              <a:t>.</a:t>
            </a:r>
          </a:p>
          <a:p>
            <a:r>
              <a:rPr lang="en-US" altLang="ko-KR"/>
              <a:t>ScoreList.java ( 2 / 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D29560-AF3A-0336-90E6-20FC90501CD1}"/>
              </a:ext>
            </a:extLst>
          </p:cNvPr>
          <p:cNvSpPr txBox="1"/>
          <p:nvPr/>
        </p:nvSpPr>
        <p:spPr>
          <a:xfrm>
            <a:off x="476792" y="2001029"/>
            <a:ext cx="855523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3444095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add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621865"/>
            <a:ext cx="89197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arraycopy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3525002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get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621865"/>
            <a:ext cx="89197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7511619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toString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726368"/>
            <a:ext cx="89197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]"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1990646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ScoreList</a:t>
            </a:r>
            <a:r>
              <a:rPr lang="ko-KR" altLang="en-US"/>
              <a:t>를 사용해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494205" y="1647990"/>
            <a:ext cx="89197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7799818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완성한 </a:t>
            </a:r>
            <a:r>
              <a:rPr lang="en-US" altLang="ko-KR" err="1"/>
              <a:t>ScoreList</a:t>
            </a:r>
            <a:r>
              <a:rPr lang="ko-KR" altLang="en-US"/>
              <a:t>는 </a:t>
            </a:r>
            <a:r>
              <a:rPr lang="en-US" altLang="ko-KR"/>
              <a:t>int </a:t>
            </a:r>
            <a:r>
              <a:rPr lang="ko-KR" altLang="en-US"/>
              <a:t>형 타입만 사용할 수 있는 클래스입니다</a:t>
            </a:r>
            <a:r>
              <a:rPr lang="en-US" altLang="ko-KR"/>
              <a:t>.</a:t>
            </a:r>
          </a:p>
          <a:p>
            <a:r>
              <a:rPr lang="en-US" altLang="ko-KR" err="1"/>
              <a:t>ScoreList</a:t>
            </a:r>
            <a:r>
              <a:rPr lang="ko-KR" altLang="en-US"/>
              <a:t>를 </a:t>
            </a:r>
            <a:r>
              <a:rPr lang="en-US" altLang="ko-KR"/>
              <a:t>double </a:t>
            </a:r>
            <a:r>
              <a:rPr lang="ko-KR" altLang="en-US"/>
              <a:t>형 타입으로도 사용하려면 아마도 </a:t>
            </a:r>
            <a:r>
              <a:rPr lang="en-US" altLang="ko-KR" err="1"/>
              <a:t>DoubleScoreList</a:t>
            </a:r>
            <a:r>
              <a:rPr lang="en-US" altLang="ko-KR"/>
              <a:t> </a:t>
            </a:r>
            <a:r>
              <a:rPr lang="ko-KR" altLang="en-US"/>
              <a:t>라는 </a:t>
            </a:r>
            <a:br>
              <a:rPr lang="en-US" altLang="ko-KR"/>
            </a:br>
            <a:r>
              <a:rPr lang="ko-KR" altLang="en-US"/>
              <a:t>클래스를 만들어야 할 듯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035853-3735-57A1-FFD5-4D1F0C8DE559}"/>
              </a:ext>
            </a:extLst>
          </p:cNvPr>
          <p:cNvSpPr txBox="1"/>
          <p:nvPr/>
        </p:nvSpPr>
        <p:spPr>
          <a:xfrm>
            <a:off x="555171" y="2315621"/>
            <a:ext cx="69254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DoubleScoreList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…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…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794093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 방식 말고 사용할 타입을 나중에 정하도록 하는 제네릭을 사용하면 </a:t>
            </a:r>
            <a:br>
              <a:rPr lang="en-US" altLang="ko-KR"/>
            </a:br>
            <a:r>
              <a:rPr lang="ko-KR" altLang="en-US"/>
              <a:t>훨씬 더 </a:t>
            </a:r>
            <a:r>
              <a:rPr lang="ko-KR" altLang="en-US" err="1"/>
              <a:t>편리해집니다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제네릭을 이용한 코드로 변경해 봅니다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제네릭은 클래스명 옆에 부등호</a:t>
            </a:r>
            <a:r>
              <a:rPr lang="en-US" altLang="ko-KR"/>
              <a:t>( &lt; &gt; )</a:t>
            </a:r>
            <a:r>
              <a:rPr lang="ko-KR" altLang="en-US"/>
              <a:t>를 이용해 정의합니다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176108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제네릭을 적용한 </a:t>
            </a:r>
            <a:r>
              <a:rPr lang="en-US" altLang="ko-KR" err="1"/>
              <a:t>ScoreList</a:t>
            </a:r>
            <a:r>
              <a:rPr lang="en-US" altLang="ko-KR"/>
              <a:t>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5" y="1616856"/>
            <a:ext cx="82879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960562954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제네릭을 적용한 </a:t>
            </a:r>
            <a:r>
              <a:rPr lang="en-US" altLang="ko-KR" err="1"/>
              <a:t>ScoreList</a:t>
            </a:r>
            <a:r>
              <a:rPr lang="en-US" altLang="ko-KR"/>
              <a:t>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4" y="1616856"/>
            <a:ext cx="72255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… 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7228829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&lt;T&gt; : </a:t>
            </a:r>
            <a:r>
              <a:rPr lang="ko-KR" altLang="en-US"/>
              <a:t>제네릭은 보통 한 글자 단위로 작성합니다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의미는 부여하기 나름으로 </a:t>
            </a:r>
            <a:r>
              <a:rPr lang="en-US" altLang="ko-KR"/>
              <a:t>T</a:t>
            </a:r>
            <a:r>
              <a:rPr lang="ko-KR" altLang="en-US"/>
              <a:t>는 </a:t>
            </a:r>
            <a:r>
              <a:rPr lang="en-US" altLang="ko-KR"/>
              <a:t>Type</a:t>
            </a:r>
            <a:r>
              <a:rPr lang="ko-KR" altLang="en-US"/>
              <a:t>의 앞 글자만 사용했습니다</a:t>
            </a:r>
            <a:r>
              <a:rPr lang="en-US" altLang="ko-KR"/>
              <a:t>.</a:t>
            </a:r>
          </a:p>
          <a:p>
            <a:r>
              <a:rPr lang="ko-KR" altLang="en-US"/>
              <a:t>다른 타입을 사용해도 문제는 없습니다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파라미터의 </a:t>
            </a:r>
            <a:r>
              <a:rPr lang="en-US" altLang="ko-KR"/>
              <a:t>T</a:t>
            </a:r>
            <a:r>
              <a:rPr lang="ko-KR" altLang="en-US"/>
              <a:t>는 클래스에 정의한 </a:t>
            </a:r>
            <a:r>
              <a:rPr lang="en-US" altLang="ko-KR"/>
              <a:t>T</a:t>
            </a:r>
            <a:r>
              <a:rPr lang="ko-KR" altLang="en-US"/>
              <a:t>와 같습니다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클래스 제네릭에 </a:t>
            </a:r>
            <a:r>
              <a:rPr lang="en-US" altLang="ko-KR"/>
              <a:t>String</a:t>
            </a:r>
            <a:r>
              <a:rPr lang="ko-KR" altLang="en-US"/>
              <a:t>이 전달되었다면  </a:t>
            </a:r>
            <a:r>
              <a:rPr lang="en-US" altLang="ko-KR"/>
              <a:t>add </a:t>
            </a:r>
            <a:r>
              <a:rPr lang="ko-KR" altLang="en-US"/>
              <a:t>메소드의 </a:t>
            </a:r>
            <a:r>
              <a:rPr lang="en-US" altLang="ko-KR"/>
              <a:t>T </a:t>
            </a:r>
            <a:r>
              <a:rPr lang="ko-KR" altLang="en-US"/>
              <a:t>또한 </a:t>
            </a:r>
            <a:r>
              <a:rPr lang="en-US" altLang="ko-KR"/>
              <a:t>String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 err="1"/>
              <a:t>리턴타입의</a:t>
            </a:r>
            <a:r>
              <a:rPr lang="ko-KR" altLang="en-US"/>
              <a:t> </a:t>
            </a:r>
            <a:r>
              <a:rPr lang="en-US" altLang="ko-KR"/>
              <a:t>T</a:t>
            </a:r>
            <a:r>
              <a:rPr lang="ko-KR" altLang="en-US"/>
              <a:t>는 클래스에 정의한 </a:t>
            </a:r>
            <a:r>
              <a:rPr lang="en-US" altLang="ko-KR"/>
              <a:t>T</a:t>
            </a:r>
            <a:r>
              <a:rPr lang="ko-KR" altLang="en-US"/>
              <a:t>와 같습니다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클래스 제네릭에 </a:t>
            </a:r>
            <a:r>
              <a:rPr lang="en-US" altLang="ko-KR"/>
              <a:t>String</a:t>
            </a:r>
            <a:r>
              <a:rPr lang="ko-KR" altLang="en-US"/>
              <a:t>이 전달되었다면  </a:t>
            </a:r>
            <a:r>
              <a:rPr lang="en-US" altLang="ko-KR"/>
              <a:t>get </a:t>
            </a:r>
            <a:r>
              <a:rPr lang="ko-KR" altLang="en-US"/>
              <a:t>메소드의 </a:t>
            </a:r>
            <a:r>
              <a:rPr lang="en-US" altLang="ko-KR"/>
              <a:t>T </a:t>
            </a:r>
            <a:r>
              <a:rPr lang="ko-KR" altLang="en-US"/>
              <a:t>또한 </a:t>
            </a:r>
            <a:r>
              <a:rPr lang="en-US" altLang="ko-KR"/>
              <a:t>String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4" y="1616856"/>
            <a:ext cx="7225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29293-6FAF-9243-F780-CA3CA9A7DBA4}"/>
              </a:ext>
            </a:extLst>
          </p:cNvPr>
          <p:cNvSpPr txBox="1"/>
          <p:nvPr/>
        </p:nvSpPr>
        <p:spPr>
          <a:xfrm>
            <a:off x="464134" y="3244334"/>
            <a:ext cx="518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C8922-1319-ED7F-F804-3FCD6C7DFA46}"/>
              </a:ext>
            </a:extLst>
          </p:cNvPr>
          <p:cNvSpPr txBox="1"/>
          <p:nvPr/>
        </p:nvSpPr>
        <p:spPr>
          <a:xfrm>
            <a:off x="464134" y="4801047"/>
            <a:ext cx="518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2155860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ko-KR" altLang="en-US"/>
              <a:t>제네릭 클래스를 사용해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B84C9-19B0-B2E1-7451-8AD2F7615443}"/>
              </a:ext>
            </a:extLst>
          </p:cNvPr>
          <p:cNvSpPr txBox="1"/>
          <p:nvPr/>
        </p:nvSpPr>
        <p:spPr>
          <a:xfrm>
            <a:off x="546462" y="1629736"/>
            <a:ext cx="6890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1A00190-A9C0-79FE-EC45-C4A13A9FC3C6}"/>
              </a:ext>
            </a:extLst>
          </p:cNvPr>
          <p:cNvGrpSpPr/>
          <p:nvPr/>
        </p:nvGrpSpPr>
        <p:grpSpPr>
          <a:xfrm>
            <a:off x="546716" y="5221053"/>
            <a:ext cx="7014403" cy="602786"/>
            <a:chOff x="4898273" y="2058334"/>
            <a:chExt cx="7014403" cy="60278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18EA8B-300A-92C3-8F66-F5B80E65525E}"/>
                </a:ext>
              </a:extLst>
            </p:cNvPr>
            <p:cNvSpPr txBox="1"/>
            <p:nvPr/>
          </p:nvSpPr>
          <p:spPr>
            <a:xfrm>
              <a:off x="4898273" y="2058334"/>
              <a:ext cx="9955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&lt;Integer&gt;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191311-0DA4-B8BE-E519-77336259739E}"/>
                </a:ext>
              </a:extLst>
            </p:cNvPr>
            <p:cNvSpPr txBox="1"/>
            <p:nvPr/>
          </p:nvSpPr>
          <p:spPr>
            <a:xfrm>
              <a:off x="5019379" y="2353343"/>
              <a:ext cx="68932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/>
                <a:t>Class Generic</a:t>
              </a:r>
              <a:r>
                <a:rPr lang="ko-KR" altLang="en-US" sz="1400"/>
                <a:t>에</a:t>
              </a:r>
              <a:r>
                <a:rPr lang="en-US" altLang="ko-KR" sz="1400"/>
                <a:t> Integer</a:t>
              </a:r>
              <a:r>
                <a:rPr lang="ko-KR" altLang="en-US" sz="1400"/>
                <a:t>를 전달합니다</a:t>
              </a:r>
              <a:r>
                <a:rPr lang="en-US" altLang="ko-KR" sz="1400"/>
                <a:t>. </a:t>
              </a:r>
              <a:r>
                <a:rPr lang="ko-KR" altLang="en-US" sz="1400"/>
                <a:t>그러면</a:t>
              </a:r>
              <a:r>
                <a:rPr lang="en-US" altLang="ko-KR" sz="1400"/>
                <a:t> </a:t>
              </a:r>
              <a:r>
                <a:rPr lang="en-US" altLang="ko-KR" sz="1400" err="1"/>
                <a:t>ScoreList</a:t>
              </a:r>
              <a:r>
                <a:rPr lang="ko-KR" altLang="en-US" sz="1400"/>
                <a:t>의</a:t>
              </a:r>
              <a:r>
                <a:rPr lang="en-US" altLang="ko-KR" sz="1400"/>
                <a:t> </a:t>
              </a:r>
              <a:r>
                <a:rPr lang="ko-KR" altLang="en-US" sz="1400"/>
                <a:t>모든 </a:t>
              </a:r>
              <a:r>
                <a:rPr lang="en-US" altLang="ko-KR" sz="1400"/>
                <a:t>T</a:t>
              </a:r>
              <a:r>
                <a:rPr lang="ko-KR" altLang="en-US" sz="1400"/>
                <a:t>는 </a:t>
              </a:r>
              <a:r>
                <a:rPr lang="en-US" altLang="ko-KR" sz="1400"/>
                <a:t>Integer</a:t>
              </a:r>
              <a:r>
                <a:rPr lang="ko-KR" altLang="en-US" sz="1400"/>
                <a:t>로 변환됩니다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B585D47-64DD-6479-7C1E-AD627EB70D89}"/>
                </a:ext>
              </a:extLst>
            </p:cNvPr>
            <p:cNvSpPr/>
            <p:nvPr/>
          </p:nvSpPr>
          <p:spPr>
            <a:xfrm>
              <a:off x="4998720" y="2417998"/>
              <a:ext cx="60960" cy="21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546462" y="5810709"/>
            <a:ext cx="8605993" cy="1068509"/>
            <a:chOff x="4898273" y="2058334"/>
            <a:chExt cx="8605993" cy="10685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884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Integer?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19379" y="2388179"/>
              <a:ext cx="848488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정수형을 사용하는 </a:t>
              </a:r>
              <a:r>
                <a:rPr lang="en-US" altLang="ko-KR" sz="1400"/>
                <a:t>int</a:t>
              </a:r>
              <a:r>
                <a:rPr lang="ko-KR" altLang="en-US" sz="1400"/>
                <a:t>가 아닌 </a:t>
              </a:r>
              <a:r>
                <a:rPr lang="en-US" altLang="ko-KR" sz="1400"/>
                <a:t>Integer </a:t>
              </a:r>
              <a:r>
                <a:rPr lang="ko-KR" altLang="en-US" sz="1400"/>
                <a:t>가</a:t>
              </a:r>
              <a:r>
                <a:rPr lang="en-US" altLang="ko-KR" sz="1400"/>
                <a:t> </a:t>
              </a:r>
              <a:r>
                <a:rPr lang="ko-KR" altLang="en-US" sz="1400"/>
                <a:t>사용되었습니다</a:t>
              </a:r>
              <a:r>
                <a:rPr lang="en-US" altLang="ko-KR" sz="1400"/>
                <a:t>. </a:t>
              </a:r>
            </a:p>
            <a:p>
              <a:r>
                <a:rPr lang="ko-KR" altLang="en-US" sz="1400"/>
                <a:t>제네릭에 전달될 수 있는 타입은 </a:t>
              </a:r>
              <a:r>
                <a:rPr lang="en-US" altLang="ko-KR" sz="1400"/>
                <a:t>Reference Type</a:t>
              </a:r>
              <a:r>
                <a:rPr lang="ko-KR" altLang="en-US" sz="1400"/>
                <a:t>만 사용할 수 있습니다</a:t>
              </a:r>
              <a:r>
                <a:rPr lang="en-US" altLang="ko-KR" sz="1400"/>
                <a:t>. </a:t>
              </a:r>
              <a:r>
                <a:rPr lang="en-US" altLang="ko-KR" sz="1200"/>
                <a:t>(</a:t>
              </a:r>
              <a:r>
                <a:rPr lang="ko-KR" altLang="en-US" sz="1200"/>
                <a:t>이런 타입을 </a:t>
              </a:r>
              <a:r>
                <a:rPr lang="en-US" altLang="ko-KR" sz="1200"/>
                <a:t>Wrapper </a:t>
              </a:r>
              <a:r>
                <a:rPr lang="ko-KR" altLang="en-US" sz="1200"/>
                <a:t>클래스라고 합니다</a:t>
              </a:r>
              <a:r>
                <a:rPr lang="en-US" altLang="ko-KR" sz="1200"/>
                <a:t>.)</a:t>
              </a:r>
            </a:p>
            <a:p>
              <a:r>
                <a:rPr lang="ko-KR" altLang="en-US" sz="1400"/>
                <a:t>즉 </a:t>
              </a:r>
              <a:r>
                <a:rPr lang="en-US" altLang="ko-KR" sz="1400"/>
                <a:t>Primitive Type</a:t>
              </a:r>
              <a:r>
                <a:rPr lang="ko-KR" altLang="en-US" sz="1400"/>
                <a:t>인 </a:t>
              </a:r>
              <a:r>
                <a:rPr lang="en-US" altLang="ko-KR" sz="1400"/>
                <a:t>int </a:t>
              </a:r>
              <a:r>
                <a:rPr lang="ko-KR" altLang="en-US" sz="1400"/>
                <a:t>는 사용될 수 없습니다</a:t>
              </a:r>
              <a:r>
                <a:rPr lang="en-US" altLang="ko-KR" sz="1400"/>
                <a:t>.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9337901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이제 </a:t>
            </a:r>
            <a:r>
              <a:rPr lang="en-US" altLang="ko-KR"/>
              <a:t>String</a:t>
            </a:r>
            <a:r>
              <a:rPr lang="ko-KR" altLang="en-US"/>
              <a:t>으로도 사용해봅니다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B84C9-19B0-B2E1-7451-8AD2F7615443}"/>
              </a:ext>
            </a:extLst>
          </p:cNvPr>
          <p:cNvSpPr txBox="1"/>
          <p:nvPr/>
        </p:nvSpPr>
        <p:spPr>
          <a:xfrm>
            <a:off x="546462" y="1629736"/>
            <a:ext cx="6890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백점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구십오점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구십점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883711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에서 제공하는 </a:t>
            </a:r>
            <a:r>
              <a:rPr lang="en-US" altLang="ko-KR"/>
              <a:t>Primitive Type</a:t>
            </a:r>
            <a:r>
              <a:rPr lang="ko-KR" altLang="en-US"/>
              <a:t>을 </a:t>
            </a:r>
            <a:r>
              <a:rPr lang="en-US" altLang="ko-KR"/>
              <a:t>Reference</a:t>
            </a:r>
            <a:r>
              <a:rPr lang="ko-KR" altLang="en-US"/>
              <a:t> </a:t>
            </a:r>
            <a:r>
              <a:rPr lang="en-US" altLang="ko-KR"/>
              <a:t>Type</a:t>
            </a:r>
            <a:r>
              <a:rPr lang="ko-KR" altLang="en-US"/>
              <a:t>으로 감싼 </a:t>
            </a:r>
            <a:r>
              <a:rPr lang="en-US" altLang="ko-KR"/>
              <a:t>Wrapper Class </a:t>
            </a:r>
            <a:r>
              <a:rPr lang="ko-KR" altLang="en-US"/>
              <a:t>종류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6396CA-EDEA-45B1-ED08-F70F70EA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6" y="1680961"/>
            <a:ext cx="2457793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76259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컬렉션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641756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정확히는 컬렉션 프레임워크</a:t>
            </a:r>
            <a:r>
              <a:rPr lang="en-US" altLang="ko-KR"/>
              <a:t>(Collection Framework)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컬렉션 프레임워크는 </a:t>
            </a:r>
            <a:r>
              <a:rPr lang="en-US" altLang="ko-KR"/>
              <a:t>Java</a:t>
            </a:r>
            <a:r>
              <a:rPr lang="ko-KR" altLang="en-US"/>
              <a:t>에서 흔하게 사용되는 여러 자료구조들을 </a:t>
            </a:r>
            <a:br>
              <a:rPr lang="en-US" altLang="ko-KR"/>
            </a:br>
            <a:r>
              <a:rPr lang="ko-KR" altLang="en-US"/>
              <a:t>제네릭을 이용해 미리 작성해 놓은 툴입니다</a:t>
            </a:r>
            <a:r>
              <a:rPr lang="en-US" altLang="ko-KR"/>
              <a:t>.</a:t>
            </a:r>
          </a:p>
          <a:p>
            <a:r>
              <a:rPr lang="ko-KR" altLang="en-US"/>
              <a:t>크게 </a:t>
            </a:r>
            <a:r>
              <a:rPr lang="en-US" altLang="ko-KR"/>
              <a:t>3</a:t>
            </a:r>
            <a:r>
              <a:rPr lang="ko-KR" altLang="en-US"/>
              <a:t>가지 종류의</a:t>
            </a:r>
            <a:r>
              <a:rPr lang="en-US" altLang="ko-KR"/>
              <a:t> </a:t>
            </a:r>
            <a:r>
              <a:rPr lang="ko-KR" altLang="en-US"/>
              <a:t>인터페이스가 있고</a:t>
            </a:r>
            <a:r>
              <a:rPr lang="en-US" altLang="ko-KR"/>
              <a:t>, </a:t>
            </a:r>
            <a:r>
              <a:rPr lang="ko-KR" altLang="en-US"/>
              <a:t>이를 구현한 많은 클래스가 존재합니다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인터페이스와</a:t>
            </a:r>
            <a:r>
              <a:rPr lang="en-US" altLang="ko-KR"/>
              <a:t> </a:t>
            </a:r>
            <a:r>
              <a:rPr lang="ko-KR" altLang="en-US"/>
              <a:t>구현 클래스의 종류</a:t>
            </a:r>
            <a:endParaRPr lang="en-US" altLang="ko-KR"/>
          </a:p>
          <a:p>
            <a:pPr lvl="1"/>
            <a:r>
              <a:rPr lang="en-US" altLang="ko-KR"/>
              <a:t>List (Interface)</a:t>
            </a:r>
          </a:p>
          <a:p>
            <a:pPr lvl="2"/>
            <a:r>
              <a:rPr lang="en-US" altLang="ko-KR"/>
              <a:t>ArrayList (Implemented class)</a:t>
            </a:r>
          </a:p>
          <a:p>
            <a:pPr lvl="3"/>
            <a:r>
              <a:rPr lang="ko-KR" altLang="en-US"/>
              <a:t>배열을 편하게 사용하기 위한 자료구조</a:t>
            </a:r>
            <a:endParaRPr lang="en-US" altLang="ko-KR"/>
          </a:p>
          <a:p>
            <a:pPr lvl="3"/>
            <a:r>
              <a:rPr lang="ko-KR" altLang="en-US"/>
              <a:t>앞서 만든 </a:t>
            </a:r>
            <a:r>
              <a:rPr lang="en-US" altLang="ko-KR" err="1"/>
              <a:t>ScoreList</a:t>
            </a:r>
            <a:r>
              <a:rPr lang="ko-KR" altLang="en-US"/>
              <a:t>와 유사</a:t>
            </a:r>
            <a:endParaRPr lang="en-US" altLang="ko-KR"/>
          </a:p>
          <a:p>
            <a:pPr lvl="1"/>
            <a:r>
              <a:rPr lang="en-US" altLang="ko-KR"/>
              <a:t>Map (Interface)</a:t>
            </a:r>
          </a:p>
          <a:p>
            <a:pPr lvl="2"/>
            <a:r>
              <a:rPr lang="en-US" altLang="ko-KR"/>
              <a:t>HashMap (Implemented class)</a:t>
            </a:r>
          </a:p>
          <a:p>
            <a:pPr lvl="3"/>
            <a:r>
              <a:rPr lang="ko-KR" altLang="en-US"/>
              <a:t>하나의 데이터가 </a:t>
            </a:r>
            <a:r>
              <a:rPr lang="en-US" altLang="ko-KR" err="1"/>
              <a:t>Key:Value</a:t>
            </a:r>
            <a:r>
              <a:rPr lang="en-US" altLang="ko-KR"/>
              <a:t> </a:t>
            </a:r>
            <a:r>
              <a:rPr lang="ko-KR" altLang="en-US"/>
              <a:t>쌍으로 이루어진 자료구조</a:t>
            </a:r>
            <a:endParaRPr lang="en-US" altLang="ko-KR"/>
          </a:p>
          <a:p>
            <a:pPr lvl="1"/>
            <a:r>
              <a:rPr lang="en-US" altLang="ko-KR"/>
              <a:t>Set (Interface)</a:t>
            </a:r>
          </a:p>
          <a:p>
            <a:pPr lvl="2"/>
            <a:r>
              <a:rPr lang="en-US" altLang="ko-KR"/>
              <a:t>HashSet (Implemented class)</a:t>
            </a:r>
          </a:p>
          <a:p>
            <a:pPr lvl="3"/>
            <a:r>
              <a:rPr lang="en-US" altLang="ko-KR"/>
              <a:t>ArrayList</a:t>
            </a:r>
            <a:r>
              <a:rPr lang="ko-KR" altLang="en-US"/>
              <a:t>와 유사하지만</a:t>
            </a:r>
            <a:r>
              <a:rPr lang="en-US" altLang="ko-KR"/>
              <a:t> </a:t>
            </a:r>
            <a:r>
              <a:rPr lang="ko-KR" altLang="en-US"/>
              <a:t>중복 값을 가지지 못하는 자료구조</a:t>
            </a:r>
            <a:endParaRPr lang="en-US" altLang="ko-KR"/>
          </a:p>
          <a:p>
            <a:pPr lvl="3"/>
            <a:r>
              <a:rPr lang="ko-KR" altLang="en-US">
                <a:solidFill>
                  <a:srgbClr val="FF0000"/>
                </a:solidFill>
              </a:rPr>
              <a:t>직접 사용할 일이 없습니다</a:t>
            </a:r>
            <a:r>
              <a:rPr lang="en-US" altLang="ko-KR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</p:spTree>
    <p:extLst>
      <p:ext uri="{BB962C8B-B14F-4D97-AF65-F5344CB8AC3E}">
        <p14:creationId xmlns:p14="http://schemas.microsoft.com/office/powerpoint/2010/main" val="3886756565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&amp; ArrayList</a:t>
            </a:r>
          </a:p>
          <a:p>
            <a:pPr lvl="1"/>
            <a:r>
              <a:rPr lang="en-US" altLang="ko-KR"/>
              <a:t>List </a:t>
            </a:r>
            <a:r>
              <a:rPr lang="ko-KR" altLang="en-US"/>
              <a:t>인터페이스를 구현한 </a:t>
            </a:r>
            <a:r>
              <a:rPr lang="en-US" altLang="ko-KR"/>
              <a:t>ArrayList</a:t>
            </a:r>
          </a:p>
          <a:p>
            <a:pPr lvl="1"/>
            <a:r>
              <a:rPr lang="en-US" altLang="ko-KR"/>
              <a:t>ArrayList is a List</a:t>
            </a:r>
          </a:p>
          <a:p>
            <a:pPr lvl="1"/>
            <a:r>
              <a:rPr lang="ko-KR" altLang="en-US"/>
              <a:t>배열 대신 사용</a:t>
            </a:r>
            <a:endParaRPr lang="en-US" altLang="ko-KR"/>
          </a:p>
          <a:p>
            <a:r>
              <a:rPr lang="en-US" altLang="ko-KR"/>
              <a:t>List </a:t>
            </a:r>
            <a:r>
              <a:rPr lang="ko-KR" altLang="en-US"/>
              <a:t>인스턴스 만드는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List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ArrayList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RandomAccess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738087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5C86F16-22E9-68C2-931F-CE0DCB357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23" y="1645452"/>
            <a:ext cx="7656172" cy="32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38505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9718575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2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488321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반복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162412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3288748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6546860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가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8976969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</a:t>
            </a:r>
            <a:r>
              <a:rPr lang="ko-KR" altLang="en-US"/>
              <a:t>값 존재 여부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6508982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</a:t>
            </a:r>
            <a:r>
              <a:rPr lang="ko-KR" altLang="en-US"/>
              <a:t>리스트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 고유 값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메모리 주소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 고유 값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메모리 주소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7169937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&amp; HashMap</a:t>
            </a:r>
          </a:p>
          <a:p>
            <a:pPr lvl="1"/>
            <a:r>
              <a:rPr lang="en-US" altLang="ko-KR"/>
              <a:t>Map </a:t>
            </a:r>
            <a:r>
              <a:rPr lang="ko-KR" altLang="en-US"/>
              <a:t>인터페이스를 구현한 </a:t>
            </a:r>
            <a:r>
              <a:rPr lang="en-US" altLang="ko-KR"/>
              <a:t>HashMap</a:t>
            </a:r>
          </a:p>
          <a:p>
            <a:pPr lvl="1"/>
            <a:r>
              <a:rPr lang="en-US" altLang="ko-KR"/>
              <a:t>HashMap is a Map</a:t>
            </a:r>
          </a:p>
          <a:p>
            <a:pPr lvl="1"/>
            <a:r>
              <a:rPr lang="ko-KR" altLang="en-US"/>
              <a:t>데이터를</a:t>
            </a:r>
            <a:r>
              <a:rPr lang="en-US" altLang="ko-KR"/>
              <a:t> </a:t>
            </a:r>
            <a:r>
              <a:rPr lang="ko-KR" altLang="en-US"/>
              <a:t>키</a:t>
            </a:r>
            <a:r>
              <a:rPr lang="en-US" altLang="ko-KR"/>
              <a:t>:</a:t>
            </a:r>
            <a:r>
              <a:rPr lang="ko-KR" altLang="en-US"/>
              <a:t>값 쌍</a:t>
            </a:r>
            <a:r>
              <a:rPr lang="en-US" altLang="ko-KR"/>
              <a:t>(Entry) </a:t>
            </a:r>
            <a:r>
              <a:rPr lang="ko-KR" altLang="en-US"/>
              <a:t>으로 관리할 때 사용</a:t>
            </a:r>
            <a:endParaRPr lang="en-US" altLang="ko-KR"/>
          </a:p>
          <a:p>
            <a:r>
              <a:rPr lang="en-US" altLang="ko-KR"/>
              <a:t>Map </a:t>
            </a:r>
            <a:r>
              <a:rPr lang="ko-KR" altLang="en-US"/>
              <a:t>인스턴스 만드는 방법 </a:t>
            </a:r>
            <a:r>
              <a:rPr lang="en-US" altLang="ko-KR"/>
              <a:t>(Key = String, Value = Integer)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Map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HashMap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11747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4A454E-2A7A-6F23-28CB-21623FBC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54" y="1663685"/>
            <a:ext cx="8182113" cy="29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93923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1_800_000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0632735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2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java.lang.NullPointerException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8857981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2376745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8036950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이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3080153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동일한 </a:t>
            </a:r>
            <a:r>
              <a:rPr lang="en-US" altLang="ko-KR"/>
              <a:t>Key</a:t>
            </a:r>
            <a:r>
              <a:rPr lang="ko-KR" altLang="en-US"/>
              <a:t>가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containsKey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1_600_000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6214347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동일한 </a:t>
            </a:r>
            <a:r>
              <a:rPr lang="en-US" altLang="ko-KR"/>
              <a:t>Value</a:t>
            </a:r>
            <a:r>
              <a:rPr lang="ko-KR" altLang="en-US"/>
              <a:t>가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containsValue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1_600_000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2156442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8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599402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&amp; HashSet</a:t>
            </a:r>
          </a:p>
          <a:p>
            <a:pPr lvl="1"/>
            <a:r>
              <a:rPr lang="en-US" altLang="ko-KR"/>
              <a:t>Set </a:t>
            </a:r>
            <a:r>
              <a:rPr lang="ko-KR" altLang="en-US"/>
              <a:t>인터페이스를 구현한 </a:t>
            </a:r>
            <a:r>
              <a:rPr lang="en-US" altLang="ko-KR"/>
              <a:t>HashSet</a:t>
            </a:r>
          </a:p>
          <a:p>
            <a:pPr lvl="1"/>
            <a:r>
              <a:rPr lang="en-US" altLang="ko-KR"/>
              <a:t>HashSet is a Set</a:t>
            </a:r>
          </a:p>
          <a:p>
            <a:pPr lvl="1"/>
            <a:endParaRPr lang="en-US" altLang="ko-KR"/>
          </a:p>
          <a:p>
            <a:r>
              <a:rPr lang="en-US" altLang="ko-KR"/>
              <a:t>Set </a:t>
            </a:r>
            <a:r>
              <a:rPr lang="ko-KR" altLang="en-US"/>
              <a:t>인스턴스 만드는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Set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HashSet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794063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B0D069-0F6F-33E4-58CB-61D0EF7B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7" y="1670373"/>
            <a:ext cx="7683892" cy="297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64271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9223462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2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조회</a:t>
            </a:r>
            <a:r>
              <a:rPr lang="en-US" altLang="ko-KR"/>
              <a:t>) – Set</a:t>
            </a:r>
            <a:r>
              <a:rPr lang="ko-KR" altLang="en-US"/>
              <a:t>은 </a:t>
            </a:r>
            <a:r>
              <a:rPr lang="en-US" altLang="ko-KR"/>
              <a:t>Index</a:t>
            </a:r>
            <a:r>
              <a:rPr lang="ko-KR" altLang="en-US"/>
              <a:t>로 접근하지 못합니다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7337086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041202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4640729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이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899449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에 동일한 값이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5937738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276766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20. File I/O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407A17-7EDF-112B-C604-FE1F6AFD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274010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File Input/Output </a:t>
            </a:r>
            <a:r>
              <a:rPr lang="ko-KR" altLang="en-US"/>
              <a:t>으로 파일을 읽고 쓰는 방법입니다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File Input: </a:t>
            </a:r>
            <a:r>
              <a:rPr lang="ko-KR" altLang="en-US"/>
              <a:t>파일 읽기</a:t>
            </a:r>
            <a:endParaRPr lang="en-US" altLang="ko-KR"/>
          </a:p>
          <a:p>
            <a:pPr lvl="1"/>
            <a:r>
              <a:rPr lang="en-US" altLang="ko-KR"/>
              <a:t>File System</a:t>
            </a:r>
            <a:r>
              <a:rPr lang="ko-KR" altLang="en-US"/>
              <a:t>에서 </a:t>
            </a:r>
            <a:r>
              <a:rPr lang="en-US" altLang="ko-KR"/>
              <a:t>Java</a:t>
            </a:r>
            <a:r>
              <a:rPr lang="ko-KR" altLang="en-US"/>
              <a:t>로 </a:t>
            </a:r>
            <a:r>
              <a:rPr lang="en-US" altLang="ko-KR"/>
              <a:t>Input</a:t>
            </a:r>
          </a:p>
          <a:p>
            <a:pPr lvl="1"/>
            <a:endParaRPr lang="en-US" altLang="ko-KR"/>
          </a:p>
          <a:p>
            <a:r>
              <a:rPr lang="en-US" altLang="ko-KR"/>
              <a:t>File Output: </a:t>
            </a:r>
            <a:r>
              <a:rPr lang="ko-KR" altLang="en-US"/>
              <a:t>파일 쓰기</a:t>
            </a:r>
            <a:endParaRPr lang="en-US" altLang="ko-KR"/>
          </a:p>
          <a:p>
            <a:pPr lvl="1"/>
            <a:r>
              <a:rPr lang="en-US" altLang="ko-KR"/>
              <a:t>Java</a:t>
            </a:r>
            <a:r>
              <a:rPr lang="ko-KR" altLang="en-US"/>
              <a:t>에서 </a:t>
            </a:r>
            <a:r>
              <a:rPr lang="en-US" altLang="ko-KR"/>
              <a:t>File System</a:t>
            </a:r>
            <a:r>
              <a:rPr lang="ko-KR" altLang="en-US"/>
              <a:t>으로 </a:t>
            </a:r>
            <a:r>
              <a:rPr lang="en-US" altLang="ko-KR"/>
              <a:t>Output</a:t>
            </a:r>
          </a:p>
          <a:p>
            <a:pPr lvl="1"/>
            <a:endParaRPr lang="en-US" altLang="ko-KR"/>
          </a:p>
          <a:p>
            <a:r>
              <a:rPr lang="en-US" altLang="ko-KR"/>
              <a:t>Java 1.8 </a:t>
            </a:r>
            <a:r>
              <a:rPr lang="ko-KR" altLang="en-US"/>
              <a:t>이전까지는 </a:t>
            </a:r>
            <a:r>
              <a:rPr lang="en-US" altLang="ko-KR"/>
              <a:t>I/O</a:t>
            </a:r>
            <a:r>
              <a:rPr lang="ko-KR" altLang="en-US"/>
              <a:t>가 매우 어렵고 복잡했으나</a:t>
            </a:r>
            <a:endParaRPr lang="en-US" altLang="ko-KR"/>
          </a:p>
          <a:p>
            <a:r>
              <a:rPr lang="en-US" altLang="ko-KR"/>
              <a:t>Java 1.8 </a:t>
            </a:r>
            <a:r>
              <a:rPr lang="ko-KR" altLang="en-US"/>
              <a:t>부터 비교적 </a:t>
            </a:r>
            <a:r>
              <a:rPr lang="ko-KR" altLang="en-US" err="1"/>
              <a:t>간편해졌으며</a:t>
            </a:r>
            <a:r>
              <a:rPr lang="en-US" altLang="ko-KR"/>
              <a:t>,</a:t>
            </a:r>
            <a:r>
              <a:rPr lang="ko-KR" altLang="en-US"/>
              <a:t> 코드를 분석하기도 쉬워졌습니다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093589768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File Input (</a:t>
            </a:r>
            <a:r>
              <a:rPr lang="ko-KR" altLang="en-US"/>
              <a:t>파일 읽기</a:t>
            </a:r>
            <a:r>
              <a:rPr lang="en-US" altLang="ko-KR"/>
              <a:t>)</a:t>
            </a:r>
          </a:p>
          <a:p>
            <a:r>
              <a:rPr lang="ko-KR" altLang="en-US"/>
              <a:t>파일을 읽기 위한 샘플 파일 하나를 생성합니다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C977F7-A15B-E1AD-5DE1-2FAB85FB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52" y="2440383"/>
            <a:ext cx="7487695" cy="31722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2E9AE3-51C9-4164-4EBF-EB90D3A1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192" y="3797643"/>
            <a:ext cx="308653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9105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C:\Java Exam\Java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존재하며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C:\Java Exam\Java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파일이라면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바이트 단위로 읽어오는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라인 단위로 읽어오는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라인단위로 읽어와 할당하기 위한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끝날 때 까지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(EOF)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반복하며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line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한 줄 씩 읽어오기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읽어온 라인을 출력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   </a:t>
            </a:r>
          </a:p>
        </p:txBody>
      </p:sp>
    </p:spTree>
    <p:extLst>
      <p:ext uri="{BB962C8B-B14F-4D97-AF65-F5344CB8AC3E}">
        <p14:creationId xmlns:p14="http://schemas.microsoft.com/office/powerpoint/2010/main" val="3542746510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읽다가 예외 발생하면 예외 메시지만 출력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끝까지 읽었거나 예외가 발생했을 경우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닫아준다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끝까지 읽었거나 예외가 발생했을 경우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닫아준다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3322602688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3517548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읽어오는 방법이 비교적 단순해 졌습니다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  <a:b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처음부터 끝까지 모두 읽어와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할당합니다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addAll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readAllLines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utf8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읽다가 예외가 발생했을 때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내용만 출력합니다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읽어온 파일을 모두 출력합니다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5968201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파일의 기본적인 정보 얻어오기</a:t>
            </a:r>
            <a:endParaRPr lang="en-US" altLang="ko-KR"/>
          </a:p>
          <a:p>
            <a:r>
              <a:rPr lang="en-US" altLang="ko-KR"/>
              <a:t>Java</a:t>
            </a:r>
            <a:r>
              <a:rPr lang="ko-KR" altLang="en-US"/>
              <a:t>의 </a:t>
            </a:r>
            <a:r>
              <a:rPr lang="en-US" altLang="ko-KR"/>
              <a:t>File </a:t>
            </a:r>
            <a:r>
              <a:rPr lang="ko-KR" altLang="en-US"/>
              <a:t>객체를 통해 파일의 기본적인 정보를 얻어올 수 있습니다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파일의 절대 경로</a:t>
            </a:r>
            <a:endParaRPr lang="en-US" altLang="ko-KR"/>
          </a:p>
          <a:p>
            <a:pPr lvl="1"/>
            <a:r>
              <a:rPr lang="ko-KR" altLang="en-US"/>
              <a:t>파일의 크기</a:t>
            </a:r>
            <a:endParaRPr lang="en-US" altLang="ko-KR"/>
          </a:p>
          <a:p>
            <a:pPr lvl="1"/>
            <a:r>
              <a:rPr lang="ko-KR" altLang="en-US"/>
              <a:t>등등</a:t>
            </a:r>
            <a:r>
              <a:rPr lang="en-US" altLang="ko-KR"/>
              <a:t>..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70131-D84E-9B3E-333E-9D6A64C7DDF8}"/>
              </a:ext>
            </a:extLst>
          </p:cNvPr>
          <p:cNvSpPr txBox="1"/>
          <p:nvPr/>
        </p:nvSpPr>
        <p:spPr>
          <a:xfrm>
            <a:off x="370115" y="3192535"/>
            <a:ext cx="877388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Exam.txt"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존재하는지 여부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 객체인지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폴더 객체인지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절대경로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이름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크기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(byte)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lastModified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마지막으로 수정된 시간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lastModified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존재하는 경로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객체가 폴더일 경우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폴더내에 존재하는 모든 항목의 목록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listFiles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</a:p>
        </p:txBody>
      </p:sp>
    </p:spTree>
    <p:extLst>
      <p:ext uri="{BB962C8B-B14F-4D97-AF65-F5344CB8AC3E}">
        <p14:creationId xmlns:p14="http://schemas.microsoft.com/office/powerpoint/2010/main" val="2429572488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 객체의 정보를 이용해 파일 시스템 순회 탐색도 가능합니다</a:t>
            </a:r>
            <a:r>
              <a:rPr lang="en-US" altLang="ko-KR"/>
              <a:t>.</a:t>
            </a:r>
          </a:p>
          <a:p>
            <a:r>
              <a:rPr lang="en-US" altLang="ko-KR"/>
              <a:t>“C:\Program Files (x86)” </a:t>
            </a:r>
            <a:r>
              <a:rPr lang="ko-KR" altLang="en-US"/>
              <a:t>내부의 모든 폴더와 파일을 출력하는 코드를 작성해봅니다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3503E-77E1-2B5B-9CD2-4BCAC0F25B8B}"/>
              </a:ext>
            </a:extLst>
          </p:cNvPr>
          <p:cNvSpPr txBox="1"/>
          <p:nvPr/>
        </p:nvSpPr>
        <p:spPr>
          <a:xfrm>
            <a:off x="483326" y="2252740"/>
            <a:ext cx="8593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printAllItems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itemInDir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listFiles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itemInDir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printAllItems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4139290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printAllItems</a:t>
            </a:r>
            <a:r>
              <a:rPr lang="ko-KR" altLang="en-US"/>
              <a:t>를 호출하면 해당 폴더부터 모든 내용들을 순회하며 출력하게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3503E-77E1-2B5B-9CD2-4BCAC0F25B8B}"/>
              </a:ext>
            </a:extLst>
          </p:cNvPr>
          <p:cNvSpPr txBox="1"/>
          <p:nvPr/>
        </p:nvSpPr>
        <p:spPr>
          <a:xfrm>
            <a:off x="483326" y="1660050"/>
            <a:ext cx="859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Program Files (x86)"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667605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쓸 때엔 확인 해야 할 항목들이 많이 있습니다</a:t>
            </a:r>
            <a:r>
              <a:rPr lang="en-US" altLang="ko-KR"/>
              <a:t>.</a:t>
            </a:r>
          </a:p>
          <a:p>
            <a:r>
              <a:rPr lang="en-US" altLang="ko-KR"/>
              <a:t>C:\java\outputs</a:t>
            </a:r>
            <a:r>
              <a:rPr lang="ko-KR" altLang="en-US"/>
              <a:t> 라는 폴더에 </a:t>
            </a:r>
            <a:r>
              <a:rPr lang="en-US" altLang="ko-KR"/>
              <a:t>java_output.txt </a:t>
            </a:r>
            <a:r>
              <a:rPr lang="ko-KR" altLang="en-US"/>
              <a:t>라는 파일을 쓰려 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C:\java\outputs</a:t>
            </a:r>
            <a:r>
              <a:rPr lang="ko-KR" altLang="en-US"/>
              <a:t> 라는 파일이 존재하는지 확인</a:t>
            </a:r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/>
              <a:t>없다면 폴더를 생성해야 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3. java_output.txt </a:t>
            </a:r>
            <a:r>
              <a:rPr lang="ko-KR" altLang="en-US"/>
              <a:t>파일이 존재하는지 확인</a:t>
            </a:r>
            <a:endParaRPr lang="en-US" altLang="ko-KR"/>
          </a:p>
          <a:p>
            <a:pPr lvl="1"/>
            <a:r>
              <a:rPr lang="en-US" altLang="ko-KR"/>
              <a:t>4. </a:t>
            </a:r>
            <a:r>
              <a:rPr lang="ko-KR" altLang="en-US"/>
              <a:t>이미 있다면 새로 생성할 파일의 이름을 </a:t>
            </a:r>
            <a:r>
              <a:rPr lang="en-US" altLang="ko-KR" err="1"/>
              <a:t>java_output</a:t>
            </a:r>
            <a:r>
              <a:rPr lang="en-US" altLang="ko-KR"/>
              <a:t> (2).txt </a:t>
            </a:r>
            <a:r>
              <a:rPr lang="ko-KR" altLang="en-US"/>
              <a:t>로 생성합니다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5. </a:t>
            </a:r>
            <a:r>
              <a:rPr lang="ko-KR" altLang="en-US"/>
              <a:t>이 마저도 있다면 </a:t>
            </a:r>
            <a:r>
              <a:rPr lang="en-US" altLang="ko-KR" err="1"/>
              <a:t>java_output</a:t>
            </a:r>
            <a:r>
              <a:rPr lang="en-US" altLang="ko-KR"/>
              <a:t> (3).txt</a:t>
            </a:r>
            <a:r>
              <a:rPr lang="ko-KR" altLang="en-US"/>
              <a:t>로 생성합니다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6. </a:t>
            </a:r>
            <a:r>
              <a:rPr lang="ko-KR" altLang="en-US"/>
              <a:t>파일이 없을 때 까지 순번을 증가시키며 찾습니다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7. </a:t>
            </a:r>
            <a:r>
              <a:rPr lang="ko-KR" altLang="en-US"/>
              <a:t>존재하지 않는 파일 순번을 찾았다면 파일 내용을 씁니다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998840397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mkdirs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java_output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BufferedWriter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47654508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BufferedWriter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flush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634227740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9315858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쓰는 방법이 비교적 단순해 졌습니다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mkdirs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java_output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27544124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쓰는 방법이 비교적 단순해 졌습니다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6097644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파일에 내용을 덧붙이려면 옵션을 부여하면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StandardOpenOption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5606844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삭제하려면</a:t>
            </a:r>
            <a:r>
              <a:rPr lang="en-US" altLang="ko-KR"/>
              <a:t>, File </a:t>
            </a:r>
            <a:r>
              <a:rPr lang="ko-KR" altLang="en-US"/>
              <a:t>객체의</a:t>
            </a:r>
            <a:r>
              <a:rPr lang="en-US" altLang="ko-KR"/>
              <a:t> delete </a:t>
            </a:r>
            <a:r>
              <a:rPr lang="ko-KR" altLang="en-US"/>
              <a:t>인스턴스 메소드를 호출합니다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폴더를 삭제하려면</a:t>
            </a:r>
            <a:r>
              <a:rPr lang="en-US" altLang="ko-KR"/>
              <a:t>, File </a:t>
            </a:r>
            <a:r>
              <a:rPr lang="ko-KR" altLang="en-US"/>
              <a:t>객체의 </a:t>
            </a:r>
            <a:r>
              <a:rPr lang="en-US" altLang="ko-KR"/>
              <a:t>delete </a:t>
            </a:r>
            <a:r>
              <a:rPr lang="ko-KR" altLang="en-US"/>
              <a:t>인스턴스 메소드를 호출합니다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그러나</a:t>
            </a:r>
            <a:r>
              <a:rPr lang="en-US" altLang="ko-KR"/>
              <a:t>, </a:t>
            </a:r>
            <a:r>
              <a:rPr lang="ko-KR" altLang="en-US"/>
              <a:t>폴더가 </a:t>
            </a:r>
            <a:r>
              <a:rPr lang="ko-KR" altLang="en-US" err="1"/>
              <a:t>비어있지</a:t>
            </a:r>
            <a:r>
              <a:rPr lang="ko-KR" altLang="en-US"/>
              <a:t> 않다면 삭제되지 않습니다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7E13B-0BBB-970C-4473-346EED3277BB}"/>
              </a:ext>
            </a:extLst>
          </p:cNvPr>
          <p:cNvSpPr txBox="1"/>
          <p:nvPr/>
        </p:nvSpPr>
        <p:spPr>
          <a:xfrm>
            <a:off x="465910" y="1674674"/>
            <a:ext cx="85226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1F5A0-E1B9-361E-8463-1A224F8770C7}"/>
              </a:ext>
            </a:extLst>
          </p:cNvPr>
          <p:cNvSpPr txBox="1"/>
          <p:nvPr/>
        </p:nvSpPr>
        <p:spPr>
          <a:xfrm>
            <a:off x="465909" y="4046242"/>
            <a:ext cx="81381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2175033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/>
              <a:t>비어있지</a:t>
            </a:r>
            <a:r>
              <a:rPr lang="ko-KR" altLang="en-US"/>
              <a:t> 않은 폴더를 삭제하려면 파일을 순회 탐색하며 </a:t>
            </a:r>
            <a:br>
              <a:rPr lang="en-US" altLang="ko-KR"/>
            </a:br>
            <a:r>
              <a:rPr lang="ko-KR" altLang="en-US"/>
              <a:t>일일이 모든 파일을 삭제를 해주고 마지막에 폴더를 삭제해야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FE3FE-73F4-2AF5-B1C5-7C60276EA9C9}"/>
              </a:ext>
            </a:extLst>
          </p:cNvPr>
          <p:cNvSpPr txBox="1"/>
          <p:nvPr/>
        </p:nvSpPr>
        <p:spPr>
          <a:xfrm>
            <a:off x="535578" y="1826856"/>
            <a:ext cx="84529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listFiles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763094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폴더를 삭제하는 </a:t>
            </a:r>
            <a:r>
              <a:rPr lang="en-US" altLang="ko-KR" err="1"/>
              <a:t>deleteAllItems</a:t>
            </a:r>
            <a:r>
              <a:rPr lang="ko-KR" altLang="en-US"/>
              <a:t>를 호출해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FE3FE-73F4-2AF5-B1C5-7C60276EA9C9}"/>
              </a:ext>
            </a:extLst>
          </p:cNvPr>
          <p:cNvSpPr txBox="1"/>
          <p:nvPr/>
        </p:nvSpPr>
        <p:spPr>
          <a:xfrm>
            <a:off x="535578" y="1826856"/>
            <a:ext cx="8452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059161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21.</a:t>
            </a:r>
            <a:r>
              <a:rPr lang="ko-KR" altLang="en-US" sz="4000" b="1">
                <a:latin typeface="+mj-ea"/>
              </a:rPr>
              <a:t> 열거형 </a:t>
            </a:r>
            <a:r>
              <a:rPr lang="en-US" altLang="ko-KR" sz="4000" b="1">
                <a:latin typeface="+mj-ea"/>
              </a:rPr>
              <a:t>(Enum) 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455B2F-E69C-8519-1BC9-15EDF81C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020588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상수를 파라미터로 받는 메소드가 이따금씩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아래 코드는 </a:t>
            </a:r>
            <a:r>
              <a:rPr lang="en-US" altLang="ko-KR"/>
              <a:t>type</a:t>
            </a:r>
            <a:r>
              <a:rPr lang="ko-KR" altLang="en-US"/>
              <a:t>의 값에 따라 사칙연산을 처리합니다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51FB5-51C8-7418-3D78-A7728C451DD0}"/>
              </a:ext>
            </a:extLst>
          </p:cNvPr>
          <p:cNvSpPr txBox="1"/>
          <p:nvPr/>
        </p:nvSpPr>
        <p:spPr>
          <a:xfrm>
            <a:off x="448492" y="2019284"/>
            <a:ext cx="648353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2057613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상수를 파라미터로 받는 메소드가 이따금씩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아래 코드는 </a:t>
            </a:r>
            <a:r>
              <a:rPr lang="en-US" altLang="ko-KR"/>
              <a:t>type</a:t>
            </a:r>
            <a:r>
              <a:rPr lang="ko-KR" altLang="en-US"/>
              <a:t>의 값에 따라 사칙연산을 처리합니다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51FB5-51C8-7418-3D78-A7728C451DD0}"/>
              </a:ext>
            </a:extLst>
          </p:cNvPr>
          <p:cNvSpPr txBox="1"/>
          <p:nvPr/>
        </p:nvSpPr>
        <p:spPr>
          <a:xfrm>
            <a:off x="448492" y="2019284"/>
            <a:ext cx="64835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0646425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코드는 상수를 전달받기를 의도했지만 </a:t>
            </a:r>
            <a:r>
              <a:rPr lang="en-US" altLang="ko-KR"/>
              <a:t>type </a:t>
            </a:r>
            <a:r>
              <a:rPr lang="ko-KR" altLang="en-US"/>
              <a:t>파라미터에 상수를 전달하지 않고 </a:t>
            </a:r>
            <a:br>
              <a:rPr lang="en-US" altLang="ko-KR"/>
            </a:br>
            <a:r>
              <a:rPr lang="ko-KR" altLang="en-US"/>
              <a:t>일반 숫자를 전달할 수도 있다는 문제점을 가지고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8EDA-47BA-BCE2-8813-8D3F712F92A7}"/>
              </a:ext>
            </a:extLst>
          </p:cNvPr>
          <p:cNvSpPr txBox="1"/>
          <p:nvPr/>
        </p:nvSpPr>
        <p:spPr>
          <a:xfrm>
            <a:off x="544286" y="1902546"/>
            <a:ext cx="5795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9689454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파라미터로 상수를 전달받고자 할 때</a:t>
            </a:r>
            <a:r>
              <a:rPr lang="en-US" altLang="ko-KR"/>
              <a:t>, </a:t>
            </a:r>
            <a:r>
              <a:rPr lang="ko-KR" altLang="en-US"/>
              <a:t>위 코드와 같은 문제점을 피하기 위해</a:t>
            </a:r>
            <a:br>
              <a:rPr lang="en-US" altLang="ko-KR"/>
            </a:br>
            <a:r>
              <a:rPr lang="en-US" altLang="ko-KR"/>
              <a:t>Enum</a:t>
            </a:r>
            <a:r>
              <a:rPr lang="ko-KR" altLang="en-US"/>
              <a:t>을 사용할 수 있습니다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CE532-8FAA-6A47-8620-6131D559762A}"/>
              </a:ext>
            </a:extLst>
          </p:cNvPr>
          <p:cNvSpPr txBox="1"/>
          <p:nvPr/>
        </p:nvSpPr>
        <p:spPr>
          <a:xfrm>
            <a:off x="518160" y="1869095"/>
            <a:ext cx="83342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3309682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파라미터로 상수를 전달받고자 할 때</a:t>
            </a:r>
            <a:r>
              <a:rPr lang="en-US" altLang="ko-KR"/>
              <a:t>, </a:t>
            </a:r>
            <a:r>
              <a:rPr lang="ko-KR" altLang="en-US"/>
              <a:t>위 코드와 같은 문제점을 피하기 위해</a:t>
            </a:r>
            <a:br>
              <a:rPr lang="en-US" altLang="ko-KR"/>
            </a:br>
            <a:r>
              <a:rPr lang="en-US" altLang="ko-KR"/>
              <a:t>Enum</a:t>
            </a:r>
            <a:r>
              <a:rPr lang="ko-KR" altLang="en-US"/>
              <a:t>을 사용할 수 있습니다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CE532-8FAA-6A47-8620-6131D559762A}"/>
              </a:ext>
            </a:extLst>
          </p:cNvPr>
          <p:cNvSpPr txBox="1"/>
          <p:nvPr/>
        </p:nvSpPr>
        <p:spPr>
          <a:xfrm>
            <a:off x="518160" y="1869095"/>
            <a:ext cx="83342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3860740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Application </a:t>
            </a:r>
            <a:r>
              <a:rPr lang="ko-KR" altLang="en-US" dirty="0"/>
              <a:t>내부에서 유일한 객체로 사용할 수 있도록 하는 개발 패턴을</a:t>
            </a:r>
            <a:br>
              <a:rPr lang="en-US" altLang="ko-KR" dirty="0"/>
            </a:br>
            <a:r>
              <a:rPr lang="en-US" altLang="ko-KR" dirty="0"/>
              <a:t>Singleton Pattern </a:t>
            </a:r>
            <a:r>
              <a:rPr lang="ko-KR" altLang="en-US" dirty="0"/>
              <a:t>이라고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Singleton Pattern</a:t>
            </a:r>
            <a:r>
              <a:rPr lang="ko-KR" altLang="en-US" dirty="0"/>
              <a:t>으로 만들어진 클래스는</a:t>
            </a:r>
            <a:r>
              <a:rPr lang="en-US" altLang="ko-KR" dirty="0"/>
              <a:t> Application</a:t>
            </a:r>
            <a:r>
              <a:rPr lang="ko-KR" altLang="en-US" dirty="0"/>
              <a:t>에서 단 한번만 인스턴스 생성을 할 수 있기 때문에</a:t>
            </a:r>
            <a:r>
              <a:rPr lang="en-US" altLang="ko-KR" dirty="0"/>
              <a:t>, </a:t>
            </a:r>
            <a:r>
              <a:rPr lang="ko-KR" altLang="en-US" dirty="0"/>
              <a:t>처음 만들어진 인스턴스를 변경하지 않고 계속 사용할 수 있도록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Enum</a:t>
            </a:r>
            <a:r>
              <a:rPr lang="ko-KR" altLang="en-US" dirty="0"/>
              <a:t>은 </a:t>
            </a:r>
            <a:r>
              <a:rPr lang="en-US" altLang="ko-KR" dirty="0"/>
              <a:t>Java</a:t>
            </a:r>
            <a:r>
              <a:rPr lang="ko-KR" altLang="en-US" dirty="0"/>
              <a:t>에서 가장 완벽한 </a:t>
            </a:r>
            <a:r>
              <a:rPr lang="en-US" altLang="ko-KR" dirty="0"/>
              <a:t>Singleton Instance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인스턴스 생성을 할 </a:t>
            </a:r>
            <a:r>
              <a:rPr lang="ko-KR" altLang="en-US" dirty="0" err="1"/>
              <a:t>필요없이</a:t>
            </a:r>
            <a:r>
              <a:rPr lang="ko-KR" altLang="en-US" dirty="0"/>
              <a:t> 한번 정의하는 것으로 유일한 값으로 사용할 수 있기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상수를 파라미터로 받고자 할 경우 </a:t>
            </a:r>
            <a:r>
              <a:rPr lang="en-US" altLang="ko-KR" dirty="0"/>
              <a:t>Enum</a:t>
            </a:r>
            <a:r>
              <a:rPr lang="ko-KR" altLang="en-US" dirty="0"/>
              <a:t>을 사용하는 것이 가장 좋은 방법입니다</a:t>
            </a:r>
            <a:r>
              <a:rPr lang="en-US" altLang="ko-KR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04344104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Enum</a:t>
            </a:r>
            <a:r>
              <a:rPr lang="ko-KR" altLang="en-US"/>
              <a:t>은 값을 가질 수도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D30FA-D327-F89D-6BE7-E211BE6322DC}"/>
              </a:ext>
            </a:extLst>
          </p:cNvPr>
          <p:cNvSpPr txBox="1"/>
          <p:nvPr/>
        </p:nvSpPr>
        <p:spPr>
          <a:xfrm>
            <a:off x="465910" y="1643531"/>
            <a:ext cx="84188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더하기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빼기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곱하기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나누기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연산을 시작합니다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36845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Calendar / </a:t>
            </a:r>
            <a:r>
              <a:rPr lang="en-US" altLang="ko-KR" sz="4000" b="1" err="1">
                <a:latin typeface="+mj-ea"/>
              </a:rPr>
              <a:t>LocalDateTime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3526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Java</a:t>
            </a:r>
            <a:r>
              <a:rPr lang="ko-KR" altLang="en-US" dirty="0"/>
              <a:t>에서는 날짜와 시간을 처리할 수 있는 </a:t>
            </a:r>
            <a:r>
              <a:rPr lang="en-US" altLang="ko-KR" dirty="0"/>
              <a:t>3</a:t>
            </a:r>
            <a:r>
              <a:rPr lang="ko-KR" altLang="en-US" dirty="0"/>
              <a:t>가지 클래스를 제공합니다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Date</a:t>
            </a:r>
          </a:p>
          <a:p>
            <a:pPr lvl="1"/>
            <a:r>
              <a:rPr lang="en-US" altLang="ko-KR" dirty="0"/>
              <a:t>2. Calendar</a:t>
            </a:r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LocalDateTime</a:t>
            </a:r>
            <a:r>
              <a:rPr lang="en-US" altLang="ko-KR" dirty="0"/>
              <a:t> (Java 1.8</a:t>
            </a:r>
            <a:r>
              <a:rPr lang="ko-KR" altLang="en-US" dirty="0"/>
              <a:t>에서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 </a:t>
            </a:r>
            <a:r>
              <a:rPr lang="en-US" altLang="ko-KR" dirty="0"/>
              <a:t>1.8 </a:t>
            </a:r>
            <a:r>
              <a:rPr lang="ko-KR" altLang="en-US" dirty="0"/>
              <a:t>이전까지 </a:t>
            </a:r>
            <a:r>
              <a:rPr lang="en-US" altLang="ko-KR" dirty="0"/>
              <a:t>Calendar</a:t>
            </a:r>
            <a:r>
              <a:rPr lang="ko-KR" altLang="en-US" dirty="0"/>
              <a:t>가 많이 사용되었지만</a:t>
            </a:r>
            <a:r>
              <a:rPr lang="en-US" altLang="ko-KR" dirty="0"/>
              <a:t>, Java</a:t>
            </a:r>
            <a:r>
              <a:rPr lang="ko-KR" altLang="en-US" dirty="0"/>
              <a:t> 버전이 </a:t>
            </a:r>
            <a:br>
              <a:rPr lang="en-US" altLang="ko-KR" dirty="0"/>
            </a:br>
            <a:r>
              <a:rPr lang="ko-KR" altLang="en-US" dirty="0"/>
              <a:t>꾸준히 릴리즈 됨에 따라 많은 메소드들이 </a:t>
            </a:r>
            <a:r>
              <a:rPr lang="en-US" altLang="ko-KR" dirty="0"/>
              <a:t>Deprecated</a:t>
            </a:r>
            <a:r>
              <a:rPr lang="en-US" altLang="ko-KR" sz="1400" dirty="0"/>
              <a:t>(</a:t>
            </a:r>
            <a:r>
              <a:rPr lang="ko-KR" altLang="en-US" sz="1400" dirty="0"/>
              <a:t>권장하지 않음</a:t>
            </a:r>
            <a:r>
              <a:rPr lang="en-US" altLang="ko-KR" sz="1400" dirty="0"/>
              <a:t>)</a:t>
            </a:r>
            <a:r>
              <a:rPr lang="ko-KR" altLang="en-US" dirty="0"/>
              <a:t>되어 </a:t>
            </a:r>
            <a:br>
              <a:rPr lang="en-US" altLang="ko-KR" dirty="0"/>
            </a:br>
            <a:r>
              <a:rPr lang="ko-KR" altLang="en-US" dirty="0"/>
              <a:t>이제는 사용을 권장하지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Java 1.8 </a:t>
            </a:r>
            <a:r>
              <a:rPr lang="ko-KR" altLang="en-US" dirty="0"/>
              <a:t>이전의 버전을 사용하는 </a:t>
            </a:r>
            <a:r>
              <a:rPr lang="en-US" altLang="ko-KR" dirty="0"/>
              <a:t>Project</a:t>
            </a:r>
            <a:r>
              <a:rPr lang="ko-KR" altLang="en-US" dirty="0"/>
              <a:t>라면 </a:t>
            </a:r>
            <a:r>
              <a:rPr lang="en-US" altLang="ko-KR" dirty="0"/>
              <a:t>Calendar</a:t>
            </a:r>
            <a:r>
              <a:rPr lang="ko-KR" altLang="en-US" dirty="0" err="1"/>
              <a:t>를</a:t>
            </a:r>
            <a:r>
              <a:rPr lang="ko-KR" altLang="en-US" dirty="0"/>
              <a:t> 사용하고 </a:t>
            </a:r>
            <a:br>
              <a:rPr lang="en-US" altLang="ko-KR" dirty="0"/>
            </a:br>
            <a:r>
              <a:rPr lang="en-US" altLang="ko-KR" dirty="0"/>
              <a:t>Java 1.8 </a:t>
            </a:r>
            <a:r>
              <a:rPr lang="ko-KR" altLang="en-US" dirty="0"/>
              <a:t>이후의 버전을 사용하는 </a:t>
            </a:r>
            <a:r>
              <a:rPr lang="en-US" altLang="ko-KR" dirty="0"/>
              <a:t>Project</a:t>
            </a:r>
            <a:r>
              <a:rPr lang="ko-KR" altLang="en-US" dirty="0"/>
              <a:t>라면 </a:t>
            </a:r>
            <a:r>
              <a:rPr lang="en-US" altLang="ko-KR" dirty="0" err="1"/>
              <a:t>LocalDateTime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/>
              <a:t>Calendar / </a:t>
            </a:r>
            <a:r>
              <a:rPr lang="en-US" altLang="ko-KR" err="1"/>
              <a:t>LocalDateTime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120523788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Calendar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775877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는 날짜를 제어하는 클래스입니다</a:t>
            </a:r>
            <a:r>
              <a:rPr lang="en-US" altLang="ko-KR"/>
              <a:t>.</a:t>
            </a:r>
          </a:p>
          <a:p>
            <a:r>
              <a:rPr lang="en-US" altLang="ko-KR"/>
              <a:t>Calendar </a:t>
            </a:r>
            <a:r>
              <a:rPr lang="ko-KR" altLang="en-US"/>
              <a:t>사용 예제를 확인해 봅니다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2006054"/>
            <a:ext cx="8599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Calendar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가져오기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연월일 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시분초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조회하기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MINUTE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일요일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~ 7(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토요일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DAY_OF_WEEK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3502492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는 날짜를 제어하는 클래스입니다</a:t>
            </a:r>
            <a:r>
              <a:rPr lang="en-US" altLang="ko-KR"/>
              <a:t>.</a:t>
            </a:r>
          </a:p>
          <a:p>
            <a:r>
              <a:rPr lang="en-US" altLang="ko-KR"/>
              <a:t>Calendar </a:t>
            </a:r>
            <a:r>
              <a:rPr lang="ko-KR" altLang="en-US"/>
              <a:t>사용 예제를 확인해 봅니다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2008500"/>
            <a:ext cx="85997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연월일만 문자열로 가져오기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날짜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시간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포멧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지정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SimpleDateFormat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SimpleDateFormat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날짜를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포멧에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맞춰 변경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출력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213425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이용해 날짜를 변경해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1651448"/>
            <a:ext cx="85997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Calendar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가져오기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날짜를 지정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(2022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날짜에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더하기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날짜에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빼기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E68017-B759-9690-1C02-7E47EC0B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6" y="3953386"/>
            <a:ext cx="3508865" cy="250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01637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</a:t>
            </a:r>
            <a:r>
              <a:rPr lang="en-US" altLang="ko-KR" sz="4000" err="1">
                <a:latin typeface="+mj-ea"/>
              </a:rPr>
              <a:t>LocalDateTime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4621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 이후에 </a:t>
            </a:r>
            <a:r>
              <a:rPr lang="en-US" altLang="ko-KR"/>
              <a:t>Calendar</a:t>
            </a:r>
            <a:r>
              <a:rPr lang="ko-KR" altLang="en-US"/>
              <a:t>를 대체하기 위해 </a:t>
            </a:r>
            <a:br>
              <a:rPr lang="en-US" altLang="ko-KR"/>
            </a:br>
            <a:r>
              <a:rPr lang="ko-KR" altLang="en-US"/>
              <a:t>날짜</a:t>
            </a:r>
            <a:r>
              <a:rPr lang="en-US" altLang="ko-KR"/>
              <a:t>, 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날짜시간을 처리할 수 있는  클래스 </a:t>
            </a:r>
            <a:r>
              <a:rPr lang="en-US" altLang="ko-KR"/>
              <a:t>3</a:t>
            </a:r>
            <a:r>
              <a:rPr lang="ko-KR" altLang="en-US"/>
              <a:t>개가 추가되었습니다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각 코드에 대한 표현 방법을 확인합니다</a:t>
            </a:r>
            <a:r>
              <a:rPr lang="en-US" altLang="ko-KR"/>
              <a:t>. ( 1 / 3 )</a:t>
            </a:r>
          </a:p>
          <a:p>
            <a:r>
              <a:rPr lang="ko-KR" altLang="en-US"/>
              <a:t>날짜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3118072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읠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304601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각 코드에 대한 표현 방법을 확인합니다</a:t>
            </a:r>
            <a:r>
              <a:rPr lang="en-US" altLang="ko-KR"/>
              <a:t>. ( 2 / 3 )</a:t>
            </a:r>
          </a:p>
          <a:p>
            <a:r>
              <a:rPr lang="ko-KR" altLang="en-US"/>
              <a:t>시간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2013087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"HH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1773013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각 코드에 대한 표현 방법을 확인합니다</a:t>
            </a:r>
            <a:r>
              <a:rPr lang="en-US" altLang="ko-KR"/>
              <a:t>. ( 3 / 3 )</a:t>
            </a:r>
          </a:p>
          <a:p>
            <a:r>
              <a:rPr lang="ko-KR" altLang="en-US"/>
              <a:t>날짜와 시간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2013086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8883240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읠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86856900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plusHours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plusMinutes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plusSeconds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"HH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70458563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plusHours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plusMinutes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plusSeconds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69090270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 부터는 날짜와 날짜사이의 차이도 구할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Period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Period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439556262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</a:t>
            </a:r>
            <a:r>
              <a:rPr lang="en-US" altLang="ko-KR">
                <a:latin typeface="+mj-ea"/>
              </a:rPr>
              <a:t>Functional</a:t>
            </a:r>
            <a:r>
              <a:rPr lang="en-US" altLang="ko-KR" b="1">
                <a:latin typeface="+mj-ea"/>
              </a:rPr>
              <a:t> Programming 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Lambda Expression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Filtering &amp; Slicing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Mapping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Find &amp; Matching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Reducing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Primitive 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Generate 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Collectors</a:t>
            </a:r>
          </a:p>
          <a:p>
            <a:pPr marL="514350" indent="-514350" algn="r">
              <a:buAutoNum type="arabicPeriod"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68250-69EF-C5A8-F250-3DA5719A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9656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1. Lambda Expression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20366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람다</a:t>
            </a:r>
            <a:r>
              <a:rPr lang="en-US" altLang="ko-KR" dirty="0"/>
              <a:t>(Lambda)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람다 미적분학 학계에서 개발할 시스템에서 유래함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메소드에게 전달할 수 있는 익명 클래스를 함수로 단순화 시킨 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람다의 특징</a:t>
            </a:r>
            <a:endParaRPr lang="en-US" altLang="ko-KR" dirty="0"/>
          </a:p>
          <a:p>
            <a:pPr lvl="1"/>
            <a:r>
              <a:rPr lang="ko-KR" altLang="en-US" dirty="0"/>
              <a:t>익명</a:t>
            </a:r>
            <a:endParaRPr lang="en-US" altLang="ko-KR" dirty="0"/>
          </a:p>
          <a:p>
            <a:pPr lvl="2"/>
            <a:r>
              <a:rPr lang="ko-KR" altLang="en-US" dirty="0"/>
              <a:t>보통의 메소드와 달리 이름이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함수</a:t>
            </a:r>
            <a:endParaRPr lang="en-US" altLang="ko-KR" dirty="0"/>
          </a:p>
          <a:p>
            <a:pPr lvl="2"/>
            <a:r>
              <a:rPr lang="ko-KR" altLang="en-US" dirty="0"/>
              <a:t>특정 클래스에 종속되지 않아 함수라 부른다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전달</a:t>
            </a:r>
            <a:endParaRPr lang="en-US" altLang="ko-KR" dirty="0"/>
          </a:p>
          <a:p>
            <a:pPr lvl="2"/>
            <a:r>
              <a:rPr lang="ko-KR" altLang="en-US" dirty="0"/>
              <a:t>람다 표현식을 메서드의 인자로 전달하거나 변수로 저장할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간결성</a:t>
            </a:r>
            <a:endParaRPr lang="en-US" altLang="ko-KR" dirty="0"/>
          </a:p>
          <a:p>
            <a:pPr lvl="2"/>
            <a:r>
              <a:rPr lang="ko-KR" altLang="en-US" dirty="0"/>
              <a:t>익명 클래스처럼 자질구레한 코드를 구현할 필요가 없다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254082"/>
      </p:ext>
    </p:extLst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람다의 적용</a:t>
            </a:r>
            <a:endParaRPr lang="en-US" altLang="ko-KR"/>
          </a:p>
          <a:p>
            <a:pPr lvl="1"/>
            <a:endParaRPr lang="en-US" altLang="ko-KR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6ACEB1-7CE3-3866-0A59-D315315B62E7}"/>
              </a:ext>
            </a:extLst>
          </p:cNvPr>
          <p:cNvSpPr/>
          <p:nvPr/>
        </p:nvSpPr>
        <p:spPr>
          <a:xfrm>
            <a:off x="838200" y="1980931"/>
            <a:ext cx="701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200" b="0" err="1">
                <a:solidFill>
                  <a:srgbClr val="6A3E3E"/>
                </a:solidFill>
                <a:latin typeface="Consolas" panose="020B0609020204030204" pitchFamily="49" charset="0"/>
              </a:rPr>
              <a:t>employees</a:t>
            </a:r>
            <a:r>
              <a:rPr lang="en-US" altLang="ko-KR" sz="1200" b="0" err="1">
                <a:solidFill>
                  <a:srgbClr val="000000"/>
                </a:solidFill>
                <a:latin typeface="Consolas" panose="020B0609020204030204" pitchFamily="49" charset="0"/>
              </a:rPr>
              <a:t>.sort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Comparator&lt;Employees&gt;(){</a:t>
            </a:r>
          </a:p>
          <a:p>
            <a:pPr algn="l"/>
            <a:r>
              <a:rPr lang="en-US" altLang="ko-KR" sz="1200" b="0">
                <a:solidFill>
                  <a:srgbClr val="646464"/>
                </a:solidFill>
                <a:latin typeface="Consolas" panose="020B0609020204030204" pitchFamily="49" charset="0"/>
              </a:rPr>
              <a:t>  @Override</a:t>
            </a:r>
          </a:p>
          <a:p>
            <a:pPr algn="l"/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  public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compare(Employees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emp1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, Employees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emp2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emp2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.getEmployeeId() -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emp1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.getEmployeeId();</a:t>
            </a:r>
          </a:p>
          <a:p>
            <a:pPr algn="l"/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algn="l"/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} );</a:t>
            </a:r>
            <a:endParaRPr lang="ko-KR" altLang="en-US" sz="1200" b="0"/>
          </a:p>
        </p:txBody>
      </p:sp>
      <p:sp>
        <p:nvSpPr>
          <p:cNvPr id="6" name="자유형 10">
            <a:extLst>
              <a:ext uri="{FF2B5EF4-FFF2-40B4-BE49-F238E27FC236}">
                <a16:creationId xmlns:a16="http://schemas.microsoft.com/office/drawing/2014/main" id="{88C68F17-0776-741B-29E3-8B86CE8799B8}"/>
              </a:ext>
            </a:extLst>
          </p:cNvPr>
          <p:cNvSpPr/>
          <p:nvPr/>
        </p:nvSpPr>
        <p:spPr>
          <a:xfrm>
            <a:off x="914400" y="1981200"/>
            <a:ext cx="4724400" cy="1210754"/>
          </a:xfrm>
          <a:custGeom>
            <a:avLst/>
            <a:gdLst>
              <a:gd name="connsiteX0" fmla="*/ 1295400 w 4724400"/>
              <a:gd name="connsiteY0" fmla="*/ 0 h 1210754"/>
              <a:gd name="connsiteX1" fmla="*/ 4724400 w 4724400"/>
              <a:gd name="connsiteY1" fmla="*/ 0 h 1210754"/>
              <a:gd name="connsiteX2" fmla="*/ 4724400 w 4724400"/>
              <a:gd name="connsiteY2" fmla="*/ 245224 h 1210754"/>
              <a:gd name="connsiteX3" fmla="*/ 4724400 w 4724400"/>
              <a:gd name="connsiteY3" fmla="*/ 304800 h 1210754"/>
              <a:gd name="connsiteX4" fmla="*/ 4724400 w 4724400"/>
              <a:gd name="connsiteY4" fmla="*/ 990600 h 1210754"/>
              <a:gd name="connsiteX5" fmla="*/ 152400 w 4724400"/>
              <a:gd name="connsiteY5" fmla="*/ 990600 h 1210754"/>
              <a:gd name="connsiteX6" fmla="*/ 152400 w 4724400"/>
              <a:gd name="connsiteY6" fmla="*/ 1210754 h 1210754"/>
              <a:gd name="connsiteX7" fmla="*/ 0 w 4724400"/>
              <a:gd name="connsiteY7" fmla="*/ 1210754 h 1210754"/>
              <a:gd name="connsiteX8" fmla="*/ 0 w 4724400"/>
              <a:gd name="connsiteY8" fmla="*/ 905954 h 1210754"/>
              <a:gd name="connsiteX9" fmla="*/ 0 w 4724400"/>
              <a:gd name="connsiteY9" fmla="*/ 905954 h 1210754"/>
              <a:gd name="connsiteX10" fmla="*/ 0 w 4724400"/>
              <a:gd name="connsiteY10" fmla="*/ 245224 h 1210754"/>
              <a:gd name="connsiteX11" fmla="*/ 1295400 w 4724400"/>
              <a:gd name="connsiteY11" fmla="*/ 245224 h 1210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24400" h="1210754">
                <a:moveTo>
                  <a:pt x="1295400" y="0"/>
                </a:moveTo>
                <a:lnTo>
                  <a:pt x="4724400" y="0"/>
                </a:lnTo>
                <a:lnTo>
                  <a:pt x="4724400" y="245224"/>
                </a:lnTo>
                <a:lnTo>
                  <a:pt x="4724400" y="304800"/>
                </a:lnTo>
                <a:lnTo>
                  <a:pt x="4724400" y="990600"/>
                </a:lnTo>
                <a:lnTo>
                  <a:pt x="152400" y="990600"/>
                </a:lnTo>
                <a:lnTo>
                  <a:pt x="152400" y="1210754"/>
                </a:lnTo>
                <a:lnTo>
                  <a:pt x="0" y="1210754"/>
                </a:lnTo>
                <a:lnTo>
                  <a:pt x="0" y="905954"/>
                </a:lnTo>
                <a:lnTo>
                  <a:pt x="0" y="905954"/>
                </a:lnTo>
                <a:lnTo>
                  <a:pt x="0" y="245224"/>
                </a:lnTo>
                <a:lnTo>
                  <a:pt x="1295400" y="245224"/>
                </a:lnTo>
                <a:close/>
              </a:path>
            </a:pathLst>
          </a:cu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31BA5D-8B3F-03B8-8ECD-6CBCD5582601}"/>
              </a:ext>
            </a:extLst>
          </p:cNvPr>
          <p:cNvSpPr/>
          <p:nvPr/>
        </p:nvSpPr>
        <p:spPr>
          <a:xfrm>
            <a:off x="852996" y="3668601"/>
            <a:ext cx="7772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200" b="0" err="1"/>
              <a:t>employees.sort</a:t>
            </a:r>
            <a:r>
              <a:rPr lang="en-US" altLang="ko-KR" sz="1200" b="0"/>
              <a:t>( (emp1, emp2) -&gt; emp2.getEmployeeId() - emp1.getEmployeeId() );</a:t>
            </a:r>
            <a:endParaRPr lang="ko-KR" altLang="en-US" sz="1200" b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5690A9-5B09-6793-D693-0C404383C0AE}"/>
              </a:ext>
            </a:extLst>
          </p:cNvPr>
          <p:cNvSpPr/>
          <p:nvPr/>
        </p:nvSpPr>
        <p:spPr>
          <a:xfrm>
            <a:off x="1957897" y="3679295"/>
            <a:ext cx="4042854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구부러진 연결선 13">
            <a:extLst>
              <a:ext uri="{FF2B5EF4-FFF2-40B4-BE49-F238E27FC236}">
                <a16:creationId xmlns:a16="http://schemas.microsoft.com/office/drawing/2014/main" id="{F2795CCF-6DAF-8297-DEE6-25B7F8E4536F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rot="16200000" flipH="1">
            <a:off x="3288447" y="2988417"/>
            <a:ext cx="717131" cy="664624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6F4DC2-A60A-209E-66F7-121DB20CCE59}"/>
              </a:ext>
            </a:extLst>
          </p:cNvPr>
          <p:cNvSpPr/>
          <p:nvPr/>
        </p:nvSpPr>
        <p:spPr>
          <a:xfrm>
            <a:off x="2971800" y="2428764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51373"/>
      </p:ext>
    </p:extLst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람다의 구성</a:t>
            </a:r>
            <a:endParaRPr lang="en-US" altLang="ko-KR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pPr lvl="1"/>
            <a:r>
              <a:rPr lang="ko-KR" altLang="en-US" dirty="0"/>
              <a:t>람다 파라미터</a:t>
            </a:r>
            <a:endParaRPr lang="en-US" altLang="ko-KR" dirty="0"/>
          </a:p>
          <a:p>
            <a:pPr lvl="2"/>
            <a:r>
              <a:rPr lang="en-US" altLang="ko-KR" dirty="0" err="1"/>
              <a:t>Compartor</a:t>
            </a:r>
            <a:r>
              <a:rPr lang="ko-KR" altLang="en-US" dirty="0"/>
              <a:t>의 </a:t>
            </a:r>
            <a:r>
              <a:rPr lang="en-US" altLang="ko-KR" dirty="0"/>
              <a:t>compare </a:t>
            </a:r>
            <a:r>
              <a:rPr lang="ko-KR" altLang="en-US" dirty="0"/>
              <a:t>메소드의 파라미터 </a:t>
            </a:r>
            <a:r>
              <a:rPr lang="en-US" altLang="ko-KR" dirty="0"/>
              <a:t>(</a:t>
            </a:r>
            <a:r>
              <a:rPr lang="ko-KR" altLang="en-US" dirty="0"/>
              <a:t>두 명의 사원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화살표 </a:t>
            </a:r>
            <a:r>
              <a:rPr lang="en-US" altLang="ko-KR" dirty="0"/>
              <a:t>( -&gt; )</a:t>
            </a:r>
          </a:p>
          <a:p>
            <a:pPr lvl="2"/>
            <a:r>
              <a:rPr lang="ko-KR" altLang="en-US" dirty="0"/>
              <a:t>람다의 파라미터 리스트와 바디를 구분함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람다 바디</a:t>
            </a:r>
            <a:endParaRPr lang="en-US" altLang="ko-KR" dirty="0"/>
          </a:p>
          <a:p>
            <a:pPr lvl="2"/>
            <a:r>
              <a:rPr lang="ko-KR" altLang="en-US" dirty="0"/>
              <a:t>두 명의 사원 번호를 구분함</a:t>
            </a:r>
            <a:r>
              <a:rPr lang="en-US" altLang="ko-KR" dirty="0"/>
              <a:t>. </a:t>
            </a:r>
            <a:r>
              <a:rPr lang="ko-KR" altLang="en-US" dirty="0"/>
              <a:t>람다의 </a:t>
            </a:r>
            <a:r>
              <a:rPr lang="ko-KR" altLang="en-US" dirty="0" err="1"/>
              <a:t>반환값에</a:t>
            </a:r>
            <a:r>
              <a:rPr lang="ko-KR" altLang="en-US" dirty="0"/>
              <a:t> 해당하는 표현식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6F6AF7-D7AA-78D8-3FA4-CB7F24731368}"/>
              </a:ext>
            </a:extLst>
          </p:cNvPr>
          <p:cNvSpPr/>
          <p:nvPr/>
        </p:nvSpPr>
        <p:spPr>
          <a:xfrm>
            <a:off x="1600200" y="2286000"/>
            <a:ext cx="57764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(emp1, emp2) -&gt; emp2.getEmployeeId() - emp1.getEmployeeId();</a:t>
            </a:r>
            <a:endParaRPr lang="ko-KR" altLang="en-US" sz="1600" b="0"/>
          </a:p>
        </p:txBody>
      </p:sp>
      <p:sp>
        <p:nvSpPr>
          <p:cNvPr id="12" name="왼쪽 중괄호 11">
            <a:extLst>
              <a:ext uri="{FF2B5EF4-FFF2-40B4-BE49-F238E27FC236}">
                <a16:creationId xmlns:a16="http://schemas.microsoft.com/office/drawing/2014/main" id="{78ED631E-F30B-C529-8B71-A812F0E445B2}"/>
              </a:ext>
            </a:extLst>
          </p:cNvPr>
          <p:cNvSpPr/>
          <p:nvPr/>
        </p:nvSpPr>
        <p:spPr>
          <a:xfrm rot="-5400000">
            <a:off x="2101784" y="2144272"/>
            <a:ext cx="224910" cy="1062361"/>
          </a:xfrm>
          <a:prstGeom prst="leftBrace">
            <a:avLst>
              <a:gd name="adj1" fmla="val 45062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12C5FD34-04BD-2B62-5EBD-9C84055304F0}"/>
              </a:ext>
            </a:extLst>
          </p:cNvPr>
          <p:cNvSpPr/>
          <p:nvPr/>
        </p:nvSpPr>
        <p:spPr>
          <a:xfrm rot="-5400000">
            <a:off x="5045057" y="653375"/>
            <a:ext cx="207247" cy="4032683"/>
          </a:xfrm>
          <a:prstGeom prst="leftBrace">
            <a:avLst>
              <a:gd name="adj1" fmla="val 116113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1C1B6-9681-F47C-ABF5-640857CA5F29}"/>
              </a:ext>
            </a:extLst>
          </p:cNvPr>
          <p:cNvSpPr txBox="1"/>
          <p:nvPr/>
        </p:nvSpPr>
        <p:spPr>
          <a:xfrm>
            <a:off x="1653589" y="2859551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람다 </a:t>
            </a:r>
            <a:r>
              <a:rPr lang="ko-KR" altLang="en-US" sz="1200" b="0" err="1">
                <a:latin typeface="+mj-ea"/>
                <a:ea typeface="+mj-ea"/>
              </a:rPr>
              <a:t>파라미터</a:t>
            </a:r>
            <a:endParaRPr lang="ko-KR" altLang="en-US" sz="1200" b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C03C9-22F2-4FDE-F834-68A18717BDCE}"/>
              </a:ext>
            </a:extLst>
          </p:cNvPr>
          <p:cNvSpPr txBox="1"/>
          <p:nvPr/>
        </p:nvSpPr>
        <p:spPr>
          <a:xfrm>
            <a:off x="4680259" y="2859551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람다 바디</a:t>
            </a:r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81E81015-DBE6-8947-80FA-D8EE4FD6AED9}"/>
              </a:ext>
            </a:extLst>
          </p:cNvPr>
          <p:cNvSpPr/>
          <p:nvPr/>
        </p:nvSpPr>
        <p:spPr>
          <a:xfrm rot="5400000">
            <a:off x="2845520" y="2153223"/>
            <a:ext cx="254775" cy="213805"/>
          </a:xfrm>
          <a:prstGeom prst="leftBrace">
            <a:avLst>
              <a:gd name="adj1" fmla="val 7974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BFB40-F9AE-25BC-E985-E85DA0F6F43C}"/>
              </a:ext>
            </a:extLst>
          </p:cNvPr>
          <p:cNvSpPr txBox="1"/>
          <p:nvPr/>
        </p:nvSpPr>
        <p:spPr>
          <a:xfrm>
            <a:off x="2649741" y="185708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화살표</a:t>
            </a:r>
          </a:p>
        </p:txBody>
      </p:sp>
    </p:spTree>
    <p:extLst>
      <p:ext uri="{BB962C8B-B14F-4D97-AF65-F5344CB8AC3E}">
        <p14:creationId xmlns:p14="http://schemas.microsoft.com/office/powerpoint/2010/main" val="2458270428"/>
      </p:ext>
    </p:extLst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Functional Java</a:t>
            </a:r>
            <a:r>
              <a:rPr lang="ko-KR" altLang="en-US" dirty="0"/>
              <a:t>에서 유효한 다섯가지 람다 표현식</a:t>
            </a:r>
            <a:endParaRPr lang="en-US" altLang="ko-KR" dirty="0"/>
          </a:p>
          <a:p>
            <a:pPr lvl="1"/>
            <a:r>
              <a:rPr lang="en-US" altLang="ko-KR" dirty="0"/>
              <a:t>String </a:t>
            </a:r>
            <a:r>
              <a:rPr lang="ko-KR" altLang="en-US" dirty="0"/>
              <a:t>파라미터 하나를 가지며 </a:t>
            </a:r>
            <a:r>
              <a:rPr lang="en-US" altLang="ko-KR" dirty="0"/>
              <a:t>int</a:t>
            </a:r>
            <a:r>
              <a:rPr lang="ko-KR" altLang="en-US" dirty="0" err="1"/>
              <a:t>를</a:t>
            </a:r>
            <a:r>
              <a:rPr lang="ko-KR" altLang="en-US" dirty="0"/>
              <a:t> 반환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람다표현식에는 </a:t>
            </a:r>
            <a:r>
              <a:rPr lang="en-US" altLang="ko-KR" dirty="0"/>
              <a:t>return </a:t>
            </a:r>
            <a:r>
              <a:rPr lang="ko-KR" altLang="en-US" dirty="0"/>
              <a:t>이 함축되어 있으므로 명시적으로 사용하지 않아도 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Employees </a:t>
            </a:r>
            <a:r>
              <a:rPr lang="ko-KR" altLang="en-US" dirty="0"/>
              <a:t>형식의 파라미터 하나를 가지며 </a:t>
            </a:r>
            <a:r>
              <a:rPr lang="en-US" altLang="ko-KR" dirty="0" err="1"/>
              <a:t>boolean</a:t>
            </a:r>
            <a:r>
              <a:rPr lang="ko-KR" altLang="en-US" dirty="0"/>
              <a:t>을 반환한다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int </a:t>
            </a:r>
            <a:r>
              <a:rPr lang="ko-KR" altLang="en-US" dirty="0"/>
              <a:t>형식의 파라미터 두개를 가지며 리턴 값이 없다</a:t>
            </a:r>
            <a:r>
              <a:rPr lang="en-US" altLang="ko-KR" dirty="0"/>
              <a:t>(void </a:t>
            </a:r>
            <a:r>
              <a:rPr lang="ko-KR" altLang="en-US" dirty="0"/>
              <a:t>리턴</a:t>
            </a:r>
            <a:r>
              <a:rPr lang="en-US" altLang="ko-KR" dirty="0"/>
              <a:t>).</a:t>
            </a:r>
            <a:br>
              <a:rPr lang="en-US" altLang="ko-KR" dirty="0"/>
            </a:br>
            <a:r>
              <a:rPr lang="ko-KR" altLang="en-US" dirty="0"/>
              <a:t>람다 표현식을 여러 행의 문장을 포함할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파라미터가 없으면 </a:t>
            </a:r>
            <a:r>
              <a:rPr lang="en-US" altLang="ko-KR" dirty="0"/>
              <a:t>int</a:t>
            </a:r>
            <a:r>
              <a:rPr lang="ko-KR" altLang="en-US" dirty="0" err="1"/>
              <a:t>를</a:t>
            </a:r>
            <a:r>
              <a:rPr lang="ko-KR" altLang="en-US" dirty="0"/>
              <a:t> 반환한다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Employees</a:t>
            </a:r>
            <a:r>
              <a:rPr lang="ko-KR" altLang="en-US" dirty="0"/>
              <a:t> 형식의 파라미터 두개를 가지며</a:t>
            </a:r>
            <a:r>
              <a:rPr lang="en-US" altLang="ko-KR" dirty="0"/>
              <a:t>, int</a:t>
            </a:r>
            <a:r>
              <a:rPr lang="ko-KR" altLang="en-US" dirty="0" err="1"/>
              <a:t>를</a:t>
            </a:r>
            <a:r>
              <a:rPr lang="ko-KR" altLang="en-US" dirty="0"/>
              <a:t> 반환한다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FEB641-D010-78C3-D35A-A8D495C06819}"/>
              </a:ext>
            </a:extLst>
          </p:cNvPr>
          <p:cNvSpPr/>
          <p:nvPr/>
        </p:nvSpPr>
        <p:spPr>
          <a:xfrm>
            <a:off x="971550" y="2174679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(String s)</a:t>
            </a:r>
            <a:r>
              <a:rPr lang="en-US" altLang="ko-KR" sz="1400" b="0"/>
              <a:t> -&gt; </a:t>
            </a:r>
            <a:r>
              <a:rPr lang="en-US" altLang="ko-KR" sz="1400" b="0" err="1"/>
              <a:t>s.length</a:t>
            </a:r>
            <a:r>
              <a:rPr lang="en-US" altLang="ko-KR" sz="1400" b="0"/>
              <a:t>()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913312-46EE-19E1-7DBE-671745F920DD}"/>
              </a:ext>
            </a:extLst>
          </p:cNvPr>
          <p:cNvSpPr/>
          <p:nvPr/>
        </p:nvSpPr>
        <p:spPr>
          <a:xfrm>
            <a:off x="971550" y="3062537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ea typeface="+mj-ea"/>
              </a:rPr>
              <a:t>(Employees emp)</a:t>
            </a:r>
            <a:r>
              <a:rPr lang="en-US" altLang="ko-KR" sz="1400" b="0" dirty="0"/>
              <a:t> -&gt; </a:t>
            </a:r>
            <a:r>
              <a:rPr lang="en-US" altLang="ko-KR" sz="1400" b="0" dirty="0" err="1"/>
              <a:t>emp.getSalary</a:t>
            </a:r>
            <a:r>
              <a:rPr lang="en-US" altLang="ko-KR" sz="1400" b="0" dirty="0"/>
              <a:t>() &gt; 5000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AE13F0-0F85-6589-3392-2FDE3DCDD3C4}"/>
              </a:ext>
            </a:extLst>
          </p:cNvPr>
          <p:cNvSpPr/>
          <p:nvPr/>
        </p:nvSpPr>
        <p:spPr>
          <a:xfrm>
            <a:off x="971550" y="4217415"/>
            <a:ext cx="57764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ea typeface="+mj-ea"/>
              </a:rPr>
              <a:t>(int x, int y)</a:t>
            </a:r>
            <a:r>
              <a:rPr lang="en-US" altLang="ko-KR" sz="1400" b="0" dirty="0"/>
              <a:t> -&gt; {</a:t>
            </a:r>
          </a:p>
          <a:p>
            <a:pPr algn="l"/>
            <a:r>
              <a:rPr lang="en-US" altLang="ko-KR" sz="1400" b="0" dirty="0"/>
              <a:t>    </a:t>
            </a:r>
            <a:r>
              <a:rPr lang="en-US" altLang="ko-KR" sz="1400" b="0" dirty="0" err="1"/>
              <a:t>System.out.println</a:t>
            </a:r>
            <a:r>
              <a:rPr lang="en-US" altLang="ko-KR" sz="1400" b="0" dirty="0"/>
              <a:t>(“Result : ”);</a:t>
            </a:r>
          </a:p>
          <a:p>
            <a:pPr algn="l"/>
            <a:r>
              <a:rPr lang="en-US" altLang="ko-KR" sz="1400" b="0" dirty="0"/>
              <a:t>    </a:t>
            </a:r>
            <a:r>
              <a:rPr lang="en-US" altLang="ko-KR" sz="1400" b="0" dirty="0" err="1"/>
              <a:t>System.out.println</a:t>
            </a:r>
            <a:r>
              <a:rPr lang="en-US" altLang="ko-KR" sz="1400" b="0" dirty="0"/>
              <a:t>(x + y);</a:t>
            </a:r>
          </a:p>
          <a:p>
            <a:pPr algn="l"/>
            <a:r>
              <a:rPr lang="en-US" altLang="ko-KR" sz="1400" b="0" dirty="0"/>
              <a:t>}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9CC954-98B9-175D-05B5-C09FF1079AC1}"/>
              </a:ext>
            </a:extLst>
          </p:cNvPr>
          <p:cNvSpPr/>
          <p:nvPr/>
        </p:nvSpPr>
        <p:spPr>
          <a:xfrm>
            <a:off x="971550" y="5519336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() -&gt; 42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042526-0816-0485-A220-D6544ABB2163}"/>
              </a:ext>
            </a:extLst>
          </p:cNvPr>
          <p:cNvSpPr/>
          <p:nvPr/>
        </p:nvSpPr>
        <p:spPr>
          <a:xfrm>
            <a:off x="971550" y="6404778"/>
            <a:ext cx="6934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(Employees emp1, Employees emp2) -&gt; emp1.getSalary() – emp2.getSalary()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65A27-A44C-EAB9-5E96-0F3DE22308B4}"/>
              </a:ext>
            </a:extLst>
          </p:cNvPr>
          <p:cNvSpPr txBox="1"/>
          <p:nvPr/>
        </p:nvSpPr>
        <p:spPr>
          <a:xfrm rot="20870270">
            <a:off x="4285444" y="4452180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solidFill>
                  <a:srgbClr val="FF0000"/>
                </a:solidFill>
                <a:ea typeface="+mj-ea"/>
              </a:rPr>
              <a:t>{} </a:t>
            </a:r>
            <a:r>
              <a:rPr lang="ko-KR" altLang="en-US" sz="1400">
                <a:solidFill>
                  <a:srgbClr val="FF0000"/>
                </a:solidFill>
                <a:latin typeface="+mj-ea"/>
                <a:ea typeface="+mj-ea"/>
              </a:rPr>
              <a:t>중괄호가 있는 람다 표현식에서 리턴이 필요한 경우</a:t>
            </a:r>
            <a:endParaRPr lang="en-US" altLang="ko-KR" sz="1400">
              <a:solidFill>
                <a:srgbClr val="FF0000"/>
              </a:solidFill>
              <a:latin typeface="+mj-ea"/>
              <a:ea typeface="+mj-ea"/>
            </a:endParaRPr>
          </a:p>
          <a:p>
            <a:pPr algn="l"/>
            <a:r>
              <a:rPr lang="en-US" altLang="ko-KR" sz="1400">
                <a:solidFill>
                  <a:srgbClr val="FF0000"/>
                </a:solidFill>
                <a:ea typeface="+mj-ea"/>
              </a:rPr>
              <a:t>return</a:t>
            </a:r>
            <a:r>
              <a:rPr lang="ko-KR" altLang="en-US" sz="1400">
                <a:solidFill>
                  <a:srgbClr val="FF0000"/>
                </a:solidFill>
                <a:latin typeface="+mj-ea"/>
                <a:ea typeface="+mj-ea"/>
              </a:rPr>
              <a:t>을 명시적으로 작성해야 한다</a:t>
            </a:r>
            <a:r>
              <a:rPr lang="en-US" altLang="ko-KR" sz="140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ko-KR" altLang="en-US" sz="14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53367346"/>
      </p:ext>
    </p:extLst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함수형 인터페이스</a:t>
            </a:r>
            <a:endParaRPr lang="en-US" altLang="ko-KR" dirty="0"/>
          </a:p>
          <a:p>
            <a:pPr lvl="1"/>
            <a:r>
              <a:rPr lang="ko-KR" altLang="en-US" dirty="0"/>
              <a:t>람다는 함수형 인터페이스를 파라미터로 받는 메소드에게만 사용할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함수형 인터페이스는 </a:t>
            </a:r>
            <a:r>
              <a:rPr lang="ko-KR" altLang="en-US" dirty="0">
                <a:solidFill>
                  <a:srgbClr val="FF0000"/>
                </a:solidFill>
              </a:rPr>
              <a:t>오직 하나의 </a:t>
            </a:r>
            <a:r>
              <a:rPr lang="ko-KR" altLang="en-US" dirty="0" err="1">
                <a:solidFill>
                  <a:srgbClr val="FF0000"/>
                </a:solidFill>
              </a:rPr>
              <a:t>추상메소드만</a:t>
            </a:r>
            <a:r>
              <a:rPr lang="ko-KR" altLang="en-US" dirty="0">
                <a:solidFill>
                  <a:srgbClr val="FF0000"/>
                </a:solidFill>
              </a:rPr>
              <a:t> 지정되어 있는 인터페이스</a:t>
            </a:r>
            <a:r>
              <a:rPr lang="ko-KR" altLang="en-US" dirty="0"/>
              <a:t>를 말한다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Comparator </a:t>
            </a:r>
            <a:r>
              <a:rPr lang="ko-KR" altLang="en-US" dirty="0"/>
              <a:t>인터페이스의 </a:t>
            </a:r>
            <a:r>
              <a:rPr lang="ko-KR" altLang="en-US" dirty="0" err="1"/>
              <a:t>추상메소드는</a:t>
            </a:r>
            <a:r>
              <a:rPr lang="ko-KR" altLang="en-US" dirty="0"/>
              <a:t> </a:t>
            </a:r>
            <a:r>
              <a:rPr lang="en-US" altLang="ko-KR" dirty="0"/>
              <a:t>int compare(T o1, T 02); </a:t>
            </a:r>
            <a:r>
              <a:rPr lang="ko-KR" altLang="en-US" dirty="0"/>
              <a:t>하나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함수형 인터페이스의 종류</a:t>
            </a:r>
            <a:endParaRPr lang="en-US" altLang="ko-KR" dirty="0"/>
          </a:p>
          <a:p>
            <a:pPr lvl="1"/>
            <a:r>
              <a:rPr lang="en-US" altLang="ko-KR" dirty="0"/>
              <a:t>Predicate&lt;T&gt; : </a:t>
            </a:r>
            <a:r>
              <a:rPr lang="ko-KR" altLang="en-US" dirty="0"/>
              <a:t>파라미터 하나를 전달받아</a:t>
            </a:r>
            <a:r>
              <a:rPr lang="en-US" altLang="ko-KR" dirty="0"/>
              <a:t>, </a:t>
            </a:r>
            <a:r>
              <a:rPr lang="en-US" altLang="ko-KR" dirty="0" err="1"/>
              <a:t>boolean</a:t>
            </a:r>
            <a:r>
              <a:rPr lang="ko-KR" altLang="en-US" dirty="0"/>
              <a:t>을 반환하는 함수형 인터페이스</a:t>
            </a:r>
            <a:endParaRPr lang="en-US" altLang="ko-KR" dirty="0"/>
          </a:p>
          <a:p>
            <a:pPr lvl="1"/>
            <a:r>
              <a:rPr lang="en-US" altLang="ko-KR" dirty="0" err="1"/>
              <a:t>BiPredicate</a:t>
            </a:r>
            <a:r>
              <a:rPr lang="en-US" altLang="ko-KR" dirty="0"/>
              <a:t>&lt;L, R&gt; : </a:t>
            </a:r>
            <a:r>
              <a:rPr lang="ko-KR" altLang="en-US" dirty="0"/>
              <a:t>파라미터 </a:t>
            </a:r>
            <a:r>
              <a:rPr lang="en-US" altLang="ko-KR" dirty="0"/>
              <a:t>L</a:t>
            </a:r>
            <a:r>
              <a:rPr lang="ko-KR" altLang="en-US" dirty="0"/>
              <a:t>과 </a:t>
            </a:r>
            <a:r>
              <a:rPr lang="en-US" altLang="ko-KR" dirty="0"/>
              <a:t>R</a:t>
            </a:r>
            <a:r>
              <a:rPr lang="ko-KR" altLang="en-US" dirty="0"/>
              <a:t>을 전달받아 </a:t>
            </a:r>
            <a:r>
              <a:rPr lang="en-US" altLang="ko-KR" dirty="0" err="1"/>
              <a:t>boolean</a:t>
            </a:r>
            <a:r>
              <a:rPr lang="ko-KR" altLang="en-US" dirty="0"/>
              <a:t>을 반환하는 함수형 인터페이스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Consumer&lt;T&gt; : </a:t>
            </a:r>
            <a:r>
              <a:rPr lang="ko-KR" altLang="en-US" dirty="0"/>
              <a:t>파라미터 하나를 전달받아</a:t>
            </a:r>
            <a:r>
              <a:rPr lang="en-US" altLang="ko-KR" dirty="0"/>
              <a:t>, void</a:t>
            </a:r>
            <a:r>
              <a:rPr lang="ko-KR" altLang="en-US" dirty="0"/>
              <a:t>를 반환하는 함수형 인터페이스</a:t>
            </a:r>
            <a:endParaRPr lang="en-US" altLang="ko-KR" dirty="0"/>
          </a:p>
          <a:p>
            <a:pPr lvl="1"/>
            <a:r>
              <a:rPr lang="en-US" altLang="ko-KR" dirty="0" err="1"/>
              <a:t>BiConsumer</a:t>
            </a:r>
            <a:r>
              <a:rPr lang="en-US" altLang="ko-KR" dirty="0"/>
              <a:t>&lt;T, U&gt; </a:t>
            </a:r>
            <a:r>
              <a:rPr lang="ko-KR" altLang="en-US" dirty="0"/>
              <a:t>파라미터 </a:t>
            </a:r>
            <a:r>
              <a:rPr lang="en-US" altLang="ko-KR" dirty="0"/>
              <a:t>T</a:t>
            </a:r>
            <a:r>
              <a:rPr lang="ko-KR" altLang="en-US" dirty="0"/>
              <a:t>와 </a:t>
            </a:r>
            <a:r>
              <a:rPr lang="en-US" altLang="ko-KR" dirty="0"/>
              <a:t>U</a:t>
            </a:r>
            <a:r>
              <a:rPr lang="ko-KR" altLang="en-US" dirty="0"/>
              <a:t>를 전달받아 </a:t>
            </a:r>
            <a:r>
              <a:rPr lang="en-US" altLang="ko-KR" dirty="0"/>
              <a:t>void</a:t>
            </a:r>
            <a:r>
              <a:rPr lang="ko-KR" altLang="en-US" dirty="0"/>
              <a:t>를 반환하는 함수형 인터페이스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Function&lt;T, R&gt; : </a:t>
            </a:r>
            <a:r>
              <a:rPr lang="ko-KR" altLang="en-US" dirty="0"/>
              <a:t>파라미터 </a:t>
            </a:r>
            <a:r>
              <a:rPr lang="en-US" altLang="ko-KR" dirty="0"/>
              <a:t>T</a:t>
            </a:r>
            <a:r>
              <a:rPr lang="ko-KR" altLang="en-US" dirty="0"/>
              <a:t>를 전달받아 </a:t>
            </a:r>
            <a:r>
              <a:rPr lang="en-US" altLang="ko-KR" dirty="0"/>
              <a:t>R</a:t>
            </a:r>
            <a:r>
              <a:rPr lang="ko-KR" altLang="en-US" dirty="0"/>
              <a:t>을 반환하는 함수형 인터페이스</a:t>
            </a:r>
            <a:endParaRPr lang="en-US" altLang="ko-KR" dirty="0"/>
          </a:p>
          <a:p>
            <a:pPr lvl="1"/>
            <a:r>
              <a:rPr lang="en-US" altLang="ko-KR" dirty="0" err="1"/>
              <a:t>BiFunction</a:t>
            </a:r>
            <a:r>
              <a:rPr lang="en-US" altLang="ko-KR" dirty="0"/>
              <a:t>&lt;T, U, R&gt; : </a:t>
            </a:r>
            <a:r>
              <a:rPr lang="ko-KR" altLang="en-US" dirty="0"/>
              <a:t>파라미터 </a:t>
            </a:r>
            <a:r>
              <a:rPr lang="en-US" altLang="ko-KR" dirty="0"/>
              <a:t>T</a:t>
            </a:r>
            <a:r>
              <a:rPr lang="ko-KR" altLang="en-US" dirty="0"/>
              <a:t>와</a:t>
            </a:r>
            <a:r>
              <a:rPr lang="en-US" altLang="ko-KR" dirty="0"/>
              <a:t> U</a:t>
            </a:r>
            <a:r>
              <a:rPr lang="ko-KR" altLang="en-US" dirty="0"/>
              <a:t>를 전달받아 </a:t>
            </a:r>
            <a:r>
              <a:rPr lang="en-US" altLang="ko-KR" dirty="0"/>
              <a:t>R</a:t>
            </a:r>
            <a:r>
              <a:rPr lang="ko-KR" altLang="en-US" dirty="0"/>
              <a:t>을 반환하는 함수형 인터페이스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331860"/>
      </p:ext>
    </p:extLst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메소드 레퍼런스</a:t>
            </a:r>
            <a:endParaRPr lang="en-US" altLang="ko-KR"/>
          </a:p>
          <a:p>
            <a:pPr lvl="1"/>
            <a:r>
              <a:rPr lang="ko-KR" altLang="en-US"/>
              <a:t>메소드 레퍼런스를 이용하면</a:t>
            </a:r>
            <a:r>
              <a:rPr lang="en-US" altLang="ko-KR"/>
              <a:t>, </a:t>
            </a:r>
            <a:r>
              <a:rPr lang="ko-KR" altLang="en-US"/>
              <a:t>기존의 메소드를 파라미터로 전달 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메소드의 파라미터에 함수형 인터페이스가 정의되어 있을 때</a:t>
            </a:r>
            <a:r>
              <a:rPr lang="en-US" altLang="ko-KR"/>
              <a:t>, </a:t>
            </a:r>
            <a:r>
              <a:rPr lang="ko-KR" altLang="en-US"/>
              <a:t>메소드 레퍼런스를 인자로 전달할 수 있다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C380F0-A6F9-578D-DF82-678BBD639B2E}"/>
              </a:ext>
            </a:extLst>
          </p:cNvPr>
          <p:cNvSpPr/>
          <p:nvPr/>
        </p:nvSpPr>
        <p:spPr>
          <a:xfrm>
            <a:off x="914400" y="3429000"/>
            <a:ext cx="69342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>
                <a:solidFill>
                  <a:srgbClr val="7F0055"/>
                </a:solidFill>
              </a:rPr>
              <a:t>public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en-US" altLang="ko-KR" sz="1600">
                <a:solidFill>
                  <a:srgbClr val="7F0055"/>
                </a:solidFill>
              </a:rPr>
              <a:t>static</a:t>
            </a:r>
            <a:r>
              <a:rPr lang="en-US" altLang="ko-KR" sz="1600">
                <a:solidFill>
                  <a:srgbClr val="000000"/>
                </a:solidFill>
              </a:rPr>
              <a:t> List&lt;Employees&gt; </a:t>
            </a:r>
            <a:r>
              <a:rPr lang="en-US" altLang="ko-KR" sz="1600" err="1">
                <a:solidFill>
                  <a:srgbClr val="000000"/>
                </a:solidFill>
              </a:rPr>
              <a:t>filterEmployees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                List&lt;Employees&gt; </a:t>
            </a:r>
            <a:r>
              <a:rPr lang="en-US" altLang="ko-KR" sz="1600">
                <a:solidFill>
                  <a:srgbClr val="6A3E3E"/>
                </a:solidFill>
              </a:rPr>
              <a:t>employees</a:t>
            </a:r>
            <a:r>
              <a:rPr lang="en-US" altLang="ko-KR" sz="1600">
                <a:solidFill>
                  <a:srgbClr val="000000"/>
                </a:solidFill>
              </a:rPr>
              <a:t>, Predicate&lt;Employees&gt; </a:t>
            </a:r>
            <a:r>
              <a:rPr lang="en-US" altLang="ko-KR" sz="1600">
                <a:solidFill>
                  <a:srgbClr val="6A3E3E"/>
                </a:solidFill>
              </a:rPr>
              <a:t>p </a:t>
            </a:r>
            <a:r>
              <a:rPr lang="en-US" altLang="ko-KR" sz="1600">
                <a:solidFill>
                  <a:srgbClr val="000000"/>
                </a:solidFill>
              </a:rPr>
              <a:t>) {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List&lt;Employees&gt; </a:t>
            </a:r>
            <a:r>
              <a:rPr lang="en-US" altLang="ko-KR" sz="1600">
                <a:solidFill>
                  <a:srgbClr val="6A3E3E"/>
                </a:solidFill>
              </a:rPr>
              <a:t>result</a:t>
            </a:r>
            <a:r>
              <a:rPr lang="en-US" altLang="ko-KR" sz="1600">
                <a:solidFill>
                  <a:srgbClr val="000000"/>
                </a:solidFill>
              </a:rPr>
              <a:t> = </a:t>
            </a:r>
            <a:r>
              <a:rPr lang="en-US" altLang="ko-KR" sz="1600">
                <a:solidFill>
                  <a:srgbClr val="7F0055"/>
                </a:solidFill>
              </a:rPr>
              <a:t>new</a:t>
            </a:r>
            <a:r>
              <a:rPr lang="en-US" altLang="ko-KR" sz="1600">
                <a:solidFill>
                  <a:srgbClr val="000000"/>
                </a:solidFill>
              </a:rPr>
              <a:t> ArrayList&lt;&gt;();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for</a:t>
            </a:r>
            <a:r>
              <a:rPr lang="en-US" altLang="ko-KR" sz="1600">
                <a:solidFill>
                  <a:srgbClr val="000000"/>
                </a:solidFill>
              </a:rPr>
              <a:t> (Employees 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 : </a:t>
            </a:r>
            <a:r>
              <a:rPr lang="en-US" altLang="ko-KR" sz="1600">
                <a:solidFill>
                  <a:srgbClr val="6A3E3E"/>
                </a:solidFill>
              </a:rPr>
              <a:t>employees</a:t>
            </a:r>
            <a:r>
              <a:rPr lang="en-US" altLang="ko-KR" sz="1600">
                <a:solidFill>
                  <a:srgbClr val="000000"/>
                </a:solidFill>
              </a:rPr>
              <a:t>) {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    if</a:t>
            </a:r>
            <a:r>
              <a:rPr lang="en-US" altLang="ko-KR" sz="1600">
                <a:solidFill>
                  <a:srgbClr val="000000"/>
                </a:solidFill>
              </a:rPr>
              <a:t> ( </a:t>
            </a:r>
            <a:r>
              <a:rPr lang="en-US" altLang="ko-KR" sz="1600" err="1">
                <a:solidFill>
                  <a:srgbClr val="6A3E3E"/>
                </a:solidFill>
              </a:rPr>
              <a:t>p</a:t>
            </a:r>
            <a:r>
              <a:rPr lang="en-US" altLang="ko-KR" sz="1600" err="1">
                <a:solidFill>
                  <a:srgbClr val="000000"/>
                </a:solidFill>
              </a:rPr>
              <a:t>.test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) ) {</a:t>
            </a:r>
          </a:p>
          <a:p>
            <a:pPr algn="l"/>
            <a:r>
              <a:rPr lang="en-US" altLang="ko-KR" sz="1600">
                <a:solidFill>
                  <a:srgbClr val="6A3E3E"/>
                </a:solidFill>
              </a:rPr>
              <a:t>            </a:t>
            </a:r>
            <a:r>
              <a:rPr lang="en-US" altLang="ko-KR" sz="1600" err="1">
                <a:solidFill>
                  <a:srgbClr val="6A3E3E"/>
                </a:solidFill>
              </a:rPr>
              <a:t>result</a:t>
            </a:r>
            <a:r>
              <a:rPr lang="en-US" altLang="ko-KR" sz="1600" err="1">
                <a:solidFill>
                  <a:srgbClr val="000000"/>
                </a:solidFill>
              </a:rPr>
              <a:t>.add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);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    }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} 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return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en-US" altLang="ko-KR" sz="1600">
                <a:solidFill>
                  <a:srgbClr val="6A3E3E"/>
                </a:solidFill>
              </a:rPr>
              <a:t>result</a:t>
            </a:r>
            <a:r>
              <a:rPr lang="en-US" altLang="ko-KR" sz="1600">
                <a:solidFill>
                  <a:srgbClr val="000000"/>
                </a:solidFill>
              </a:rPr>
              <a:t>;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}</a:t>
            </a:r>
            <a:endParaRPr lang="ko-KR" altLang="en-US" sz="16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CAA184-6E88-9458-CE22-642F407E8E09}"/>
              </a:ext>
            </a:extLst>
          </p:cNvPr>
          <p:cNvSpPr/>
          <p:nvPr/>
        </p:nvSpPr>
        <p:spPr>
          <a:xfrm>
            <a:off x="4304401" y="3711147"/>
            <a:ext cx="2166259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9AA03-A2AE-7080-B0E4-D264BBBA585B}"/>
              </a:ext>
            </a:extLst>
          </p:cNvPr>
          <p:cNvSpPr/>
          <p:nvPr/>
        </p:nvSpPr>
        <p:spPr>
          <a:xfrm>
            <a:off x="914400" y="2590801"/>
            <a:ext cx="8077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/>
              <a:t>List&lt;Employees&gt; subordinates = </a:t>
            </a:r>
            <a:r>
              <a:rPr lang="en-US" altLang="ko-KR" sz="1600" err="1"/>
              <a:t>filterEmployees</a:t>
            </a:r>
            <a:r>
              <a:rPr lang="en-US" altLang="ko-KR" sz="1600"/>
              <a:t>(employees, Employees::isManagerIs100);</a:t>
            </a:r>
            <a:endParaRPr lang="ko-KR" altLang="en-US" sz="1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1F9605-733F-2B20-285E-47CFC0C05EE6}"/>
              </a:ext>
            </a:extLst>
          </p:cNvPr>
          <p:cNvSpPr/>
          <p:nvPr/>
        </p:nvSpPr>
        <p:spPr>
          <a:xfrm>
            <a:off x="5977205" y="2652356"/>
            <a:ext cx="2395269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구부러진 연결선 7">
            <a:extLst>
              <a:ext uri="{FF2B5EF4-FFF2-40B4-BE49-F238E27FC236}">
                <a16:creationId xmlns:a16="http://schemas.microsoft.com/office/drawing/2014/main" id="{346D7896-E1AE-6E2D-2C24-5DA17F9ADB9E}"/>
              </a:ext>
            </a:extLst>
          </p:cNvPr>
          <p:cNvCxnSpPr>
            <a:stCxn id="8" idx="2"/>
            <a:endCxn id="6" idx="0"/>
          </p:cNvCxnSpPr>
          <p:nvPr/>
        </p:nvCxnSpPr>
        <p:spPr>
          <a:xfrm rot="5400000">
            <a:off x="5890290" y="2426597"/>
            <a:ext cx="781792" cy="1787309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862323"/>
      </p:ext>
    </p:extLst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람다와 메소드 레퍼런스 단축 표현 예제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메소드 레퍼런스 만드는 세 가지 방법</a:t>
            </a:r>
            <a:endParaRPr lang="en-US" altLang="ko-KR"/>
          </a:p>
          <a:p>
            <a:pPr lvl="1"/>
            <a:r>
              <a:rPr lang="en-US" altLang="ko-KR"/>
              <a:t>1. </a:t>
            </a:r>
            <a:r>
              <a:rPr lang="ko-KR" altLang="en-US"/>
              <a:t>정적 메소드 레퍼런스</a:t>
            </a:r>
            <a:endParaRPr lang="en-US" altLang="ko-KR"/>
          </a:p>
          <a:p>
            <a:pPr lvl="2"/>
            <a:r>
              <a:rPr lang="en-US" altLang="ko-KR"/>
              <a:t>Integer.parseInt() </a:t>
            </a:r>
            <a:r>
              <a:rPr lang="ko-KR" altLang="en-US"/>
              <a:t>메소드는 </a:t>
            </a:r>
            <a:r>
              <a:rPr lang="en-US" altLang="ko-KR"/>
              <a:t>Integer::</a:t>
            </a:r>
            <a:r>
              <a:rPr lang="en-US" altLang="ko-KR" err="1"/>
              <a:t>parseInt</a:t>
            </a:r>
            <a:r>
              <a:rPr lang="en-US" altLang="ko-KR"/>
              <a:t> 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  <a:p>
            <a:pPr lvl="2"/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 err="1"/>
              <a:t>다양항</a:t>
            </a:r>
            <a:r>
              <a:rPr lang="ko-KR" altLang="en-US"/>
              <a:t> 형식의 인스턴스 메소드 레퍼런스</a:t>
            </a:r>
            <a:endParaRPr lang="en-US" altLang="ko-KR"/>
          </a:p>
          <a:p>
            <a:pPr lvl="2"/>
            <a:r>
              <a:rPr lang="en-US" altLang="ko-KR" err="1"/>
              <a:t>String.length</a:t>
            </a:r>
            <a:r>
              <a:rPr lang="en-US" altLang="ko-KR"/>
              <a:t>() </a:t>
            </a:r>
            <a:r>
              <a:rPr lang="ko-KR" altLang="en-US"/>
              <a:t>메소드는 </a:t>
            </a:r>
            <a:r>
              <a:rPr lang="en-US" altLang="ko-KR"/>
              <a:t>String::length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  <a:p>
            <a:pPr lvl="2"/>
            <a:endParaRPr lang="en-US" altLang="ko-KR"/>
          </a:p>
          <a:p>
            <a:pPr lvl="1"/>
            <a:r>
              <a:rPr lang="en-US" altLang="ko-KR"/>
              <a:t>3. </a:t>
            </a:r>
            <a:r>
              <a:rPr lang="ko-KR" altLang="en-US"/>
              <a:t>기존 객체의 인스턴스 메소드 레퍼런스</a:t>
            </a:r>
            <a:endParaRPr lang="en-US" altLang="ko-KR"/>
          </a:p>
          <a:p>
            <a:pPr lvl="2"/>
            <a:r>
              <a:rPr lang="en-US" altLang="ko-KR"/>
              <a:t>Employees </a:t>
            </a:r>
            <a:r>
              <a:rPr lang="ko-KR" altLang="en-US"/>
              <a:t>객체를 </a:t>
            </a:r>
            <a:r>
              <a:rPr lang="ko-KR" altLang="en-US" err="1"/>
              <a:t>할당받은</a:t>
            </a:r>
            <a:r>
              <a:rPr lang="ko-KR" altLang="en-US"/>
              <a:t> </a:t>
            </a:r>
            <a:r>
              <a:rPr lang="en-US" altLang="ko-KR"/>
              <a:t>employee </a:t>
            </a:r>
            <a:r>
              <a:rPr lang="ko-KR" altLang="en-US"/>
              <a:t>라는 변수가 있고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Employees </a:t>
            </a:r>
            <a:r>
              <a:rPr lang="ko-KR" altLang="en-US"/>
              <a:t>에는 </a:t>
            </a:r>
            <a:r>
              <a:rPr lang="en-US" altLang="ko-KR" err="1"/>
              <a:t>getSalary</a:t>
            </a:r>
            <a:r>
              <a:rPr lang="en-US" altLang="ko-KR"/>
              <a:t>() </a:t>
            </a:r>
            <a:r>
              <a:rPr lang="ko-KR" altLang="en-US"/>
              <a:t>라는 메소드가 있다면</a:t>
            </a:r>
            <a:r>
              <a:rPr lang="en-US" altLang="ko-KR"/>
              <a:t>, employee::</a:t>
            </a:r>
            <a:r>
              <a:rPr lang="en-US" altLang="ko-KR" err="1"/>
              <a:t>getSalary</a:t>
            </a:r>
            <a:r>
              <a:rPr lang="en-US" altLang="ko-KR"/>
              <a:t> 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C9051B-421E-F56E-F2DE-FA6D88C0A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91" y="1575332"/>
            <a:ext cx="5103829" cy="156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46929"/>
      </p:ext>
    </p:extLst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세 가지 종류의 람다 표현식을 메소드 레퍼런스로 바꾸는 방법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6C6AA3-A64E-802D-FFE0-C7DD8C993F94}"/>
              </a:ext>
            </a:extLst>
          </p:cNvPr>
          <p:cNvGrpSpPr/>
          <p:nvPr/>
        </p:nvGrpSpPr>
        <p:grpSpPr>
          <a:xfrm>
            <a:off x="342900" y="1735503"/>
            <a:ext cx="6362700" cy="1092093"/>
            <a:chOff x="342900" y="1735503"/>
            <a:chExt cx="6362700" cy="109209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C0D1CE6-1507-63E9-C317-FBBCD830AE37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0C9F49E-C452-3AC7-B9C4-156B8186266B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48DD0A-4144-BFA7-D76C-222CB0337CAD}"/>
                </a:ext>
              </a:extLst>
            </p:cNvPr>
            <p:cNvSpPr txBox="1"/>
            <p:nvPr/>
          </p:nvSpPr>
          <p:spPr>
            <a:xfrm>
              <a:off x="2769870" y="1783544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staticMethod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413A12-26F4-AA54-EE64-332EC66CC20C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staticMethod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A29594D-DCF2-167B-9842-9E29F2020A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8540" y="2091321"/>
              <a:ext cx="563880" cy="444527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D5205FFD-1942-D05C-C1F8-8B8BE97D950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090" y="2091321"/>
              <a:ext cx="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7B75B7E-8FE7-63EA-03DC-F2625674100F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42CCBFB-8EF7-1821-1D39-7431D3988EEB}"/>
              </a:ext>
            </a:extLst>
          </p:cNvPr>
          <p:cNvGrpSpPr/>
          <p:nvPr/>
        </p:nvGrpSpPr>
        <p:grpSpPr>
          <a:xfrm>
            <a:off x="342900" y="3317113"/>
            <a:ext cx="7315200" cy="1092093"/>
            <a:chOff x="342900" y="1735503"/>
            <a:chExt cx="7315200" cy="109209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52C3DA1-61A2-C5BF-7B79-0A876CBDA7AE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BDAA22B-817F-5029-2DF2-0E4CA9255FAE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2CC416-2032-10F7-C7D9-CEC70DD456B9}"/>
                </a:ext>
              </a:extLst>
            </p:cNvPr>
            <p:cNvSpPr txBox="1"/>
            <p:nvPr/>
          </p:nvSpPr>
          <p:spPr>
            <a:xfrm>
              <a:off x="2769870" y="1783544"/>
              <a:ext cx="48882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(arg0, </a:t>
              </a:r>
              <a:r>
                <a:rPr lang="en-US" altLang="ko-KR" sz="1400">
                  <a:solidFill>
                    <a:srgbClr val="000000"/>
                  </a:solidFill>
                  <a:latin typeface="Consolas" panose="020B0609020204030204" pitchFamily="49" charset="0"/>
                </a:rPr>
                <a:t>rest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arg0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(rest)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14DA01-B047-CAEA-F160-16310811FF15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99E3790-D42A-9B95-A8F2-0A06FADB1C31}"/>
                </a:ext>
              </a:extLst>
            </p:cNvPr>
            <p:cNvCxnSpPr>
              <a:cxnSpLocks/>
            </p:cNvCxnSpPr>
            <p:nvPr/>
          </p:nvCxnSpPr>
          <p:spPr>
            <a:xfrm>
              <a:off x="4911090" y="2091321"/>
              <a:ext cx="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2BAC328-9E77-8F87-381E-93EBA3E2109F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F8876AF-54A3-F1A7-04ED-05A580FD0B8A}"/>
              </a:ext>
            </a:extLst>
          </p:cNvPr>
          <p:cNvSpPr txBox="1"/>
          <p:nvPr/>
        </p:nvSpPr>
        <p:spPr>
          <a:xfrm>
            <a:off x="5724393" y="3610818"/>
            <a:ext cx="15520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arg0</a:t>
            </a:r>
            <a:r>
              <a:rPr lang="ko-KR" altLang="en-US" sz="1100"/>
              <a:t>은 </a:t>
            </a:r>
            <a:r>
              <a:rPr lang="en-US" altLang="ko-KR" sz="1100" err="1"/>
              <a:t>ClassName</a:t>
            </a:r>
            <a:r>
              <a:rPr lang="en-US" altLang="ko-KR" sz="1100"/>
              <a:t> </a:t>
            </a:r>
            <a:r>
              <a:rPr lang="ko-KR" altLang="en-US" sz="1100"/>
              <a:t>형식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87827B0-61E5-E078-F6BF-D1C6EE20660F}"/>
              </a:ext>
            </a:extLst>
          </p:cNvPr>
          <p:cNvGrpSpPr/>
          <p:nvPr/>
        </p:nvGrpSpPr>
        <p:grpSpPr>
          <a:xfrm>
            <a:off x="342900" y="5013293"/>
            <a:ext cx="7315200" cy="1092093"/>
            <a:chOff x="342900" y="1735503"/>
            <a:chExt cx="7315200" cy="109209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08DFDBC-6926-8281-CD45-77341C08299E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BD5B35C-6255-BD0F-F701-7E4C9177309D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19620E-4E2D-6DEE-689B-34CA5EE8D5B2}"/>
                </a:ext>
              </a:extLst>
            </p:cNvPr>
            <p:cNvSpPr txBox="1"/>
            <p:nvPr/>
          </p:nvSpPr>
          <p:spPr>
            <a:xfrm>
              <a:off x="2769870" y="1783544"/>
              <a:ext cx="48882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expr</a:t>
              </a:r>
              <a:r>
                <a:rPr lang="en-US" altLang="ko-KR" sz="1400" b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7B1D6A-5CAB-6D66-CFDD-A187EDE8CFED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expr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655B26FC-0A7A-59A2-9110-049F8D85BB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6581" y="2091321"/>
              <a:ext cx="1005839" cy="456727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E39705DA-79FB-3C6A-F965-1B61E0B3D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2091321"/>
              <a:ext cx="33909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A1E0F21-270E-9E6F-5D58-B15D6416DD4E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82312"/>
      </p:ext>
    </p:extLst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2. Stream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120581"/>
      </p:ext>
    </p:extLst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스트림이란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병렬처리를 지원하는 내부 반복자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컬렉션이나 배열을 스트림으로 변환하여 여러가지 형태의 처리를 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반복문을 이용하던 기존의 컬렉션을 스트림으로 처리할 수 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반복문을 사용하지 않고 컬렉션을 제어할 수 있다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B376A4-3E0A-4AD4-4B68-C71A07793147}"/>
              </a:ext>
            </a:extLst>
          </p:cNvPr>
          <p:cNvSpPr/>
          <p:nvPr/>
        </p:nvSpPr>
        <p:spPr>
          <a:xfrm>
            <a:off x="914400" y="3019425"/>
            <a:ext cx="502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for (Employees subordinate : subordinates) {</a:t>
            </a:r>
          </a:p>
          <a:p>
            <a:pPr algn="l"/>
            <a:r>
              <a:rPr lang="en-US" altLang="ko-KR" sz="1600" b="0"/>
              <a:t>    System.out.println(</a:t>
            </a:r>
            <a:r>
              <a:rPr lang="en-US" altLang="ko-KR" sz="1600" b="0" err="1"/>
              <a:t>subordinate.getEmployeeId</a:t>
            </a:r>
            <a:r>
              <a:rPr lang="en-US" altLang="ko-KR" sz="1600" b="0"/>
              <a:t>());</a:t>
            </a:r>
          </a:p>
          <a:p>
            <a:pPr algn="l"/>
            <a:r>
              <a:rPr lang="en-US" altLang="ko-KR" sz="1600" b="0"/>
              <a:t>}</a:t>
            </a:r>
            <a:endParaRPr lang="ko-KR" altLang="en-US" sz="1600" b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EF4A19-92FE-899A-F5D3-E6F3F9567C89}"/>
              </a:ext>
            </a:extLst>
          </p:cNvPr>
          <p:cNvSpPr/>
          <p:nvPr/>
        </p:nvSpPr>
        <p:spPr>
          <a:xfrm>
            <a:off x="914400" y="4524375"/>
            <a:ext cx="647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subordinates</a:t>
            </a:r>
          </a:p>
          <a:p>
            <a:pPr algn="l"/>
            <a:r>
              <a:rPr lang="en-US" altLang="ko-KR" sz="1600" b="0"/>
              <a:t>        .stream()</a:t>
            </a:r>
          </a:p>
          <a:p>
            <a:pPr algn="l"/>
            <a:r>
              <a:rPr lang="en-US" altLang="ko-KR" sz="1600" b="0"/>
              <a:t>        .</a:t>
            </a:r>
            <a:r>
              <a:rPr lang="en-US" altLang="ko-KR" sz="1600" b="0" err="1"/>
              <a:t>forEach</a:t>
            </a:r>
            <a:r>
              <a:rPr lang="en-US" altLang="ko-KR" sz="1600" b="0"/>
              <a:t>((</a:t>
            </a:r>
            <a:r>
              <a:rPr lang="en-US" altLang="ko-KR" sz="1600" b="0" err="1"/>
              <a:t>emp</a:t>
            </a:r>
            <a:r>
              <a:rPr lang="en-US" altLang="ko-KR" sz="1600" b="0"/>
              <a:t>) -&gt; System.out.println(</a:t>
            </a:r>
            <a:r>
              <a:rPr lang="en-US" altLang="ko-KR" sz="1600" b="0" err="1"/>
              <a:t>emp.getEmployeeId</a:t>
            </a:r>
            <a:r>
              <a:rPr lang="en-US" altLang="ko-KR" sz="1600" b="0"/>
              <a:t>()));</a:t>
            </a:r>
            <a:endParaRPr lang="ko-KR" altLang="en-US" sz="1600" b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5D5BEB-E1D8-7207-5094-95C53A4FB2AD}"/>
              </a:ext>
            </a:extLst>
          </p:cNvPr>
          <p:cNvSpPr/>
          <p:nvPr/>
        </p:nvSpPr>
        <p:spPr>
          <a:xfrm>
            <a:off x="914400" y="3019425"/>
            <a:ext cx="4743450" cy="8309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7EEE0B-5E4E-BD0C-C153-5A935299A645}"/>
              </a:ext>
            </a:extLst>
          </p:cNvPr>
          <p:cNvSpPr/>
          <p:nvPr/>
        </p:nvSpPr>
        <p:spPr>
          <a:xfrm>
            <a:off x="914400" y="4494182"/>
            <a:ext cx="5695950" cy="97316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10" name="구부러진 연결선 8">
            <a:extLst>
              <a:ext uri="{FF2B5EF4-FFF2-40B4-BE49-F238E27FC236}">
                <a16:creationId xmlns:a16="http://schemas.microsoft.com/office/drawing/2014/main" id="{F462BF17-0F42-285A-7389-FBBC99E3E0D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3202370" y="3934177"/>
            <a:ext cx="643760" cy="476250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831014"/>
      </p:ext>
    </p:extLst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스트림을 사용하는 이유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1. </a:t>
            </a:r>
            <a:r>
              <a:rPr lang="ko-KR" altLang="en-US"/>
              <a:t>정렬</a:t>
            </a:r>
            <a:r>
              <a:rPr lang="en-US" altLang="ko-KR"/>
              <a:t>, </a:t>
            </a:r>
            <a:r>
              <a:rPr lang="ko-KR" altLang="en-US"/>
              <a:t>필터링</a:t>
            </a:r>
            <a:r>
              <a:rPr lang="en-US" altLang="ko-KR"/>
              <a:t>, </a:t>
            </a:r>
            <a:r>
              <a:rPr lang="ko-KR" altLang="en-US"/>
              <a:t>맵핑 등을 통해 지저분하고 중복되던 </a:t>
            </a:r>
            <a:r>
              <a:rPr lang="ko-KR" altLang="en-US" err="1"/>
              <a:t>반복문</a:t>
            </a:r>
            <a:r>
              <a:rPr lang="ko-KR" altLang="en-US"/>
              <a:t> 코드가 사라짐</a:t>
            </a:r>
            <a:r>
              <a:rPr lang="en-US" altLang="ko-KR"/>
              <a:t>.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데이터를 제어하는 주체가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JAVA</a:t>
            </a:r>
            <a:r>
              <a:rPr lang="ko-KR" altLang="en-US">
                <a:sym typeface="Wingdings" panose="05000000000000000000" pitchFamily="2" charset="2"/>
              </a:rPr>
              <a:t>로 </a:t>
            </a:r>
            <a:r>
              <a:rPr lang="ko-KR" altLang="en-US" err="1">
                <a:sym typeface="Wingdings" panose="05000000000000000000" pitchFamily="2" charset="2"/>
              </a:rPr>
              <a:t>옮겨짐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이유</a:t>
            </a:r>
            <a:endParaRPr lang="en-US" altLang="ko-KR">
              <a:sym typeface="Wingdings" panose="05000000000000000000" pitchFamily="2" charset="2"/>
            </a:endParaRPr>
          </a:p>
          <a:p>
            <a:pPr lvl="3"/>
            <a:r>
              <a:rPr lang="en-US" altLang="ko-KR">
                <a:sym typeface="Wingdings" panose="05000000000000000000" pitchFamily="2" charset="2"/>
              </a:rPr>
              <a:t>1. </a:t>
            </a:r>
            <a:r>
              <a:rPr lang="ko-KR" altLang="en-US">
                <a:sym typeface="Wingdings" panose="05000000000000000000" pitchFamily="2" charset="2"/>
              </a:rPr>
              <a:t>데이터가 늘어남에 따라 데이터를 정제하는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능력의 한계가 드러남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3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비정형 데이터를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에서 정제할 수 없음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3"/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RDB</a:t>
            </a:r>
            <a:r>
              <a:rPr lang="ko-KR" altLang="en-US">
                <a:sym typeface="Wingdings" panose="05000000000000000000" pitchFamily="2" charset="2"/>
              </a:rPr>
              <a:t>의 역할을 </a:t>
            </a:r>
            <a:r>
              <a:rPr lang="en-US" altLang="ko-KR">
                <a:sym typeface="Wingdings" panose="05000000000000000000" pitchFamily="2" charset="2"/>
              </a:rPr>
              <a:t>Java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Stream</a:t>
            </a:r>
            <a:r>
              <a:rPr lang="ko-KR" altLang="en-US">
                <a:sym typeface="Wingdings" panose="05000000000000000000" pitchFamily="2" charset="2"/>
              </a:rPr>
              <a:t>이 대신 처리함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51962"/>
      </p:ext>
    </p:extLst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기존 컬렉션의 사용 예제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저칼로리 음식만 필터링 한 후 칼로리 순으로 정렬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출력하는 예제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코드가 장황하다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ABD38-E0BE-B1D6-F69C-80027D3803D6}"/>
              </a:ext>
            </a:extLst>
          </p:cNvPr>
          <p:cNvSpPr txBox="1"/>
          <p:nvPr/>
        </p:nvSpPr>
        <p:spPr>
          <a:xfrm>
            <a:off x="729600" y="2269126"/>
            <a:ext cx="80466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menu)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lowCalroricDishesName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lowCalroricDishesName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480BD6B5-8B42-D8B7-BC3B-EDA1CA5E0ADB}"/>
              </a:ext>
            </a:extLst>
          </p:cNvPr>
          <p:cNvSpPr/>
          <p:nvPr/>
        </p:nvSpPr>
        <p:spPr>
          <a:xfrm>
            <a:off x="5254740" y="2666297"/>
            <a:ext cx="1109510" cy="587443"/>
          </a:xfrm>
          <a:prstGeom prst="borderCallout1">
            <a:avLst>
              <a:gd name="adj1" fmla="val 47321"/>
              <a:gd name="adj2" fmla="val 0"/>
              <a:gd name="adj3" fmla="val 49491"/>
              <a:gd name="adj4" fmla="val -7215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누적자로</a:t>
            </a:r>
            <a:b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요소 필터링</a:t>
            </a: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1B529794-1F27-28A4-709A-338AE71B80A2}"/>
              </a:ext>
            </a:extLst>
          </p:cNvPr>
          <p:cNvSpPr/>
          <p:nvPr/>
        </p:nvSpPr>
        <p:spPr>
          <a:xfrm>
            <a:off x="6657339" y="3280029"/>
            <a:ext cx="1201485" cy="587443"/>
          </a:xfrm>
          <a:prstGeom prst="borderCallout1">
            <a:avLst>
              <a:gd name="adj1" fmla="val 47321"/>
              <a:gd name="adj2" fmla="val 0"/>
              <a:gd name="adj3" fmla="val 123428"/>
              <a:gd name="adj4" fmla="val -10156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익명 클래스로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요리 정렬</a:t>
            </a: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7E6E473B-2809-61EE-0055-60A609D937E4}"/>
              </a:ext>
            </a:extLst>
          </p:cNvPr>
          <p:cNvSpPr/>
          <p:nvPr/>
        </p:nvSpPr>
        <p:spPr>
          <a:xfrm>
            <a:off x="6364250" y="5975315"/>
            <a:ext cx="2141590" cy="587443"/>
          </a:xfrm>
          <a:prstGeom prst="borderCallout1">
            <a:avLst>
              <a:gd name="adj1" fmla="val 47321"/>
              <a:gd name="adj2" fmla="val 0"/>
              <a:gd name="adj3" fmla="val 32627"/>
              <a:gd name="adj4" fmla="val -3731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정렬된 리스트 처리하면서 요리 이름 선택</a:t>
            </a:r>
          </a:p>
        </p:txBody>
      </p:sp>
    </p:spTree>
    <p:extLst>
      <p:ext uri="{BB962C8B-B14F-4D97-AF65-F5344CB8AC3E}">
        <p14:creationId xmlns:p14="http://schemas.microsoft.com/office/powerpoint/2010/main" val="1570944744"/>
      </p:ext>
    </p:extLst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기존의 코드를 스트림으로 변경</a:t>
            </a:r>
            <a:endParaRPr lang="en-US" altLang="ko-KR"/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병렬처리도 가능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B9052-8A95-795E-A50D-3804A2C14E8B}"/>
              </a:ext>
            </a:extLst>
          </p:cNvPr>
          <p:cNvSpPr txBox="1"/>
          <p:nvPr/>
        </p:nvSpPr>
        <p:spPr>
          <a:xfrm>
            <a:off x="533400" y="1517363"/>
            <a:ext cx="84551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이하의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칼로리로 요리 정렬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45B42-0D9F-9C08-4489-2676F8930160}"/>
              </a:ext>
            </a:extLst>
          </p:cNvPr>
          <p:cNvSpPr txBox="1"/>
          <p:nvPr/>
        </p:nvSpPr>
        <p:spPr>
          <a:xfrm>
            <a:off x="533400" y="4354387"/>
            <a:ext cx="84551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latin typeface="Consolas" panose="020B0609020204030204" pitchFamily="49" charset="0"/>
              </a:rPr>
              <a:t>parallelStream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이하의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칼로리로 요리 정렬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206722389"/>
      </p:ext>
    </p:extLst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스트림은 </a:t>
            </a:r>
            <a:r>
              <a:rPr lang="ko-KR" altLang="en-US">
                <a:sym typeface="Wingdings" panose="05000000000000000000" pitchFamily="2" charset="2"/>
              </a:rPr>
              <a:t>코드를 블록 단위로 관리 </a:t>
            </a:r>
            <a:r>
              <a:rPr lang="en-US" altLang="ko-KR">
                <a:sym typeface="Wingdings" panose="05000000000000000000" pitchFamily="2" charset="2"/>
              </a:rPr>
              <a:t>/ </a:t>
            </a:r>
            <a:r>
              <a:rPr lang="ko-KR" altLang="en-US">
                <a:sym typeface="Wingdings" panose="05000000000000000000" pitchFamily="2" charset="2"/>
              </a:rPr>
              <a:t>처리한다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아래와 같은 코드가 있다면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6ED53-B9C9-1AD0-F507-CBBAC92D1BB5}"/>
              </a:ext>
            </a:extLst>
          </p:cNvPr>
          <p:cNvSpPr txBox="1"/>
          <p:nvPr/>
        </p:nvSpPr>
        <p:spPr>
          <a:xfrm>
            <a:off x="666750" y="3637062"/>
            <a:ext cx="809625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threeHighCaloricDishNames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이상의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선착순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개만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E3994A-8D19-33BF-6CF2-5A3EF89AE053}"/>
              </a:ext>
            </a:extLst>
          </p:cNvPr>
          <p:cNvSpPr/>
          <p:nvPr/>
        </p:nvSpPr>
        <p:spPr>
          <a:xfrm>
            <a:off x="1749054" y="2502194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filter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A0FDCE-3128-5D01-8AF1-C9FDDF7CA34A}"/>
              </a:ext>
            </a:extLst>
          </p:cNvPr>
          <p:cNvSpPr/>
          <p:nvPr/>
        </p:nvSpPr>
        <p:spPr>
          <a:xfrm>
            <a:off x="2975490" y="2500412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sorted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377B6C-CC72-5A1A-55FF-A2209FA8A231}"/>
              </a:ext>
            </a:extLst>
          </p:cNvPr>
          <p:cNvSpPr/>
          <p:nvPr/>
        </p:nvSpPr>
        <p:spPr>
          <a:xfrm>
            <a:off x="4178610" y="2498507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map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6D6BEC-90AF-1ECD-56CF-0D803E01A7FB}"/>
              </a:ext>
            </a:extLst>
          </p:cNvPr>
          <p:cNvSpPr/>
          <p:nvPr/>
        </p:nvSpPr>
        <p:spPr>
          <a:xfrm>
            <a:off x="5405046" y="2498507"/>
            <a:ext cx="754380" cy="403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collect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50B1E7-730B-132F-41E5-0FB405A3B1F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503434" y="2702342"/>
            <a:ext cx="472056" cy="17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94AA6E4-0890-E0F4-D6B6-7A7F4E71AFB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729870" y="2700437"/>
            <a:ext cx="448740" cy="19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365A017-4C5C-3CDA-02C4-825D8014547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932990" y="2700437"/>
            <a:ext cx="47205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97CD927-9D3F-277B-CC48-E890556C2478}"/>
              </a:ext>
            </a:extLst>
          </p:cNvPr>
          <p:cNvSpPr txBox="1"/>
          <p:nvPr/>
        </p:nvSpPr>
        <p:spPr>
          <a:xfrm>
            <a:off x="1887642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63AE3F-1FEE-E619-F552-2F2C9A2CA85F}"/>
              </a:ext>
            </a:extLst>
          </p:cNvPr>
          <p:cNvSpPr txBox="1"/>
          <p:nvPr/>
        </p:nvSpPr>
        <p:spPr>
          <a:xfrm>
            <a:off x="3106458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52F855-C063-E91F-5258-D9486B0BB218}"/>
              </a:ext>
            </a:extLst>
          </p:cNvPr>
          <p:cNvSpPr txBox="1"/>
          <p:nvPr/>
        </p:nvSpPr>
        <p:spPr>
          <a:xfrm>
            <a:off x="4309578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6119048-E1CD-B472-FF2C-74DA4C998B69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>
          <a:xfrm flipH="1">
            <a:off x="2126244" y="2099612"/>
            <a:ext cx="7620" cy="4025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D1493CF-68E8-0474-4A28-587CF0A4518A}"/>
              </a:ext>
            </a:extLst>
          </p:cNvPr>
          <p:cNvCxnSpPr>
            <a:cxnSpLocks/>
            <a:stCxn id="25" idx="2"/>
            <a:endCxn id="12" idx="0"/>
          </p:cNvCxnSpPr>
          <p:nvPr/>
        </p:nvCxnSpPr>
        <p:spPr>
          <a:xfrm>
            <a:off x="3352680" y="2099612"/>
            <a:ext cx="0" cy="4008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8599860-BB46-C89B-1A3B-0F261AB1A0EE}"/>
              </a:ext>
            </a:extLst>
          </p:cNvPr>
          <p:cNvCxnSpPr>
            <a:cxnSpLocks/>
            <a:stCxn id="26" idx="2"/>
            <a:endCxn id="13" idx="0"/>
          </p:cNvCxnSpPr>
          <p:nvPr/>
        </p:nvCxnSpPr>
        <p:spPr>
          <a:xfrm>
            <a:off x="4555800" y="2099612"/>
            <a:ext cx="0" cy="39889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1E10A35-2DA0-1327-9385-A9C83B757EF9}"/>
              </a:ext>
            </a:extLst>
          </p:cNvPr>
          <p:cNvSpPr txBox="1"/>
          <p:nvPr/>
        </p:nvSpPr>
        <p:spPr>
          <a:xfrm>
            <a:off x="775471" y="2561937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menu</a:t>
            </a:r>
            <a:endParaRPr lang="ko-KR" altLang="en-US" sz="120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860EAC3-96D1-008B-C144-0AEC5343F547}"/>
              </a:ext>
            </a:extLst>
          </p:cNvPr>
          <p:cNvCxnSpPr>
            <a:cxnSpLocks/>
            <a:stCxn id="36" idx="3"/>
            <a:endCxn id="11" idx="1"/>
          </p:cNvCxnSpPr>
          <p:nvPr/>
        </p:nvCxnSpPr>
        <p:spPr>
          <a:xfrm>
            <a:off x="1320813" y="2700437"/>
            <a:ext cx="428241" cy="36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955643"/>
      </p:ext>
    </p:extLst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스트림은 이렇게 처리한다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52698A-EE39-2A5A-BDCA-62984B7CA0D1}"/>
              </a:ext>
            </a:extLst>
          </p:cNvPr>
          <p:cNvSpPr/>
          <p:nvPr/>
        </p:nvSpPr>
        <p:spPr>
          <a:xfrm>
            <a:off x="2640594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C03929-9C0F-8457-01D7-39799F3435AF}"/>
              </a:ext>
            </a:extLst>
          </p:cNvPr>
          <p:cNvSpPr/>
          <p:nvPr/>
        </p:nvSpPr>
        <p:spPr>
          <a:xfrm>
            <a:off x="3266166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5540CF-EC36-76FB-C46B-EF872FBD0E50}"/>
              </a:ext>
            </a:extLst>
          </p:cNvPr>
          <p:cNvSpPr/>
          <p:nvPr/>
        </p:nvSpPr>
        <p:spPr>
          <a:xfrm>
            <a:off x="3891738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B6DB17-AA3D-819F-01EF-0E6353725D0A}"/>
              </a:ext>
            </a:extLst>
          </p:cNvPr>
          <p:cNvSpPr/>
          <p:nvPr/>
        </p:nvSpPr>
        <p:spPr>
          <a:xfrm>
            <a:off x="4517310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8A4DEE-C80A-A31B-2C37-25935D2914D5}"/>
              </a:ext>
            </a:extLst>
          </p:cNvPr>
          <p:cNvSpPr/>
          <p:nvPr/>
        </p:nvSpPr>
        <p:spPr>
          <a:xfrm>
            <a:off x="5142882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63AABA-7A9F-90EE-92D5-68D182BD5555}"/>
              </a:ext>
            </a:extLst>
          </p:cNvPr>
          <p:cNvSpPr/>
          <p:nvPr/>
        </p:nvSpPr>
        <p:spPr>
          <a:xfrm>
            <a:off x="5768454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D4E6E2-1E0A-DBA7-4DE9-63F637202F2A}"/>
              </a:ext>
            </a:extLst>
          </p:cNvPr>
          <p:cNvSpPr/>
          <p:nvPr/>
        </p:nvSpPr>
        <p:spPr>
          <a:xfrm>
            <a:off x="3266166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B668E1-500B-2F39-828A-762E7A079EA0}"/>
              </a:ext>
            </a:extLst>
          </p:cNvPr>
          <p:cNvSpPr/>
          <p:nvPr/>
        </p:nvSpPr>
        <p:spPr>
          <a:xfrm>
            <a:off x="3891738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ACE12B-713E-6855-5967-C15C41D84239}"/>
              </a:ext>
            </a:extLst>
          </p:cNvPr>
          <p:cNvSpPr/>
          <p:nvPr/>
        </p:nvSpPr>
        <p:spPr>
          <a:xfrm>
            <a:off x="5142882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EBF89A-C21E-2869-8052-5CD8C970C035}"/>
              </a:ext>
            </a:extLst>
          </p:cNvPr>
          <p:cNvSpPr/>
          <p:nvPr/>
        </p:nvSpPr>
        <p:spPr>
          <a:xfrm>
            <a:off x="5768454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5152DD9-3CD0-794A-1D63-6FF9862CC751}"/>
              </a:ext>
            </a:extLst>
          </p:cNvPr>
          <p:cNvSpPr/>
          <p:nvPr/>
        </p:nvSpPr>
        <p:spPr>
          <a:xfrm>
            <a:off x="3266166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DEC5A18-95C6-9538-4080-029A7DD6F199}"/>
              </a:ext>
            </a:extLst>
          </p:cNvPr>
          <p:cNvSpPr/>
          <p:nvPr/>
        </p:nvSpPr>
        <p:spPr>
          <a:xfrm>
            <a:off x="3266166" y="4845793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F02C2F2-9EA9-9EDF-255D-7B96A8EBE753}"/>
              </a:ext>
            </a:extLst>
          </p:cNvPr>
          <p:cNvSpPr/>
          <p:nvPr/>
        </p:nvSpPr>
        <p:spPr>
          <a:xfrm>
            <a:off x="3891738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D264B36-5935-6B3C-1B63-86C24ED391A5}"/>
              </a:ext>
            </a:extLst>
          </p:cNvPr>
          <p:cNvSpPr/>
          <p:nvPr/>
        </p:nvSpPr>
        <p:spPr>
          <a:xfrm>
            <a:off x="3891738" y="4840700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B9AE811-1174-3C86-1292-25325E24B97A}"/>
              </a:ext>
            </a:extLst>
          </p:cNvPr>
          <p:cNvSpPr/>
          <p:nvPr/>
        </p:nvSpPr>
        <p:spPr>
          <a:xfrm>
            <a:off x="5142573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3739FDF-C323-103A-4DAA-A977ED877ECB}"/>
              </a:ext>
            </a:extLst>
          </p:cNvPr>
          <p:cNvSpPr/>
          <p:nvPr/>
        </p:nvSpPr>
        <p:spPr>
          <a:xfrm>
            <a:off x="5142573" y="4840700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A0705B5-0875-AF53-B36F-CC41A3BF51D2}"/>
              </a:ext>
            </a:extLst>
          </p:cNvPr>
          <p:cNvSpPr/>
          <p:nvPr/>
        </p:nvSpPr>
        <p:spPr>
          <a:xfrm>
            <a:off x="5768454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7F1FCE4-953B-3D7B-F806-EB79C3AC915E}"/>
              </a:ext>
            </a:extLst>
          </p:cNvPr>
          <p:cNvSpPr/>
          <p:nvPr/>
        </p:nvSpPr>
        <p:spPr>
          <a:xfrm>
            <a:off x="3266166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262DC5-480A-ECD6-EB70-BA853EDB628E}"/>
              </a:ext>
            </a:extLst>
          </p:cNvPr>
          <p:cNvSpPr/>
          <p:nvPr/>
        </p:nvSpPr>
        <p:spPr>
          <a:xfrm>
            <a:off x="3891738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2DB65A4-FAAF-12F9-2988-B4F1E1F4929D}"/>
              </a:ext>
            </a:extLst>
          </p:cNvPr>
          <p:cNvSpPr/>
          <p:nvPr/>
        </p:nvSpPr>
        <p:spPr>
          <a:xfrm>
            <a:off x="4504764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92AE6A-7149-777C-EBD9-6200270612A0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3435579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2E88241-4960-8147-F182-1655EF51264E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4061151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0A97B35-6880-E0D8-C563-98F346DBC1D4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5312295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625F008-FF73-BE8A-37E4-0FE32F219F58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5937867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97E1826-FC9D-02D2-5A61-C0A62B99298B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3435579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9AAC61E-5085-604A-56A4-0DCD12AD0605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>
            <a:off x="4061151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3394C91-7EC5-723F-A5FA-341BDE047276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5311986" y="3253740"/>
            <a:ext cx="309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B218EF1-7DC0-75EE-2894-CF1A1BF5E366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5937867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8760699-4703-D45B-A68F-3A5201A78A77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3435579" y="4211380"/>
            <a:ext cx="0" cy="6344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F2F4879-AE7D-94B6-AE03-D2F5AEF7D61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4061151" y="4211380"/>
            <a:ext cx="0" cy="6293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843438F-EFA5-ECF3-121C-0A8E366A00B3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5311986" y="4211380"/>
            <a:ext cx="0" cy="6293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D6CC045-D9F4-1D9F-E844-6FEDAB9BB608}"/>
              </a:ext>
            </a:extLst>
          </p:cNvPr>
          <p:cNvCxnSpPr>
            <a:cxnSpLocks/>
            <a:stCxn id="19" idx="4"/>
            <a:endCxn id="65" idx="0"/>
          </p:cNvCxnSpPr>
          <p:nvPr/>
        </p:nvCxnSpPr>
        <p:spPr>
          <a:xfrm>
            <a:off x="3435579" y="5184619"/>
            <a:ext cx="610640" cy="5380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472AB7A-80BC-1E9A-3A97-6164A8ABF378}"/>
              </a:ext>
            </a:extLst>
          </p:cNvPr>
          <p:cNvCxnSpPr>
            <a:cxnSpLocks/>
            <a:stCxn id="21" idx="4"/>
            <a:endCxn id="65" idx="0"/>
          </p:cNvCxnSpPr>
          <p:nvPr/>
        </p:nvCxnSpPr>
        <p:spPr>
          <a:xfrm flipH="1">
            <a:off x="4046219" y="5179526"/>
            <a:ext cx="14932" cy="54309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D70A23B-C537-7AEE-048F-362928A0A8C9}"/>
              </a:ext>
            </a:extLst>
          </p:cNvPr>
          <p:cNvCxnSpPr>
            <a:cxnSpLocks/>
            <a:stCxn id="23" idx="4"/>
            <a:endCxn id="65" idx="0"/>
          </p:cNvCxnSpPr>
          <p:nvPr/>
        </p:nvCxnSpPr>
        <p:spPr>
          <a:xfrm flipH="1">
            <a:off x="4046219" y="5179526"/>
            <a:ext cx="1265767" cy="54309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CFCF71E-4374-3DA8-A275-ECD514551A42}"/>
              </a:ext>
            </a:extLst>
          </p:cNvPr>
          <p:cNvSpPr/>
          <p:nvPr/>
        </p:nvSpPr>
        <p:spPr>
          <a:xfrm>
            <a:off x="2994660" y="5722620"/>
            <a:ext cx="2103117" cy="54864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B6E212-25BF-CBFB-095C-C7D84F242907}"/>
              </a:ext>
            </a:extLst>
          </p:cNvPr>
          <p:cNvSpPr txBox="1"/>
          <p:nvPr/>
        </p:nvSpPr>
        <p:spPr>
          <a:xfrm>
            <a:off x="6170664" y="19127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24E38D-9297-04FE-946A-06B9F6240769}"/>
              </a:ext>
            </a:extLst>
          </p:cNvPr>
          <p:cNvSpPr txBox="1"/>
          <p:nvPr/>
        </p:nvSpPr>
        <p:spPr>
          <a:xfrm>
            <a:off x="6170664" y="2898434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73E2E2-2E88-621A-A884-DC4B54101A5E}"/>
              </a:ext>
            </a:extLst>
          </p:cNvPr>
          <p:cNvSpPr txBox="1"/>
          <p:nvPr/>
        </p:nvSpPr>
        <p:spPr>
          <a:xfrm>
            <a:off x="6170664" y="387255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490353-D562-90A4-490B-D0B2AEC6B8B8}"/>
              </a:ext>
            </a:extLst>
          </p:cNvPr>
          <p:cNvSpPr txBox="1"/>
          <p:nvPr/>
        </p:nvSpPr>
        <p:spPr>
          <a:xfrm>
            <a:off x="6170664" y="485622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235388-4225-F9B6-913C-5B928D341BA0}"/>
              </a:ext>
            </a:extLst>
          </p:cNvPr>
          <p:cNvSpPr txBox="1"/>
          <p:nvPr/>
        </p:nvSpPr>
        <p:spPr>
          <a:xfrm>
            <a:off x="6170664" y="582956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134541-056A-6C10-22F2-2234BA91C8C5}"/>
              </a:ext>
            </a:extLst>
          </p:cNvPr>
          <p:cNvSpPr txBox="1"/>
          <p:nvPr/>
        </p:nvSpPr>
        <p:spPr>
          <a:xfrm>
            <a:off x="609600" y="1761789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979F2A-423D-AA48-D128-3041E3640AFF}"/>
              </a:ext>
            </a:extLst>
          </p:cNvPr>
          <p:cNvSpPr txBox="1"/>
          <p:nvPr/>
        </p:nvSpPr>
        <p:spPr>
          <a:xfrm>
            <a:off x="508976" y="2543383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1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ko-KR" altLang="en-US" sz="11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C5885B-5594-CB17-36CD-CF588C4F8B38}"/>
              </a:ext>
            </a:extLst>
          </p:cNvPr>
          <p:cNvSpPr txBox="1"/>
          <p:nvPr/>
        </p:nvSpPr>
        <p:spPr>
          <a:xfrm>
            <a:off x="508976" y="3533824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16AFE4-0C27-8292-EF24-C9E5F24106C9}"/>
              </a:ext>
            </a:extLst>
          </p:cNvPr>
          <p:cNvSpPr txBox="1"/>
          <p:nvPr/>
        </p:nvSpPr>
        <p:spPr>
          <a:xfrm>
            <a:off x="508976" y="4492864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883D9F-B4E0-BCD7-0BD4-443B2C92D89C}"/>
              </a:ext>
            </a:extLst>
          </p:cNvPr>
          <p:cNvSpPr txBox="1"/>
          <p:nvPr/>
        </p:nvSpPr>
        <p:spPr>
          <a:xfrm>
            <a:off x="508976" y="5477995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EE57A7D-4E35-D296-F096-4FD87A8C959C}"/>
              </a:ext>
            </a:extLst>
          </p:cNvPr>
          <p:cNvCxnSpPr/>
          <p:nvPr/>
        </p:nvCxnSpPr>
        <p:spPr>
          <a:xfrm>
            <a:off x="609600" y="248412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3EFA5B9-2C5B-88C2-5296-343508B779B0}"/>
              </a:ext>
            </a:extLst>
          </p:cNvPr>
          <p:cNvCxnSpPr/>
          <p:nvPr/>
        </p:nvCxnSpPr>
        <p:spPr>
          <a:xfrm>
            <a:off x="609600" y="3468015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1D1D273D-1A9D-3913-9EDC-ED7B22C58F7A}"/>
              </a:ext>
            </a:extLst>
          </p:cNvPr>
          <p:cNvCxnSpPr/>
          <p:nvPr/>
        </p:nvCxnSpPr>
        <p:spPr>
          <a:xfrm>
            <a:off x="609600" y="445008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9E72DBC0-EBA3-863F-D956-54AA97E18D6E}"/>
              </a:ext>
            </a:extLst>
          </p:cNvPr>
          <p:cNvCxnSpPr/>
          <p:nvPr/>
        </p:nvCxnSpPr>
        <p:spPr>
          <a:xfrm>
            <a:off x="609600" y="54330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55038"/>
      </p:ext>
    </p:extLst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스트림의 연산 종류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아래에서 중간 연산과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최종 연산은 무엇일까</a:t>
            </a:r>
            <a:r>
              <a:rPr lang="en-US" altLang="ko-KR"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30F4-A3E1-CBA2-F807-DD67A652BD6A}"/>
              </a:ext>
            </a:extLst>
          </p:cNvPr>
          <p:cNvSpPr txBox="1"/>
          <p:nvPr/>
        </p:nvSpPr>
        <p:spPr>
          <a:xfrm>
            <a:off x="666750" y="4049646"/>
            <a:ext cx="8477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중간연산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중간연산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중간연산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최종연산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A0865F-DA09-9F45-56BE-D5C7C8775235}"/>
              </a:ext>
            </a:extLst>
          </p:cNvPr>
          <p:cNvSpPr/>
          <p:nvPr/>
        </p:nvSpPr>
        <p:spPr>
          <a:xfrm>
            <a:off x="1390914" y="2271328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filter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55CD76-E2A2-3D26-B6A6-CACB82CD493F}"/>
              </a:ext>
            </a:extLst>
          </p:cNvPr>
          <p:cNvSpPr/>
          <p:nvPr/>
        </p:nvSpPr>
        <p:spPr>
          <a:xfrm>
            <a:off x="2464950" y="2269546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sorted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ABBCDC-CCE5-93A1-CB70-611569D262B8}"/>
              </a:ext>
            </a:extLst>
          </p:cNvPr>
          <p:cNvSpPr/>
          <p:nvPr/>
        </p:nvSpPr>
        <p:spPr>
          <a:xfrm>
            <a:off x="3485190" y="2267641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limit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644705-A9B8-480A-F175-27323E278890}"/>
              </a:ext>
            </a:extLst>
          </p:cNvPr>
          <p:cNvSpPr/>
          <p:nvPr/>
        </p:nvSpPr>
        <p:spPr>
          <a:xfrm>
            <a:off x="4536366" y="2267641"/>
            <a:ext cx="754380" cy="403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collect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1971E6A-3612-9FC7-EEA4-AC759B4E31D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145294" y="2471476"/>
            <a:ext cx="319656" cy="17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F24039-810A-A51D-0A50-8C6F839B99D6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219330" y="2469571"/>
            <a:ext cx="265860" cy="19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4AF3BF1-DFB1-73C1-E1AB-03B4BABF8C1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239570" y="2469571"/>
            <a:ext cx="29679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B76F75-43E9-18EC-0E35-1A1777A2899C}"/>
              </a:ext>
            </a:extLst>
          </p:cNvPr>
          <p:cNvSpPr txBox="1"/>
          <p:nvPr/>
        </p:nvSpPr>
        <p:spPr>
          <a:xfrm>
            <a:off x="1529502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4067E-BD4E-8663-438C-7E0888FB3AE4}"/>
              </a:ext>
            </a:extLst>
          </p:cNvPr>
          <p:cNvSpPr txBox="1"/>
          <p:nvPr/>
        </p:nvSpPr>
        <p:spPr>
          <a:xfrm>
            <a:off x="2595918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44F88-1E9A-1F40-D127-772C0CBB855A}"/>
              </a:ext>
            </a:extLst>
          </p:cNvPr>
          <p:cNvSpPr txBox="1"/>
          <p:nvPr/>
        </p:nvSpPr>
        <p:spPr>
          <a:xfrm>
            <a:off x="3616158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정수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09D4A16-D506-032C-191F-AD12D367FD5B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 flipH="1">
            <a:off x="1768104" y="1960186"/>
            <a:ext cx="7620" cy="31114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37A3049-A866-A281-E24F-CB8A05A7BEBC}"/>
              </a:ext>
            </a:extLst>
          </p:cNvPr>
          <p:cNvCxnSpPr>
            <a:cxnSpLocks/>
            <a:stCxn id="17" idx="2"/>
            <a:endCxn id="10" idx="0"/>
          </p:cNvCxnSpPr>
          <p:nvPr/>
        </p:nvCxnSpPr>
        <p:spPr>
          <a:xfrm>
            <a:off x="2842140" y="1960186"/>
            <a:ext cx="0" cy="30936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4A85B3-6D91-ACAA-D801-61033B3D960B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>
            <a:off x="3862380" y="1960186"/>
            <a:ext cx="0" cy="30745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2822D6-7352-2D36-C687-11BA0E824648}"/>
              </a:ext>
            </a:extLst>
          </p:cNvPr>
          <p:cNvSpPr txBox="1"/>
          <p:nvPr/>
        </p:nvSpPr>
        <p:spPr>
          <a:xfrm>
            <a:off x="554491" y="2331071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menu</a:t>
            </a:r>
            <a:endParaRPr lang="ko-KR" altLang="en-US" sz="12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FEB6A10-8500-8D10-6D0B-FF7D076AA089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>
            <a:off x="1099833" y="2469571"/>
            <a:ext cx="291081" cy="36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CFB886C4-7764-C613-3C89-F37E13BA5DD5}"/>
              </a:ext>
            </a:extLst>
          </p:cNvPr>
          <p:cNvSpPr/>
          <p:nvPr/>
        </p:nvSpPr>
        <p:spPr>
          <a:xfrm rot="16200000">
            <a:off x="2690124" y="1433939"/>
            <a:ext cx="186426" cy="2784846"/>
          </a:xfrm>
          <a:prstGeom prst="leftBrac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7D8C2191-10B7-EB0D-B744-87982B2A60B4}"/>
              </a:ext>
            </a:extLst>
          </p:cNvPr>
          <p:cNvSpPr/>
          <p:nvPr/>
        </p:nvSpPr>
        <p:spPr>
          <a:xfrm rot="16200000">
            <a:off x="4777200" y="2492315"/>
            <a:ext cx="186426" cy="668094"/>
          </a:xfrm>
          <a:prstGeom prst="leftBrac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AFE854-6591-AE37-171C-9173A85A37B6}"/>
              </a:ext>
            </a:extLst>
          </p:cNvPr>
          <p:cNvSpPr txBox="1"/>
          <p:nvPr/>
        </p:nvSpPr>
        <p:spPr>
          <a:xfrm>
            <a:off x="2365594" y="290998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중간 연산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E834AE-A340-9712-C342-F29366032FB2}"/>
              </a:ext>
            </a:extLst>
          </p:cNvPr>
          <p:cNvSpPr txBox="1"/>
          <p:nvPr/>
        </p:nvSpPr>
        <p:spPr>
          <a:xfrm>
            <a:off x="4487632" y="290998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최종 연산</a:t>
            </a:r>
          </a:p>
        </p:txBody>
      </p:sp>
    </p:spTree>
    <p:extLst>
      <p:ext uri="{BB962C8B-B14F-4D97-AF65-F5344CB8AC3E}">
        <p14:creationId xmlns:p14="http://schemas.microsoft.com/office/powerpoint/2010/main" val="1845581757"/>
      </p:ext>
    </p:extLst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중간 연산과 최종 연산의 종류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중간연산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최종 연산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95C4F3-86B6-F0B6-BCB0-937E7B2B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50" y="1953173"/>
            <a:ext cx="5057669" cy="19031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7F0E5AF-2390-04FC-9C55-D679BE08A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49" y="4437293"/>
            <a:ext cx="6112135" cy="131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85741"/>
      </p:ext>
    </p:extLst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3. Filtering &amp; Slicing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21612"/>
      </p:ext>
    </p:extLst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필터링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고유 요소 필터링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DB7AB-D28B-B60C-946B-8F7F93173012}"/>
              </a:ext>
            </a:extLst>
          </p:cNvPr>
          <p:cNvSpPr txBox="1"/>
          <p:nvPr/>
        </p:nvSpPr>
        <p:spPr>
          <a:xfrm>
            <a:off x="945417" y="1893489"/>
            <a:ext cx="72531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vegitarianMenu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채식 요리인지 확인하는 메서드 레퍼런스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4A470-BB4F-F9B2-234C-BB812A242DE2}"/>
              </a:ext>
            </a:extLst>
          </p:cNvPr>
          <p:cNvSpPr txBox="1"/>
          <p:nvPr/>
        </p:nvSpPr>
        <p:spPr>
          <a:xfrm>
            <a:off x="945416" y="3741993"/>
            <a:ext cx="71394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59026205"/>
      </p:ext>
    </p:extLst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 </a:t>
            </a:r>
            <a:r>
              <a:rPr lang="en-US" altLang="ko-KR">
                <a:sym typeface="Wingdings" panose="05000000000000000000" pitchFamily="2" charset="2"/>
              </a:rPr>
              <a:t>– filter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A2433CB-CDBC-90FC-5151-308733F23973}"/>
              </a:ext>
            </a:extLst>
          </p:cNvPr>
          <p:cNvCxnSpPr/>
          <p:nvPr/>
        </p:nvCxnSpPr>
        <p:spPr>
          <a:xfrm>
            <a:off x="1143000" y="29184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6783A2-529A-62DD-ACE3-1DC5D274CAF8}"/>
              </a:ext>
            </a:extLst>
          </p:cNvPr>
          <p:cNvCxnSpPr/>
          <p:nvPr/>
        </p:nvCxnSpPr>
        <p:spPr>
          <a:xfrm>
            <a:off x="1143000" y="396240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E238EAD-4BA5-7A17-3D0B-A8C157A3D4C8}"/>
              </a:ext>
            </a:extLst>
          </p:cNvPr>
          <p:cNvSpPr txBox="1"/>
          <p:nvPr/>
        </p:nvSpPr>
        <p:spPr>
          <a:xfrm>
            <a:off x="1074420" y="2062178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8F7BA8-F7B7-926C-1FA0-5B890FFA3B96}"/>
              </a:ext>
            </a:extLst>
          </p:cNvPr>
          <p:cNvSpPr txBox="1"/>
          <p:nvPr/>
        </p:nvSpPr>
        <p:spPr>
          <a:xfrm>
            <a:off x="7002643" y="229332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EECE22-C88E-B3A5-A220-F1B5BA3DAFA0}"/>
              </a:ext>
            </a:extLst>
          </p:cNvPr>
          <p:cNvSpPr txBox="1"/>
          <p:nvPr/>
        </p:nvSpPr>
        <p:spPr>
          <a:xfrm>
            <a:off x="7002643" y="3361681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D7955B-C665-66E5-4CF4-8A293CEF275D}"/>
              </a:ext>
            </a:extLst>
          </p:cNvPr>
          <p:cNvSpPr txBox="1"/>
          <p:nvPr/>
        </p:nvSpPr>
        <p:spPr>
          <a:xfrm>
            <a:off x="7002643" y="4399261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67B577-B22D-2EBE-C0AC-95BB09126BA4}"/>
              </a:ext>
            </a:extLst>
          </p:cNvPr>
          <p:cNvSpPr txBox="1"/>
          <p:nvPr/>
        </p:nvSpPr>
        <p:spPr>
          <a:xfrm>
            <a:off x="990599" y="2968267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20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205A2B-452B-9B50-1DEA-3F1454BDB59F}"/>
              </a:ext>
            </a:extLst>
          </p:cNvPr>
          <p:cNvSpPr txBox="1"/>
          <p:nvPr/>
        </p:nvSpPr>
        <p:spPr>
          <a:xfrm>
            <a:off x="990599" y="4015589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2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3362AA8-FD68-85AA-D4A1-6F8039278650}"/>
              </a:ext>
            </a:extLst>
          </p:cNvPr>
          <p:cNvSpPr/>
          <p:nvPr/>
        </p:nvSpPr>
        <p:spPr>
          <a:xfrm>
            <a:off x="3242574" y="230394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A4F3FD0-A0E1-580B-6505-0EDADDBA2E49}"/>
              </a:ext>
            </a:extLst>
          </p:cNvPr>
          <p:cNvSpPr/>
          <p:nvPr/>
        </p:nvSpPr>
        <p:spPr>
          <a:xfrm>
            <a:off x="6570257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70386C6-249A-910B-C2FE-6979855A346A}"/>
              </a:ext>
            </a:extLst>
          </p:cNvPr>
          <p:cNvSpPr/>
          <p:nvPr/>
        </p:nvSpPr>
        <p:spPr>
          <a:xfrm>
            <a:off x="5903832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56317A9-4805-8B49-5B42-21629AF8146F}"/>
              </a:ext>
            </a:extLst>
          </p:cNvPr>
          <p:cNvSpPr/>
          <p:nvPr/>
        </p:nvSpPr>
        <p:spPr>
          <a:xfrm>
            <a:off x="4574294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4CDE0F2-B583-4B51-DC97-F95B2DF68305}"/>
              </a:ext>
            </a:extLst>
          </p:cNvPr>
          <p:cNvSpPr/>
          <p:nvPr/>
        </p:nvSpPr>
        <p:spPr>
          <a:xfrm>
            <a:off x="3910503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1BFADA5-E424-5F0F-6527-34071F53158C}"/>
              </a:ext>
            </a:extLst>
          </p:cNvPr>
          <p:cNvSpPr/>
          <p:nvPr/>
        </p:nvSpPr>
        <p:spPr>
          <a:xfrm>
            <a:off x="5239016" y="230394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F4BFAE7-FFBE-25F9-E548-26B2502D297F}"/>
              </a:ext>
            </a:extLst>
          </p:cNvPr>
          <p:cNvSpPr/>
          <p:nvPr/>
        </p:nvSpPr>
        <p:spPr>
          <a:xfrm>
            <a:off x="3910503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53D6E65-21EE-6184-3470-003B91EC6376}"/>
              </a:ext>
            </a:extLst>
          </p:cNvPr>
          <p:cNvSpPr/>
          <p:nvPr/>
        </p:nvSpPr>
        <p:spPr>
          <a:xfrm>
            <a:off x="4574294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3961B9C-69BC-D794-A0C5-21635FE4A0BE}"/>
              </a:ext>
            </a:extLst>
          </p:cNvPr>
          <p:cNvSpPr/>
          <p:nvPr/>
        </p:nvSpPr>
        <p:spPr>
          <a:xfrm>
            <a:off x="5903832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0399886-A8D7-83BC-A156-416289ED5A74}"/>
              </a:ext>
            </a:extLst>
          </p:cNvPr>
          <p:cNvSpPr/>
          <p:nvPr/>
        </p:nvSpPr>
        <p:spPr>
          <a:xfrm>
            <a:off x="6570257" y="334788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7D58E3-EBC2-F4A5-5CED-842008BD25E2}"/>
              </a:ext>
            </a:extLst>
          </p:cNvPr>
          <p:cNvSpPr/>
          <p:nvPr/>
        </p:nvSpPr>
        <p:spPr>
          <a:xfrm>
            <a:off x="4237536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467A788-5F4D-96B3-D208-F61CB8DF5A51}"/>
              </a:ext>
            </a:extLst>
          </p:cNvPr>
          <p:cNvSpPr/>
          <p:nvPr/>
        </p:nvSpPr>
        <p:spPr>
          <a:xfrm>
            <a:off x="4900190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E2972D8-843E-AA23-0A6D-39E4E9FBAC35}"/>
              </a:ext>
            </a:extLst>
          </p:cNvPr>
          <p:cNvSpPr/>
          <p:nvPr/>
        </p:nvSpPr>
        <p:spPr>
          <a:xfrm>
            <a:off x="5562844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4A1870B-EC5B-E8D4-5B13-A911DDEEFEF1}"/>
              </a:ext>
            </a:extLst>
          </p:cNvPr>
          <p:cNvSpPr/>
          <p:nvPr/>
        </p:nvSpPr>
        <p:spPr>
          <a:xfrm>
            <a:off x="6242658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DA64F5B-0D46-5124-C040-228286FA7CCC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>
            <a:off x="4079916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5D4F15E-121E-76DF-803B-D6854612CAAF}"/>
              </a:ext>
            </a:extLst>
          </p:cNvPr>
          <p:cNvCxnSpPr>
            <a:cxnSpLocks/>
            <a:stCxn id="71" idx="2"/>
            <a:endCxn id="75" idx="0"/>
          </p:cNvCxnSpPr>
          <p:nvPr/>
        </p:nvCxnSpPr>
        <p:spPr>
          <a:xfrm>
            <a:off x="4743707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35F27CE-83F9-10A3-C738-A2AB64E8411D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6073245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96AC2B8-C202-2B41-E0FF-5AACAABACC12}"/>
              </a:ext>
            </a:extLst>
          </p:cNvPr>
          <p:cNvCxnSpPr>
            <a:cxnSpLocks/>
            <a:stCxn id="68" idx="2"/>
            <a:endCxn id="77" idx="0"/>
          </p:cNvCxnSpPr>
          <p:nvPr/>
        </p:nvCxnSpPr>
        <p:spPr>
          <a:xfrm>
            <a:off x="6739670" y="2659253"/>
            <a:ext cx="0" cy="6886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425E8957-63BB-7BA1-237F-E95447EA55DF}"/>
              </a:ext>
            </a:extLst>
          </p:cNvPr>
          <p:cNvCxnSpPr>
            <a:cxnSpLocks/>
            <a:stCxn id="74" idx="2"/>
            <a:endCxn id="90" idx="0"/>
          </p:cNvCxnSpPr>
          <p:nvPr/>
        </p:nvCxnSpPr>
        <p:spPr>
          <a:xfrm>
            <a:off x="4079916" y="3706847"/>
            <a:ext cx="1325988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3359A87-4AA9-DF20-8004-A81F705BA627}"/>
              </a:ext>
            </a:extLst>
          </p:cNvPr>
          <p:cNvCxnSpPr>
            <a:cxnSpLocks/>
            <a:stCxn id="75" idx="2"/>
            <a:endCxn id="90" idx="0"/>
          </p:cNvCxnSpPr>
          <p:nvPr/>
        </p:nvCxnSpPr>
        <p:spPr>
          <a:xfrm>
            <a:off x="4743707" y="3706847"/>
            <a:ext cx="662197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E369E3D-C52C-B86F-D42A-C08B7540D8A8}"/>
              </a:ext>
            </a:extLst>
          </p:cNvPr>
          <p:cNvCxnSpPr>
            <a:cxnSpLocks/>
            <a:stCxn id="76" idx="2"/>
            <a:endCxn id="90" idx="0"/>
          </p:cNvCxnSpPr>
          <p:nvPr/>
        </p:nvCxnSpPr>
        <p:spPr>
          <a:xfrm flipH="1">
            <a:off x="5405904" y="3706847"/>
            <a:ext cx="667341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49CCE35-FD08-1C6F-087B-9B25E2634D93}"/>
              </a:ext>
            </a:extLst>
          </p:cNvPr>
          <p:cNvCxnSpPr>
            <a:cxnSpLocks/>
            <a:stCxn id="77" idx="2"/>
            <a:endCxn id="90" idx="0"/>
          </p:cNvCxnSpPr>
          <p:nvPr/>
        </p:nvCxnSpPr>
        <p:spPr>
          <a:xfrm flipH="1">
            <a:off x="5405904" y="3703193"/>
            <a:ext cx="1333766" cy="57445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3E49C3D-8948-B478-2027-2E05817512E2}"/>
              </a:ext>
            </a:extLst>
          </p:cNvPr>
          <p:cNvSpPr/>
          <p:nvPr/>
        </p:nvSpPr>
        <p:spPr>
          <a:xfrm>
            <a:off x="3969047" y="4277652"/>
            <a:ext cx="2873713" cy="57911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366424"/>
      </p:ext>
    </p:extLst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 </a:t>
            </a:r>
            <a:r>
              <a:rPr lang="en-US" altLang="ko-KR">
                <a:sym typeface="Wingdings" panose="05000000000000000000" pitchFamily="2" charset="2"/>
              </a:rPr>
              <a:t>– distinct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FB480-2560-C000-B694-14ACD314E907}"/>
              </a:ext>
            </a:extLst>
          </p:cNvPr>
          <p:cNvSpPr txBox="1"/>
          <p:nvPr/>
        </p:nvSpPr>
        <p:spPr>
          <a:xfrm>
            <a:off x="990600" y="2100926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숫자 스트림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3AD5F-6B93-EDC0-E6B1-5BEB9A40C725}"/>
              </a:ext>
            </a:extLst>
          </p:cNvPr>
          <p:cNvSpPr txBox="1"/>
          <p:nvPr/>
        </p:nvSpPr>
        <p:spPr>
          <a:xfrm>
            <a:off x="6599906" y="226303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00D43-4A42-6865-C10B-47685C0DE8DE}"/>
              </a:ext>
            </a:extLst>
          </p:cNvPr>
          <p:cNvSpPr txBox="1"/>
          <p:nvPr/>
        </p:nvSpPr>
        <p:spPr>
          <a:xfrm>
            <a:off x="6599906" y="3246881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69EA0-FB5C-2955-6397-E8EF2A738A26}"/>
              </a:ext>
            </a:extLst>
          </p:cNvPr>
          <p:cNvSpPr txBox="1"/>
          <p:nvPr/>
        </p:nvSpPr>
        <p:spPr>
          <a:xfrm>
            <a:off x="6599906" y="4230732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2D5277-1936-C38A-3AA6-0C8207330A9A}"/>
              </a:ext>
            </a:extLst>
          </p:cNvPr>
          <p:cNvCxnSpPr/>
          <p:nvPr/>
        </p:nvCxnSpPr>
        <p:spPr>
          <a:xfrm>
            <a:off x="1032510" y="283464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ECB47E3-159D-F9EF-AC0B-2B85590DC45D}"/>
              </a:ext>
            </a:extLst>
          </p:cNvPr>
          <p:cNvCxnSpPr/>
          <p:nvPr/>
        </p:nvCxnSpPr>
        <p:spPr>
          <a:xfrm>
            <a:off x="1032510" y="38328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231BF92-AA85-6F10-EAEC-11294EAFD52E}"/>
              </a:ext>
            </a:extLst>
          </p:cNvPr>
          <p:cNvCxnSpPr/>
          <p:nvPr/>
        </p:nvCxnSpPr>
        <p:spPr>
          <a:xfrm>
            <a:off x="1032510" y="483108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9D44BA-143A-420C-5724-940A28E53161}"/>
              </a:ext>
            </a:extLst>
          </p:cNvPr>
          <p:cNvSpPr txBox="1"/>
          <p:nvPr/>
        </p:nvSpPr>
        <p:spPr>
          <a:xfrm>
            <a:off x="6599906" y="522895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endParaRPr lang="en-US" altLang="ko-KR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C92C7-90D8-673D-921C-A48D05A8E9F3}"/>
              </a:ext>
            </a:extLst>
          </p:cNvPr>
          <p:cNvSpPr txBox="1"/>
          <p:nvPr/>
        </p:nvSpPr>
        <p:spPr>
          <a:xfrm>
            <a:off x="882454" y="2868994"/>
            <a:ext cx="22341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942B3-4D9C-97C9-48DC-A6E88B18488E}"/>
              </a:ext>
            </a:extLst>
          </p:cNvPr>
          <p:cNvSpPr txBox="1"/>
          <p:nvPr/>
        </p:nvSpPr>
        <p:spPr>
          <a:xfrm>
            <a:off x="874834" y="3877793"/>
            <a:ext cx="11749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610CC-DAE1-D113-CA02-F27E203AFAEC}"/>
              </a:ext>
            </a:extLst>
          </p:cNvPr>
          <p:cNvSpPr txBox="1"/>
          <p:nvPr/>
        </p:nvSpPr>
        <p:spPr>
          <a:xfrm>
            <a:off x="867214" y="4854273"/>
            <a:ext cx="26608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37839-A6F3-A97C-7459-83BC132342BF}"/>
              </a:ext>
            </a:extLst>
          </p:cNvPr>
          <p:cNvSpPr txBox="1"/>
          <p:nvPr/>
        </p:nvSpPr>
        <p:spPr>
          <a:xfrm>
            <a:off x="3539490" y="5154964"/>
            <a:ext cx="20459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6D7252-0F82-8468-7EFD-1D1A5CF5AE11}"/>
              </a:ext>
            </a:extLst>
          </p:cNvPr>
          <p:cNvSpPr/>
          <p:nvPr/>
        </p:nvSpPr>
        <p:spPr>
          <a:xfrm>
            <a:off x="2401406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B92936-363C-4745-2B77-9D6D2694B597}"/>
              </a:ext>
            </a:extLst>
          </p:cNvPr>
          <p:cNvSpPr/>
          <p:nvPr/>
        </p:nvSpPr>
        <p:spPr>
          <a:xfrm>
            <a:off x="366712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C9CF53-A28A-1C82-CA59-5EC1A62E9C55}"/>
              </a:ext>
            </a:extLst>
          </p:cNvPr>
          <p:cNvSpPr/>
          <p:nvPr/>
        </p:nvSpPr>
        <p:spPr>
          <a:xfrm>
            <a:off x="303426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5FDC85-72CA-B5D5-04A0-71DB97E2E896}"/>
              </a:ext>
            </a:extLst>
          </p:cNvPr>
          <p:cNvSpPr/>
          <p:nvPr/>
        </p:nvSpPr>
        <p:spPr>
          <a:xfrm>
            <a:off x="429998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E445900-4740-55C0-4831-0553437035A2}"/>
              </a:ext>
            </a:extLst>
          </p:cNvPr>
          <p:cNvSpPr/>
          <p:nvPr/>
        </p:nvSpPr>
        <p:spPr>
          <a:xfrm>
            <a:off x="493284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379AD6-A51A-5053-EB41-B8A7C0A1D383}"/>
              </a:ext>
            </a:extLst>
          </p:cNvPr>
          <p:cNvSpPr/>
          <p:nvPr/>
        </p:nvSpPr>
        <p:spPr>
          <a:xfrm>
            <a:off x="556570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AE57BDD-9819-F454-3FD6-4F95F4AE5DFD}"/>
              </a:ext>
            </a:extLst>
          </p:cNvPr>
          <p:cNvSpPr/>
          <p:nvPr/>
        </p:nvSpPr>
        <p:spPr>
          <a:xfrm>
            <a:off x="619856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46ACCF-68F6-7983-B2E5-C2AC6E93414F}"/>
              </a:ext>
            </a:extLst>
          </p:cNvPr>
          <p:cNvSpPr/>
          <p:nvPr/>
        </p:nvSpPr>
        <p:spPr>
          <a:xfrm>
            <a:off x="3034265" y="324099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9AB1DD-1140-B123-A4E8-24BDF9564050}"/>
              </a:ext>
            </a:extLst>
          </p:cNvPr>
          <p:cNvSpPr/>
          <p:nvPr/>
        </p:nvSpPr>
        <p:spPr>
          <a:xfrm>
            <a:off x="3034265" y="423921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2A1B7F-01EC-E19C-48D3-3AC792B36CD8}"/>
              </a:ext>
            </a:extLst>
          </p:cNvPr>
          <p:cNvSpPr/>
          <p:nvPr/>
        </p:nvSpPr>
        <p:spPr>
          <a:xfrm>
            <a:off x="5565705" y="324022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971340-6717-A634-488F-49DDDDBAE86A}"/>
              </a:ext>
            </a:extLst>
          </p:cNvPr>
          <p:cNvSpPr/>
          <p:nvPr/>
        </p:nvSpPr>
        <p:spPr>
          <a:xfrm>
            <a:off x="6198565" y="323950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B578D0-C464-8BEC-8810-E5B78D6ED212}"/>
              </a:ext>
            </a:extLst>
          </p:cNvPr>
          <p:cNvSpPr/>
          <p:nvPr/>
        </p:nvSpPr>
        <p:spPr>
          <a:xfrm>
            <a:off x="6198565" y="4237725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D75C603-062E-187A-069F-48CF18E37CA4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>
          <a:xfrm>
            <a:off x="3203678" y="2596678"/>
            <a:ext cx="0" cy="64431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32CEBB2-0A22-B948-DFB2-99A27F656003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3203678" y="3596303"/>
            <a:ext cx="0" cy="6429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06B028F-E541-79F4-4E5C-D7630CE81F59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5735118" y="2596678"/>
            <a:ext cx="0" cy="64354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2A10CDF-F114-38A5-DEE1-5A243DAF1D4D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>
            <a:off x="6367978" y="2596678"/>
            <a:ext cx="0" cy="64282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F3658D2-A05D-101A-5D8C-003548A7970E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367978" y="3594812"/>
            <a:ext cx="0" cy="6429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515475"/>
      </p:ext>
    </p:extLst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 축소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A3C89-CB23-341A-8901-F0E95D052F82}"/>
              </a:ext>
            </a:extLst>
          </p:cNvPr>
          <p:cNvSpPr txBox="1"/>
          <p:nvPr/>
        </p:nvSpPr>
        <p:spPr>
          <a:xfrm>
            <a:off x="926096" y="1840526"/>
            <a:ext cx="60159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>
                <a:solidFill>
                  <a:srgbClr val="001080"/>
                </a:solidFill>
                <a:latin typeface="Consolas" panose="020B0609020204030204" pitchFamily="49" charset="0"/>
              </a:rPr>
              <a:t>dishes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3EA105E-41E0-178E-FD61-81D6AAF00F0B}"/>
              </a:ext>
            </a:extLst>
          </p:cNvPr>
          <p:cNvCxnSpPr>
            <a:cxnSpLocks/>
          </p:cNvCxnSpPr>
          <p:nvPr/>
        </p:nvCxnSpPr>
        <p:spPr>
          <a:xfrm>
            <a:off x="1032510" y="416814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FC4D37-16DF-8660-2209-AC83C225E65A}"/>
              </a:ext>
            </a:extLst>
          </p:cNvPr>
          <p:cNvCxnSpPr>
            <a:cxnSpLocks/>
          </p:cNvCxnSpPr>
          <p:nvPr/>
        </p:nvCxnSpPr>
        <p:spPr>
          <a:xfrm>
            <a:off x="1032510" y="505968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AC9437-5BB1-89DB-BDA7-3B60B1B15270}"/>
              </a:ext>
            </a:extLst>
          </p:cNvPr>
          <p:cNvCxnSpPr>
            <a:cxnSpLocks/>
          </p:cNvCxnSpPr>
          <p:nvPr/>
        </p:nvCxnSpPr>
        <p:spPr>
          <a:xfrm>
            <a:off x="1032510" y="595122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EF27AF-E8EB-582C-3008-4371800F2E05}"/>
              </a:ext>
            </a:extLst>
          </p:cNvPr>
          <p:cNvSpPr txBox="1"/>
          <p:nvPr/>
        </p:nvSpPr>
        <p:spPr>
          <a:xfrm>
            <a:off x="5989183" y="363809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08E57-D344-86B6-4FBB-FBD72ACC3B83}"/>
              </a:ext>
            </a:extLst>
          </p:cNvPr>
          <p:cNvSpPr txBox="1"/>
          <p:nvPr/>
        </p:nvSpPr>
        <p:spPr>
          <a:xfrm>
            <a:off x="5989183" y="452310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5E181-D701-B321-2B4C-B19A00382BEF}"/>
              </a:ext>
            </a:extLst>
          </p:cNvPr>
          <p:cNvSpPr txBox="1"/>
          <p:nvPr/>
        </p:nvSpPr>
        <p:spPr>
          <a:xfrm>
            <a:off x="5989183" y="542117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F70E4-B13C-8EC7-3415-BA6A5F3CDD93}"/>
              </a:ext>
            </a:extLst>
          </p:cNvPr>
          <p:cNvSpPr txBox="1"/>
          <p:nvPr/>
        </p:nvSpPr>
        <p:spPr>
          <a:xfrm>
            <a:off x="5989183" y="6296355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1327CE-CDBF-E719-C833-B0A15AEF74BD}"/>
              </a:ext>
            </a:extLst>
          </p:cNvPr>
          <p:cNvSpPr/>
          <p:nvPr/>
        </p:nvSpPr>
        <p:spPr>
          <a:xfrm>
            <a:off x="280075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BA5896-F514-EF94-879A-17140C3F9449}"/>
              </a:ext>
            </a:extLst>
          </p:cNvPr>
          <p:cNvSpPr/>
          <p:nvPr/>
        </p:nvSpPr>
        <p:spPr>
          <a:xfrm>
            <a:off x="3363876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3EB8BB-BEB7-A2B7-131A-B05CFB7EE5BB}"/>
              </a:ext>
            </a:extLst>
          </p:cNvPr>
          <p:cNvSpPr/>
          <p:nvPr/>
        </p:nvSpPr>
        <p:spPr>
          <a:xfrm>
            <a:off x="3927000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5F41B2-9660-E059-D91F-0D259892111C}"/>
              </a:ext>
            </a:extLst>
          </p:cNvPr>
          <p:cNvSpPr/>
          <p:nvPr/>
        </p:nvSpPr>
        <p:spPr>
          <a:xfrm>
            <a:off x="4490124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16CC72-22AA-0CFA-650F-6951DC204844}"/>
              </a:ext>
            </a:extLst>
          </p:cNvPr>
          <p:cNvSpPr/>
          <p:nvPr/>
        </p:nvSpPr>
        <p:spPr>
          <a:xfrm>
            <a:off x="5053248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117F403-3523-D11C-BEAB-79E366807262}"/>
              </a:ext>
            </a:extLst>
          </p:cNvPr>
          <p:cNvSpPr/>
          <p:nvPr/>
        </p:nvSpPr>
        <p:spPr>
          <a:xfrm>
            <a:off x="561637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F3CAC1-E6FA-3A9D-21B1-5CE1E73AA22C}"/>
              </a:ext>
            </a:extLst>
          </p:cNvPr>
          <p:cNvSpPr/>
          <p:nvPr/>
        </p:nvSpPr>
        <p:spPr>
          <a:xfrm>
            <a:off x="336387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4AE05-F815-33AF-E63C-0C640AFE7520}"/>
              </a:ext>
            </a:extLst>
          </p:cNvPr>
          <p:cNvSpPr/>
          <p:nvPr/>
        </p:nvSpPr>
        <p:spPr>
          <a:xfrm>
            <a:off x="3927000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C024C6-A3F8-9D06-2113-4180C5DB7B9B}"/>
              </a:ext>
            </a:extLst>
          </p:cNvPr>
          <p:cNvSpPr/>
          <p:nvPr/>
        </p:nvSpPr>
        <p:spPr>
          <a:xfrm>
            <a:off x="5053248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EDB807-CC4A-C939-E937-A3814B24A36A}"/>
              </a:ext>
            </a:extLst>
          </p:cNvPr>
          <p:cNvSpPr/>
          <p:nvPr/>
        </p:nvSpPr>
        <p:spPr>
          <a:xfrm>
            <a:off x="3363876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231E90D-A8A2-0664-C11E-F9C284645363}"/>
              </a:ext>
            </a:extLst>
          </p:cNvPr>
          <p:cNvSpPr/>
          <p:nvPr/>
        </p:nvSpPr>
        <p:spPr>
          <a:xfrm>
            <a:off x="3927000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F496FD-286B-EFE7-22AF-F368772CDB19}"/>
              </a:ext>
            </a:extLst>
          </p:cNvPr>
          <p:cNvSpPr/>
          <p:nvPr/>
        </p:nvSpPr>
        <p:spPr>
          <a:xfrm>
            <a:off x="5053248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5828C0-5953-74AB-5401-819D4D28FB49}"/>
              </a:ext>
            </a:extLst>
          </p:cNvPr>
          <p:cNvSpPr/>
          <p:nvPr/>
        </p:nvSpPr>
        <p:spPr>
          <a:xfrm>
            <a:off x="3363876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E857CC1-6A26-5035-3BE9-36A11CAB3552}"/>
              </a:ext>
            </a:extLst>
          </p:cNvPr>
          <p:cNvSpPr/>
          <p:nvPr/>
        </p:nvSpPr>
        <p:spPr>
          <a:xfrm>
            <a:off x="3927000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61E0ADE-5A4E-5179-E46F-930E165DA4BB}"/>
              </a:ext>
            </a:extLst>
          </p:cNvPr>
          <p:cNvSpPr/>
          <p:nvPr/>
        </p:nvSpPr>
        <p:spPr>
          <a:xfrm>
            <a:off x="4490124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2E3722-47E0-1464-DE18-856B5AD0B17C}"/>
              </a:ext>
            </a:extLst>
          </p:cNvPr>
          <p:cNvSpPr/>
          <p:nvPr/>
        </p:nvSpPr>
        <p:spPr>
          <a:xfrm>
            <a:off x="3268979" y="6217482"/>
            <a:ext cx="1645921" cy="48553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0E8465-AFF1-2233-864F-92024344F75E}"/>
              </a:ext>
            </a:extLst>
          </p:cNvPr>
          <p:cNvSpPr txBox="1"/>
          <p:nvPr/>
        </p:nvSpPr>
        <p:spPr>
          <a:xfrm>
            <a:off x="948122" y="3553311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7CBF59-8815-4594-0AE6-3FBBC374C177}"/>
              </a:ext>
            </a:extLst>
          </p:cNvPr>
          <p:cNvSpPr txBox="1"/>
          <p:nvPr/>
        </p:nvSpPr>
        <p:spPr>
          <a:xfrm>
            <a:off x="876134" y="4180194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D7EF20-8D33-5875-2E98-623F80C3581A}"/>
              </a:ext>
            </a:extLst>
          </p:cNvPr>
          <p:cNvSpPr txBox="1"/>
          <p:nvPr/>
        </p:nvSpPr>
        <p:spPr>
          <a:xfrm>
            <a:off x="876134" y="5089952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49DC93-72AD-F050-7889-361E8139DD5F}"/>
              </a:ext>
            </a:extLst>
          </p:cNvPr>
          <p:cNvSpPr txBox="1"/>
          <p:nvPr/>
        </p:nvSpPr>
        <p:spPr>
          <a:xfrm>
            <a:off x="876134" y="5981491"/>
            <a:ext cx="263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BD6C28D-1A98-3A92-DDCD-7AB252B99DC7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>
            <a:off x="3533289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C3E42E0-E93B-2241-D9D4-6EBF078D5FF3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>
          <a:xfrm>
            <a:off x="4096413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A856393-1DA6-D8DE-C48D-5213E26DCE38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5222661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2DC8AA2-133B-08AB-C1B9-2BE1D3D6542B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3533289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D364D02-DFC0-0FB6-EFD6-298FD1590B55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>
            <a:off x="4096413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2D7EC75-F912-3CE1-F8B0-D1C640A63264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5222661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7DA86F1-38AD-9D23-1ECE-90DD3378EF3F}"/>
              </a:ext>
            </a:extLst>
          </p:cNvPr>
          <p:cNvCxnSpPr>
            <a:cxnSpLocks/>
            <a:stCxn id="38" idx="2"/>
            <a:endCxn id="45" idx="0"/>
          </p:cNvCxnSpPr>
          <p:nvPr/>
        </p:nvCxnSpPr>
        <p:spPr>
          <a:xfrm>
            <a:off x="3533289" y="5760338"/>
            <a:ext cx="55865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08D7BE79-FABC-4DAE-82AB-400E4E316D87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096413" y="5760338"/>
            <a:ext cx="7621" cy="49815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CF58BC9-E017-0ED3-2B84-FC5F935E17FD}"/>
              </a:ext>
            </a:extLst>
          </p:cNvPr>
          <p:cNvCxnSpPr>
            <a:cxnSpLocks/>
            <a:stCxn id="40" idx="2"/>
            <a:endCxn id="45" idx="0"/>
          </p:cNvCxnSpPr>
          <p:nvPr/>
        </p:nvCxnSpPr>
        <p:spPr>
          <a:xfrm flipH="1">
            <a:off x="4091940" y="5760338"/>
            <a:ext cx="113072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032238"/>
      </p:ext>
    </p:extLst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요소 </a:t>
            </a:r>
            <a:r>
              <a:rPr lang="ko-KR" altLang="en-US" err="1">
                <a:sym typeface="Wingdings" panose="05000000000000000000" pitchFamily="2" charset="2"/>
              </a:rPr>
              <a:t>건너띄기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81AFC-B12A-93FD-B486-AA4F77D4A220}"/>
              </a:ext>
            </a:extLst>
          </p:cNvPr>
          <p:cNvSpPr txBox="1"/>
          <p:nvPr/>
        </p:nvSpPr>
        <p:spPr>
          <a:xfrm>
            <a:off x="987310" y="1868120"/>
            <a:ext cx="60159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>
                <a:solidFill>
                  <a:srgbClr val="001080"/>
                </a:solidFill>
                <a:latin typeface="Consolas" panose="020B0609020204030204" pitchFamily="49" charset="0"/>
              </a:rPr>
              <a:t>dishes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.skip(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E3C870F-359E-1E6C-23B5-53440EDFD903}"/>
              </a:ext>
            </a:extLst>
          </p:cNvPr>
          <p:cNvCxnSpPr>
            <a:cxnSpLocks/>
          </p:cNvCxnSpPr>
          <p:nvPr/>
        </p:nvCxnSpPr>
        <p:spPr>
          <a:xfrm>
            <a:off x="1032510" y="416814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40B7E4-96C9-EC5D-BA6B-D79C839A4ABA}"/>
              </a:ext>
            </a:extLst>
          </p:cNvPr>
          <p:cNvCxnSpPr>
            <a:cxnSpLocks/>
          </p:cNvCxnSpPr>
          <p:nvPr/>
        </p:nvCxnSpPr>
        <p:spPr>
          <a:xfrm>
            <a:off x="1032510" y="505968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C4EABB0-C9EE-E7D6-31D4-59A263CC9C8C}"/>
              </a:ext>
            </a:extLst>
          </p:cNvPr>
          <p:cNvCxnSpPr>
            <a:cxnSpLocks/>
          </p:cNvCxnSpPr>
          <p:nvPr/>
        </p:nvCxnSpPr>
        <p:spPr>
          <a:xfrm>
            <a:off x="1032510" y="595122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52E42A9-7CDF-1155-AACB-84369D58BA12}"/>
              </a:ext>
            </a:extLst>
          </p:cNvPr>
          <p:cNvSpPr txBox="1"/>
          <p:nvPr/>
        </p:nvSpPr>
        <p:spPr>
          <a:xfrm>
            <a:off x="5989183" y="363809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F72C8-6C94-CFC7-6F60-1C3279EC8B85}"/>
              </a:ext>
            </a:extLst>
          </p:cNvPr>
          <p:cNvSpPr txBox="1"/>
          <p:nvPr/>
        </p:nvSpPr>
        <p:spPr>
          <a:xfrm>
            <a:off x="5989183" y="452310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E355C-E55A-0F03-BCA4-DBD6E237D13E}"/>
              </a:ext>
            </a:extLst>
          </p:cNvPr>
          <p:cNvSpPr txBox="1"/>
          <p:nvPr/>
        </p:nvSpPr>
        <p:spPr>
          <a:xfrm>
            <a:off x="5989183" y="542117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83DFD-3C84-580E-7B10-3E2A37A960A2}"/>
              </a:ext>
            </a:extLst>
          </p:cNvPr>
          <p:cNvSpPr txBox="1"/>
          <p:nvPr/>
        </p:nvSpPr>
        <p:spPr>
          <a:xfrm>
            <a:off x="5989183" y="6296355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7415E4-97BB-24B9-E54C-2306F830AAA3}"/>
              </a:ext>
            </a:extLst>
          </p:cNvPr>
          <p:cNvSpPr/>
          <p:nvPr/>
        </p:nvSpPr>
        <p:spPr>
          <a:xfrm>
            <a:off x="280075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80FC3B-2C40-F485-729A-366C1650C6BF}"/>
              </a:ext>
            </a:extLst>
          </p:cNvPr>
          <p:cNvSpPr/>
          <p:nvPr/>
        </p:nvSpPr>
        <p:spPr>
          <a:xfrm>
            <a:off x="3363876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3939D3-6780-3F9A-252F-5C68B9213B28}"/>
              </a:ext>
            </a:extLst>
          </p:cNvPr>
          <p:cNvSpPr/>
          <p:nvPr/>
        </p:nvSpPr>
        <p:spPr>
          <a:xfrm>
            <a:off x="3927000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CB0832-5F0A-33F3-0FA3-5AB96B21F3A3}"/>
              </a:ext>
            </a:extLst>
          </p:cNvPr>
          <p:cNvSpPr/>
          <p:nvPr/>
        </p:nvSpPr>
        <p:spPr>
          <a:xfrm>
            <a:off x="4490124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5DA4EE-5611-8319-7D9C-ADEF3841C14F}"/>
              </a:ext>
            </a:extLst>
          </p:cNvPr>
          <p:cNvSpPr/>
          <p:nvPr/>
        </p:nvSpPr>
        <p:spPr>
          <a:xfrm>
            <a:off x="5053248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3BA47-055D-D2E4-653C-A81B9B27C2B3}"/>
              </a:ext>
            </a:extLst>
          </p:cNvPr>
          <p:cNvSpPr/>
          <p:nvPr/>
        </p:nvSpPr>
        <p:spPr>
          <a:xfrm>
            <a:off x="561637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FCD728-A77D-54DF-5595-F5B963EF34D9}"/>
              </a:ext>
            </a:extLst>
          </p:cNvPr>
          <p:cNvSpPr/>
          <p:nvPr/>
        </p:nvSpPr>
        <p:spPr>
          <a:xfrm>
            <a:off x="336387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176EAA-EA72-C6C6-1DC4-E0F04627C582}"/>
              </a:ext>
            </a:extLst>
          </p:cNvPr>
          <p:cNvSpPr/>
          <p:nvPr/>
        </p:nvSpPr>
        <p:spPr>
          <a:xfrm>
            <a:off x="3927000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528B02-EFCB-1541-A0B4-DD81FC2EED37}"/>
              </a:ext>
            </a:extLst>
          </p:cNvPr>
          <p:cNvSpPr/>
          <p:nvPr/>
        </p:nvSpPr>
        <p:spPr>
          <a:xfrm>
            <a:off x="5053248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20409F8-2B12-87BC-4819-C3480AEF18EE}"/>
              </a:ext>
            </a:extLst>
          </p:cNvPr>
          <p:cNvSpPr/>
          <p:nvPr/>
        </p:nvSpPr>
        <p:spPr>
          <a:xfrm>
            <a:off x="5053248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F7BA46-7F99-A2D6-7DAC-E942E0FFE015}"/>
              </a:ext>
            </a:extLst>
          </p:cNvPr>
          <p:cNvSpPr/>
          <p:nvPr/>
        </p:nvSpPr>
        <p:spPr>
          <a:xfrm>
            <a:off x="3843936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CDF2D0-5E81-B4AC-BEC3-52622E4981B2}"/>
              </a:ext>
            </a:extLst>
          </p:cNvPr>
          <p:cNvSpPr/>
          <p:nvPr/>
        </p:nvSpPr>
        <p:spPr>
          <a:xfrm>
            <a:off x="4970184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8F6CC3-929A-D4CD-9553-CDD53FA0F2AD}"/>
              </a:ext>
            </a:extLst>
          </p:cNvPr>
          <p:cNvSpPr/>
          <p:nvPr/>
        </p:nvSpPr>
        <p:spPr>
          <a:xfrm>
            <a:off x="3749039" y="6217482"/>
            <a:ext cx="1645921" cy="48553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922499-6949-1B0E-6AD7-6E0F1BDF68EF}"/>
              </a:ext>
            </a:extLst>
          </p:cNvPr>
          <p:cNvSpPr txBox="1"/>
          <p:nvPr/>
        </p:nvSpPr>
        <p:spPr>
          <a:xfrm>
            <a:off x="948122" y="3553311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329FD3-AA3C-1141-2B46-472616C00773}"/>
              </a:ext>
            </a:extLst>
          </p:cNvPr>
          <p:cNvSpPr txBox="1"/>
          <p:nvPr/>
        </p:nvSpPr>
        <p:spPr>
          <a:xfrm>
            <a:off x="876134" y="4180194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40690-944D-150D-7241-8A5871F3CD6F}"/>
              </a:ext>
            </a:extLst>
          </p:cNvPr>
          <p:cNvSpPr txBox="1"/>
          <p:nvPr/>
        </p:nvSpPr>
        <p:spPr>
          <a:xfrm>
            <a:off x="876134" y="5089952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.skip(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0076D4-1C4B-4A60-1C5D-7E356F58797A}"/>
              </a:ext>
            </a:extLst>
          </p:cNvPr>
          <p:cNvSpPr txBox="1"/>
          <p:nvPr/>
        </p:nvSpPr>
        <p:spPr>
          <a:xfrm>
            <a:off x="876134" y="5981491"/>
            <a:ext cx="263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0EA6949-B831-0F16-6FCF-522FADDAC62F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3533289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F74CD89-0316-C088-C39B-99CDB7910579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4096413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9C0E649-F50E-61FC-6E6D-7EEFF01EE7B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>
            <a:off x="5222661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2305EAA-1130-254D-F6B4-9951263AFA92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5222661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6A2E05C-F0FB-B0C3-F767-B7BDB0A0C2AA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 flipH="1">
            <a:off x="4572000" y="5760338"/>
            <a:ext cx="65066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306DD5B-0EBA-D7D2-3417-4C541735C96A}"/>
              </a:ext>
            </a:extLst>
          </p:cNvPr>
          <p:cNvSpPr/>
          <p:nvPr/>
        </p:nvSpPr>
        <p:spPr>
          <a:xfrm>
            <a:off x="561523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6FD99C5-9E50-9166-E6EA-463CA638E1B7}"/>
              </a:ext>
            </a:extLst>
          </p:cNvPr>
          <p:cNvCxnSpPr>
            <a:cxnSpLocks/>
            <a:stCxn id="22" idx="2"/>
            <a:endCxn id="48" idx="0"/>
          </p:cNvCxnSpPr>
          <p:nvPr/>
        </p:nvCxnSpPr>
        <p:spPr>
          <a:xfrm flipH="1">
            <a:off x="5784649" y="3977260"/>
            <a:ext cx="1136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708B8DE-8564-A95F-CDA1-BB72B34E974F}"/>
              </a:ext>
            </a:extLst>
          </p:cNvPr>
          <p:cNvSpPr/>
          <p:nvPr/>
        </p:nvSpPr>
        <p:spPr>
          <a:xfrm>
            <a:off x="5615235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2788CF9-B3E2-E147-0A32-5AEA6A41BCBF}"/>
              </a:ext>
            </a:extLst>
          </p:cNvPr>
          <p:cNvCxnSpPr>
            <a:cxnSpLocks/>
            <a:stCxn id="48" idx="2"/>
            <a:endCxn id="54" idx="0"/>
          </p:cNvCxnSpPr>
          <p:nvPr/>
        </p:nvCxnSpPr>
        <p:spPr>
          <a:xfrm flipH="1">
            <a:off x="5784648" y="4868799"/>
            <a:ext cx="1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86B671D-64E9-4F79-F379-60104FBEEE35}"/>
              </a:ext>
            </a:extLst>
          </p:cNvPr>
          <p:cNvCxnSpPr>
            <a:cxnSpLocks/>
            <a:stCxn id="54" idx="2"/>
            <a:endCxn id="32" idx="0"/>
          </p:cNvCxnSpPr>
          <p:nvPr/>
        </p:nvCxnSpPr>
        <p:spPr>
          <a:xfrm flipH="1">
            <a:off x="4572000" y="5760338"/>
            <a:ext cx="1212648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87278"/>
      </p:ext>
    </p:extLst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4. Mapping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769421"/>
      </p:ext>
    </p:extLst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맵핑이란</a:t>
            </a:r>
            <a:r>
              <a:rPr lang="en-US" altLang="ko-KR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필터링이 </a:t>
            </a:r>
            <a:r>
              <a:rPr lang="en-US" altLang="ko-KR">
                <a:sym typeface="Wingdings" panose="05000000000000000000" pitchFamily="2" charset="2"/>
              </a:rPr>
              <a:t>SQL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WHERE</a:t>
            </a:r>
            <a:r>
              <a:rPr lang="ko-KR" altLang="en-US">
                <a:sym typeface="Wingdings" panose="05000000000000000000" pitchFamily="2" charset="2"/>
              </a:rPr>
              <a:t>와 같다면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맵핑은 </a:t>
            </a:r>
            <a:r>
              <a:rPr lang="en-US" altLang="ko-KR">
                <a:sym typeface="Wingdings" panose="05000000000000000000" pitchFamily="2" charset="2"/>
              </a:rPr>
              <a:t>SELECT </a:t>
            </a:r>
            <a:r>
              <a:rPr lang="ko-KR" altLang="en-US">
                <a:sym typeface="Wingdings" panose="05000000000000000000" pitchFamily="2" charset="2"/>
              </a:rPr>
              <a:t>컬럼과 같음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( </a:t>
            </a:r>
            <a:r>
              <a:rPr lang="ko-KR" altLang="en-US">
                <a:sym typeface="Wingdings" panose="05000000000000000000" pitchFamily="2" charset="2"/>
              </a:rPr>
              <a:t>단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하나의 요소만 </a:t>
            </a:r>
            <a:r>
              <a:rPr lang="ko-KR" altLang="en-US" err="1">
                <a:sym typeface="Wingdings" panose="05000000000000000000" pitchFamily="2" charset="2"/>
              </a:rPr>
              <a:t>맵핑할</a:t>
            </a:r>
            <a:r>
              <a:rPr lang="ko-KR" altLang="en-US">
                <a:sym typeface="Wingdings" panose="05000000000000000000" pitchFamily="2" charset="2"/>
              </a:rPr>
              <a:t> 수 있다 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원본 스트림을 변환하고자 할 때 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스트림의 원하는 요소만 추출해 새로운 스트림으로 생성함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예</a:t>
            </a:r>
            <a:r>
              <a:rPr lang="en-US" altLang="ko-KR">
                <a:sym typeface="Wingdings" panose="05000000000000000000" pitchFamily="2" charset="2"/>
              </a:rPr>
              <a:t>&gt;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Java8, Lambdas, In, Action</a:t>
            </a:r>
            <a:r>
              <a:rPr lang="ko-KR" altLang="en-US">
                <a:sym typeface="Wingdings" panose="05000000000000000000" pitchFamily="2" charset="2"/>
              </a:rPr>
              <a:t>가 들어있는 단어 리스트를 이용해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ko-KR" altLang="en-US">
                <a:sym typeface="Wingdings" panose="05000000000000000000" pitchFamily="2" charset="2"/>
              </a:rPr>
              <a:t>각 글자들의 길이를 갖는 숫자 리스트를 만듦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Mapping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DA70C-0DB1-AD23-207C-4016693167E6}"/>
              </a:ext>
            </a:extLst>
          </p:cNvPr>
          <p:cNvSpPr txBox="1"/>
          <p:nvPr/>
        </p:nvSpPr>
        <p:spPr>
          <a:xfrm>
            <a:off x="937260" y="3988146"/>
            <a:ext cx="82067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"Lambdas"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"Action"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wordLengths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876870240"/>
      </p:ext>
    </p:extLst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flatMap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 err="1">
                <a:sym typeface="Wingdings" panose="05000000000000000000" pitchFamily="2" charset="2"/>
              </a:rPr>
              <a:t>맵과</a:t>
            </a:r>
            <a:r>
              <a:rPr lang="ko-KR" altLang="en-US">
                <a:sym typeface="Wingdings" panose="05000000000000000000" pitchFamily="2" charset="2"/>
              </a:rPr>
              <a:t> 동일한 동작을 수행함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map </a:t>
            </a:r>
            <a:r>
              <a:rPr lang="ko-KR" altLang="en-US">
                <a:sym typeface="Wingdings" panose="05000000000000000000" pitchFamily="2" charset="2"/>
              </a:rPr>
              <a:t>과 </a:t>
            </a:r>
            <a:r>
              <a:rPr lang="en-US" altLang="ko-KR" err="1">
                <a:sym typeface="Wingdings" panose="05000000000000000000" pitchFamily="2" charset="2"/>
              </a:rPr>
              <a:t>flatMap</a:t>
            </a:r>
            <a:r>
              <a:rPr lang="ko-KR" altLang="en-US">
                <a:sym typeface="Wingdings" panose="05000000000000000000" pitchFamily="2" charset="2"/>
              </a:rPr>
              <a:t>의 차이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반환 결과가 </a:t>
            </a:r>
            <a:r>
              <a:rPr lang="en-US" altLang="ko-KR">
                <a:sym typeface="Wingdings" panose="05000000000000000000" pitchFamily="2" charset="2"/>
              </a:rPr>
              <a:t>stream </a:t>
            </a:r>
            <a:r>
              <a:rPr lang="ko-KR" altLang="en-US">
                <a:sym typeface="Wingdings" panose="05000000000000000000" pitchFamily="2" charset="2"/>
              </a:rPr>
              <a:t>일 경우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차이가 발생함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map : </a:t>
            </a:r>
            <a:r>
              <a:rPr lang="ko-KR" altLang="en-US" err="1">
                <a:sym typeface="Wingdings" panose="05000000000000000000" pitchFamily="2" charset="2"/>
              </a:rPr>
              <a:t>맵핑된</a:t>
            </a:r>
            <a:r>
              <a:rPr lang="ko-KR" altLang="en-US">
                <a:sym typeface="Wingdings" panose="05000000000000000000" pitchFamily="2" charset="2"/>
              </a:rPr>
              <a:t> 결과를 </a:t>
            </a:r>
            <a:r>
              <a:rPr lang="en-US" altLang="ko-KR">
                <a:sym typeface="Wingdings" panose="05000000000000000000" pitchFamily="2" charset="2"/>
              </a:rPr>
              <a:t>Stream </a:t>
            </a:r>
            <a:r>
              <a:rPr lang="ko-KR" altLang="en-US">
                <a:sym typeface="Wingdings" panose="05000000000000000000" pitchFamily="2" charset="2"/>
              </a:rPr>
              <a:t>컬렉션에 넣어 반환 함</a:t>
            </a:r>
            <a:r>
              <a:rPr lang="en-US" altLang="ko-KR">
                <a:sym typeface="Wingdings" panose="05000000000000000000" pitchFamily="2" charset="2"/>
              </a:rPr>
              <a:t>.  Stream&lt;Stream&lt;Object&gt;&gt;</a:t>
            </a:r>
          </a:p>
          <a:p>
            <a:pPr lvl="2"/>
            <a:r>
              <a:rPr lang="en-US" altLang="ko-KR" err="1">
                <a:sym typeface="Wingdings" panose="05000000000000000000" pitchFamily="2" charset="2"/>
              </a:rPr>
              <a:t>flatMap</a:t>
            </a:r>
            <a:r>
              <a:rPr lang="en-US" altLang="ko-KR">
                <a:sym typeface="Wingdings" panose="05000000000000000000" pitchFamily="2" charset="2"/>
              </a:rPr>
              <a:t> : </a:t>
            </a:r>
            <a:r>
              <a:rPr lang="ko-KR" altLang="en-US" err="1">
                <a:sym typeface="Wingdings" panose="05000000000000000000" pitchFamily="2" charset="2"/>
              </a:rPr>
              <a:t>맵핑된</a:t>
            </a:r>
            <a:r>
              <a:rPr lang="ko-KR" altLang="en-US">
                <a:sym typeface="Wingdings" panose="05000000000000000000" pitchFamily="2" charset="2"/>
              </a:rPr>
              <a:t> 결과를 </a:t>
            </a:r>
            <a:r>
              <a:rPr lang="en-US" altLang="ko-KR">
                <a:sym typeface="Wingdings" panose="05000000000000000000" pitchFamily="2" charset="2"/>
              </a:rPr>
              <a:t>Stream</a:t>
            </a:r>
            <a:r>
              <a:rPr lang="ko-KR" altLang="en-US">
                <a:sym typeface="Wingdings" panose="05000000000000000000" pitchFamily="2" charset="2"/>
              </a:rPr>
              <a:t>으로 반환 함</a:t>
            </a:r>
            <a:r>
              <a:rPr lang="en-US" altLang="ko-KR">
                <a:sym typeface="Wingdings" panose="05000000000000000000" pitchFamily="2" charset="2"/>
              </a:rPr>
              <a:t>.  Stream&lt;Object&gt;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Mapping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86743-239B-F46B-08E1-598E0C6B64A1}"/>
              </a:ext>
            </a:extLst>
          </p:cNvPr>
          <p:cNvSpPr txBox="1"/>
          <p:nvPr/>
        </p:nvSpPr>
        <p:spPr>
          <a:xfrm>
            <a:off x="906780" y="1865620"/>
            <a:ext cx="68732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uniqueCharacters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각 단어를 개별문자를 포함하는 배열로 변환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생성된 스트림을 하나의 스트림으로 평명화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438247475"/>
      </p:ext>
    </p:extLst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5. Find &amp; Matching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860827"/>
      </p:ext>
    </p:extLst>
  </p:cSld>
  <p:clrMapOvr>
    <a:masterClrMapping/>
  </p:clrMapOvr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특정 속성이 데이터 집합에 </a:t>
            </a:r>
            <a:r>
              <a:rPr lang="ko-KR" altLang="en-US" dirty="0" err="1">
                <a:sym typeface="Wingdings" panose="05000000000000000000" pitchFamily="2" charset="2"/>
              </a:rPr>
              <a:t>포함되어있는지</a:t>
            </a:r>
            <a:r>
              <a:rPr lang="ko-KR" altLang="en-US" dirty="0">
                <a:sym typeface="Wingdings" panose="05000000000000000000" pitchFamily="2" charset="2"/>
              </a:rPr>
              <a:t> 여부를 검색하는 데이터 처리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allMatch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anyMatch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noneMatch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findFirst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findAny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등의 메소드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적어도 한 요소와 일치하는지 확인하기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주어진 스트림 내에서 적어도 한 요소와 일치하는지 확인 후 </a:t>
            </a:r>
            <a:r>
              <a:rPr lang="ko-KR" altLang="en-US" dirty="0" err="1">
                <a:sym typeface="Wingdings" panose="05000000000000000000" pitchFamily="2" charset="2"/>
              </a:rPr>
              <a:t>불린으로</a:t>
            </a:r>
            <a:r>
              <a:rPr lang="ko-KR" altLang="en-US" dirty="0">
                <a:sym typeface="Wingdings" panose="05000000000000000000" pitchFamily="2" charset="2"/>
              </a:rPr>
              <a:t> 반환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anyMatch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메뉴 스트림에 채식요리가 있는지 확인하기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모든 요소가 일치하는지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모든 요리가 </a:t>
            </a:r>
            <a:r>
              <a:rPr lang="en-US" altLang="ko-KR" dirty="0">
                <a:sym typeface="Wingdings" panose="05000000000000000000" pitchFamily="2" charset="2"/>
              </a:rPr>
              <a:t>1000</a:t>
            </a:r>
            <a:r>
              <a:rPr lang="ko-KR" altLang="en-US" dirty="0">
                <a:sym typeface="Wingdings" panose="05000000000000000000" pitchFamily="2" charset="2"/>
              </a:rPr>
              <a:t>칼로리 이하인지 확인하기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4721C-B5C1-99A1-49EC-EF29F54B6964}"/>
              </a:ext>
            </a:extLst>
          </p:cNvPr>
          <p:cNvSpPr txBox="1"/>
          <p:nvPr/>
        </p:nvSpPr>
        <p:spPr>
          <a:xfrm>
            <a:off x="942974" y="3649628"/>
            <a:ext cx="8332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anyMatch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 menu is (somewhat) vegetarian friendly!!"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A601F-A185-DF59-90A3-59A016F865C9}"/>
              </a:ext>
            </a:extLst>
          </p:cNvPr>
          <p:cNvSpPr txBox="1"/>
          <p:nvPr/>
        </p:nvSpPr>
        <p:spPr>
          <a:xfrm>
            <a:off x="942974" y="5542895"/>
            <a:ext cx="7553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isHealthy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51398824"/>
      </p:ext>
    </p:extLst>
  </p:cSld>
  <p:clrMapOvr>
    <a:masterClrMapping/>
  </p:clrMapOvr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일치하는 요소가 하나도 없는지 확인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allMatch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와 반대 처리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검색하기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 내에서 임의요소 가져오기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43099-B3BE-BD80-36F3-84BCA8EA4524}"/>
              </a:ext>
            </a:extLst>
          </p:cNvPr>
          <p:cNvSpPr txBox="1"/>
          <p:nvPr/>
        </p:nvSpPr>
        <p:spPr>
          <a:xfrm>
            <a:off x="942974" y="2016397"/>
            <a:ext cx="7553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isHealthy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en-US" altLang="ko-KR" sz="1600" err="1">
                <a:solidFill>
                  <a:srgbClr val="795E26"/>
                </a:solidFill>
                <a:latin typeface="Consolas" panose="020B0609020204030204" pitchFamily="49" charset="0"/>
              </a:rPr>
              <a:t>noneMatch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CD0E9-697A-4321-DFE9-15FE17EDBBE1}"/>
              </a:ext>
            </a:extLst>
          </p:cNvPr>
          <p:cNvSpPr txBox="1"/>
          <p:nvPr/>
        </p:nvSpPr>
        <p:spPr>
          <a:xfrm>
            <a:off x="942974" y="4256829"/>
            <a:ext cx="6448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findAny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832912794"/>
      </p:ext>
    </p:extLst>
  </p:cSld>
  <p:clrMapOvr>
    <a:masterClrMapping/>
  </p:clrMapOvr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검색하기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스트림 내에서 첫 번째 요소 가져오기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Optional </a:t>
            </a:r>
            <a:r>
              <a:rPr lang="ko-KR" altLang="en-US" dirty="0">
                <a:sym typeface="Wingdings" panose="05000000000000000000" pitchFamily="2" charset="2"/>
              </a:rPr>
              <a:t>이란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Null </a:t>
            </a:r>
            <a:r>
              <a:rPr lang="ko-KR" altLang="en-US" dirty="0">
                <a:sym typeface="Wingdings" panose="05000000000000000000" pitchFamily="2" charset="2"/>
              </a:rPr>
              <a:t>요소를 유연하게 처리할 수 있는 방법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네 가지 기능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isPresent</a:t>
            </a:r>
            <a:r>
              <a:rPr lang="en-US" altLang="ko-KR" dirty="0">
                <a:sym typeface="Wingdings" panose="05000000000000000000" pitchFamily="2" charset="2"/>
              </a:rPr>
              <a:t>() : Optional</a:t>
            </a:r>
            <a:r>
              <a:rPr lang="ko-KR" altLang="en-US" dirty="0">
                <a:sym typeface="Wingdings" panose="05000000000000000000" pitchFamily="2" charset="2"/>
              </a:rPr>
              <a:t>이 값을 포함하면 </a:t>
            </a:r>
            <a:r>
              <a:rPr lang="en-US" altLang="ko-KR" dirty="0">
                <a:sym typeface="Wingdings" panose="05000000000000000000" pitchFamily="2" charset="2"/>
              </a:rPr>
              <a:t>true, </a:t>
            </a:r>
            <a:r>
              <a:rPr lang="ko-KR" altLang="en-US" dirty="0">
                <a:sym typeface="Wingdings" panose="05000000000000000000" pitchFamily="2" charset="2"/>
              </a:rPr>
              <a:t>아니라면 </a:t>
            </a:r>
            <a:r>
              <a:rPr lang="en-US" altLang="ko-KR" dirty="0">
                <a:sym typeface="Wingdings" panose="05000000000000000000" pitchFamily="2" charset="2"/>
              </a:rPr>
              <a:t>false</a:t>
            </a:r>
            <a:r>
              <a:rPr lang="ko-KR" altLang="en-US" dirty="0">
                <a:sym typeface="Wingdings" panose="05000000000000000000" pitchFamily="2" charset="2"/>
              </a:rPr>
              <a:t>를 반환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isPresent</a:t>
            </a:r>
            <a:r>
              <a:rPr lang="en-US" altLang="ko-KR" dirty="0">
                <a:sym typeface="Wingdings" panose="05000000000000000000" pitchFamily="2" charset="2"/>
              </a:rPr>
              <a:t>(Consumer&lt;T&gt; block) :  Optional </a:t>
            </a:r>
            <a:r>
              <a:rPr lang="ko-KR" altLang="en-US" dirty="0">
                <a:sym typeface="Wingdings" panose="05000000000000000000" pitchFamily="2" charset="2"/>
              </a:rPr>
              <a:t>에 값이 있을 때만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Comsumer</a:t>
            </a:r>
            <a:r>
              <a:rPr lang="ko-KR" altLang="en-US" dirty="0">
                <a:sym typeface="Wingdings" panose="05000000000000000000" pitchFamily="2" charset="2"/>
              </a:rPr>
              <a:t>를 실행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 get() :  Optional</a:t>
            </a:r>
            <a:r>
              <a:rPr lang="ko-KR" altLang="en-US" dirty="0">
                <a:sym typeface="Wingdings" panose="05000000000000000000" pitchFamily="2" charset="2"/>
              </a:rPr>
              <a:t>에 값이 있을 경우 값을 반환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             </a:t>
            </a:r>
            <a:r>
              <a:rPr lang="ko-KR" altLang="en-US" dirty="0">
                <a:sym typeface="Wingdings" panose="05000000000000000000" pitchFamily="2" charset="2"/>
              </a:rPr>
              <a:t>그렇지 않을 경우 </a:t>
            </a:r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en-US" altLang="ko-KR" dirty="0" err="1">
                <a:sym typeface="Wingdings" panose="05000000000000000000" pitchFamily="2" charset="2"/>
              </a:rPr>
              <a:t>NoSuchElementException</a:t>
            </a:r>
            <a:r>
              <a:rPr lang="en-US" altLang="ko-KR" dirty="0">
                <a:sym typeface="Wingdings" panose="05000000000000000000" pitchFamily="2" charset="2"/>
              </a:rPr>
              <a:t>” </a:t>
            </a:r>
            <a:r>
              <a:rPr lang="ko-KR" altLang="en-US" dirty="0">
                <a:sym typeface="Wingdings" panose="05000000000000000000" pitchFamily="2" charset="2"/>
              </a:rPr>
              <a:t>발생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 </a:t>
            </a:r>
            <a:r>
              <a:rPr lang="en-US" altLang="ko-KR" dirty="0" err="1">
                <a:sym typeface="Wingdings" panose="05000000000000000000" pitchFamily="2" charset="2"/>
              </a:rPr>
              <a:t>orElse</a:t>
            </a:r>
            <a:r>
              <a:rPr lang="en-US" altLang="ko-KR" dirty="0">
                <a:sym typeface="Wingdings" panose="05000000000000000000" pitchFamily="2" charset="2"/>
              </a:rPr>
              <a:t>(T other) : Optional</a:t>
            </a:r>
            <a:r>
              <a:rPr lang="ko-KR" altLang="en-US" dirty="0">
                <a:sym typeface="Wingdings" panose="05000000000000000000" pitchFamily="2" charset="2"/>
              </a:rPr>
              <a:t>에 값이 있을 경우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값을 반환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없을 경우 </a:t>
            </a:r>
            <a:r>
              <a:rPr lang="en-US" altLang="ko-KR" dirty="0">
                <a:sym typeface="Wingdings" panose="05000000000000000000" pitchFamily="2" charset="2"/>
              </a:rPr>
              <a:t>other </a:t>
            </a:r>
            <a:r>
              <a:rPr lang="ko-KR" altLang="en-US" dirty="0">
                <a:sym typeface="Wingdings" panose="05000000000000000000" pitchFamily="2" charset="2"/>
              </a:rPr>
              <a:t>값을 반환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BC921-0A0A-BE1D-97D1-A77EEE341064}"/>
              </a:ext>
            </a:extLst>
          </p:cNvPr>
          <p:cNvSpPr txBox="1"/>
          <p:nvPr/>
        </p:nvSpPr>
        <p:spPr>
          <a:xfrm>
            <a:off x="1000124" y="1976319"/>
            <a:ext cx="69399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firstSquarDivisibleByThree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findFirst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3939943793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findAny</a:t>
            </a:r>
            <a:r>
              <a:rPr lang="ko-KR" altLang="en-US">
                <a:sym typeface="Wingdings" panose="05000000000000000000" pitchFamily="2" charset="2"/>
              </a:rPr>
              <a:t>와 </a:t>
            </a:r>
            <a:r>
              <a:rPr lang="en-US" altLang="ko-KR" err="1">
                <a:sym typeface="Wingdings" panose="05000000000000000000" pitchFamily="2" charset="2"/>
              </a:rPr>
              <a:t>findFirst</a:t>
            </a:r>
            <a:r>
              <a:rPr lang="ko-KR" altLang="en-US">
                <a:sym typeface="Wingdings" panose="05000000000000000000" pitchFamily="2" charset="2"/>
              </a:rPr>
              <a:t>의 차이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findAny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: </a:t>
            </a:r>
            <a:r>
              <a:rPr lang="ko-KR" altLang="en-US">
                <a:sym typeface="Wingdings" panose="05000000000000000000" pitchFamily="2" charset="2"/>
              </a:rPr>
              <a:t>임의의 요소를 가져옴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주로 병렬 스트림에서 사용함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ko-KR" altLang="en-US" err="1">
                <a:sym typeface="Wingdings" panose="05000000000000000000" pitchFamily="2" charset="2"/>
              </a:rPr>
              <a:t>병렬스트림에서</a:t>
            </a:r>
            <a:r>
              <a:rPr lang="ko-KR" altLang="en-US">
                <a:sym typeface="Wingdings" panose="05000000000000000000" pitchFamily="2" charset="2"/>
              </a:rPr>
              <a:t> 첫 번째 요소의 의미가 존재하지 않음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findFirst</a:t>
            </a:r>
            <a:r>
              <a:rPr lang="en-US" altLang="ko-KR">
                <a:sym typeface="Wingdings" panose="05000000000000000000" pitchFamily="2" charset="2"/>
              </a:rPr>
              <a:t> : </a:t>
            </a:r>
            <a:r>
              <a:rPr lang="ko-KR" altLang="en-US">
                <a:sym typeface="Wingdings" panose="05000000000000000000" pitchFamily="2" charset="2"/>
              </a:rPr>
              <a:t>첫 번째 요소를 가져옴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일반 스트림에서 사용함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19079"/>
      </p:ext>
    </p:extLst>
  </p:cSld>
  <p:clrMapOvr>
    <a:masterClrMapping/>
  </p:clrMapOvr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6. Reducing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767214"/>
      </p:ext>
    </p:extLst>
  </p:cSld>
  <p:clrMapOvr>
    <a:masterClrMapping/>
  </p:clrMapOvr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스트림의 요소로 집계함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SQL </a:t>
            </a:r>
            <a:r>
              <a:rPr lang="ko-KR" altLang="en-US" dirty="0">
                <a:sym typeface="Wingdings" panose="05000000000000000000" pitchFamily="2" charset="2"/>
              </a:rPr>
              <a:t>에서 집계함수의 역할 수행함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요소의 합 구하기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일반 </a:t>
            </a:r>
            <a:r>
              <a:rPr lang="en-US" altLang="ko-KR" dirty="0">
                <a:sym typeface="Wingdings" panose="05000000000000000000" pitchFamily="2" charset="2"/>
              </a:rPr>
              <a:t>Java</a:t>
            </a:r>
            <a:r>
              <a:rPr lang="ko-KR" altLang="en-US" dirty="0">
                <a:sym typeface="Wingdings" panose="05000000000000000000" pitchFamily="2" charset="2"/>
              </a:rPr>
              <a:t>에서 합계를 구하는 코드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리듀싱을</a:t>
            </a:r>
            <a:r>
              <a:rPr lang="ko-KR" altLang="en-US" dirty="0">
                <a:sym typeface="Wingdings" panose="05000000000000000000" pitchFamily="2" charset="2"/>
              </a:rPr>
              <a:t> 활용한 코드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a : </a:t>
            </a:r>
            <a:r>
              <a:rPr lang="ko-KR" altLang="en-US" dirty="0">
                <a:sym typeface="Wingdings" panose="05000000000000000000" pitchFamily="2" charset="2"/>
              </a:rPr>
              <a:t>집계된 값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b : </a:t>
            </a:r>
            <a:r>
              <a:rPr lang="ko-KR" altLang="en-US" dirty="0">
                <a:sym typeface="Wingdings" panose="05000000000000000000" pitchFamily="2" charset="2"/>
              </a:rPr>
              <a:t>스트림 요소의 값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B59A4-D40A-212C-5FF0-81E731A215D3}"/>
              </a:ext>
            </a:extLst>
          </p:cNvPr>
          <p:cNvSpPr txBox="1"/>
          <p:nvPr/>
        </p:nvSpPr>
        <p:spPr>
          <a:xfrm>
            <a:off x="988263" y="3238734"/>
            <a:ext cx="4587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A7B82-1E50-3270-EC58-C898DD5203CB}"/>
              </a:ext>
            </a:extLst>
          </p:cNvPr>
          <p:cNvSpPr txBox="1"/>
          <p:nvPr/>
        </p:nvSpPr>
        <p:spPr>
          <a:xfrm>
            <a:off x="988263" y="5036014"/>
            <a:ext cx="67841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79158970"/>
      </p:ext>
    </p:extLst>
  </p:cSld>
  <p:clrMapOvr>
    <a:masterClrMapping/>
  </p:clrMapOvr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>
                <a:sym typeface="Wingdings" panose="05000000000000000000" pitchFamily="2" charset="2"/>
              </a:rPr>
              <a:t>리듀싱</a:t>
            </a:r>
            <a:r>
              <a:rPr lang="ko-KR" altLang="en-US">
                <a:sym typeface="Wingdings" panose="05000000000000000000" pitchFamily="2" charset="2"/>
              </a:rPr>
              <a:t> 처리 과정</a:t>
            </a:r>
            <a:r>
              <a:rPr lang="en-US" altLang="ko-KR">
                <a:sym typeface="Wingdings" panose="05000000000000000000" pitchFamily="2" charset="2"/>
              </a:rPr>
              <a:t>	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EC4BF-0584-75BC-33A0-BA6EBFB345BB}"/>
              </a:ext>
            </a:extLst>
          </p:cNvPr>
          <p:cNvSpPr/>
          <p:nvPr/>
        </p:nvSpPr>
        <p:spPr>
          <a:xfrm>
            <a:off x="3526344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371DA6F-A736-FF48-0163-FE6B52F2F806}"/>
              </a:ext>
            </a:extLst>
          </p:cNvPr>
          <p:cNvSpPr/>
          <p:nvPr/>
        </p:nvSpPr>
        <p:spPr>
          <a:xfrm>
            <a:off x="3526344" y="2982805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55A7C66-4365-713F-6D77-DD5D68AFD54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751992" y="2263137"/>
            <a:ext cx="0" cy="71966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3866F-0202-B34D-AFC7-4FC574DD35FE}"/>
              </a:ext>
            </a:extLst>
          </p:cNvPr>
          <p:cNvSpPr txBox="1"/>
          <p:nvPr/>
        </p:nvSpPr>
        <p:spPr>
          <a:xfrm>
            <a:off x="6286036" y="1900304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EEDC5-28E0-0B28-BA42-2FB9441A2845}"/>
              </a:ext>
            </a:extLst>
          </p:cNvPr>
          <p:cNvSpPr txBox="1"/>
          <p:nvPr/>
        </p:nvSpPr>
        <p:spPr>
          <a:xfrm>
            <a:off x="540679" y="1716150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숫자 스트림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FF952-83E0-F76A-92E2-99E4987AD810}"/>
              </a:ext>
            </a:extLst>
          </p:cNvPr>
          <p:cNvSpPr txBox="1"/>
          <p:nvPr/>
        </p:nvSpPr>
        <p:spPr>
          <a:xfrm>
            <a:off x="493395" y="2638427"/>
            <a:ext cx="2528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20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F35414A-5672-FBA5-6386-9CC28A1B5708}"/>
              </a:ext>
            </a:extLst>
          </p:cNvPr>
          <p:cNvCxnSpPr/>
          <p:nvPr/>
        </p:nvCxnSpPr>
        <p:spPr>
          <a:xfrm>
            <a:off x="624499" y="2556304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FE9ACA3-35DC-5900-3896-31708FDF597B}"/>
              </a:ext>
            </a:extLst>
          </p:cNvPr>
          <p:cNvSpPr txBox="1"/>
          <p:nvPr/>
        </p:nvSpPr>
        <p:spPr>
          <a:xfrm>
            <a:off x="6407956" y="6089690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endParaRPr lang="en-US" altLang="ko-KR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97550F-C8E0-87DF-92EC-B22BCA36D671}"/>
              </a:ext>
            </a:extLst>
          </p:cNvPr>
          <p:cNvSpPr/>
          <p:nvPr/>
        </p:nvSpPr>
        <p:spPr>
          <a:xfrm>
            <a:off x="4256749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7B4D7F-3B75-8DA5-F557-FB5427C89EF0}"/>
              </a:ext>
            </a:extLst>
          </p:cNvPr>
          <p:cNvSpPr/>
          <p:nvPr/>
        </p:nvSpPr>
        <p:spPr>
          <a:xfrm>
            <a:off x="4987154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ABCEB7-322F-FF39-D732-F8CB64B7A20C}"/>
              </a:ext>
            </a:extLst>
          </p:cNvPr>
          <p:cNvSpPr/>
          <p:nvPr/>
        </p:nvSpPr>
        <p:spPr>
          <a:xfrm>
            <a:off x="5719611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E93A45A-305C-3CCE-DAE1-E3428EDFA3FF}"/>
              </a:ext>
            </a:extLst>
          </p:cNvPr>
          <p:cNvSpPr/>
          <p:nvPr/>
        </p:nvSpPr>
        <p:spPr>
          <a:xfrm>
            <a:off x="4256749" y="376123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626886F-5FE0-7F64-6D6B-79382662A2A6}"/>
              </a:ext>
            </a:extLst>
          </p:cNvPr>
          <p:cNvSpPr/>
          <p:nvPr/>
        </p:nvSpPr>
        <p:spPr>
          <a:xfrm>
            <a:off x="4987154" y="451561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7C1231A-94A5-C5AD-D250-7AF94BA2EB94}"/>
              </a:ext>
            </a:extLst>
          </p:cNvPr>
          <p:cNvSpPr/>
          <p:nvPr/>
        </p:nvSpPr>
        <p:spPr>
          <a:xfrm>
            <a:off x="5725001" y="528523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0A9CA-9F66-B080-1A94-1428A3A56ED7}"/>
              </a:ext>
            </a:extLst>
          </p:cNvPr>
          <p:cNvSpPr txBox="1"/>
          <p:nvPr/>
        </p:nvSpPr>
        <p:spPr>
          <a:xfrm>
            <a:off x="2895600" y="3056047"/>
            <a:ext cx="282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1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4DB209-8F80-FA7E-F4CA-2876CFF9DB29}"/>
              </a:ext>
            </a:extLst>
          </p:cNvPr>
          <p:cNvSpPr/>
          <p:nvPr/>
        </p:nvSpPr>
        <p:spPr>
          <a:xfrm>
            <a:off x="3526344" y="379103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B616C10-FA7E-952C-4452-1E7CC694319C}"/>
              </a:ext>
            </a:extLst>
          </p:cNvPr>
          <p:cNvSpPr/>
          <p:nvPr/>
        </p:nvSpPr>
        <p:spPr>
          <a:xfrm>
            <a:off x="4256749" y="454541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AC3492-BF5A-A121-7527-7E6FF6482ADA}"/>
              </a:ext>
            </a:extLst>
          </p:cNvPr>
          <p:cNvSpPr/>
          <p:nvPr/>
        </p:nvSpPr>
        <p:spPr>
          <a:xfrm>
            <a:off x="4256749" y="4548494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06B477-4949-B240-56BA-9427F7965925}"/>
              </a:ext>
            </a:extLst>
          </p:cNvPr>
          <p:cNvSpPr/>
          <p:nvPr/>
        </p:nvSpPr>
        <p:spPr>
          <a:xfrm>
            <a:off x="4987154" y="531503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38D1AE-1BF6-8C24-026E-FDA428772B7E}"/>
              </a:ext>
            </a:extLst>
          </p:cNvPr>
          <p:cNvSpPr/>
          <p:nvPr/>
        </p:nvSpPr>
        <p:spPr>
          <a:xfrm>
            <a:off x="5719611" y="607706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EA143E2-3F3F-3348-D02C-56970C2B93B3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>
            <a:off x="4482397" y="2263137"/>
            <a:ext cx="0" cy="14981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7E56DDD-BC5D-FECC-CA1A-A3CB17C2D9F4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5212802" y="2263137"/>
            <a:ext cx="0" cy="225248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DEA8E17-F0D2-B77D-1832-A3B744CAF7B9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5945259" y="2263137"/>
            <a:ext cx="5390" cy="30221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C2B7DE1-4B9F-C0C7-A709-B5CB81A1816A}"/>
              </a:ext>
            </a:extLst>
          </p:cNvPr>
          <p:cNvCxnSpPr>
            <a:cxnSpLocks/>
            <a:stCxn id="9" idx="4"/>
            <a:endCxn id="25" idx="0"/>
          </p:cNvCxnSpPr>
          <p:nvPr/>
        </p:nvCxnSpPr>
        <p:spPr>
          <a:xfrm>
            <a:off x="3751992" y="3436620"/>
            <a:ext cx="0" cy="35441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77536A5-DB0B-6F83-E5D0-237823470342}"/>
              </a:ext>
            </a:extLst>
          </p:cNvPr>
          <p:cNvCxnSpPr>
            <a:cxnSpLocks/>
            <a:stCxn id="25" idx="3"/>
            <a:endCxn id="21" idx="2"/>
          </p:cNvCxnSpPr>
          <p:nvPr/>
        </p:nvCxnSpPr>
        <p:spPr>
          <a:xfrm>
            <a:off x="3977640" y="3988145"/>
            <a:ext cx="279109" cy="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6D19A78-B228-CA35-F869-7A123AB94DAD}"/>
              </a:ext>
            </a:extLst>
          </p:cNvPr>
          <p:cNvCxnSpPr>
            <a:cxnSpLocks/>
            <a:stCxn id="27" idx="3"/>
            <a:endCxn id="22" idx="2"/>
          </p:cNvCxnSpPr>
          <p:nvPr/>
        </p:nvCxnSpPr>
        <p:spPr>
          <a:xfrm flipV="1">
            <a:off x="4708045" y="4742526"/>
            <a:ext cx="279109" cy="307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9D28A40-91CE-3CD5-B4E5-2FA66611BF87}"/>
              </a:ext>
            </a:extLst>
          </p:cNvPr>
          <p:cNvCxnSpPr>
            <a:cxnSpLocks/>
            <a:stCxn id="29" idx="3"/>
            <a:endCxn id="23" idx="2"/>
          </p:cNvCxnSpPr>
          <p:nvPr/>
        </p:nvCxnSpPr>
        <p:spPr>
          <a:xfrm>
            <a:off x="5438450" y="5512145"/>
            <a:ext cx="286551" cy="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B340CB6-F358-1FCE-9ECC-DED948C3691B}"/>
              </a:ext>
            </a:extLst>
          </p:cNvPr>
          <p:cNvCxnSpPr>
            <a:cxnSpLocks/>
            <a:stCxn id="24" idx="3"/>
            <a:endCxn id="9" idx="2"/>
          </p:cNvCxnSpPr>
          <p:nvPr/>
        </p:nvCxnSpPr>
        <p:spPr>
          <a:xfrm flipV="1">
            <a:off x="3178262" y="3209713"/>
            <a:ext cx="348082" cy="22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0413FCC-3B6E-1F76-15D3-6D8799B8D16E}"/>
              </a:ext>
            </a:extLst>
          </p:cNvPr>
          <p:cNvCxnSpPr>
            <a:cxnSpLocks/>
            <a:stCxn id="21" idx="4"/>
            <a:endCxn id="27" idx="0"/>
          </p:cNvCxnSpPr>
          <p:nvPr/>
        </p:nvCxnSpPr>
        <p:spPr>
          <a:xfrm>
            <a:off x="4482397" y="4215053"/>
            <a:ext cx="0" cy="33344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F679135-7640-13AB-6B6D-60C400A4CEB3}"/>
              </a:ext>
            </a:extLst>
          </p:cNvPr>
          <p:cNvCxnSpPr>
            <a:cxnSpLocks/>
            <a:stCxn id="22" idx="4"/>
            <a:endCxn id="29" idx="0"/>
          </p:cNvCxnSpPr>
          <p:nvPr/>
        </p:nvCxnSpPr>
        <p:spPr>
          <a:xfrm>
            <a:off x="5212802" y="4969433"/>
            <a:ext cx="0" cy="3456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267D3B1-1509-A92A-B9A9-FF28513728D8}"/>
              </a:ext>
            </a:extLst>
          </p:cNvPr>
          <p:cNvCxnSpPr>
            <a:cxnSpLocks/>
            <a:stCxn id="23" idx="4"/>
            <a:endCxn id="30" idx="0"/>
          </p:cNvCxnSpPr>
          <p:nvPr/>
        </p:nvCxnSpPr>
        <p:spPr>
          <a:xfrm flipH="1">
            <a:off x="5945259" y="5739053"/>
            <a:ext cx="5390" cy="33801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99867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최대값과 최소값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Integer::max</a:t>
            </a:r>
            <a:r>
              <a:rPr lang="ko-KR" altLang="en-US">
                <a:sym typeface="Wingdings" panose="05000000000000000000" pitchFamily="2" charset="2"/>
              </a:rPr>
              <a:t>를 이용해 최대값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Integer::min</a:t>
            </a:r>
            <a:r>
              <a:rPr lang="ko-KR" altLang="en-US">
                <a:sym typeface="Wingdings" panose="05000000000000000000" pitchFamily="2" charset="2"/>
              </a:rPr>
              <a:t>을 이용해 최소값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리듀스에서 기본값이 없을 경우 </a:t>
            </a:r>
            <a:r>
              <a:rPr lang="en-US" altLang="ko-KR">
                <a:sym typeface="Wingdings" panose="05000000000000000000" pitchFamily="2" charset="2"/>
              </a:rPr>
              <a:t>Optional</a:t>
            </a:r>
            <a:r>
              <a:rPr lang="ko-KR" altLang="en-US">
                <a:sym typeface="Wingdings" panose="05000000000000000000" pitchFamily="2" charset="2"/>
              </a:rPr>
              <a:t>이 반환됨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3C9D3-8E53-441C-1548-42A6ECD2FE6C}"/>
              </a:ext>
            </a:extLst>
          </p:cNvPr>
          <p:cNvSpPr txBox="1"/>
          <p:nvPr/>
        </p:nvSpPr>
        <p:spPr>
          <a:xfrm>
            <a:off x="916198" y="1916993"/>
            <a:ext cx="7542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A2275-66A1-021A-2449-0710640D79F8}"/>
              </a:ext>
            </a:extLst>
          </p:cNvPr>
          <p:cNvSpPr txBox="1"/>
          <p:nvPr/>
        </p:nvSpPr>
        <p:spPr>
          <a:xfrm>
            <a:off x="916198" y="2830263"/>
            <a:ext cx="7542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35027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스트림의 중간 연산과 최종 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F83739-6F7B-2F8D-C82F-20E85A05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97" y="1621940"/>
            <a:ext cx="5748965" cy="508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16036"/>
      </p:ext>
    </p:extLst>
  </p:cSld>
  <p:clrMapOvr>
    <a:masterClrMapping/>
  </p:clrMapOvr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Primitive Stream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038575"/>
      </p:ext>
    </p:extLst>
  </p:cSld>
  <p:clrMapOvr>
    <a:masterClrMapping/>
  </p:clrMapOvr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int, double, long </a:t>
            </a:r>
            <a:r>
              <a:rPr lang="ko-KR" altLang="en-US" dirty="0">
                <a:sym typeface="Wingdings" panose="05000000000000000000" pitchFamily="2" charset="2"/>
              </a:rPr>
              <a:t>특화 스트림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리듀싱</a:t>
            </a:r>
            <a:r>
              <a:rPr lang="ko-KR" altLang="en-US" dirty="0">
                <a:sym typeface="Wingdings" panose="05000000000000000000" pitchFamily="2" charset="2"/>
              </a:rPr>
              <a:t> 관련 메소드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기본형 특화 스트림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일반 스트림 변환 메소드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숫자 스트림으로 </a:t>
            </a:r>
            <a:r>
              <a:rPr lang="ko-KR" altLang="en-US" dirty="0" err="1">
                <a:sym typeface="Wingdings" panose="05000000000000000000" pitchFamily="2" charset="2"/>
              </a:rPr>
              <a:t>맵핑하기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mapToInt</a:t>
            </a:r>
            <a:r>
              <a:rPr lang="en-US" altLang="ko-KR" dirty="0">
                <a:sym typeface="Wingdings" panose="05000000000000000000" pitchFamily="2" charset="2"/>
              </a:rPr>
              <a:t>(), </a:t>
            </a:r>
            <a:r>
              <a:rPr lang="en-US" altLang="ko-KR" dirty="0" err="1">
                <a:sym typeface="Wingdings" panose="05000000000000000000" pitchFamily="2" charset="2"/>
              </a:rPr>
              <a:t>mapToDouble</a:t>
            </a:r>
            <a:r>
              <a:rPr lang="en-US" altLang="ko-KR" dirty="0">
                <a:sym typeface="Wingdings" panose="05000000000000000000" pitchFamily="2" charset="2"/>
              </a:rPr>
              <a:t>(), </a:t>
            </a:r>
            <a:r>
              <a:rPr lang="en-US" altLang="ko-KR" dirty="0" err="1">
                <a:sym typeface="Wingdings" panose="05000000000000000000" pitchFamily="2" charset="2"/>
              </a:rPr>
              <a:t>mapToLong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을 많이 사용함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객체 스트림으로 복원하기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Primitive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924A4-84DD-0C14-0B6C-B4873A722A12}"/>
              </a:ext>
            </a:extLst>
          </p:cNvPr>
          <p:cNvSpPr txBox="1"/>
          <p:nvPr/>
        </p:nvSpPr>
        <p:spPr>
          <a:xfrm>
            <a:off x="704850" y="3013501"/>
            <a:ext cx="7734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Stream&lt;Dish&gt;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94D53-88CC-82DB-6E80-99B8442342B6}"/>
              </a:ext>
            </a:extLst>
          </p:cNvPr>
          <p:cNvSpPr txBox="1"/>
          <p:nvPr/>
        </p:nvSpPr>
        <p:spPr>
          <a:xfrm>
            <a:off x="748665" y="5186263"/>
            <a:ext cx="76466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스트림을 숫자 스트림으로 변환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숫자 스트림을 일반 스트림으로 변환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boxed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48267994"/>
      </p:ext>
    </p:extLst>
  </p:cSld>
  <p:clrMapOvr>
    <a:masterClrMapping/>
  </p:clrMapOvr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기본값 처리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OptionalInt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en-US" altLang="ko-KR" err="1">
                <a:sym typeface="Wingdings" panose="05000000000000000000" pitchFamily="2" charset="2"/>
              </a:rPr>
              <a:t>OptionalDouble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en-US" altLang="ko-KR" err="1">
                <a:sym typeface="Wingdings" panose="05000000000000000000" pitchFamily="2" charset="2"/>
              </a:rPr>
              <a:t>OptionalLong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스트림에 요소가 없는 경우 최대값을 구하는 상황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Optional 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 err="1">
                <a:sym typeface="Wingdings" panose="05000000000000000000" pitchFamily="2" charset="2"/>
              </a:rPr>
              <a:t>orElse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를 사용할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Primitive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6FF85-9336-4D4B-65B1-BAD16AF3BE43}"/>
              </a:ext>
            </a:extLst>
          </p:cNvPr>
          <p:cNvSpPr txBox="1"/>
          <p:nvPr/>
        </p:nvSpPr>
        <p:spPr>
          <a:xfrm>
            <a:off x="1010548" y="2221386"/>
            <a:ext cx="7119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F9439-9EE6-99E6-09C6-E8D2171EC600}"/>
              </a:ext>
            </a:extLst>
          </p:cNvPr>
          <p:cNvSpPr txBox="1"/>
          <p:nvPr/>
        </p:nvSpPr>
        <p:spPr>
          <a:xfrm>
            <a:off x="1010548" y="3805618"/>
            <a:ext cx="6059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값이 없을 때 기본 최대값을 명시적으로 설정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maxCalories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36814895"/>
      </p:ext>
    </p:extLst>
  </p:cSld>
  <p:clrMapOvr>
    <a:masterClrMapping/>
  </p:clrMapOvr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8. Generate Stream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828880"/>
      </p:ext>
    </p:extLst>
  </p:cSld>
  <p:clrMapOvr>
    <a:masterClrMapping/>
  </p:clrMapOvr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값으로 스트림 만들기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스트림 비우기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배열로 스트림 만들기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Generate Stream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60CEF-6E9C-EFD5-E0A8-B422B885048C}"/>
              </a:ext>
            </a:extLst>
          </p:cNvPr>
          <p:cNvSpPr txBox="1"/>
          <p:nvPr/>
        </p:nvSpPr>
        <p:spPr>
          <a:xfrm>
            <a:off x="548640" y="1626666"/>
            <a:ext cx="8214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"Java8"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"Lambdas"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"Action"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0F53D-0137-3BE7-5919-ACDD30ACF41A}"/>
              </a:ext>
            </a:extLst>
          </p:cNvPr>
          <p:cNvSpPr txBox="1"/>
          <p:nvPr/>
        </p:nvSpPr>
        <p:spPr>
          <a:xfrm>
            <a:off x="548640" y="3235375"/>
            <a:ext cx="5989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emptyStream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1E008-E71B-77F2-2A95-1100D19F351C}"/>
              </a:ext>
            </a:extLst>
          </p:cNvPr>
          <p:cNvSpPr txBox="1"/>
          <p:nvPr/>
        </p:nvSpPr>
        <p:spPr>
          <a:xfrm>
            <a:off x="548640" y="4459516"/>
            <a:ext cx="5326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057999"/>
      </p:ext>
    </p:extLst>
  </p:cSld>
  <p:clrMapOvr>
    <a:masterClrMapping/>
  </p:clrMapOvr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파일로 스트림 만들기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Generate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65270-91C2-1675-2501-D28A089413F0}"/>
              </a:ext>
            </a:extLst>
          </p:cNvPr>
          <p:cNvSpPr txBox="1"/>
          <p:nvPr/>
        </p:nvSpPr>
        <p:spPr>
          <a:xfrm>
            <a:off x="480060" y="1600268"/>
            <a:ext cx="85932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uniqueWords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defaultCharset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스트림은 자원을 자동으로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Close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 수 있는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AutoClosable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       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단어 스트림 생성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uniqueWords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중복제거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고유 단어 수 계산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열다가 에러가 발생시 처리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9698196"/>
      </p:ext>
    </p:extLst>
  </p:cSld>
  <p:clrMapOvr>
    <a:masterClrMapping/>
  </p:clrMapOvr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9. Collectors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933623"/>
      </p:ext>
    </p:extLst>
  </p:cSld>
  <p:clrMapOvr>
    <a:masterClrMapping/>
  </p:clrMapOvr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데이터 집계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164432"/>
      </p:ext>
    </p:extLst>
  </p:cSld>
  <p:clrMapOvr>
    <a:masterClrMapping/>
  </p:clrMapOvr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스트림으로 집계하기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Java 8 </a:t>
            </a:r>
            <a:r>
              <a:rPr lang="ko-KR" altLang="en-US">
                <a:sym typeface="Wingdings" panose="05000000000000000000" pitchFamily="2" charset="2"/>
              </a:rPr>
              <a:t>이 제공하는 </a:t>
            </a:r>
            <a:r>
              <a:rPr lang="en-US" altLang="ko-KR">
                <a:sym typeface="Wingdings" panose="05000000000000000000" pitchFamily="2" charset="2"/>
              </a:rPr>
              <a:t>“</a:t>
            </a:r>
            <a:r>
              <a:rPr lang="ko-KR" altLang="en-US">
                <a:sym typeface="Wingdings" panose="05000000000000000000" pitchFamily="2" charset="2"/>
              </a:rPr>
              <a:t>컬렉터</a:t>
            </a:r>
            <a:r>
              <a:rPr lang="en-US" altLang="ko-KR">
                <a:sym typeface="Wingdings" panose="05000000000000000000" pitchFamily="2" charset="2"/>
              </a:rPr>
              <a:t>(Collectors </a:t>
            </a:r>
            <a:r>
              <a:rPr lang="ko-KR" altLang="en-US">
                <a:sym typeface="Wingdings" panose="05000000000000000000" pitchFamily="2" charset="2"/>
              </a:rPr>
              <a:t>클래스</a:t>
            </a:r>
            <a:r>
              <a:rPr lang="en-US" altLang="ko-KR">
                <a:sym typeface="Wingdings" panose="05000000000000000000" pitchFamily="2" charset="2"/>
              </a:rPr>
              <a:t>)“</a:t>
            </a:r>
            <a:r>
              <a:rPr lang="ko-KR" altLang="en-US">
                <a:sym typeface="Wingdings" panose="05000000000000000000" pitchFamily="2" charset="2"/>
              </a:rPr>
              <a:t>를 통해 아래 기능들을 사용할 수 있음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1. </a:t>
            </a:r>
            <a:r>
              <a:rPr lang="ko-KR" altLang="en-US">
                <a:sym typeface="Wingdings" panose="05000000000000000000" pitchFamily="2" charset="2"/>
              </a:rPr>
              <a:t>스트림 요소를 하나의 값으로 리듀스하고 요약하기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스트림 요소 그룹화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3. </a:t>
            </a:r>
            <a:r>
              <a:rPr lang="ko-KR" altLang="en-US">
                <a:sym typeface="Wingdings" panose="05000000000000000000" pitchFamily="2" charset="2"/>
              </a:rPr>
              <a:t>스트림 요소 분할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스트림 요소 </a:t>
            </a:r>
            <a:r>
              <a:rPr lang="ko-KR" altLang="en-US" err="1">
                <a:sym typeface="Wingdings" panose="05000000000000000000" pitchFamily="2" charset="2"/>
              </a:rPr>
              <a:t>카운팅하기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아래처럼 스트림에서 바로 사용할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D0F3F-0A89-4263-C757-E6F616F66C8D}"/>
              </a:ext>
            </a:extLst>
          </p:cNvPr>
          <p:cNvSpPr txBox="1"/>
          <p:nvPr/>
        </p:nvSpPr>
        <p:spPr>
          <a:xfrm>
            <a:off x="523874" y="3496500"/>
            <a:ext cx="77285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howManyDishes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7637E-3535-5B0E-2474-A09AFC5ED2DC}"/>
              </a:ext>
            </a:extLst>
          </p:cNvPr>
          <p:cNvSpPr txBox="1"/>
          <p:nvPr/>
        </p:nvSpPr>
        <p:spPr>
          <a:xfrm>
            <a:off x="523874" y="4747257"/>
            <a:ext cx="6588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howManuDishes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49179916"/>
      </p:ext>
    </p:extLst>
  </p:cSld>
  <p:clrMapOvr>
    <a:masterClrMapping/>
  </p:clrMapOvr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요소에서 최대값과 최소값 검색하기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maxBy</a:t>
            </a:r>
            <a:r>
              <a:rPr lang="ko-KR" altLang="en-US">
                <a:sym typeface="Wingdings" panose="05000000000000000000" pitchFamily="2" charset="2"/>
              </a:rPr>
              <a:t>와 </a:t>
            </a:r>
            <a:r>
              <a:rPr lang="en-US" altLang="ko-KR" err="1">
                <a:sym typeface="Wingdings" panose="05000000000000000000" pitchFamily="2" charset="2"/>
              </a:rPr>
              <a:t>minBy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를 사용할 수 있음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총 합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summingInt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총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평균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averagingInt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averagingDouble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averagingLong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5415E-3DD9-AA9C-A824-B483F95CBBB6}"/>
              </a:ext>
            </a:extLst>
          </p:cNvPr>
          <p:cNvSpPr txBox="1"/>
          <p:nvPr/>
        </p:nvSpPr>
        <p:spPr>
          <a:xfrm>
            <a:off x="918570" y="1940805"/>
            <a:ext cx="7117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dishCaloriesComparator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mostCalorieDish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dishCaloriesComparator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655AF-A72C-1018-5697-508815A4D0E6}"/>
              </a:ext>
            </a:extLst>
          </p:cNvPr>
          <p:cNvSpPr txBox="1"/>
          <p:nvPr/>
        </p:nvSpPr>
        <p:spPr>
          <a:xfrm>
            <a:off x="918570" y="4473152"/>
            <a:ext cx="8519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summingInt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C11A7F-1DF0-A0E6-4997-A395E2247A55}"/>
              </a:ext>
            </a:extLst>
          </p:cNvPr>
          <p:cNvSpPr txBox="1"/>
          <p:nvPr/>
        </p:nvSpPr>
        <p:spPr>
          <a:xfrm>
            <a:off x="918570" y="5777192"/>
            <a:ext cx="8964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avgCalories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 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averagingInt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858427271"/>
      </p:ext>
    </p:extLst>
  </p:cSld>
  <p:clrMapOvr>
    <a:masterClrMapping/>
  </p:clrMapOvr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모든 집계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스트림의 </a:t>
            </a:r>
            <a:r>
              <a:rPr lang="ko-KR" altLang="en-US" err="1">
                <a:sym typeface="Wingdings" panose="05000000000000000000" pitchFamily="2" charset="2"/>
              </a:rPr>
              <a:t>요소수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주어진 조건의 합계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평균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최대값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최소값을 한번에 </a:t>
            </a:r>
            <a:r>
              <a:rPr lang="ko-KR" altLang="en-US" err="1">
                <a:sym typeface="Wingdings" panose="05000000000000000000" pitchFamily="2" charset="2"/>
              </a:rPr>
              <a:t>찾아줌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summarizingInt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summarizingDouble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summarizingLong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EA910-99C6-CBB4-E7E8-EC9F4ECF6ACE}"/>
              </a:ext>
            </a:extLst>
          </p:cNvPr>
          <p:cNvSpPr txBox="1"/>
          <p:nvPr/>
        </p:nvSpPr>
        <p:spPr>
          <a:xfrm>
            <a:off x="975360" y="2240756"/>
            <a:ext cx="8321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IntSummaryStatistics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menuStatistics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Collecotrs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summarizingInt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232B1-AB87-3B18-2785-8E3A0F4B8730}"/>
              </a:ext>
            </a:extLst>
          </p:cNvPr>
          <p:cNvSpPr txBox="1"/>
          <p:nvPr/>
        </p:nvSpPr>
        <p:spPr>
          <a:xfrm>
            <a:off x="975360" y="3877341"/>
            <a:ext cx="8975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IntSummaryStatistics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sum=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min=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average=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477.777778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max=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9835016"/>
      </p:ext>
    </p:extLst>
  </p:cSld>
  <p:clrMapOvr>
    <a:masterClrMapping/>
  </p:clrMapOvr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문자열 연결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62688"/>
      </p:ext>
    </p:extLst>
  </p:cSld>
  <p:clrMapOvr>
    <a:masterClrMapping/>
  </p:clrMapOvr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내의 문자열을 모두 연결하는 </a:t>
            </a:r>
            <a:r>
              <a:rPr lang="en-US" altLang="ko-KR">
                <a:sym typeface="Wingdings" panose="05000000000000000000" pitchFamily="2" charset="2"/>
              </a:rPr>
              <a:t>joining()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아래처럼 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문자열 연결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661E0-9593-3D9F-4FEF-90D010046EE2}"/>
              </a:ext>
            </a:extLst>
          </p:cNvPr>
          <p:cNvSpPr txBox="1"/>
          <p:nvPr/>
        </p:nvSpPr>
        <p:spPr>
          <a:xfrm>
            <a:off x="592347" y="1602720"/>
            <a:ext cx="7959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shortMenu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4DD3E-C8AE-C248-C418-D5BACDAB9038}"/>
              </a:ext>
            </a:extLst>
          </p:cNvPr>
          <p:cNvSpPr txBox="1"/>
          <p:nvPr/>
        </p:nvSpPr>
        <p:spPr>
          <a:xfrm>
            <a:off x="592347" y="3362940"/>
            <a:ext cx="7959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358574444"/>
      </p:ext>
    </p:extLst>
  </p:cSld>
  <p:clrMapOvr>
    <a:masterClrMapping/>
  </p:clrMapOvr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61748"/>
      </p:ext>
    </p:extLst>
  </p:cSld>
  <p:clrMapOvr>
    <a:masterClrMapping/>
  </p:clrMapOvr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요소를 하나 이상의 특성으로 분류해 그룹화 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SQL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GROUP BY</a:t>
            </a:r>
            <a:r>
              <a:rPr lang="ko-KR" altLang="en-US">
                <a:sym typeface="Wingdings" panose="05000000000000000000" pitchFamily="2" charset="2"/>
              </a:rPr>
              <a:t>와 같은 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Collectors.groupingBy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사용</a:t>
            </a:r>
            <a:endParaRPr lang="en-US" altLang="ko-KR">
              <a:sym typeface="Wingdings" panose="05000000000000000000" pitchFamily="2" charset="2"/>
            </a:endParaRPr>
          </a:p>
          <a:p>
            <a:pPr marL="2667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2667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334ED-2109-77E3-238B-42B0A3B607EC}"/>
              </a:ext>
            </a:extLst>
          </p:cNvPr>
          <p:cNvSpPr txBox="1"/>
          <p:nvPr/>
        </p:nvSpPr>
        <p:spPr>
          <a:xfrm>
            <a:off x="934349" y="2304214"/>
            <a:ext cx="8293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A45B9-63B0-C3A8-1B48-91E465AD5395}"/>
              </a:ext>
            </a:extLst>
          </p:cNvPr>
          <p:cNvSpPr txBox="1"/>
          <p:nvPr/>
        </p:nvSpPr>
        <p:spPr>
          <a:xfrm>
            <a:off x="934349" y="3596640"/>
            <a:ext cx="81934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FISH=[prawns, salmon],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OTHER=[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rice, season fruit, pizza],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MEAT=[pork, beef, chicken]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1900044"/>
      </p:ext>
    </p:extLst>
  </p:cSld>
  <p:clrMapOvr>
    <a:masterClrMapping/>
  </p:clrMapOvr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BADDB23-2720-25BB-1DCE-A2E82061E1A7}"/>
              </a:ext>
            </a:extLst>
          </p:cNvPr>
          <p:cNvSpPr txBox="1"/>
          <p:nvPr/>
        </p:nvSpPr>
        <p:spPr>
          <a:xfrm>
            <a:off x="730062" y="1813224"/>
            <a:ext cx="8293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그룹화가 동작하는 방식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cxnSp>
        <p:nvCxnSpPr>
          <p:cNvPr id="9" name="구부러진 연결선 7">
            <a:extLst>
              <a:ext uri="{FF2B5EF4-FFF2-40B4-BE49-F238E27FC236}">
                <a16:creationId xmlns:a16="http://schemas.microsoft.com/office/drawing/2014/main" id="{ED2D3435-9CBD-EBE6-0DFC-C39C03FB716D}"/>
              </a:ext>
            </a:extLst>
          </p:cNvPr>
          <p:cNvCxnSpPr>
            <a:cxnSpLocks/>
            <a:stCxn id="10" idx="2"/>
            <a:endCxn id="24" idx="3"/>
          </p:cNvCxnSpPr>
          <p:nvPr/>
        </p:nvCxnSpPr>
        <p:spPr>
          <a:xfrm rot="16200000" flipH="1">
            <a:off x="5846582" y="2684076"/>
            <a:ext cx="1877835" cy="1272022"/>
          </a:xfrm>
          <a:prstGeom prst="curvedConnector4">
            <a:avLst>
              <a:gd name="adj1" fmla="val 45209"/>
              <a:gd name="adj2" fmla="val 173712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C07249-73A4-D354-FA3B-497C7F0ED9B5}"/>
              </a:ext>
            </a:extLst>
          </p:cNvPr>
          <p:cNvSpPr/>
          <p:nvPr/>
        </p:nvSpPr>
        <p:spPr>
          <a:xfrm>
            <a:off x="4168435" y="2097773"/>
            <a:ext cx="3962105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475F71-515E-7116-13A0-610088647C6A}"/>
              </a:ext>
            </a:extLst>
          </p:cNvPr>
          <p:cNvSpPr/>
          <p:nvPr/>
        </p:nvSpPr>
        <p:spPr>
          <a:xfrm>
            <a:off x="876300" y="3162300"/>
            <a:ext cx="1043940" cy="346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스트림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E97948-5B86-5299-BA20-726FEE52A94C}"/>
              </a:ext>
            </a:extLst>
          </p:cNvPr>
          <p:cNvSpPr/>
          <p:nvPr/>
        </p:nvSpPr>
        <p:spPr>
          <a:xfrm>
            <a:off x="2247900" y="4035024"/>
            <a:ext cx="944880" cy="44553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분류함수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25D263-3BCE-5A05-B558-668E15D376E9}"/>
              </a:ext>
            </a:extLst>
          </p:cNvPr>
          <p:cNvSpPr/>
          <p:nvPr/>
        </p:nvSpPr>
        <p:spPr>
          <a:xfrm>
            <a:off x="5349240" y="3349545"/>
            <a:ext cx="1043940" cy="3598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그룹화 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9E96EF-D1E2-9804-7406-8F99C036832A}"/>
              </a:ext>
            </a:extLst>
          </p:cNvPr>
          <p:cNvSpPr/>
          <p:nvPr/>
        </p:nvSpPr>
        <p:spPr>
          <a:xfrm>
            <a:off x="4450080" y="4667557"/>
            <a:ext cx="891540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salmon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284596-F0F0-CF17-DF19-D21F99BE60A3}"/>
              </a:ext>
            </a:extLst>
          </p:cNvPr>
          <p:cNvSpPr/>
          <p:nvPr/>
        </p:nvSpPr>
        <p:spPr>
          <a:xfrm>
            <a:off x="5433060" y="4667557"/>
            <a:ext cx="891540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pork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beef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chicken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6CB29E-5467-EB3F-1BED-6CA6CC06E374}"/>
              </a:ext>
            </a:extLst>
          </p:cNvPr>
          <p:cNvSpPr/>
          <p:nvPr/>
        </p:nvSpPr>
        <p:spPr>
          <a:xfrm>
            <a:off x="6416408" y="4667557"/>
            <a:ext cx="1005471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pizza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rice</a:t>
            </a:r>
          </a:p>
          <a:p>
            <a:pPr algn="ctr"/>
            <a:r>
              <a:rPr lang="en-US" altLang="ko-KR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french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fries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4DE439-BA71-EFC6-9E23-8FE03F8C6CE7}"/>
              </a:ext>
            </a:extLst>
          </p:cNvPr>
          <p:cNvSpPr/>
          <p:nvPr/>
        </p:nvSpPr>
        <p:spPr>
          <a:xfrm>
            <a:off x="4450080" y="4079065"/>
            <a:ext cx="89154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FISH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5ABA14-7DCF-7B24-C87D-FB4DA94F67F9}"/>
              </a:ext>
            </a:extLst>
          </p:cNvPr>
          <p:cNvSpPr/>
          <p:nvPr/>
        </p:nvSpPr>
        <p:spPr>
          <a:xfrm>
            <a:off x="5433060" y="4079065"/>
            <a:ext cx="89154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MEAT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45A75C-A0FC-C80A-3848-DC5FE861D4C3}"/>
              </a:ext>
            </a:extLst>
          </p:cNvPr>
          <p:cNvSpPr/>
          <p:nvPr/>
        </p:nvSpPr>
        <p:spPr>
          <a:xfrm>
            <a:off x="6416040" y="4079065"/>
            <a:ext cx="100547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OTHER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D95B797-11BE-5057-2DB2-98201AF5731F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>
            <a:off x="1398270" y="3508901"/>
            <a:ext cx="4742" cy="51088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E1717F-1573-6DFC-E0A2-8813EF89694D}"/>
              </a:ext>
            </a:extLst>
          </p:cNvPr>
          <p:cNvSpPr txBox="1"/>
          <p:nvPr/>
        </p:nvSpPr>
        <p:spPr>
          <a:xfrm>
            <a:off x="1083533" y="4019784"/>
            <a:ext cx="638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prawns</a:t>
            </a:r>
          </a:p>
          <a:p>
            <a:pPr algn="ctr"/>
            <a:r>
              <a:rPr lang="en-US" altLang="ko-KR" sz="1200"/>
              <a:t>(</a:t>
            </a:r>
            <a:r>
              <a:rPr lang="ko-KR" altLang="en-US" sz="1200"/>
              <a:t>새우</a:t>
            </a:r>
            <a:r>
              <a:rPr lang="en-US" altLang="ko-KR" sz="1200"/>
              <a:t>)</a:t>
            </a:r>
            <a:endParaRPr lang="ko-KR" alt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7FB61-23F4-5DB1-C484-9F97881BD8FB}"/>
              </a:ext>
            </a:extLst>
          </p:cNvPr>
          <p:cNvSpPr txBox="1"/>
          <p:nvPr/>
        </p:nvSpPr>
        <p:spPr>
          <a:xfrm>
            <a:off x="1726360" y="401811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적용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E771D-D52E-473C-BA61-976E768F0BD0}"/>
              </a:ext>
            </a:extLst>
          </p:cNvPr>
          <p:cNvSpPr txBox="1"/>
          <p:nvPr/>
        </p:nvSpPr>
        <p:spPr>
          <a:xfrm>
            <a:off x="3649397" y="4089182"/>
            <a:ext cx="505268" cy="338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FISH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19566D-D5BD-5B83-7339-81D9B59D5BF0}"/>
              </a:ext>
            </a:extLst>
          </p:cNvPr>
          <p:cNvSpPr txBox="1"/>
          <p:nvPr/>
        </p:nvSpPr>
        <p:spPr>
          <a:xfrm>
            <a:off x="3239764" y="4018110"/>
            <a:ext cx="325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07452C-9F73-AE81-59D7-1CEAACEF16B9}"/>
              </a:ext>
            </a:extLst>
          </p:cNvPr>
          <p:cNvSpPr txBox="1"/>
          <p:nvPr/>
        </p:nvSpPr>
        <p:spPr>
          <a:xfrm>
            <a:off x="2103770" y="4708688"/>
            <a:ext cx="1518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항목을 리스트로 분류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0E5B4E-5615-BD92-A4C4-5D428DB0BEA7}"/>
              </a:ext>
            </a:extLst>
          </p:cNvPr>
          <p:cNvSpPr txBox="1"/>
          <p:nvPr/>
        </p:nvSpPr>
        <p:spPr>
          <a:xfrm>
            <a:off x="971707" y="3611307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다음</a:t>
            </a:r>
            <a:endParaRPr lang="en-US" altLang="ko-KR" sz="1100"/>
          </a:p>
          <a:p>
            <a:pPr algn="ctr"/>
            <a:r>
              <a:rPr lang="ko-KR" altLang="en-US" sz="1100"/>
              <a:t>항목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05779A0-92DF-CC8D-2457-81FE783DE054}"/>
              </a:ext>
            </a:extLst>
          </p:cNvPr>
          <p:cNvCxnSpPr>
            <a:cxnSpLocks/>
            <a:stCxn id="26" idx="3"/>
            <a:endCxn id="17" idx="1"/>
          </p:cNvCxnSpPr>
          <p:nvPr/>
        </p:nvCxnSpPr>
        <p:spPr>
          <a:xfrm>
            <a:off x="1722490" y="4250617"/>
            <a:ext cx="525410" cy="717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2C17753-9AF1-3E0D-A38A-8DE6FA711FC6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3192780" y="4257792"/>
            <a:ext cx="456617" cy="66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5BFB655-CCF1-8C5A-38D4-BD5B9CA943A7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4154665" y="4258460"/>
            <a:ext cx="295415" cy="54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7EBEE62-2740-3009-508D-A3319044A588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>
          <a:xfrm>
            <a:off x="4895850" y="4438944"/>
            <a:ext cx="0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0AB75E-34F7-FA85-38BD-FA5F6D3B864F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>
            <a:off x="5878830" y="4438944"/>
            <a:ext cx="0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7D260E4-9339-E40F-A2C6-E5B00DB98E0E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6918775" y="4438944"/>
            <a:ext cx="369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A2188E3-0954-E052-34E8-42E058137ABD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5871210" y="3709424"/>
            <a:ext cx="7620" cy="36964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4D80F43-6D50-2E77-151D-FA6FC5BF19A1}"/>
              </a:ext>
            </a:extLst>
          </p:cNvPr>
          <p:cNvCxnSpPr>
            <a:stCxn id="26" idx="2"/>
            <a:endCxn id="19" idx="1"/>
          </p:cNvCxnSpPr>
          <p:nvPr/>
        </p:nvCxnSpPr>
        <p:spPr>
          <a:xfrm rot="16200000" flipH="1">
            <a:off x="2689741" y="3194720"/>
            <a:ext cx="473610" cy="304706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EE915F17-B1EC-1169-43D4-469EDFD0DF10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rot="16200000" flipH="1">
            <a:off x="6210172" y="3370461"/>
            <a:ext cx="369641" cy="10475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E5AEBA48-F5EF-7D62-1F86-B146D07B941A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rot="5400000">
            <a:off x="5198710" y="3406564"/>
            <a:ext cx="369641" cy="9753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781823"/>
      </p:ext>
    </p:extLst>
  </p:cSld>
  <p:clrMapOvr>
    <a:masterClrMapping/>
  </p:clrMapOvr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E35F4EB-AEFB-E176-FA3A-FF0EFBF2CFFB}"/>
              </a:ext>
            </a:extLst>
          </p:cNvPr>
          <p:cNvSpPr txBox="1"/>
          <p:nvPr/>
        </p:nvSpPr>
        <p:spPr>
          <a:xfrm>
            <a:off x="510540" y="1598087"/>
            <a:ext cx="80543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DIET, NORMAL, FAT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그룹 키 </a:t>
            </a:r>
            <a:r>
              <a:rPr lang="ko-KR" altLang="en-US" err="1">
                <a:sym typeface="Wingdings" panose="05000000000000000000" pitchFamily="2" charset="2"/>
              </a:rPr>
              <a:t>커스텀하기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366164-7806-D84A-3575-AE8A9B4F99C4}"/>
              </a:ext>
            </a:extLst>
          </p:cNvPr>
          <p:cNvSpPr/>
          <p:nvPr/>
        </p:nvSpPr>
        <p:spPr>
          <a:xfrm>
            <a:off x="3531978" y="1628852"/>
            <a:ext cx="2000142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A5E362-4CDE-30A6-626D-EB0588F8F0AE}"/>
              </a:ext>
            </a:extLst>
          </p:cNvPr>
          <p:cNvSpPr/>
          <p:nvPr/>
        </p:nvSpPr>
        <p:spPr>
          <a:xfrm>
            <a:off x="3124200" y="3104923"/>
            <a:ext cx="1927860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F6E28F-2D87-953E-658F-3F75398E6053}"/>
              </a:ext>
            </a:extLst>
          </p:cNvPr>
          <p:cNvSpPr/>
          <p:nvPr/>
        </p:nvSpPr>
        <p:spPr>
          <a:xfrm>
            <a:off x="3108850" y="3827129"/>
            <a:ext cx="2202289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9BB911-297A-C826-DEBC-32DE42DE04FA}"/>
              </a:ext>
            </a:extLst>
          </p:cNvPr>
          <p:cNvSpPr/>
          <p:nvPr/>
        </p:nvSpPr>
        <p:spPr>
          <a:xfrm>
            <a:off x="3101231" y="4564575"/>
            <a:ext cx="1867009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09806"/>
      </p:ext>
    </p:extLst>
  </p:cSld>
  <p:clrMapOvr>
    <a:masterClrMapping/>
  </p:clrMapOvr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 err="1">
                <a:latin typeface="+mj-ea"/>
              </a:rPr>
              <a:t>다수준</a:t>
            </a:r>
            <a:r>
              <a:rPr lang="ko-KR" altLang="en-US" sz="4000" b="1">
                <a:latin typeface="+mj-ea"/>
              </a:rPr>
              <a:t> 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61857"/>
      </p:ext>
    </p:extLst>
  </p:cSld>
  <p:clrMapOvr>
    <a:masterClrMapping/>
  </p:clrMapOvr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Collectors.groupingBy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를 이용한 </a:t>
            </a:r>
            <a:r>
              <a:rPr lang="ko-KR" altLang="en-US" err="1">
                <a:sym typeface="Wingdings" panose="05000000000000000000" pitchFamily="2" charset="2"/>
              </a:rPr>
              <a:t>다수준</a:t>
            </a:r>
            <a:r>
              <a:rPr lang="ko-KR" altLang="en-US">
                <a:sym typeface="Wingdings" panose="05000000000000000000" pitchFamily="2" charset="2"/>
              </a:rPr>
              <a:t> 그룹화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E87B-4AE2-6C0C-FBE7-D8349E67766D}"/>
              </a:ext>
            </a:extLst>
          </p:cNvPr>
          <p:cNvSpPr txBox="1"/>
          <p:nvPr/>
        </p:nvSpPr>
        <p:spPr>
          <a:xfrm>
            <a:off x="602496" y="1530998"/>
            <a:ext cx="83860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그룹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그룹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 err="1"/>
              <a:t>다수준</a:t>
            </a:r>
            <a:r>
              <a:rPr lang="ko-KR" altLang="en-US"/>
              <a:t> 그룹화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84D2F1-0C7D-DF68-B79A-D521B2B6CA73}"/>
              </a:ext>
            </a:extLst>
          </p:cNvPr>
          <p:cNvSpPr/>
          <p:nvPr/>
        </p:nvSpPr>
        <p:spPr>
          <a:xfrm>
            <a:off x="1927112" y="2297648"/>
            <a:ext cx="5289776" cy="2800754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B4234-116C-AC3A-29D8-84F6BA865265}"/>
              </a:ext>
            </a:extLst>
          </p:cNvPr>
          <p:cNvSpPr txBox="1"/>
          <p:nvPr/>
        </p:nvSpPr>
        <p:spPr>
          <a:xfrm>
            <a:off x="493804" y="5962375"/>
            <a:ext cx="8494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{MEAT={DIET=[chicken], NORMAL=[beef], FAT=[pork]},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FISH={DIET=[prawns], NORMAL=[salmon]},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OTHER={DIET=[rice, seasonal fruit], NORMAL=[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pizza]}}</a:t>
            </a:r>
          </a:p>
        </p:txBody>
      </p:sp>
    </p:spTree>
    <p:extLst>
      <p:ext uri="{BB962C8B-B14F-4D97-AF65-F5344CB8AC3E}">
        <p14:creationId xmlns:p14="http://schemas.microsoft.com/office/powerpoint/2010/main" val="3393591702"/>
      </p:ext>
    </p:extLst>
  </p:cSld>
  <p:clrMapOvr>
    <a:masterClrMapping/>
  </p:clrMapOvr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서브그룹 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945899"/>
      </p:ext>
    </p:extLst>
  </p:cSld>
  <p:clrMapOvr>
    <a:masterClrMapping/>
  </p:clrMapOvr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메뉴 별 요리의 개수 구하기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가장 높은 칼로리를 가진 메뉴 구하기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서브그룹 그룹화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AC9AE-09CB-3B49-9C31-DDBA4E5BFCB9}"/>
              </a:ext>
            </a:extLst>
          </p:cNvPr>
          <p:cNvSpPr txBox="1"/>
          <p:nvPr/>
        </p:nvSpPr>
        <p:spPr>
          <a:xfrm rot="20822878">
            <a:off x="5077534" y="3657066"/>
            <a:ext cx="3623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00" b="0">
                <a:solidFill>
                  <a:srgbClr val="FF0000"/>
                </a:solidFill>
                <a:latin typeface="+mj-ea"/>
                <a:ea typeface="+mj-ea"/>
              </a:rPr>
              <a:t>데이터가 존재하는지 확실히 알지 못하기 때문에</a:t>
            </a:r>
            <a:r>
              <a:rPr lang="en-US" altLang="ko-KR" sz="1200" b="0">
                <a:solidFill>
                  <a:srgbClr val="FF0000"/>
                </a:solidFill>
                <a:latin typeface="+mj-ea"/>
                <a:ea typeface="+mj-ea"/>
              </a:rPr>
              <a:t>, </a:t>
            </a:r>
          </a:p>
          <a:p>
            <a:pPr algn="l"/>
            <a:r>
              <a:rPr lang="en-US" altLang="ko-KR" sz="1200" b="0">
                <a:solidFill>
                  <a:srgbClr val="FF0000"/>
                </a:solidFill>
                <a:ea typeface="+mj-ea"/>
              </a:rPr>
              <a:t>Optional</a:t>
            </a:r>
            <a:r>
              <a:rPr lang="ko-KR" altLang="en-US" sz="1200" b="0">
                <a:solidFill>
                  <a:srgbClr val="FF0000"/>
                </a:solidFill>
                <a:latin typeface="+mj-ea"/>
                <a:ea typeface="+mj-ea"/>
              </a:rPr>
              <a:t>을 </a:t>
            </a:r>
            <a:r>
              <a:rPr lang="ko-KR" altLang="en-US" sz="1200" b="0" err="1">
                <a:solidFill>
                  <a:srgbClr val="FF0000"/>
                </a:solidFill>
                <a:latin typeface="+mj-ea"/>
                <a:ea typeface="+mj-ea"/>
              </a:rPr>
              <a:t>리턴한다</a:t>
            </a:r>
            <a:r>
              <a:rPr lang="en-US" altLang="ko-KR" sz="1200" b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ko-KR" altLang="en-US" sz="1200" b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50EBB-4100-AA25-F07D-2EF6C2C14744}"/>
              </a:ext>
            </a:extLst>
          </p:cNvPr>
          <p:cNvSpPr txBox="1"/>
          <p:nvPr/>
        </p:nvSpPr>
        <p:spPr>
          <a:xfrm>
            <a:off x="593248" y="1619607"/>
            <a:ext cx="77415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typesCount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E4720-AE03-18E6-EB9D-E24E07C22AB7}"/>
              </a:ext>
            </a:extLst>
          </p:cNvPr>
          <p:cNvSpPr txBox="1"/>
          <p:nvPr/>
        </p:nvSpPr>
        <p:spPr>
          <a:xfrm>
            <a:off x="593248" y="3215139"/>
            <a:ext cx="3003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{MEAT=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FISH=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OTHER=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8EFA9-D599-FDC6-ABBA-FB4B6210CCD7}"/>
              </a:ext>
            </a:extLst>
          </p:cNvPr>
          <p:cNvSpPr txBox="1"/>
          <p:nvPr/>
        </p:nvSpPr>
        <p:spPr>
          <a:xfrm>
            <a:off x="524238" y="4399417"/>
            <a:ext cx="91827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mostCaloricByType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))));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47E724-CEE5-1587-5573-0F45C8917E8A}"/>
              </a:ext>
            </a:extLst>
          </p:cNvPr>
          <p:cNvSpPr/>
          <p:nvPr/>
        </p:nvSpPr>
        <p:spPr>
          <a:xfrm>
            <a:off x="2254912" y="4399417"/>
            <a:ext cx="1570328" cy="342460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3E078-F570-D52A-30E5-1002AB81B7F9}"/>
              </a:ext>
            </a:extLst>
          </p:cNvPr>
          <p:cNvSpPr txBox="1"/>
          <p:nvPr/>
        </p:nvSpPr>
        <p:spPr>
          <a:xfrm>
            <a:off x="593247" y="6094204"/>
            <a:ext cx="8113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{FISH=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[salmon], OTHER=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[pizza], MEAT=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[pork]}</a:t>
            </a:r>
          </a:p>
        </p:txBody>
      </p:sp>
    </p:spTree>
    <p:extLst>
      <p:ext uri="{BB962C8B-B14F-4D97-AF65-F5344CB8AC3E}">
        <p14:creationId xmlns:p14="http://schemas.microsoft.com/office/powerpoint/2010/main" val="1968910445"/>
      </p:ext>
    </p:extLst>
  </p:cSld>
  <p:clrMapOvr>
    <a:masterClrMapping/>
  </p:clrMapOvr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가장 높은 칼로리를 가진 메뉴 구하기 </a:t>
            </a:r>
            <a:r>
              <a:rPr lang="en-US" altLang="ko-KR">
                <a:sym typeface="Wingdings" panose="05000000000000000000" pitchFamily="2" charset="2"/>
              </a:rPr>
              <a:t>– Optional </a:t>
            </a:r>
            <a:r>
              <a:rPr lang="ko-KR" altLang="en-US">
                <a:sym typeface="Wingdings" panose="05000000000000000000" pitchFamily="2" charset="2"/>
              </a:rPr>
              <a:t>제거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서브그룹 그룹화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41B54-2414-47A8-E2B0-85CAF6D9AD38}"/>
              </a:ext>
            </a:extLst>
          </p:cNvPr>
          <p:cNvSpPr txBox="1"/>
          <p:nvPr/>
        </p:nvSpPr>
        <p:spPr>
          <a:xfrm>
            <a:off x="577632" y="1714698"/>
            <a:ext cx="871114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mostCaloricByType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   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collectingAndThen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      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				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get)));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67517A-1FDB-A85D-A258-0B1EE31F42A1}"/>
              </a:ext>
            </a:extLst>
          </p:cNvPr>
          <p:cNvSpPr/>
          <p:nvPr/>
        </p:nvSpPr>
        <p:spPr>
          <a:xfrm>
            <a:off x="2513992" y="2453071"/>
            <a:ext cx="5593688" cy="1037920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0093114A-8B76-5234-A7FE-761A0C661D38}"/>
              </a:ext>
            </a:extLst>
          </p:cNvPr>
          <p:cNvSpPr/>
          <p:nvPr/>
        </p:nvSpPr>
        <p:spPr>
          <a:xfrm>
            <a:off x="6137726" y="1683569"/>
            <a:ext cx="818400" cy="373412"/>
          </a:xfrm>
          <a:prstGeom prst="borderCallout1">
            <a:avLst>
              <a:gd name="adj1" fmla="val 47321"/>
              <a:gd name="adj2" fmla="val 0"/>
              <a:gd name="adj3" fmla="val 149371"/>
              <a:gd name="adj4" fmla="val -7283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분류함수</a:t>
            </a:r>
          </a:p>
        </p:txBody>
      </p: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5E79492D-2E44-757D-164D-DF4BE7D63702}"/>
              </a:ext>
            </a:extLst>
          </p:cNvPr>
          <p:cNvSpPr/>
          <p:nvPr/>
        </p:nvSpPr>
        <p:spPr>
          <a:xfrm>
            <a:off x="6956126" y="2430393"/>
            <a:ext cx="1151554" cy="373412"/>
          </a:xfrm>
          <a:prstGeom prst="borderCallout1">
            <a:avLst>
              <a:gd name="adj1" fmla="val 47321"/>
              <a:gd name="adj2" fmla="val 0"/>
              <a:gd name="adj3" fmla="val 135086"/>
              <a:gd name="adj4" fmla="val -9335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감싸인 컬렉터</a:t>
            </a:r>
          </a:p>
        </p:txBody>
      </p:sp>
      <p:sp>
        <p:nvSpPr>
          <p:cNvPr id="20" name="설명선: 선 19">
            <a:extLst>
              <a:ext uri="{FF2B5EF4-FFF2-40B4-BE49-F238E27FC236}">
                <a16:creationId xmlns:a16="http://schemas.microsoft.com/office/drawing/2014/main" id="{10DF32C1-A69B-27D6-F4D4-517D90D43B40}"/>
              </a:ext>
            </a:extLst>
          </p:cNvPr>
          <p:cNvSpPr/>
          <p:nvPr/>
        </p:nvSpPr>
        <p:spPr>
          <a:xfrm>
            <a:off x="1211580" y="3093538"/>
            <a:ext cx="920878" cy="373412"/>
          </a:xfrm>
          <a:prstGeom prst="borderCallout1">
            <a:avLst>
              <a:gd name="adj1" fmla="val 45280"/>
              <a:gd name="adj2" fmla="val 102419"/>
              <a:gd name="adj3" fmla="val 73867"/>
              <a:gd name="adj4" fmla="val 29503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변환 함수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29232-B966-7397-A3A4-89496A21FA37}"/>
              </a:ext>
            </a:extLst>
          </p:cNvPr>
          <p:cNvSpPr txBox="1"/>
          <p:nvPr/>
        </p:nvSpPr>
        <p:spPr>
          <a:xfrm>
            <a:off x="593247" y="4013368"/>
            <a:ext cx="8113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{FISH=salmon, OTHER=pizza, MEAT=pork}</a:t>
            </a:r>
          </a:p>
        </p:txBody>
      </p:sp>
    </p:spTree>
    <p:extLst>
      <p:ext uri="{BB962C8B-B14F-4D97-AF65-F5344CB8AC3E}">
        <p14:creationId xmlns:p14="http://schemas.microsoft.com/office/powerpoint/2010/main" val="4239194523"/>
      </p:ext>
    </p:extLst>
  </p:cSld>
  <p:clrMapOvr>
    <a:masterClrMapping/>
  </p:clrMapOvr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분할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686905"/>
      </p:ext>
    </p:extLst>
  </p:cSld>
  <p:clrMapOvr>
    <a:masterClrMapping/>
  </p:clrMapOvr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스트림을 분할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결과로 채식 요리만 가져옴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필터</a:t>
            </a:r>
            <a:r>
              <a:rPr lang="en-US" altLang="ko-KR">
                <a:sym typeface="Wingdings" panose="05000000000000000000" pitchFamily="2" charset="2"/>
              </a:rPr>
              <a:t>(filter())</a:t>
            </a:r>
            <a:r>
              <a:rPr lang="ko-KR" altLang="en-US">
                <a:sym typeface="Wingdings" panose="05000000000000000000" pitchFamily="2" charset="2"/>
              </a:rPr>
              <a:t>로도 같은 기능을 수행할 수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분할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6F133-5F90-1584-7FCF-DF86B5D6E049}"/>
              </a:ext>
            </a:extLst>
          </p:cNvPr>
          <p:cNvSpPr txBox="1"/>
          <p:nvPr/>
        </p:nvSpPr>
        <p:spPr>
          <a:xfrm>
            <a:off x="552792" y="1617325"/>
            <a:ext cx="9246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partitionedMenu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Dish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isVegetarian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기준으로 분할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partitioningBy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isVegetarian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92F26-C693-7E58-E5F0-4C2CCCF141C8}"/>
              </a:ext>
            </a:extLst>
          </p:cNvPr>
          <p:cNvSpPr txBox="1"/>
          <p:nvPr/>
        </p:nvSpPr>
        <p:spPr>
          <a:xfrm>
            <a:off x="552792" y="3260974"/>
            <a:ext cx="566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=[pork, beef, chicken, prawns, salmon],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rice, season fruit, pizza]}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61DB8-224C-4228-36C1-9E54215C968D}"/>
              </a:ext>
            </a:extLst>
          </p:cNvPr>
          <p:cNvSpPr txBox="1"/>
          <p:nvPr/>
        </p:nvSpPr>
        <p:spPr>
          <a:xfrm>
            <a:off x="552792" y="4450658"/>
            <a:ext cx="7240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vegetarianDishes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partitionedMenu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60735503"/>
      </p:ext>
    </p:extLst>
  </p:cSld>
  <p:clrMapOvr>
    <a:masterClrMapping/>
  </p:clrMapOvr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ko-KR" altLang="en-US">
                <a:latin typeface="+mj-ea"/>
              </a:rPr>
              <a:t>감사합니다</a:t>
            </a:r>
            <a:r>
              <a:rPr lang="en-US" altLang="ko-KR">
                <a:latin typeface="+mj-ea"/>
              </a:rPr>
              <a:t>.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616848"/>
          </a:xfrm>
        </p:spPr>
        <p:txBody>
          <a:bodyPr>
            <a:normAutofit/>
          </a:bodyPr>
          <a:lstStyle/>
          <a:p>
            <a:r>
              <a:rPr lang="en-US" altLang="ko-KR" sz="3000">
                <a:latin typeface="+mj-ea"/>
                <a:ea typeface="+mj-ea"/>
              </a:rPr>
              <a:t>Java Programming</a:t>
            </a:r>
          </a:p>
          <a:p>
            <a:r>
              <a:rPr lang="en-US" altLang="ko-KR" sz="3000">
                <a:latin typeface="+mj-ea"/>
                <a:ea typeface="+mj-ea"/>
              </a:rPr>
              <a:t>Basic and Advanced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codemakers.kr@gmail.com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1FC403-BB74-31C4-E52D-48579C2C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8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9008</TotalTime>
  <Words>50462</Words>
  <Application>Microsoft Office PowerPoint</Application>
  <PresentationFormat>화면 슬라이드 쇼(4:3)</PresentationFormat>
  <Paragraphs>9492</Paragraphs>
  <Slides>641</Slides>
  <Notes>104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641</vt:i4>
      </vt:variant>
    </vt:vector>
  </HeadingPairs>
  <TitlesOfParts>
    <vt:vector size="649" baseType="lpstr">
      <vt:lpstr>NanumGothic</vt:lpstr>
      <vt:lpstr>맑은 고딕</vt:lpstr>
      <vt:lpstr>Arial</vt:lpstr>
      <vt:lpstr>Calibri</vt:lpstr>
      <vt:lpstr>Consolas</vt:lpstr>
      <vt:lpstr>Monaco</vt:lpstr>
      <vt:lpstr>Wingdings</vt:lpstr>
      <vt:lpstr>Office 테마</vt:lpstr>
      <vt:lpstr>Java Programming</vt:lpstr>
      <vt:lpstr>PowerPoint 프레젠테이션</vt:lpstr>
      <vt:lpstr>개요</vt:lpstr>
      <vt:lpstr>개요</vt:lpstr>
      <vt:lpstr>개요</vt:lpstr>
      <vt:lpstr>개요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Java Programming  기초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2. 자료형</vt:lpstr>
      <vt:lpstr>2. 자료형</vt:lpstr>
      <vt:lpstr>2. 자료형</vt:lpstr>
      <vt:lpstr>3. 변수와 변수의 범위</vt:lpstr>
      <vt:lpstr>3. 변수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숫자(부동소수점)형</vt:lpstr>
      <vt:lpstr>3. 변수 – 숫자(부동소수점)형</vt:lpstr>
      <vt:lpstr>3. 변수 – 문자형</vt:lpstr>
      <vt:lpstr>3. 변수 – 불린형</vt:lpstr>
      <vt:lpstr>3. 변수의 범위</vt:lpstr>
      <vt:lpstr>4. 상수</vt:lpstr>
      <vt:lpstr>4. 상수</vt:lpstr>
      <vt:lpstr>4. 상수</vt:lpstr>
      <vt:lpstr>5. 형 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7. 실행흐름 제어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9. 클래스 / 인스턴스 / 생성자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유틸리티 클래스</vt:lpstr>
      <vt:lpstr>9. 유틸리티 클래스</vt:lpstr>
      <vt:lpstr>Java Programming  심화</vt:lpstr>
      <vt:lpstr>10. 패키지 / 접근제어지시자 /       정보은닉과 캡슐화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접근제어지시자</vt:lpstr>
      <vt:lpstr>10. 접근제어지시자</vt:lpstr>
      <vt:lpstr>10. 접근제어지시자</vt:lpstr>
      <vt:lpstr>10. 접근제어지시자</vt:lpstr>
      <vt:lpstr>10. 접근제어지시자</vt:lpstr>
      <vt:lpstr>10. 접근제어지시자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11. 클래스 변수 / 클래스 메소드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12. 메소드 오버로딩</vt:lpstr>
      <vt:lpstr>12. 메소드 오버로딩</vt:lpstr>
      <vt:lpstr>12. 메소드 오버로딩</vt:lpstr>
      <vt:lpstr>12. 메소드 오버로딩</vt:lpstr>
      <vt:lpstr>12. 메소드 오버로딩</vt:lpstr>
      <vt:lpstr>12. 메소드 오버로딩</vt:lpstr>
      <vt:lpstr>12. 생성자 오버로딩</vt:lpstr>
      <vt:lpstr>12. 생성자 오버로딩</vt:lpstr>
      <vt:lpstr>12. 생성자 오버로딩</vt:lpstr>
      <vt:lpstr>12. 생성자 오버로딩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String의 패키지와 import</vt:lpstr>
      <vt:lpstr>13. String의 패키지와 Import</vt:lpstr>
      <vt:lpstr>13. String의 패키지와 Import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StringBuffer</vt:lpstr>
      <vt:lpstr>13. StringBuffer</vt:lpstr>
      <vt:lpstr>13. StringBuffer</vt:lpstr>
      <vt:lpstr>13. StringBuffer</vt:lpstr>
      <vt:lpstr>13. StringBuffer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15. 상속(Inheritance)과       다형성(Polymorphism)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상속의 유연성</vt:lpstr>
      <vt:lpstr>15. 상속의 유연성</vt:lpstr>
      <vt:lpstr>15. 상속의 유연성</vt:lpstr>
      <vt:lpstr>15. 상속이 불가능한 final class</vt:lpstr>
      <vt:lpstr>15. 상속이 불가능한 final class</vt:lpstr>
      <vt:lpstr>15. 상속을 제한하는 sealed class</vt:lpstr>
      <vt:lpstr>15. 상속을 제한하는 sealed class</vt:lpstr>
      <vt:lpstr>15. 상속을 제한하는 sealed class</vt:lpstr>
      <vt:lpstr>15. 다형성(Polymorphism)</vt:lpstr>
      <vt:lpstr>15. 다형성(Polymorphism)</vt:lpstr>
      <vt:lpstr>15. is a 관계를 이용한 다형성</vt:lpstr>
      <vt:lpstr>15. is a 관계를 이용한 다형성</vt:lpstr>
      <vt:lpstr>15. is a 관계를 이용한 다형성</vt:lpstr>
      <vt:lpstr>15. is a 관계를 이용한 다형성</vt:lpstr>
      <vt:lpstr>16. 메소드 오버라이딩</vt:lpstr>
      <vt:lpstr>16. 메소드 오버라이딩</vt:lpstr>
      <vt:lpstr>16. 메소드 오버라이딩</vt:lpstr>
      <vt:lpstr>16. 오버라이딩이 불가능한       final method</vt:lpstr>
      <vt:lpstr>16. 오버라이딩이 불가능한 final method</vt:lpstr>
      <vt:lpstr>16. 오버라이딩이 불가능한 final method</vt:lpstr>
      <vt:lpstr>Java Programming  고급</vt:lpstr>
      <vt:lpstr>17. abstract class / interface /       추상화 / 익명클래스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추상화</vt:lpstr>
      <vt:lpstr>17. 추상화</vt:lpstr>
      <vt:lpstr>17. 추상화</vt:lpstr>
      <vt:lpstr>17. 추상화</vt:lpstr>
      <vt:lpstr>17. 추상화</vt:lpstr>
      <vt:lpstr>17. 추상화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18. 예외처리</vt:lpstr>
      <vt:lpstr>18. 예외처리</vt:lpstr>
      <vt:lpstr>18. 예외처리</vt:lpstr>
      <vt:lpstr>18.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예외 위임하기</vt:lpstr>
      <vt:lpstr>18. 예외 위임하기</vt:lpstr>
      <vt:lpstr>18. 예외 위임하기</vt:lpstr>
      <vt:lpstr>18. 예외 위임하기</vt:lpstr>
      <vt:lpstr>19. 제네릭과 컬렉션</vt:lpstr>
      <vt:lpstr>19. 제네릭과 컬렉션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21. 열거형 (Enum) </vt:lpstr>
      <vt:lpstr>21. Enum</vt:lpstr>
      <vt:lpstr>21. Enum</vt:lpstr>
      <vt:lpstr>21. Enum</vt:lpstr>
      <vt:lpstr>21. Enum</vt:lpstr>
      <vt:lpstr>21. Enum</vt:lpstr>
      <vt:lpstr>21. Enum</vt:lpstr>
      <vt:lpstr>21. Enum</vt:lpstr>
      <vt:lpstr>22. Calendar / LocalDateTime</vt:lpstr>
      <vt:lpstr>22. Calendar / LocalDateTime</vt:lpstr>
      <vt:lpstr>22. Calendar</vt:lpstr>
      <vt:lpstr>22. Calendar</vt:lpstr>
      <vt:lpstr>22. Calendar</vt:lpstr>
      <vt:lpstr>22. Calendar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Java Functional Programming 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3. Filtering &amp; Slicing</vt:lpstr>
      <vt:lpstr>3. Filtering &amp; Slicing</vt:lpstr>
      <vt:lpstr>3. Filtering &amp; Slicing</vt:lpstr>
      <vt:lpstr>3. Filtering &amp; Slicing</vt:lpstr>
      <vt:lpstr>3. Filtering &amp; Slicing</vt:lpstr>
      <vt:lpstr>3. Filtering &amp; Slicing</vt:lpstr>
      <vt:lpstr>4. Mapping</vt:lpstr>
      <vt:lpstr>4. Mapping</vt:lpstr>
      <vt:lpstr>4. Mapping</vt:lpstr>
      <vt:lpstr>5. Find &amp; Matching</vt:lpstr>
      <vt:lpstr>5. Find &amp; Matching</vt:lpstr>
      <vt:lpstr>5. Find &amp; Matching</vt:lpstr>
      <vt:lpstr>5. Find &amp; Matching</vt:lpstr>
      <vt:lpstr>5. Find &amp; Matching</vt:lpstr>
      <vt:lpstr>6. Reducing</vt:lpstr>
      <vt:lpstr>6. Reducing</vt:lpstr>
      <vt:lpstr>6. Reducing</vt:lpstr>
      <vt:lpstr>6. Reducing</vt:lpstr>
      <vt:lpstr>6. Reducing</vt:lpstr>
      <vt:lpstr>7. Primitive Stream</vt:lpstr>
      <vt:lpstr>7. Primitive Stream</vt:lpstr>
      <vt:lpstr>7. Primitive Stream</vt:lpstr>
      <vt:lpstr>8. Generate Stream</vt:lpstr>
      <vt:lpstr>8. Generate Stream</vt:lpstr>
      <vt:lpstr>8. Generate Stream</vt:lpstr>
      <vt:lpstr>9. Collectors</vt:lpstr>
      <vt:lpstr>9. 데이터 집계</vt:lpstr>
      <vt:lpstr>9. 데이터 집계</vt:lpstr>
      <vt:lpstr>9. 데이터 집계</vt:lpstr>
      <vt:lpstr>9. 데이터 집계</vt:lpstr>
      <vt:lpstr>9. 문자열 연결</vt:lpstr>
      <vt:lpstr>9. 문자열 연결</vt:lpstr>
      <vt:lpstr>9. 그룹화</vt:lpstr>
      <vt:lpstr>9. 그룹화 </vt:lpstr>
      <vt:lpstr>9. 그룹화 </vt:lpstr>
      <vt:lpstr>9. 그룹화 </vt:lpstr>
      <vt:lpstr>9. 다수준 그룹화</vt:lpstr>
      <vt:lpstr>9. 다수준 그룹화 </vt:lpstr>
      <vt:lpstr>9. 서브그룹 그룹화</vt:lpstr>
      <vt:lpstr>9. 서브그룹 그룹화 </vt:lpstr>
      <vt:lpstr>9. 서브그룹 그룹화 </vt:lpstr>
      <vt:lpstr>9. 분할</vt:lpstr>
      <vt:lpstr>9. 분할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Java Programming</dc:title>
  <dc:creator>Jang Minchang</dc:creator>
  <cp:lastModifiedBy>211-11</cp:lastModifiedBy>
  <cp:revision>15</cp:revision>
  <dcterms:created xsi:type="dcterms:W3CDTF">2023-02-19T05:29:41Z</dcterms:created>
  <dcterms:modified xsi:type="dcterms:W3CDTF">2026-08-07T08:49:33Z</dcterms:modified>
</cp:coreProperties>
</file>